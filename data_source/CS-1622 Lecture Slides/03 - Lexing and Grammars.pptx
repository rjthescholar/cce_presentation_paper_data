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32"/>
  </p:notesMasterIdLst>
  <p:sldIdLst>
    <p:sldId id="256" r:id="rId2"/>
    <p:sldId id="519" r:id="rId3"/>
    <p:sldId id="543" r:id="rId4"/>
    <p:sldId id="544" r:id="rId5"/>
    <p:sldId id="545" r:id="rId6"/>
    <p:sldId id="546" r:id="rId7"/>
    <p:sldId id="547" r:id="rId8"/>
    <p:sldId id="527" r:id="rId9"/>
    <p:sldId id="554" r:id="rId10"/>
    <p:sldId id="555" r:id="rId11"/>
    <p:sldId id="556" r:id="rId12"/>
    <p:sldId id="531" r:id="rId13"/>
    <p:sldId id="557" r:id="rId14"/>
    <p:sldId id="548" r:id="rId15"/>
    <p:sldId id="559" r:id="rId16"/>
    <p:sldId id="561" r:id="rId17"/>
    <p:sldId id="560" r:id="rId18"/>
    <p:sldId id="562" r:id="rId19"/>
    <p:sldId id="563" r:id="rId20"/>
    <p:sldId id="570" r:id="rId21"/>
    <p:sldId id="566" r:id="rId22"/>
    <p:sldId id="564" r:id="rId23"/>
    <p:sldId id="565" r:id="rId24"/>
    <p:sldId id="558" r:id="rId25"/>
    <p:sldId id="549" r:id="rId26"/>
    <p:sldId id="550" r:id="rId27"/>
    <p:sldId id="551" r:id="rId28"/>
    <p:sldId id="552" r:id="rId29"/>
    <p:sldId id="567" r:id="rId30"/>
    <p:sldId id="568" r:id="rId31"/>
  </p:sldIdLst>
  <p:sldSz cx="9144000" cy="5715000" type="screen16x10"/>
  <p:notesSz cx="6858000" cy="9144000"/>
  <p:defaultTextStyle>
    <a:defPPr>
      <a:defRPr lang="en-US"/>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129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200"/>
    <a:srgbClr val="FF5200"/>
    <a:srgbClr val="FF5C00"/>
    <a:srgbClr val="592A04"/>
    <a:srgbClr val="8DB000"/>
    <a:srgbClr val="FCECD6"/>
    <a:srgbClr val="FCF9C5"/>
    <a:srgbClr val="8BD5F4"/>
    <a:srgbClr val="FA0AB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01" autoAdjust="0"/>
    <p:restoredTop sz="88732" autoAdjust="0"/>
  </p:normalViewPr>
  <p:slideViewPr>
    <p:cSldViewPr>
      <p:cViewPr varScale="1">
        <p:scale>
          <a:sx n="131" d="100"/>
          <a:sy n="131" d="100"/>
        </p:scale>
        <p:origin x="1240" y="168"/>
      </p:cViewPr>
      <p:guideLst>
        <p:guide orient="horz" pos="1800"/>
        <p:guide pos="1296"/>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093253-51AE-4C40-AB6B-AA3A7DF4D210}" type="datetimeFigureOut">
              <a:rPr lang="en-US" smtClean="0"/>
              <a:pPr/>
              <a:t>5/21/22</a:t>
            </a:fld>
            <a:endParaRPr lang="en-US"/>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9729AB-B77D-48AE-AA10-D1BD2B4D03EA}" type="slidenum">
              <a:rPr lang="en-US" smtClean="0"/>
              <a:pPr/>
              <a:t>‹#›</a:t>
            </a:fld>
            <a:endParaRPr lang="en-US"/>
          </a:p>
        </p:txBody>
      </p:sp>
    </p:spTree>
    <p:extLst>
      <p:ext uri="{BB962C8B-B14F-4D97-AF65-F5344CB8AC3E}">
        <p14:creationId xmlns:p14="http://schemas.microsoft.com/office/powerpoint/2010/main" val="2560305392"/>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999729AB-B77D-48AE-AA10-D1BD2B4D03E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list of tokens is then fed into the next step, the parser.</a:t>
            </a:r>
          </a:p>
          <a:p>
            <a:pPr marL="171450" indent="-171450">
              <a:buFontTx/>
              <a:buChar char="-"/>
            </a:pPr>
            <a:r>
              <a:rPr lang="en-US" dirty="0"/>
              <a:t>pedantically speaking, “scanning” is the process of reading text from a file and “</a:t>
            </a:r>
            <a:r>
              <a:rPr lang="en-US" dirty="0" err="1"/>
              <a:t>lexing</a:t>
            </a:r>
            <a:r>
              <a:rPr lang="en-US" dirty="0"/>
              <a:t>” comes right after, but that hasn’t really been relevant for 50 years since we now have computers with enough memory to read the whole damn input file into memory at once. but the name “scanning” has stuck around.</a:t>
            </a:r>
          </a:p>
          <a:p>
            <a:pPr marL="171450" indent="-171450">
              <a:buFontTx/>
              <a:buChar char="-"/>
            </a:pPr>
            <a:endParaRPr lang="en-US" dirty="0"/>
          </a:p>
          <a:p>
            <a:pPr marL="0" indent="0">
              <a:buFontTx/>
              <a:buNone/>
            </a:pPr>
            <a:r>
              <a:rPr lang="en-US" dirty="0"/>
              <a:t>[diagram: the input source code is a string, fed into the </a:t>
            </a:r>
            <a:r>
              <a:rPr lang="en-US" dirty="0" err="1"/>
              <a:t>lexer</a:t>
            </a:r>
            <a:r>
              <a:rPr lang="en-US" dirty="0"/>
              <a:t>; the output of the </a:t>
            </a:r>
            <a:r>
              <a:rPr lang="en-US" dirty="0" err="1"/>
              <a:t>lexer</a:t>
            </a:r>
            <a:r>
              <a:rPr lang="en-US" dirty="0"/>
              <a:t> is a list of tokens extracted from that string.]</a:t>
            </a:r>
          </a:p>
        </p:txBody>
      </p:sp>
      <p:sp>
        <p:nvSpPr>
          <p:cNvPr id="4" name="Slide Number Placeholder 3"/>
          <p:cNvSpPr>
            <a:spLocks noGrp="1"/>
          </p:cNvSpPr>
          <p:nvPr>
            <p:ph type="sldNum" sz="quarter" idx="5"/>
          </p:nvPr>
        </p:nvSpPr>
        <p:spPr/>
        <p:txBody>
          <a:bodyPr/>
          <a:lstStyle/>
          <a:p>
            <a:fld id="{999729AB-B77D-48AE-AA10-D1BD2B4D03EA}" type="slidenum">
              <a:rPr lang="en-US" smtClean="0"/>
              <a:pPr/>
              <a:t>4</a:t>
            </a:fld>
            <a:endParaRPr lang="en-US"/>
          </a:p>
        </p:txBody>
      </p:sp>
    </p:spTree>
    <p:extLst>
      <p:ext uri="{BB962C8B-B14F-4D97-AF65-F5344CB8AC3E}">
        <p14:creationId xmlns:p14="http://schemas.microsoft.com/office/powerpoint/2010/main" val="752646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not all comments are meaningless though! documentation comments may have to be preserved.</a:t>
            </a:r>
          </a:p>
          <a:p>
            <a:pPr marL="171450" indent="-171450">
              <a:buFontTx/>
              <a:buChar char="-"/>
            </a:pPr>
            <a:endParaRPr lang="en-US" dirty="0"/>
          </a:p>
          <a:p>
            <a:pPr marL="0" indent="0">
              <a:buFontTx/>
              <a:buNone/>
            </a:pPr>
            <a:r>
              <a:rPr lang="en-US" dirty="0"/>
              <a:t>[diagram: three pieces of code, with the exact same sequence of tokens, but with different whitespace around the tokens.]</a:t>
            </a:r>
          </a:p>
        </p:txBody>
      </p:sp>
      <p:sp>
        <p:nvSpPr>
          <p:cNvPr id="4" name="Slide Number Placeholder 3"/>
          <p:cNvSpPr>
            <a:spLocks noGrp="1"/>
          </p:cNvSpPr>
          <p:nvPr>
            <p:ph type="sldNum" sz="quarter" idx="5"/>
          </p:nvPr>
        </p:nvSpPr>
        <p:spPr/>
        <p:txBody>
          <a:bodyPr/>
          <a:lstStyle/>
          <a:p>
            <a:fld id="{999729AB-B77D-48AE-AA10-D1BD2B4D03EA}" type="slidenum">
              <a:rPr lang="en-US" smtClean="0"/>
              <a:pPr/>
              <a:t>5</a:t>
            </a:fld>
            <a:endParaRPr lang="en-US"/>
          </a:p>
        </p:txBody>
      </p:sp>
    </p:spTree>
    <p:extLst>
      <p:ext uri="{BB962C8B-B14F-4D97-AF65-F5344CB8AC3E}">
        <p14:creationId xmlns:p14="http://schemas.microsoft.com/office/powerpoint/2010/main" val="34911559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Python lexer actually produces an "indent" token whenever indentation increases and a "</a:t>
            </a:r>
            <a:r>
              <a:rPr lang="en-US" dirty="0" err="1"/>
              <a:t>dedent</a:t>
            </a:r>
            <a:r>
              <a:rPr lang="en-US" dirty="0"/>
              <a:t>" token whenever it decreases</a:t>
            </a:r>
          </a:p>
          <a:p>
            <a:r>
              <a:rPr lang="en-US" dirty="0"/>
              <a:t>	- the Python parser can use those to determine the boundaries of control structures.</a:t>
            </a:r>
          </a:p>
          <a:p>
            <a:r>
              <a:rPr lang="en-US" dirty="0"/>
              <a:t>- google "</a:t>
            </a:r>
            <a:r>
              <a:rPr lang="en-US" dirty="0" err="1"/>
              <a:t>javascript</a:t>
            </a:r>
            <a:r>
              <a:rPr lang="en-US" dirty="0"/>
              <a:t> semicolon insertion", it's really strange</a:t>
            </a:r>
          </a:p>
        </p:txBody>
      </p:sp>
      <p:sp>
        <p:nvSpPr>
          <p:cNvPr id="4" name="Slide Number Placeholder 3"/>
          <p:cNvSpPr>
            <a:spLocks noGrp="1"/>
          </p:cNvSpPr>
          <p:nvPr>
            <p:ph type="sldNum" sz="quarter" idx="5"/>
          </p:nvPr>
        </p:nvSpPr>
        <p:spPr/>
        <p:txBody>
          <a:bodyPr/>
          <a:lstStyle/>
          <a:p>
            <a:fld id="{999729AB-B77D-48AE-AA10-D1BD2B4D03EA}" type="slidenum">
              <a:rPr lang="en-US" smtClean="0"/>
              <a:pPr/>
              <a:t>6</a:t>
            </a:fld>
            <a:endParaRPr lang="en-US"/>
          </a:p>
        </p:txBody>
      </p:sp>
    </p:spTree>
    <p:extLst>
      <p:ext uri="{BB962C8B-B14F-4D97-AF65-F5344CB8AC3E}">
        <p14:creationId xmlns:p14="http://schemas.microsoft.com/office/powerpoint/2010/main" val="3241106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error messages are the most obvious use, but…</a:t>
            </a:r>
          </a:p>
          <a:p>
            <a:r>
              <a:rPr lang="en-US" dirty="0"/>
              <a:t>- later backend stages can use location info to produce debugging info, so you can e.g. step through your program line-by-line at runtime</a:t>
            </a:r>
          </a:p>
          <a:p>
            <a:r>
              <a:rPr lang="en-US" dirty="0"/>
              <a:t>- and depending on the language, the location info can be used to disambiguate some parsing issues</a:t>
            </a:r>
          </a:p>
          <a:p>
            <a:r>
              <a:rPr lang="en-US" dirty="0"/>
              <a:t>	- e.g. if something appears on a new line vs. if it appears on the same line</a:t>
            </a:r>
          </a:p>
          <a:p>
            <a:endParaRPr lang="en-US" dirty="0"/>
          </a:p>
          <a:p>
            <a:r>
              <a:rPr lang="en-US" dirty="0"/>
              <a:t>[diagram: each token in the source code is given a location, typically written </a:t>
            </a:r>
            <a:r>
              <a:rPr lang="en-US" dirty="0" err="1"/>
              <a:t>line:column</a:t>
            </a:r>
            <a:r>
              <a:rPr lang="en-US" dirty="0"/>
              <a:t>, like 1:13 for line 1 column 13.]</a:t>
            </a:r>
          </a:p>
        </p:txBody>
      </p:sp>
      <p:sp>
        <p:nvSpPr>
          <p:cNvPr id="4" name="Slide Number Placeholder 3"/>
          <p:cNvSpPr>
            <a:spLocks noGrp="1"/>
          </p:cNvSpPr>
          <p:nvPr>
            <p:ph type="sldNum" sz="quarter" idx="5"/>
          </p:nvPr>
        </p:nvSpPr>
        <p:spPr/>
        <p:txBody>
          <a:bodyPr/>
          <a:lstStyle/>
          <a:p>
            <a:fld id="{999729AB-B77D-48AE-AA10-D1BD2B4D03EA}" type="slidenum">
              <a:rPr lang="en-US" smtClean="0"/>
              <a:pPr/>
              <a:t>7</a:t>
            </a:fld>
            <a:endParaRPr lang="en-US"/>
          </a:p>
        </p:txBody>
      </p:sp>
    </p:spTree>
    <p:extLst>
      <p:ext uri="{BB962C8B-B14F-4D97-AF65-F5344CB8AC3E}">
        <p14:creationId xmlns:p14="http://schemas.microsoft.com/office/powerpoint/2010/main" val="2947860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Truss is just Rust with the T out front and another S ha </a:t>
            </a:r>
            <a:r>
              <a:rPr lang="en-US" dirty="0" err="1"/>
              <a:t>haha</a:t>
            </a:r>
            <a:r>
              <a:rPr lang="en-US" dirty="0"/>
              <a:t> </a:t>
            </a:r>
            <a:r>
              <a:rPr lang="en-US" dirty="0" err="1"/>
              <a:t>hahaha</a:t>
            </a:r>
            <a:r>
              <a:rPr lang="en-US" dirty="0"/>
              <a:t> I'm so original</a:t>
            </a:r>
            <a:endParaRPr lang="en-US" b="1" dirty="0"/>
          </a:p>
          <a:p>
            <a:r>
              <a:rPr lang="en-US" b="0" dirty="0"/>
              <a:t>- you might notice now that your code editor is highlighting </a:t>
            </a:r>
            <a:r>
              <a:rPr lang="en-US" b="0" i="1" dirty="0"/>
              <a:t>tokens, </a:t>
            </a:r>
            <a:r>
              <a:rPr lang="en-US" b="0" i="0" dirty="0"/>
              <a:t>which is why you're able to pick them out easily now</a:t>
            </a:r>
          </a:p>
        </p:txBody>
      </p:sp>
      <p:sp>
        <p:nvSpPr>
          <p:cNvPr id="4" name="Slide Number Placeholder 3"/>
          <p:cNvSpPr>
            <a:spLocks noGrp="1"/>
          </p:cNvSpPr>
          <p:nvPr>
            <p:ph type="sldNum" sz="quarter" idx="5"/>
          </p:nvPr>
        </p:nvSpPr>
        <p:spPr/>
        <p:txBody>
          <a:bodyPr/>
          <a:lstStyle/>
          <a:p>
            <a:fld id="{999729AB-B77D-48AE-AA10-D1BD2B4D03EA}" type="slidenum">
              <a:rPr lang="en-US" smtClean="0"/>
              <a:pPr/>
              <a:t>9</a:t>
            </a:fld>
            <a:endParaRPr lang="en-US"/>
          </a:p>
        </p:txBody>
      </p:sp>
    </p:spTree>
    <p:extLst>
      <p:ext uri="{BB962C8B-B14F-4D97-AF65-F5344CB8AC3E}">
        <p14:creationId xmlns:p14="http://schemas.microsoft.com/office/powerpoint/2010/main" val="1939016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is </a:t>
            </a:r>
            <a:r>
              <a:rPr lang="en-US" b="1" dirty="0"/>
              <a:t>true</a:t>
            </a:r>
            <a:r>
              <a:rPr lang="en-US" dirty="0"/>
              <a:t> a keyword or a literal? ;o</a:t>
            </a:r>
          </a:p>
          <a:p>
            <a:r>
              <a:rPr lang="en-US" dirty="0"/>
              <a:t>	- doesn't really matter, really. it's kind of a distinction without a difference in this case.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10</a:t>
            </a:fld>
            <a:endParaRPr lang="en-US"/>
          </a:p>
        </p:txBody>
      </p:sp>
    </p:spTree>
    <p:extLst>
      <p:ext uri="{BB962C8B-B14F-4D97-AF65-F5344CB8AC3E}">
        <p14:creationId xmlns:p14="http://schemas.microsoft.com/office/powerpoint/2010/main" val="27863389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some of these might look "impossible" but at this stage we're just doing string processing. we don't know yet if this is remotely valid code!</a:t>
            </a:r>
          </a:p>
        </p:txBody>
      </p:sp>
      <p:sp>
        <p:nvSpPr>
          <p:cNvPr id="4" name="Slide Number Placeholder 3"/>
          <p:cNvSpPr>
            <a:spLocks noGrp="1"/>
          </p:cNvSpPr>
          <p:nvPr>
            <p:ph type="sldNum" sz="quarter" idx="5"/>
          </p:nvPr>
        </p:nvSpPr>
        <p:spPr/>
        <p:txBody>
          <a:bodyPr/>
          <a:lstStyle/>
          <a:p>
            <a:fld id="{999729AB-B77D-48AE-AA10-D1BD2B4D03EA}" type="slidenum">
              <a:rPr lang="en-US" smtClean="0"/>
              <a:pPr/>
              <a:t>12</a:t>
            </a:fld>
            <a:endParaRPr lang="en-US"/>
          </a:p>
        </p:txBody>
      </p:sp>
    </p:spTree>
    <p:extLst>
      <p:ext uri="{BB962C8B-B14F-4D97-AF65-F5344CB8AC3E}">
        <p14:creationId xmlns:p14="http://schemas.microsoft.com/office/powerpoint/2010/main" val="4241852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15</a:t>
            </a:fld>
            <a:endParaRPr lang="en-US"/>
          </a:p>
        </p:txBody>
      </p:sp>
    </p:spTree>
    <p:extLst>
      <p:ext uri="{BB962C8B-B14F-4D97-AF65-F5344CB8AC3E}">
        <p14:creationId xmlns:p14="http://schemas.microsoft.com/office/powerpoint/2010/main" val="33426463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 = { infinite screaming }</a:t>
            </a:r>
          </a:p>
          <a:p>
            <a:r>
              <a:rPr lang="en-US" dirty="0"/>
              <a:t>- those of you familiar with regexes are groaning right now, I can tell</a:t>
            </a:r>
          </a:p>
        </p:txBody>
      </p:sp>
      <p:sp>
        <p:nvSpPr>
          <p:cNvPr id="4" name="Slide Number Placeholder 3"/>
          <p:cNvSpPr>
            <a:spLocks noGrp="1"/>
          </p:cNvSpPr>
          <p:nvPr>
            <p:ph type="sldNum" sz="quarter" idx="5"/>
          </p:nvPr>
        </p:nvSpPr>
        <p:spPr/>
        <p:txBody>
          <a:bodyPr/>
          <a:lstStyle/>
          <a:p>
            <a:fld id="{999729AB-B77D-48AE-AA10-D1BD2B4D03EA}" type="slidenum">
              <a:rPr lang="en-US" smtClean="0"/>
              <a:pPr/>
              <a:t>16</a:t>
            </a:fld>
            <a:endParaRPr lang="en-US"/>
          </a:p>
        </p:txBody>
      </p:sp>
    </p:spTree>
    <p:extLst>
      <p:ext uri="{BB962C8B-B14F-4D97-AF65-F5344CB8AC3E}">
        <p14:creationId xmlns:p14="http://schemas.microsoft.com/office/powerpoint/2010/main" val="18288393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you look at the reference manuals of most programming languages, this stuff will be in the earliest chapters. </a:t>
            </a:r>
          </a:p>
          <a:p>
            <a:r>
              <a:rPr lang="en-US" dirty="0"/>
              <a:t>- there are no standard metalanguages; it seems like every area of research, every researcher, every parser generator etc. has its own metalanguage. the one presented here is typical of many metalanguages.</a:t>
            </a:r>
          </a:p>
          <a:p>
            <a:r>
              <a:rPr lang="en-US" dirty="0"/>
              <a:t>- so (A B)+ means "A followed by B, 1 or more times."</a:t>
            </a:r>
          </a:p>
        </p:txBody>
      </p:sp>
      <p:sp>
        <p:nvSpPr>
          <p:cNvPr id="4" name="Slide Number Placeholder 3"/>
          <p:cNvSpPr>
            <a:spLocks noGrp="1"/>
          </p:cNvSpPr>
          <p:nvPr>
            <p:ph type="sldNum" sz="quarter" idx="5"/>
          </p:nvPr>
        </p:nvSpPr>
        <p:spPr/>
        <p:txBody>
          <a:bodyPr/>
          <a:lstStyle/>
          <a:p>
            <a:fld id="{999729AB-B77D-48AE-AA10-D1BD2B4D03EA}" type="slidenum">
              <a:rPr lang="en-US" smtClean="0"/>
              <a:pPr/>
              <a:t>17</a:t>
            </a:fld>
            <a:endParaRPr lang="en-US"/>
          </a:p>
        </p:txBody>
      </p:sp>
    </p:spTree>
    <p:extLst>
      <p:ext uri="{BB962C8B-B14F-4D97-AF65-F5344CB8AC3E}">
        <p14:creationId xmlns:p14="http://schemas.microsoft.com/office/powerpoint/2010/main" val="9228304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again, there's no standard. often you'll see an explanation of the metalanguage (a meta-metalanguage???) at the beginning of a text, explaining what the conventions are.</a:t>
            </a:r>
          </a:p>
          <a:p>
            <a:r>
              <a:rPr lang="en-US" dirty="0"/>
              <a:t>	- here we're saying "double quotes means a sequence of terminals".</a:t>
            </a:r>
          </a:p>
        </p:txBody>
      </p:sp>
      <p:sp>
        <p:nvSpPr>
          <p:cNvPr id="4" name="Slide Number Placeholder 3"/>
          <p:cNvSpPr>
            <a:spLocks noGrp="1"/>
          </p:cNvSpPr>
          <p:nvPr>
            <p:ph type="sldNum" sz="quarter" idx="5"/>
          </p:nvPr>
        </p:nvSpPr>
        <p:spPr/>
        <p:txBody>
          <a:bodyPr/>
          <a:lstStyle/>
          <a:p>
            <a:fld id="{999729AB-B77D-48AE-AA10-D1BD2B4D03EA}" type="slidenum">
              <a:rPr lang="en-US" smtClean="0"/>
              <a:pPr/>
              <a:t>18</a:t>
            </a:fld>
            <a:endParaRPr lang="en-US"/>
          </a:p>
        </p:txBody>
      </p:sp>
    </p:spTree>
    <p:extLst>
      <p:ext uri="{BB962C8B-B14F-4D97-AF65-F5344CB8AC3E}">
        <p14:creationId xmlns:p14="http://schemas.microsoft.com/office/powerpoint/2010/main" val="2820805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in the project at the top of </a:t>
            </a:r>
            <a:r>
              <a:rPr lang="en-US" dirty="0" err="1"/>
              <a:t>lexer.rs</a:t>
            </a:r>
            <a:r>
              <a:rPr lang="en-US" dirty="0"/>
              <a:t>, </a:t>
            </a:r>
            <a:r>
              <a:rPr lang="en-US" dirty="0" err="1"/>
              <a:t>is_ident_start</a:t>
            </a:r>
            <a:r>
              <a:rPr lang="en-US" dirty="0"/>
              <a:t>() and </a:t>
            </a:r>
            <a:r>
              <a:rPr lang="en-US" dirty="0" err="1"/>
              <a:t>is_ident_cont</a:t>
            </a:r>
            <a:r>
              <a:rPr lang="en-US" dirty="0"/>
              <a:t>() implement the </a:t>
            </a:r>
            <a:r>
              <a:rPr lang="en-US" dirty="0" err="1"/>
              <a:t>IdStart</a:t>
            </a:r>
            <a:r>
              <a:rPr lang="en-US" dirty="0"/>
              <a:t> and </a:t>
            </a:r>
            <a:r>
              <a:rPr lang="en-US" dirty="0" err="1"/>
              <a:t>IdCont</a:t>
            </a:r>
            <a:r>
              <a:rPr lang="en-US" dirty="0"/>
              <a:t> rules</a:t>
            </a:r>
          </a:p>
          <a:p>
            <a:r>
              <a:rPr lang="en-US" dirty="0"/>
              <a:t>	- and Alphabetic and Digit are implemented by the built-in .</a:t>
            </a:r>
            <a:r>
              <a:rPr lang="en-US" dirty="0" err="1"/>
              <a:t>is_alphabetic</a:t>
            </a:r>
            <a:r>
              <a:rPr lang="en-US" dirty="0"/>
              <a:t>() and .</a:t>
            </a:r>
            <a:r>
              <a:rPr lang="en-US" dirty="0" err="1"/>
              <a:t>is_ascii_digit</a:t>
            </a:r>
            <a:r>
              <a:rPr lang="en-US" dirty="0"/>
              <a:t>() methods on chars!</a:t>
            </a:r>
          </a:p>
          <a:p>
            <a:r>
              <a:rPr lang="en-US" dirty="0"/>
              <a:t>- and yes, $ is a valid character in an identifier. that's true of Java and JavaScript too. try it!</a:t>
            </a:r>
          </a:p>
          <a:p>
            <a:r>
              <a:rPr lang="en-US" dirty="0"/>
              <a:t>- "What if a rule refers to itself recursively?" SHHHHHHHHHHHHHHHHHHHHHHHHHHHHHHHHHHHH</a:t>
            </a:r>
          </a:p>
          <a:p>
            <a:r>
              <a:rPr lang="en-US" dirty="0"/>
              <a:t>	- SHHHHHHHHHHHHH NOOOOOO SHHHHHHHHHHHHHHHH</a:t>
            </a:r>
          </a:p>
          <a:p>
            <a:r>
              <a:rPr lang="en-US" dirty="0"/>
              <a:t>	- no but really we'll talk about that when we get to parsing ;)</a:t>
            </a:r>
          </a:p>
        </p:txBody>
      </p:sp>
      <p:sp>
        <p:nvSpPr>
          <p:cNvPr id="4" name="Slide Number Placeholder 3"/>
          <p:cNvSpPr>
            <a:spLocks noGrp="1"/>
          </p:cNvSpPr>
          <p:nvPr>
            <p:ph type="sldNum" sz="quarter" idx="5"/>
          </p:nvPr>
        </p:nvSpPr>
        <p:spPr/>
        <p:txBody>
          <a:bodyPr/>
          <a:lstStyle/>
          <a:p>
            <a:fld id="{999729AB-B77D-48AE-AA10-D1BD2B4D03EA}" type="slidenum">
              <a:rPr lang="en-US" smtClean="0"/>
              <a:pPr/>
              <a:t>19</a:t>
            </a:fld>
            <a:endParaRPr lang="en-US"/>
          </a:p>
        </p:txBody>
      </p:sp>
    </p:spTree>
    <p:extLst>
      <p:ext uri="{BB962C8B-B14F-4D97-AF65-F5344CB8AC3E}">
        <p14:creationId xmlns:p14="http://schemas.microsoft.com/office/powerpoint/2010/main" val="17145689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 metalanguage is for </a:t>
            </a:r>
            <a:r>
              <a:rPr lang="en-US" i="1" dirty="0"/>
              <a:t>our</a:t>
            </a:r>
            <a:r>
              <a:rPr lang="en-US" i="0" dirty="0"/>
              <a:t> benefit, so we can be a bit loose with its formalisms. </a:t>
            </a:r>
          </a:p>
          <a:p>
            <a:pPr marL="171450" indent="-171450">
              <a:buFontTx/>
              <a:buChar char="-"/>
            </a:pPr>
            <a:r>
              <a:rPr lang="en-US" i="0" dirty="0"/>
              <a:t>”valid range of numbers” is a rule that the </a:t>
            </a:r>
            <a:r>
              <a:rPr lang="en-US" i="0" dirty="0" err="1"/>
              <a:t>lexer</a:t>
            </a:r>
            <a:r>
              <a:rPr lang="en-US" i="0" dirty="0"/>
              <a:t> implements, but it’s not </a:t>
            </a:r>
            <a:r>
              <a:rPr lang="en-US" i="1" dirty="0"/>
              <a:t>lexical, </a:t>
            </a:r>
            <a:r>
              <a:rPr lang="en-US" i="0" dirty="0"/>
              <a:t>as in it’s not really based on the text. so, we’d write that rule alongside this grammar.</a:t>
            </a:r>
          </a:p>
          <a:p>
            <a:pPr marL="171450" indent="-171450">
              <a:buFontTx/>
              <a:buChar char="-"/>
            </a:pPr>
            <a:r>
              <a:rPr lang="en-US" i="0" dirty="0"/>
              <a:t>on a related note, it’s really easy to fall into the trap of trying to do too much during </a:t>
            </a:r>
            <a:r>
              <a:rPr lang="en-US" i="0" dirty="0" err="1"/>
              <a:t>lexing</a:t>
            </a:r>
            <a:r>
              <a:rPr lang="en-US" i="0" dirty="0"/>
              <a:t>. remember, we’re just splitting strings here, not trying to implement the entire programming language.</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20</a:t>
            </a:fld>
            <a:endParaRPr lang="en-US"/>
          </a:p>
        </p:txBody>
      </p:sp>
    </p:spTree>
    <p:extLst>
      <p:ext uri="{BB962C8B-B14F-4D97-AF65-F5344CB8AC3E}">
        <p14:creationId xmlns:p14="http://schemas.microsoft.com/office/powerpoint/2010/main" val="24339261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EOF = end-of-file, as in, the actual end of the source code string.</a:t>
            </a:r>
          </a:p>
          <a:p>
            <a:r>
              <a:rPr lang="en-US" dirty="0"/>
              <a:t>- the thing is, as long as the distance of the lookahead is a constant, everything is fine.</a:t>
            </a:r>
          </a:p>
          <a:p>
            <a:r>
              <a:rPr lang="en-US" dirty="0"/>
              <a:t>	- when you allow </a:t>
            </a:r>
            <a:r>
              <a:rPr lang="en-US" i="1" dirty="0"/>
              <a:t>arbitrary</a:t>
            </a:r>
            <a:r>
              <a:rPr lang="en-US" i="0" dirty="0"/>
              <a:t> lookahead of </a:t>
            </a:r>
            <a:r>
              <a:rPr lang="en-US" i="1" dirty="0"/>
              <a:t>variable distance</a:t>
            </a:r>
            <a:r>
              <a:rPr lang="en-US" i="0" dirty="0"/>
              <a:t>, all hell breaks loose.</a:t>
            </a:r>
          </a:p>
          <a:p>
            <a:r>
              <a:rPr lang="en-US" i="0" dirty="0"/>
              <a:t>- in fact, we could encode the idea of "123abc" being invalid by using a </a:t>
            </a:r>
            <a:r>
              <a:rPr lang="en-US" i="1" dirty="0"/>
              <a:t>negative</a:t>
            </a:r>
            <a:r>
              <a:rPr lang="en-US" i="0" dirty="0"/>
              <a:t> lookahead:</a:t>
            </a:r>
          </a:p>
          <a:p>
            <a:r>
              <a:rPr lang="en-US" i="0" dirty="0"/>
              <a:t>	- at the end of the </a:t>
            </a:r>
            <a:r>
              <a:rPr lang="en-US" i="0" dirty="0" err="1"/>
              <a:t>IntLit</a:t>
            </a:r>
            <a:r>
              <a:rPr lang="en-US" i="0" dirty="0"/>
              <a:t> rule, we can say something like </a:t>
            </a:r>
            <a:r>
              <a:rPr lang="en-US" i="0" dirty="0" err="1"/>
              <a:t>NonAlphabetic^non-consuming</a:t>
            </a:r>
            <a:endParaRPr lang="en-US" i="0" dirty="0"/>
          </a:p>
          <a:p>
            <a:r>
              <a:rPr lang="en-US" i="0" dirty="0"/>
              <a:t>	- so if an alphabetic char appears immediately after a number, that's an error.</a:t>
            </a:r>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21</a:t>
            </a:fld>
            <a:endParaRPr lang="en-US"/>
          </a:p>
        </p:txBody>
      </p:sp>
    </p:spTree>
    <p:extLst>
      <p:ext uri="{BB962C8B-B14F-4D97-AF65-F5344CB8AC3E}">
        <p14:creationId xmlns:p14="http://schemas.microsoft.com/office/powerpoint/2010/main" val="30578906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oh god. oh god it's getting deeper oh no</a:t>
            </a:r>
          </a:p>
        </p:txBody>
      </p:sp>
      <p:sp>
        <p:nvSpPr>
          <p:cNvPr id="4" name="Slide Number Placeholder 3"/>
          <p:cNvSpPr>
            <a:spLocks noGrp="1"/>
          </p:cNvSpPr>
          <p:nvPr>
            <p:ph type="sldNum" sz="quarter" idx="5"/>
          </p:nvPr>
        </p:nvSpPr>
        <p:spPr/>
        <p:txBody>
          <a:bodyPr/>
          <a:lstStyle/>
          <a:p>
            <a:fld id="{999729AB-B77D-48AE-AA10-D1BD2B4D03EA}" type="slidenum">
              <a:rPr lang="en-US" smtClean="0"/>
              <a:pPr/>
              <a:t>22</a:t>
            </a:fld>
            <a:endParaRPr lang="en-US"/>
          </a:p>
        </p:txBody>
      </p:sp>
    </p:spTree>
    <p:extLst>
      <p:ext uri="{BB962C8B-B14F-4D97-AF65-F5344CB8AC3E}">
        <p14:creationId xmlns:p14="http://schemas.microsoft.com/office/powerpoint/2010/main" val="7828358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classic pairing is "lex/</a:t>
            </a:r>
            <a:r>
              <a:rPr lang="en-US" dirty="0" err="1"/>
              <a:t>yacc</a:t>
            </a:r>
            <a:r>
              <a:rPr lang="en-US" dirty="0"/>
              <a:t>" where lex generates the lexer and </a:t>
            </a:r>
            <a:r>
              <a:rPr lang="en-US" dirty="0" err="1"/>
              <a:t>yacc</a:t>
            </a:r>
            <a:r>
              <a:rPr lang="en-US" dirty="0"/>
              <a:t> generates the parser.</a:t>
            </a:r>
          </a:p>
          <a:p>
            <a:r>
              <a:rPr lang="en-US" dirty="0"/>
              <a:t>	- "flex/bison" is the slightly-newer and more-open-source alternative to those classic programs.</a:t>
            </a:r>
          </a:p>
          <a:p>
            <a:r>
              <a:rPr lang="en-US" dirty="0"/>
              <a:t>	- but when I say "newer" consider that flex was started in 1987 and bison was started in 1985, so.</a:t>
            </a:r>
          </a:p>
          <a:p>
            <a:pPr marL="0" marR="0" lvl="0" indent="0" algn="l" defTabSz="713232" rtl="0" eaLnBrk="1" fontAlgn="auto" latinLnBrk="0" hangingPunct="1">
              <a:lnSpc>
                <a:spcPct val="100000"/>
              </a:lnSpc>
              <a:spcBef>
                <a:spcPts val="0"/>
              </a:spcBef>
              <a:spcAft>
                <a:spcPts val="0"/>
              </a:spcAft>
              <a:buClrTx/>
              <a:buSzTx/>
              <a:buFontTx/>
              <a:buNone/>
              <a:tabLst/>
              <a:defRPr/>
            </a:pPr>
            <a:r>
              <a:rPr lang="en-US" dirty="0"/>
              <a:t>- https://</a:t>
            </a:r>
            <a:r>
              <a:rPr lang="en-US" dirty="0" err="1"/>
              <a:t>en.wikipedia.org</a:t>
            </a:r>
            <a:r>
              <a:rPr lang="en-US" dirty="0"/>
              <a:t>/wiki/</a:t>
            </a:r>
            <a:r>
              <a:rPr lang="en-US" dirty="0" err="1"/>
              <a:t>Comparison_of_parser_generators</a:t>
            </a:r>
            <a:r>
              <a:rPr lang="en-US" dirty="0"/>
              <a:t> is massive and terrifying</a:t>
            </a:r>
          </a:p>
        </p:txBody>
      </p:sp>
      <p:sp>
        <p:nvSpPr>
          <p:cNvPr id="4" name="Slide Number Placeholder 3"/>
          <p:cNvSpPr>
            <a:spLocks noGrp="1"/>
          </p:cNvSpPr>
          <p:nvPr>
            <p:ph type="sldNum" sz="quarter" idx="5"/>
          </p:nvPr>
        </p:nvSpPr>
        <p:spPr/>
        <p:txBody>
          <a:bodyPr/>
          <a:lstStyle/>
          <a:p>
            <a:fld id="{999729AB-B77D-48AE-AA10-D1BD2B4D03EA}" type="slidenum">
              <a:rPr lang="en-US" smtClean="0"/>
              <a:pPr/>
              <a:t>23</a:t>
            </a:fld>
            <a:endParaRPr lang="en-US"/>
          </a:p>
        </p:txBody>
      </p:sp>
    </p:spTree>
    <p:extLst>
      <p:ext uri="{BB962C8B-B14F-4D97-AF65-F5344CB8AC3E}">
        <p14:creationId xmlns:p14="http://schemas.microsoft.com/office/powerpoint/2010/main" val="934081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25</a:t>
            </a:fld>
            <a:endParaRPr lang="en-US"/>
          </a:p>
        </p:txBody>
      </p:sp>
    </p:spTree>
    <p:extLst>
      <p:ext uri="{BB962C8B-B14F-4D97-AF65-F5344CB8AC3E}">
        <p14:creationId xmlns:p14="http://schemas.microsoft.com/office/powerpoint/2010/main" val="7282795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maximal munch can require us to look ahead in the string to see if what comes next will "continue" the token.</a:t>
            </a:r>
          </a:p>
          <a:p>
            <a:r>
              <a:rPr lang="en-US" dirty="0"/>
              <a:t>	- lookahead is generally considered "bad" as it complicates lexing…</a:t>
            </a:r>
          </a:p>
          <a:p>
            <a:r>
              <a:rPr lang="en-US" dirty="0"/>
              <a:t>	- but if we just define our rules to make lookahead as simple and small as possible, it doesn't present a practical problem.</a:t>
            </a:r>
          </a:p>
          <a:p>
            <a:r>
              <a:rPr lang="en-US" dirty="0"/>
              <a:t>- maximal munch also seems to mirror how human brains process language.</a:t>
            </a:r>
          </a:p>
          <a:p>
            <a:r>
              <a:rPr lang="en-US" dirty="0"/>
              <a:t>	- in written languages without spaces (e.g. Japanese, Chinese), word divisions are often decided using this strategy.</a:t>
            </a:r>
          </a:p>
          <a:p>
            <a:r>
              <a:rPr lang="en-US" dirty="0"/>
              <a:t>	- in human language parsing, "garden path sentences" are those which make you </a:t>
            </a:r>
            <a:r>
              <a:rPr lang="en-US" i="1" dirty="0"/>
              <a:t>think </a:t>
            </a:r>
            <a:r>
              <a:rPr lang="en-US" i="0" dirty="0"/>
              <a:t>the grammar is one thing, until you suddenly hit something that doesn't work, cause our brains seem to build up the "syntax tree" using maximal munch.</a:t>
            </a:r>
          </a:p>
          <a:p>
            <a:r>
              <a:rPr lang="en-US" i="0" dirty="0"/>
              <a:t>		- "The old man the boat."</a:t>
            </a:r>
          </a:p>
          <a:p>
            <a:r>
              <a:rPr lang="en-US" i="0" dirty="0"/>
              <a:t>		- "old" can be an adjective or a noun, but is more commonly an adjective.</a:t>
            </a:r>
          </a:p>
          <a:p>
            <a:r>
              <a:rPr lang="en-US" i="0" dirty="0"/>
              <a:t>		- "man" can be a noun or a verb, but is more commonly a noun.</a:t>
            </a:r>
          </a:p>
          <a:p>
            <a:r>
              <a:rPr lang="en-US" i="0" dirty="0"/>
              <a:t>		- so when we see "the old man", the most probable parse is "a man who is old"…</a:t>
            </a:r>
          </a:p>
          <a:p>
            <a:r>
              <a:rPr lang="en-US" i="0" dirty="0"/>
              <a:t>		- and then we see "the boat" which makes our brains go "</a:t>
            </a:r>
            <a:r>
              <a:rPr lang="en-US" i="0" dirty="0" err="1"/>
              <a:t>wha</a:t>
            </a:r>
            <a:r>
              <a:rPr lang="en-US" i="0" dirty="0"/>
              <a:t>…huh?"</a:t>
            </a:r>
          </a:p>
          <a:p>
            <a:r>
              <a:rPr lang="en-US" i="0" dirty="0"/>
              <a:t>		- and then you realize it's "the old people sail on the boat."</a:t>
            </a:r>
          </a:p>
        </p:txBody>
      </p:sp>
      <p:sp>
        <p:nvSpPr>
          <p:cNvPr id="4" name="Slide Number Placeholder 3"/>
          <p:cNvSpPr>
            <a:spLocks noGrp="1"/>
          </p:cNvSpPr>
          <p:nvPr>
            <p:ph type="sldNum" sz="quarter" idx="5"/>
          </p:nvPr>
        </p:nvSpPr>
        <p:spPr/>
        <p:txBody>
          <a:bodyPr/>
          <a:lstStyle/>
          <a:p>
            <a:fld id="{999729AB-B77D-48AE-AA10-D1BD2B4D03EA}" type="slidenum">
              <a:rPr lang="en-US" smtClean="0"/>
              <a:pPr/>
              <a:t>26</a:t>
            </a:fld>
            <a:endParaRPr lang="en-US"/>
          </a:p>
        </p:txBody>
      </p:sp>
    </p:spTree>
    <p:extLst>
      <p:ext uri="{BB962C8B-B14F-4D97-AF65-F5344CB8AC3E}">
        <p14:creationId xmlns:p14="http://schemas.microsoft.com/office/powerpoint/2010/main" val="42206045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if you took 1502 then "regular language" means something to you, huh!</a:t>
            </a:r>
          </a:p>
          <a:p>
            <a:r>
              <a:rPr lang="en-US" dirty="0"/>
              <a:t>	- if not, don't worry about it. the important part is that you can't </a:t>
            </a:r>
            <a:r>
              <a:rPr lang="en-US" i="1" dirty="0"/>
              <a:t>arbitrarily</a:t>
            </a:r>
            <a:r>
              <a:rPr lang="en-US" dirty="0"/>
              <a:t> nest things with them.</a:t>
            </a:r>
          </a:p>
          <a:p>
            <a:r>
              <a:rPr lang="en-US" dirty="0"/>
              <a:t>- you </a:t>
            </a:r>
            <a:r>
              <a:rPr lang="en-US" i="1" dirty="0"/>
              <a:t>could</a:t>
            </a:r>
            <a:r>
              <a:rPr lang="en-US" i="0" dirty="0"/>
              <a:t> make a lexer that can only detect a </a:t>
            </a:r>
            <a:r>
              <a:rPr lang="en-US" i="1" dirty="0"/>
              <a:t>limited</a:t>
            </a:r>
            <a:r>
              <a:rPr lang="en-US" i="0" dirty="0"/>
              <a:t> bracket nesting, but…</a:t>
            </a:r>
          </a:p>
          <a:p>
            <a:r>
              <a:rPr lang="en-US" i="0" dirty="0"/>
              <a:t>	- the number of states would explode </a:t>
            </a:r>
            <a:r>
              <a:rPr lang="en-US" i="0" dirty="0" err="1"/>
              <a:t>combinatorially</a:t>
            </a:r>
            <a:endParaRPr lang="en-US" i="0" dirty="0"/>
          </a:p>
          <a:p>
            <a:r>
              <a:rPr lang="en-US" i="0" dirty="0"/>
              <a:t>	- think of all the paired brackets that can appear in Java: {}, (), [], and &lt;&gt;</a:t>
            </a:r>
          </a:p>
          <a:p>
            <a:r>
              <a:rPr lang="en-US" i="0" dirty="0"/>
              <a:t>	- and you would have to be able to support any nesting of any combination of those, like ({[&lt;&gt;]}) or &lt;{[[]]}&gt; or… etc.</a:t>
            </a:r>
          </a:p>
          <a:p>
            <a:endParaRPr lang="en-US" dirty="0"/>
          </a:p>
        </p:txBody>
      </p:sp>
      <p:sp>
        <p:nvSpPr>
          <p:cNvPr id="4" name="Slide Number Placeholder 3"/>
          <p:cNvSpPr>
            <a:spLocks noGrp="1"/>
          </p:cNvSpPr>
          <p:nvPr>
            <p:ph type="sldNum" sz="quarter" idx="5"/>
          </p:nvPr>
        </p:nvSpPr>
        <p:spPr/>
        <p:txBody>
          <a:bodyPr/>
          <a:lstStyle/>
          <a:p>
            <a:fld id="{999729AB-B77D-48AE-AA10-D1BD2B4D03EA}" type="slidenum">
              <a:rPr lang="en-US" smtClean="0"/>
              <a:pPr/>
              <a:t>27</a:t>
            </a:fld>
            <a:endParaRPr lang="en-US"/>
          </a:p>
        </p:txBody>
      </p:sp>
    </p:spTree>
    <p:extLst>
      <p:ext uri="{BB962C8B-B14F-4D97-AF65-F5344CB8AC3E}">
        <p14:creationId xmlns:p14="http://schemas.microsoft.com/office/powerpoint/2010/main" val="33600842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Doctor: "…so don't do that"</a:t>
            </a:r>
          </a:p>
          <a:p>
            <a:r>
              <a:rPr lang="en-US" dirty="0"/>
              <a:t>- yes, we use "spelling" when talking about programming languages too!</a:t>
            </a:r>
          </a:p>
          <a:p>
            <a:r>
              <a:rPr lang="en-US" dirty="0"/>
              <a:t>- Rust is clever about its parsing rules.</a:t>
            </a:r>
          </a:p>
          <a:p>
            <a:r>
              <a:rPr lang="en-US" dirty="0"/>
              <a:t>	- it's never possible to write a type A&lt;B&lt;C&gt;&gt; in a place where it could be interpreted as an expression.</a:t>
            </a:r>
          </a:p>
          <a:p>
            <a:r>
              <a:rPr lang="en-US" dirty="0"/>
              <a:t>	- in those cases, you must use the </a:t>
            </a:r>
            <a:r>
              <a:rPr lang="en-US" dirty="0" err="1"/>
              <a:t>turbofish</a:t>
            </a:r>
            <a:r>
              <a:rPr lang="en-US" dirty="0"/>
              <a:t> operator: A::&lt;B::&lt;C&gt;&gt;, which makes it unambiguous.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28</a:t>
            </a:fld>
            <a:endParaRPr lang="en-US"/>
          </a:p>
        </p:txBody>
      </p:sp>
    </p:spTree>
    <p:extLst>
      <p:ext uri="{BB962C8B-B14F-4D97-AF65-F5344CB8AC3E}">
        <p14:creationId xmlns:p14="http://schemas.microsoft.com/office/powerpoint/2010/main" val="37738422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there's a dang Wikipedia page about it https://</a:t>
            </a:r>
            <a:r>
              <a:rPr lang="en-US" dirty="0" err="1"/>
              <a:t>en.wikipedia.org</a:t>
            </a:r>
            <a:r>
              <a:rPr lang="en-US" dirty="0"/>
              <a:t>/wiki/</a:t>
            </a:r>
            <a:r>
              <a:rPr lang="en-US" dirty="0" err="1"/>
              <a:t>Lexer_hack</a:t>
            </a:r>
            <a:endParaRPr lang="en-US" dirty="0"/>
          </a:p>
          <a:p>
            <a:pPr marL="171450" indent="-171450">
              <a:buFontTx/>
              <a:buChar char="-"/>
            </a:pPr>
            <a:endParaRPr lang="en-US" dirty="0"/>
          </a:p>
          <a:p>
            <a:pPr marL="0" indent="0">
              <a:buFontTx/>
              <a:buNone/>
            </a:pPr>
            <a:r>
              <a:rPr lang="en-US" dirty="0"/>
              <a:t>[diagram: the </a:t>
            </a:r>
            <a:r>
              <a:rPr lang="en-US" dirty="0" err="1"/>
              <a:t>lexer</a:t>
            </a:r>
            <a:r>
              <a:rPr lang="en-US" dirty="0"/>
              <a:t> feeds the parser, which feeds the semantic analyzer. but there is a flow of data from the semantic analyzer back into the </a:t>
            </a:r>
            <a:r>
              <a:rPr lang="en-US" dirty="0" err="1"/>
              <a:t>lexer</a:t>
            </a:r>
            <a:r>
              <a:rPr lang="en-US" dirty="0"/>
              <a:t>, which really complicates things.]</a:t>
            </a:r>
          </a:p>
        </p:txBody>
      </p:sp>
      <p:sp>
        <p:nvSpPr>
          <p:cNvPr id="4" name="Slide Number Placeholder 3"/>
          <p:cNvSpPr>
            <a:spLocks noGrp="1"/>
          </p:cNvSpPr>
          <p:nvPr>
            <p:ph type="sldNum" sz="quarter" idx="5"/>
          </p:nvPr>
        </p:nvSpPr>
        <p:spPr/>
        <p:txBody>
          <a:bodyPr/>
          <a:lstStyle/>
          <a:p>
            <a:fld id="{999729AB-B77D-48AE-AA10-D1BD2B4D03EA}" type="slidenum">
              <a:rPr lang="en-US" smtClean="0"/>
              <a:pPr/>
              <a:t>29</a:t>
            </a:fld>
            <a:endParaRPr lang="en-US"/>
          </a:p>
        </p:txBody>
      </p:sp>
    </p:spTree>
    <p:extLst>
      <p:ext uri="{BB962C8B-B14F-4D97-AF65-F5344CB8AC3E}">
        <p14:creationId xmlns:p14="http://schemas.microsoft.com/office/powerpoint/2010/main" val="369061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3" name="Subtitle 2"/>
          <p:cNvSpPr>
            <a:spLocks noGrp="1"/>
          </p:cNvSpPr>
          <p:nvPr>
            <p:ph type="subTitle" idx="1"/>
          </p:nvPr>
        </p:nvSpPr>
        <p:spPr>
          <a:xfrm>
            <a:off x="685800" y="3177645"/>
            <a:ext cx="7772400" cy="1460500"/>
          </a:xfrm>
          <a:noFill/>
        </p:spPr>
        <p:txBody>
          <a:bodyPr>
            <a:normAutofit/>
          </a:bodyPr>
          <a:lstStyle>
            <a:lvl1pPr marL="0" indent="0" algn="l">
              <a:buNone/>
              <a:defRPr sz="2400">
                <a:solidFill>
                  <a:schemeClr val="bg1"/>
                </a:solidFill>
              </a:defRPr>
            </a:lvl1pPr>
            <a:lvl2pPr marL="411480" indent="0" algn="ctr">
              <a:buNone/>
              <a:defRPr>
                <a:solidFill>
                  <a:schemeClr val="tx1">
                    <a:tint val="75000"/>
                  </a:schemeClr>
                </a:solidFill>
              </a:defRPr>
            </a:lvl2pPr>
            <a:lvl3pPr marL="822960" indent="0" algn="ctr">
              <a:buNone/>
              <a:defRPr>
                <a:solidFill>
                  <a:schemeClr val="tx1">
                    <a:tint val="75000"/>
                  </a:schemeClr>
                </a:solidFill>
              </a:defRPr>
            </a:lvl3pPr>
            <a:lvl4pPr marL="1234440" indent="0" algn="ctr">
              <a:buNone/>
              <a:defRPr>
                <a:solidFill>
                  <a:schemeClr val="tx1">
                    <a:tint val="75000"/>
                  </a:schemeClr>
                </a:solidFill>
              </a:defRPr>
            </a:lvl4pPr>
            <a:lvl5pPr marL="1645920" indent="0" algn="ctr">
              <a:buNone/>
              <a:defRPr>
                <a:solidFill>
                  <a:schemeClr val="tx1">
                    <a:tint val="75000"/>
                  </a:schemeClr>
                </a:solidFill>
              </a:defRPr>
            </a:lvl5pPr>
            <a:lvl6pPr marL="2057400" indent="0" algn="ctr">
              <a:buNone/>
              <a:defRPr>
                <a:solidFill>
                  <a:schemeClr val="tx1">
                    <a:tint val="75000"/>
                  </a:schemeClr>
                </a:solidFill>
              </a:defRPr>
            </a:lvl6pPr>
            <a:lvl7pPr marL="2468880" indent="0" algn="ctr">
              <a:buNone/>
              <a:defRPr>
                <a:solidFill>
                  <a:schemeClr val="tx1">
                    <a:tint val="75000"/>
                  </a:schemeClr>
                </a:solidFill>
              </a:defRPr>
            </a:lvl7pPr>
            <a:lvl8pPr marL="2880360" indent="0" algn="ctr">
              <a:buNone/>
              <a:defRPr>
                <a:solidFill>
                  <a:schemeClr val="tx1">
                    <a:tint val="75000"/>
                  </a:schemeClr>
                </a:solidFill>
              </a:defRPr>
            </a:lvl8pPr>
            <a:lvl9pPr marL="3291840" indent="0" algn="ctr">
              <a:buNone/>
              <a:defRPr>
                <a:solidFill>
                  <a:schemeClr val="tx1">
                    <a:tint val="75000"/>
                  </a:schemeClr>
                </a:solidFill>
              </a:defRPr>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5">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and Content (no anim)">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991600" cy="495300"/>
          </a:xfrm>
        </p:spPr>
        <p:txBody>
          <a:bodyPr>
            <a:noAutofit/>
          </a:bodyPr>
          <a:lstStyle>
            <a:lvl1pPr>
              <a:defRPr sz="2800"/>
            </a:lvl1pPr>
          </a:lstStyle>
          <a:p>
            <a:r>
              <a:rPr lang="en-US" dirty="0"/>
              <a:t>Click to edit Master title style</a:t>
            </a:r>
          </a:p>
        </p:txBody>
      </p:sp>
      <p:sp>
        <p:nvSpPr>
          <p:cNvPr id="3" name="Content Placeholder 2"/>
          <p:cNvSpPr>
            <a:spLocks noGrp="1"/>
          </p:cNvSpPr>
          <p:nvPr>
            <p:ph idx="1"/>
          </p:nvPr>
        </p:nvSpPr>
        <p:spPr>
          <a:xfrm>
            <a:off x="152400" y="495301"/>
            <a:ext cx="8991600" cy="4801659"/>
          </a:xfrm>
        </p:spPr>
        <p:txBody>
          <a:bodyPr>
            <a:normAutofit/>
          </a:bodyPr>
          <a:lstStyle>
            <a:lvl1pPr marL="257175" indent="-257175">
              <a:buSzPct val="100000"/>
              <a:buFont typeface="Trebuchet MS" pitchFamily="34" charset="0"/>
              <a:buChar char="●"/>
              <a:defRPr sz="2200"/>
            </a:lvl1pPr>
            <a:lvl2pPr marL="515780" indent="-257175">
              <a:defRPr sz="2200"/>
            </a:lvl2pPr>
            <a:lvl3pPr marL="772955" indent="-250032">
              <a:tabLst/>
              <a:defRPr sz="2200" b="0"/>
            </a:lvl3pPr>
            <a:lvl4pPr marL="1031558" indent="-257175">
              <a:tabLst/>
              <a:defRPr sz="2200" b="0"/>
            </a:lvl4pPr>
            <a:lvl5pPr marL="1285875" indent="-254318">
              <a:defRPr sz="2200"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lvl1pPr>
              <a:defRPr sz="1200"/>
            </a:lvl1pPr>
          </a:lstStyle>
          <a:p>
            <a:r>
              <a:rPr lang="cs-CZ"/>
              <a:t>CS447</a:t>
            </a:r>
            <a:endParaRPr lang="en-US" dirty="0"/>
          </a:p>
        </p:txBody>
      </p:sp>
      <p:sp>
        <p:nvSpPr>
          <p:cNvPr id="6" name="Slide Number Placeholder 5"/>
          <p:cNvSpPr>
            <a:spLocks noGrp="1"/>
          </p:cNvSpPr>
          <p:nvPr>
            <p:ph type="sldNum" sz="quarter" idx="12"/>
          </p:nvPr>
        </p:nvSpPr>
        <p:spPr/>
        <p:txBody>
          <a:bodyPr/>
          <a:lstStyle>
            <a:lvl1pPr>
              <a:defRPr sz="1200"/>
            </a:lvl1pPr>
          </a:lstStyle>
          <a:p>
            <a:fld id="{3552B95B-556F-44BD-91A5-D80C1B9E2BB3}" type="slidenum">
              <a:rPr lang="en-US" smtClean="0"/>
              <a:pPr/>
              <a:t>‹#›</a:t>
            </a:fld>
            <a:endParaRPr lang="en-US"/>
          </a:p>
        </p:txBody>
      </p:sp>
    </p:spTree>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202729"/>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14501"/>
            <a:ext cx="7772400" cy="1225021"/>
          </a:xfrm>
        </p:spPr>
        <p:txBody>
          <a:bodyPr anchor="b">
            <a:noAutofit/>
          </a:bodyPr>
          <a:lstStyle>
            <a:lvl1pPr algn="l">
              <a:defRPr sz="4800"/>
            </a:lvl1pPr>
          </a:lstStyle>
          <a:p>
            <a:r>
              <a:rPr lang="en-US" dirty="0"/>
              <a:t>Click to edit Master title style</a:t>
            </a:r>
          </a:p>
        </p:txBody>
      </p:sp>
      <p:sp>
        <p:nvSpPr>
          <p:cNvPr id="5" name="Footer Placeholder 4"/>
          <p:cNvSpPr>
            <a:spLocks noGrp="1"/>
          </p:cNvSpPr>
          <p:nvPr>
            <p:ph type="ftr" sz="quarter" idx="11"/>
          </p:nvPr>
        </p:nvSpPr>
        <p:spPr/>
        <p:txBody>
          <a:bodyPr/>
          <a:lstStyle/>
          <a:p>
            <a:r>
              <a:rPr lang="cs-CZ"/>
              <a:t>CS447</a:t>
            </a:r>
            <a:endParaRPr lang="en-US" dirty="0"/>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
        <p:nvSpPr>
          <p:cNvPr id="7" name="Rectangle 6"/>
          <p:cNvSpPr/>
          <p:nvPr/>
        </p:nvSpPr>
        <p:spPr>
          <a:xfrm>
            <a:off x="0" y="3162300"/>
            <a:ext cx="9144000" cy="18288"/>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Tree>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333501"/>
            <a:ext cx="4038600" cy="3771636"/>
          </a:xfrm>
        </p:spPr>
        <p:txBody>
          <a:bodyPr/>
          <a:lstStyle>
            <a:lvl1pPr>
              <a:defRPr sz="2520"/>
            </a:lvl1pPr>
            <a:lvl2pPr>
              <a:defRPr sz="2160"/>
            </a:lvl2pPr>
            <a:lvl3pPr>
              <a:defRPr sz="1800"/>
            </a:lvl3pPr>
            <a:lvl4pPr>
              <a:defRPr sz="1620"/>
            </a:lvl4pPr>
            <a:lvl5pPr>
              <a:defRPr sz="1620"/>
            </a:lvl5pPr>
            <a:lvl6pPr>
              <a:defRPr sz="1620"/>
            </a:lvl6pPr>
            <a:lvl7pPr>
              <a:defRPr sz="1620"/>
            </a:lvl7pPr>
            <a:lvl8pPr>
              <a:defRPr sz="1620"/>
            </a:lvl8pPr>
            <a:lvl9pPr>
              <a:defRPr sz="16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8" y="1279261"/>
            <a:ext cx="4041775" cy="533136"/>
          </a:xfrm>
        </p:spPr>
        <p:txBody>
          <a:bodyPr anchor="b"/>
          <a:lstStyle>
            <a:lvl1pPr marL="0" indent="0">
              <a:buNone/>
              <a:defRPr sz="2160" b="1"/>
            </a:lvl1pPr>
            <a:lvl2pPr marL="411480" indent="0">
              <a:buNone/>
              <a:defRPr sz="1800" b="1"/>
            </a:lvl2pPr>
            <a:lvl3pPr marL="822960" indent="0">
              <a:buNone/>
              <a:defRPr sz="1620" b="1"/>
            </a:lvl3pPr>
            <a:lvl4pPr marL="1234440" indent="0">
              <a:buNone/>
              <a:defRPr sz="1440" b="1"/>
            </a:lvl4pPr>
            <a:lvl5pPr marL="1645920" indent="0">
              <a:buNone/>
              <a:defRPr sz="1440" b="1"/>
            </a:lvl5pPr>
            <a:lvl6pPr marL="2057400" indent="0">
              <a:buNone/>
              <a:defRPr sz="1440" b="1"/>
            </a:lvl6pPr>
            <a:lvl7pPr marL="2468880" indent="0">
              <a:buNone/>
              <a:defRPr sz="1440" b="1"/>
            </a:lvl7pPr>
            <a:lvl8pPr marL="2880360" indent="0">
              <a:buNone/>
              <a:defRPr sz="1440" b="1"/>
            </a:lvl8pPr>
            <a:lvl9pPr marL="3291840" indent="0">
              <a:buNone/>
              <a:defRPr sz="1440" b="1"/>
            </a:lvl9pPr>
          </a:lstStyle>
          <a:p>
            <a:pPr lvl="0"/>
            <a:r>
              <a:rPr lang="en-US"/>
              <a:t>Click to edit Master text styles</a:t>
            </a:r>
          </a:p>
        </p:txBody>
      </p:sp>
      <p:sp>
        <p:nvSpPr>
          <p:cNvPr id="6" name="Content Placeholder 5"/>
          <p:cNvSpPr>
            <a:spLocks noGrp="1"/>
          </p:cNvSpPr>
          <p:nvPr>
            <p:ph sz="quarter" idx="4"/>
          </p:nvPr>
        </p:nvSpPr>
        <p:spPr>
          <a:xfrm>
            <a:off x="4645028" y="1812396"/>
            <a:ext cx="4041775" cy="3292740"/>
          </a:xfrm>
        </p:spPr>
        <p:txBody>
          <a:bodyPr/>
          <a:lstStyle>
            <a:lvl1pPr>
              <a:defRPr sz="2160"/>
            </a:lvl1pPr>
            <a:lvl2pPr>
              <a:defRPr sz="1800"/>
            </a:lvl2pPr>
            <a:lvl3pPr>
              <a:defRPr sz="1620"/>
            </a:lvl3pPr>
            <a:lvl4pPr>
              <a:defRPr sz="1440"/>
            </a:lvl4pPr>
            <a:lvl5pPr>
              <a:defRPr sz="1440"/>
            </a:lvl5pPr>
            <a:lvl6pPr>
              <a:defRPr sz="1440"/>
            </a:lvl6pPr>
            <a:lvl7pPr>
              <a:defRPr sz="1440"/>
            </a:lvl7pPr>
            <a:lvl8pPr>
              <a:defRPr sz="1440"/>
            </a:lvl8pPr>
            <a:lvl9pPr>
              <a:defRPr sz="14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5296960"/>
            <a:ext cx="2133600" cy="304271"/>
          </a:xfrm>
          <a:prstGeom prst="rect">
            <a:avLst/>
          </a:prstGeom>
        </p:spPr>
        <p:txBody>
          <a:bodyPr/>
          <a:lstStyle/>
          <a:p>
            <a:endParaRPr lang="en-US"/>
          </a:p>
        </p:txBody>
      </p:sp>
      <p:sp>
        <p:nvSpPr>
          <p:cNvPr id="8" name="Footer Placeholder 7"/>
          <p:cNvSpPr>
            <a:spLocks noGrp="1"/>
          </p:cNvSpPr>
          <p:nvPr>
            <p:ph type="ftr" sz="quarter" idx="11"/>
          </p:nvPr>
        </p:nvSpPr>
        <p:spPr/>
        <p:txBody>
          <a:bodyPr/>
          <a:lstStyle/>
          <a:p>
            <a:r>
              <a:rPr lang="cs-CZ"/>
              <a:t>CS447</a:t>
            </a:r>
            <a:endParaRPr lang="en-US"/>
          </a:p>
        </p:txBody>
      </p:sp>
      <p:sp>
        <p:nvSpPr>
          <p:cNvPr id="9" name="Slide Number Placeholder 8"/>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5296960"/>
            <a:ext cx="2133600" cy="304271"/>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cs-CZ"/>
              <a:t>CS447</a:t>
            </a:r>
            <a:endParaRPr lang="en-US"/>
          </a:p>
        </p:txBody>
      </p:sp>
      <p:sp>
        <p:nvSpPr>
          <p:cNvPr id="5" name="Slide Number Placeholder 4"/>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5296960"/>
            <a:ext cx="2133600" cy="304271"/>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cs-CZ"/>
              <a:t>CS447</a:t>
            </a:r>
            <a:endParaRPr lang="en-US"/>
          </a:p>
        </p:txBody>
      </p:sp>
      <p:sp>
        <p:nvSpPr>
          <p:cNvPr id="4" name="Slide Number Placeholder 3"/>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1800" b="1"/>
            </a:lvl1pPr>
          </a:lstStyle>
          <a:p>
            <a:r>
              <a:rPr lang="en-US"/>
              <a:t>Click to edit Master title style</a:t>
            </a:r>
          </a:p>
        </p:txBody>
      </p:sp>
      <p:sp>
        <p:nvSpPr>
          <p:cNvPr id="3" name="Content Placeholder 2"/>
          <p:cNvSpPr>
            <a:spLocks noGrp="1"/>
          </p:cNvSpPr>
          <p:nvPr>
            <p:ph idx="1"/>
          </p:nvPr>
        </p:nvSpPr>
        <p:spPr>
          <a:xfrm>
            <a:off x="3575050" y="227544"/>
            <a:ext cx="5111750" cy="4877594"/>
          </a:xfrm>
        </p:spPr>
        <p:txBody>
          <a:bodyPr/>
          <a:lstStyle>
            <a:lvl1pPr>
              <a:defRPr sz="2880"/>
            </a:lvl1pPr>
            <a:lvl2pPr>
              <a:defRPr sz="2520"/>
            </a:lvl2pPr>
            <a:lvl3pPr>
              <a:defRPr sz="216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195919"/>
            <a:ext cx="3008313" cy="39092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8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880"/>
            </a:lvl1pPr>
            <a:lvl2pPr marL="411480" indent="0">
              <a:buNone/>
              <a:defRPr sz="2520"/>
            </a:lvl2pPr>
            <a:lvl3pPr marL="822960" indent="0">
              <a:buNone/>
              <a:defRPr sz="2160"/>
            </a:lvl3pPr>
            <a:lvl4pPr marL="1234440" indent="0">
              <a:buNone/>
              <a:defRPr sz="1800"/>
            </a:lvl4pPr>
            <a:lvl5pPr marL="1645920" indent="0">
              <a:buNone/>
              <a:defRPr sz="1800"/>
            </a:lvl5pPr>
            <a:lvl6pPr marL="2057400" indent="0">
              <a:buNone/>
              <a:defRPr sz="1800"/>
            </a:lvl6pPr>
            <a:lvl7pPr marL="2468880" indent="0">
              <a:buNone/>
              <a:defRPr sz="1800"/>
            </a:lvl7pPr>
            <a:lvl8pPr marL="2880360" indent="0">
              <a:buNone/>
              <a:defRPr sz="1800"/>
            </a:lvl8pPr>
            <a:lvl9pPr marL="3291840" indent="0">
              <a:buNone/>
              <a:defRPr sz="1800"/>
            </a:lvl9pPr>
          </a:lstStyle>
          <a:p>
            <a:r>
              <a:rPr lang="en-US" dirty="0"/>
              <a:t>Drag picture to placeholder or click icon to add</a:t>
            </a:r>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260"/>
            </a:lvl1pPr>
            <a:lvl2pPr marL="411480" indent="0">
              <a:buNone/>
              <a:defRPr sz="1080"/>
            </a:lvl2pPr>
            <a:lvl3pPr marL="822960" indent="0">
              <a:buNone/>
              <a:defRPr sz="900"/>
            </a:lvl3pPr>
            <a:lvl4pPr marL="1234440" indent="0">
              <a:buNone/>
              <a:defRPr sz="810"/>
            </a:lvl4pPr>
            <a:lvl5pPr marL="1645920" indent="0">
              <a:buNone/>
              <a:defRPr sz="810"/>
            </a:lvl5pPr>
            <a:lvl6pPr marL="2057400" indent="0">
              <a:buNone/>
              <a:defRPr sz="810"/>
            </a:lvl6pPr>
            <a:lvl7pPr marL="2468880" indent="0">
              <a:buNone/>
              <a:defRPr sz="810"/>
            </a:lvl7pPr>
            <a:lvl8pPr marL="2880360" indent="0">
              <a:buNone/>
              <a:defRPr sz="810"/>
            </a:lvl8pPr>
            <a:lvl9pPr marL="3291840" indent="0">
              <a:buNone/>
              <a:defRPr sz="810"/>
            </a:lvl9pPr>
          </a:lstStyle>
          <a:p>
            <a:pPr lvl="0"/>
            <a:r>
              <a:rPr lang="en-US"/>
              <a:t>Click to edit Master text styles</a:t>
            </a:r>
          </a:p>
        </p:txBody>
      </p:sp>
      <p:sp>
        <p:nvSpPr>
          <p:cNvPr id="5" name="Date Placeholder 4"/>
          <p:cNvSpPr>
            <a:spLocks noGrp="1"/>
          </p:cNvSpPr>
          <p:nvPr>
            <p:ph type="dt" sz="half" idx="10"/>
          </p:nvPr>
        </p:nvSpPr>
        <p:spPr>
          <a:xfrm>
            <a:off x="457200" y="5296960"/>
            <a:ext cx="2133600" cy="304271"/>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cs-CZ"/>
              <a:t>CS447</a:t>
            </a:r>
            <a:endParaRPr lang="en-US"/>
          </a:p>
        </p:txBody>
      </p:sp>
      <p:sp>
        <p:nvSpPr>
          <p:cNvPr id="7" name="Slide Number Placeholder 6"/>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5296960"/>
            <a:ext cx="2133600" cy="304271"/>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cs-CZ"/>
              <a:t>CS447</a:t>
            </a:r>
            <a:endParaRPr lang="en-US"/>
          </a:p>
        </p:txBody>
      </p:sp>
      <p:sp>
        <p:nvSpPr>
          <p:cNvPr id="6" name="Slide Number Placeholder 5"/>
          <p:cNvSpPr>
            <a:spLocks noGrp="1"/>
          </p:cNvSpPr>
          <p:nvPr>
            <p:ph type="sldNum" sz="quarter" idx="12"/>
          </p:nvPr>
        </p:nvSpPr>
        <p:spPr/>
        <p:txBody>
          <a:bodyPr/>
          <a:lstStyle/>
          <a:p>
            <a:fld id="{3552B95B-556F-44BD-91A5-D80C1B9E2BB3}" type="slidenum">
              <a:rPr lang="en-US" smtClean="0"/>
              <a:pPr/>
              <a:t>‹#›</a:t>
            </a:fld>
            <a:endParaRPr lang="en-US"/>
          </a:p>
        </p:txBody>
      </p:sp>
    </p:spTree>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5600700"/>
            <a:ext cx="9144000" cy="114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7" name="Rectangle 6"/>
          <p:cNvSpPr/>
          <p:nvPr/>
        </p:nvSpPr>
        <p:spPr>
          <a:xfrm>
            <a:off x="0" y="0"/>
            <a:ext cx="9144000" cy="495300"/>
          </a:xfrm>
          <a:prstGeom prst="rect">
            <a:avLst/>
          </a:prstGeom>
          <a:solidFill>
            <a:srgbClr val="5639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20" dirty="0"/>
          </a:p>
        </p:txBody>
      </p:sp>
      <p:sp>
        <p:nvSpPr>
          <p:cNvPr id="2" name="Title Placeholder 1"/>
          <p:cNvSpPr>
            <a:spLocks noGrp="1"/>
          </p:cNvSpPr>
          <p:nvPr>
            <p:ph type="title"/>
          </p:nvPr>
        </p:nvSpPr>
        <p:spPr>
          <a:xfrm>
            <a:off x="152400" y="0"/>
            <a:ext cx="8991600" cy="4953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52400" y="495301"/>
            <a:ext cx="8991600" cy="4801659"/>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0" y="5296960"/>
            <a:ext cx="1219200" cy="304271"/>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cs-CZ"/>
              <a:t>CS447</a:t>
            </a:r>
            <a:endParaRPr lang="en-US" dirty="0"/>
          </a:p>
        </p:txBody>
      </p:sp>
      <p:sp>
        <p:nvSpPr>
          <p:cNvPr id="6" name="Slide Number Placeholder 5"/>
          <p:cNvSpPr>
            <a:spLocks noGrp="1"/>
          </p:cNvSpPr>
          <p:nvPr>
            <p:ph type="sldNum" sz="quarter" idx="4"/>
          </p:nvPr>
        </p:nvSpPr>
        <p:spPr>
          <a:xfrm>
            <a:off x="8458200" y="5296960"/>
            <a:ext cx="685800" cy="304271"/>
          </a:xfrm>
          <a:prstGeom prst="rect">
            <a:avLst/>
          </a:prstGeom>
        </p:spPr>
        <p:txBody>
          <a:bodyPr vert="horz" lIns="91440" tIns="45720" rIns="91440" bIns="45720" rtlCol="0" anchor="ctr"/>
          <a:lstStyle>
            <a:lvl1pPr algn="r">
              <a:defRPr sz="1200">
                <a:solidFill>
                  <a:schemeClr val="tx1">
                    <a:tint val="75000"/>
                  </a:schemeClr>
                </a:solidFill>
              </a:defRPr>
            </a:lvl1pPr>
          </a:lstStyle>
          <a:p>
            <a:fld id="{3552B95B-556F-44BD-91A5-D80C1B9E2BB3}" type="slidenum">
              <a:rPr lang="en-US" smtClean="0"/>
              <a:pPr/>
              <a:t>‹#›</a:t>
            </a:fld>
            <a:endParaRPr lang="en-US"/>
          </a:p>
        </p:txBody>
      </p:sp>
    </p:spTree>
    <p:extLst>
      <p:ext uri="{BB962C8B-B14F-4D97-AF65-F5344CB8AC3E}">
        <p14:creationId xmlns:p14="http://schemas.microsoft.com/office/powerpoint/2010/main" val="34903523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ransition/>
  <p:hf hdr="0" ftr="0" dt="0"/>
  <p:txStyles>
    <p:titleStyle>
      <a:lvl1pPr algn="l" defTabSz="822960" rtl="0" eaLnBrk="1" latinLnBrk="0" hangingPunct="1">
        <a:spcBef>
          <a:spcPct val="0"/>
        </a:spcBef>
        <a:buNone/>
        <a:defRPr sz="2800" b="1" kern="1200">
          <a:solidFill>
            <a:schemeClr val="bg1"/>
          </a:solidFill>
          <a:latin typeface="+mj-lt"/>
          <a:ea typeface="GulimChe" pitchFamily="49" charset="-127"/>
          <a:cs typeface="MoolBoran" pitchFamily="34" charset="0"/>
        </a:defRPr>
      </a:lvl1pPr>
    </p:titleStyle>
    <p:bodyStyle>
      <a:lvl1pPr marL="204312" indent="-204312" algn="l" defTabSz="822960" rtl="0" eaLnBrk="1" latinLnBrk="0" hangingPunct="1">
        <a:spcBef>
          <a:spcPts val="0"/>
        </a:spcBef>
        <a:buSzPct val="150000"/>
        <a:buFont typeface="Arial" pitchFamily="34" charset="0"/>
        <a:buChar char="•"/>
        <a:defRPr sz="2200" kern="1200">
          <a:solidFill>
            <a:schemeClr val="tx1"/>
          </a:solidFill>
          <a:latin typeface="+mn-lt"/>
          <a:ea typeface="+mn-ea"/>
          <a:cs typeface="+mn-cs"/>
        </a:defRPr>
      </a:lvl1pPr>
      <a:lvl2pPr marL="415767" indent="-207170" algn="l" defTabSz="822960" rtl="0" eaLnBrk="1" latinLnBrk="0" hangingPunct="1">
        <a:spcBef>
          <a:spcPts val="0"/>
        </a:spcBef>
        <a:buFont typeface="Courier New" pitchFamily="49" charset="0"/>
        <a:buChar char="o"/>
        <a:defRPr sz="2200" kern="1200">
          <a:solidFill>
            <a:schemeClr val="tx1"/>
          </a:solidFill>
          <a:latin typeface="+mn-lt"/>
          <a:ea typeface="+mn-ea"/>
          <a:cs typeface="+mn-cs"/>
        </a:defRPr>
      </a:lvl2pPr>
      <a:lvl3pPr marL="620078" indent="-205740" algn="l" defTabSz="822960" rtl="0" eaLnBrk="1" latinLnBrk="0" hangingPunct="1">
        <a:spcBef>
          <a:spcPts val="0"/>
        </a:spcBef>
        <a:buFont typeface="Wingdings" pitchFamily="2" charset="2"/>
        <a:buChar char="§"/>
        <a:defRPr sz="2200" kern="1200">
          <a:solidFill>
            <a:schemeClr val="tx1"/>
          </a:solidFill>
          <a:latin typeface="+mn-lt"/>
          <a:ea typeface="+mn-ea"/>
          <a:cs typeface="+mn-cs"/>
        </a:defRPr>
      </a:lvl3pPr>
      <a:lvl4pPr marL="821532"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4pPr>
      <a:lvl5pPr marL="1028700" indent="-205740" algn="l" defTabSz="822960" rtl="0" eaLnBrk="1" latinLnBrk="0" hangingPunct="1">
        <a:spcBef>
          <a:spcPts val="0"/>
        </a:spcBef>
        <a:buFont typeface="Arial" pitchFamily="34" charset="0"/>
        <a:buChar char="»"/>
        <a:defRPr sz="2200" kern="1200">
          <a:solidFill>
            <a:schemeClr val="tx1"/>
          </a:solidFill>
          <a:latin typeface="+mn-lt"/>
          <a:ea typeface="+mn-ea"/>
          <a:cs typeface="+mn-cs"/>
        </a:defRPr>
      </a:lvl5pPr>
      <a:lvl6pPr marL="226314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67462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08610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497580" indent="-205740" algn="l" defTabSz="822960" rtl="0" eaLnBrk="1" latinLnBrk="0" hangingPunct="1">
        <a:spcBef>
          <a:spcPct val="200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Lexing and Grammars</a:t>
            </a:r>
            <a:endParaRPr lang="en-US" sz="2400" dirty="0"/>
          </a:p>
        </p:txBody>
      </p:sp>
      <p:sp>
        <p:nvSpPr>
          <p:cNvPr id="3" name="Subtitle 2"/>
          <p:cNvSpPr>
            <a:spLocks noGrp="1"/>
          </p:cNvSpPr>
          <p:nvPr>
            <p:ph type="subTitle" idx="1"/>
          </p:nvPr>
        </p:nvSpPr>
        <p:spPr/>
        <p:txBody>
          <a:bodyPr/>
          <a:lstStyle/>
          <a:p>
            <a:r>
              <a:rPr lang="en-US" dirty="0"/>
              <a:t>CS/COE 1622</a:t>
            </a:r>
          </a:p>
          <a:p>
            <a:r>
              <a:rPr lang="en-US" dirty="0"/>
              <a:t>Jarrett Billingsley</a:t>
            </a:r>
          </a:p>
        </p:txBody>
      </p:sp>
    </p:spTree>
    <p:extLst>
      <p:ext uri="{BB962C8B-B14F-4D97-AF65-F5344CB8AC3E}">
        <p14:creationId xmlns:p14="http://schemas.microsoft.com/office/powerpoint/2010/main" val="36120865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17CE-A372-C744-8763-80C56E421E87}"/>
              </a:ext>
            </a:extLst>
          </p:cNvPr>
          <p:cNvSpPr>
            <a:spLocks noGrp="1"/>
          </p:cNvSpPr>
          <p:nvPr>
            <p:ph type="title"/>
          </p:nvPr>
        </p:nvSpPr>
        <p:spPr/>
        <p:txBody>
          <a:bodyPr/>
          <a:lstStyle/>
          <a:p>
            <a:r>
              <a:rPr lang="en-US" dirty="0"/>
              <a:t>Class Announcements</a:t>
            </a:r>
          </a:p>
        </p:txBody>
      </p:sp>
      <p:sp>
        <p:nvSpPr>
          <p:cNvPr id="3" name="Content Placeholder 2">
            <a:extLst>
              <a:ext uri="{FF2B5EF4-FFF2-40B4-BE49-F238E27FC236}">
                <a16:creationId xmlns:a16="http://schemas.microsoft.com/office/drawing/2014/main" id="{F4FEBBF7-1C6E-294A-B5C4-174BB20AAFA9}"/>
              </a:ext>
            </a:extLst>
          </p:cNvPr>
          <p:cNvSpPr>
            <a:spLocks noGrp="1"/>
          </p:cNvSpPr>
          <p:nvPr>
            <p:ph idx="1"/>
          </p:nvPr>
        </p:nvSpPr>
        <p:spPr/>
        <p:txBody>
          <a:bodyPr/>
          <a:lstStyle/>
          <a:p>
            <a:r>
              <a:rPr lang="en-US" dirty="0"/>
              <a:t>project 1 is out if you didn't see the announcement(s)</a:t>
            </a:r>
          </a:p>
          <a:p>
            <a:pPr lvl="1"/>
            <a:r>
              <a:rPr lang="en-US" dirty="0"/>
              <a:t>remember it's due by </a:t>
            </a:r>
            <a:r>
              <a:rPr lang="en-US" b="1" dirty="0"/>
              <a:t>this Saturday evening</a:t>
            </a:r>
            <a:endParaRPr lang="en-US" dirty="0"/>
          </a:p>
          <a:p>
            <a:pPr lvl="1"/>
            <a:r>
              <a:rPr lang="en-US" dirty="0"/>
              <a:t>or Sunday for late credit (-10%)</a:t>
            </a:r>
          </a:p>
          <a:p>
            <a:r>
              <a:rPr lang="en-US" dirty="0"/>
              <a:t>finally today we're getting into the COMPILER STUFF!</a:t>
            </a:r>
          </a:p>
          <a:p>
            <a:r>
              <a:rPr lang="en-US" dirty="0"/>
              <a:t>couple new examples in the examples repo for today too!</a:t>
            </a:r>
          </a:p>
        </p:txBody>
      </p:sp>
      <p:sp>
        <p:nvSpPr>
          <p:cNvPr id="4" name="Slide Number Placeholder 3">
            <a:extLst>
              <a:ext uri="{FF2B5EF4-FFF2-40B4-BE49-F238E27FC236}">
                <a16:creationId xmlns:a16="http://schemas.microsoft.com/office/drawing/2014/main" id="{05CC32BD-B01F-C646-91E9-D5AAEE75AC36}"/>
              </a:ext>
            </a:extLst>
          </p:cNvPr>
          <p:cNvSpPr>
            <a:spLocks noGrp="1"/>
          </p:cNvSpPr>
          <p:nvPr>
            <p:ph type="sldNum" sz="quarter" idx="12"/>
          </p:nvPr>
        </p:nvSpPr>
        <p:spPr/>
        <p:txBody>
          <a:bodyPr/>
          <a:lstStyle/>
          <a:p>
            <a:fld id="{3552B95B-556F-44BD-91A5-D80C1B9E2BB3}" type="slidenum">
              <a:rPr lang="en-US" smtClean="0"/>
              <a:pPr/>
              <a:t>2</a:t>
            </a:fld>
            <a:endParaRPr lang="en-US"/>
          </a:p>
        </p:txBody>
      </p:sp>
    </p:spTree>
    <p:extLst>
      <p:ext uri="{BB962C8B-B14F-4D97-AF65-F5344CB8AC3E}">
        <p14:creationId xmlns:p14="http://schemas.microsoft.com/office/powerpoint/2010/main" val="243397440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B85F4-983E-A942-94EF-F55EFE175F3E}"/>
              </a:ext>
            </a:extLst>
          </p:cNvPr>
          <p:cNvSpPr>
            <a:spLocks noGrp="1"/>
          </p:cNvSpPr>
          <p:nvPr>
            <p:ph type="ctrTitle"/>
          </p:nvPr>
        </p:nvSpPr>
        <p:spPr/>
        <p:txBody>
          <a:bodyPr/>
          <a:lstStyle/>
          <a:p>
            <a:r>
              <a:rPr lang="en-US" dirty="0"/>
              <a:t>Lexing</a:t>
            </a:r>
          </a:p>
        </p:txBody>
      </p:sp>
      <p:sp>
        <p:nvSpPr>
          <p:cNvPr id="3" name="Slide Number Placeholder 2">
            <a:extLst>
              <a:ext uri="{FF2B5EF4-FFF2-40B4-BE49-F238E27FC236}">
                <a16:creationId xmlns:a16="http://schemas.microsoft.com/office/drawing/2014/main" id="{C4E5A6FD-AB9A-E74A-99DC-FC8087CE1AD2}"/>
              </a:ext>
            </a:extLst>
          </p:cNvPr>
          <p:cNvSpPr>
            <a:spLocks noGrp="1"/>
          </p:cNvSpPr>
          <p:nvPr>
            <p:ph type="sldNum" sz="quarter" idx="12"/>
          </p:nvPr>
        </p:nvSpPr>
        <p:spPr/>
        <p:txBody>
          <a:bodyPr/>
          <a:lstStyle/>
          <a:p>
            <a:fld id="{3552B95B-556F-44BD-91A5-D80C1B9E2BB3}" type="slidenum">
              <a:rPr lang="en-US" smtClean="0"/>
              <a:pPr/>
              <a:t>3</a:t>
            </a:fld>
            <a:endParaRPr lang="en-US"/>
          </a:p>
        </p:txBody>
      </p:sp>
    </p:spTree>
    <p:extLst>
      <p:ext uri="{BB962C8B-B14F-4D97-AF65-F5344CB8AC3E}">
        <p14:creationId xmlns:p14="http://schemas.microsoft.com/office/powerpoint/2010/main" val="391348252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7B5DE-EFB6-7F4B-A1A8-FDF6015DADF3}"/>
              </a:ext>
            </a:extLst>
          </p:cNvPr>
          <p:cNvSpPr>
            <a:spLocks noGrp="1"/>
          </p:cNvSpPr>
          <p:nvPr>
            <p:ph type="title"/>
          </p:nvPr>
        </p:nvSpPr>
        <p:spPr/>
        <p:txBody>
          <a:bodyPr/>
          <a:lstStyle/>
          <a:p>
            <a:r>
              <a:rPr lang="en-US" dirty="0"/>
              <a:t>What is it?</a:t>
            </a:r>
          </a:p>
        </p:txBody>
      </p:sp>
      <p:sp>
        <p:nvSpPr>
          <p:cNvPr id="3" name="Content Placeholder 2">
            <a:extLst>
              <a:ext uri="{FF2B5EF4-FFF2-40B4-BE49-F238E27FC236}">
                <a16:creationId xmlns:a16="http://schemas.microsoft.com/office/drawing/2014/main" id="{3EB30888-239A-D74E-A208-03D1E6A8077B}"/>
              </a:ext>
            </a:extLst>
          </p:cNvPr>
          <p:cNvSpPr>
            <a:spLocks noGrp="1"/>
          </p:cNvSpPr>
          <p:nvPr>
            <p:ph idx="1"/>
          </p:nvPr>
        </p:nvSpPr>
        <p:spPr>
          <a:xfrm>
            <a:off x="152400" y="495301"/>
            <a:ext cx="8991600" cy="1142999"/>
          </a:xfrm>
        </p:spPr>
        <p:txBody>
          <a:bodyPr/>
          <a:lstStyle/>
          <a:p>
            <a:r>
              <a:rPr lang="en-US" dirty="0"/>
              <a:t>when a compiler reads the source code, it's just a long </a:t>
            </a:r>
            <a:r>
              <a:rPr lang="en-US" b="1" dirty="0"/>
              <a:t>string.</a:t>
            </a:r>
          </a:p>
          <a:p>
            <a:r>
              <a:rPr lang="en-US" b="1" dirty="0"/>
              <a:t>lexing</a:t>
            </a:r>
            <a:r>
              <a:rPr lang="en-US" dirty="0"/>
              <a:t> (or "scanning") is the process of splitting that string into small, meaningful pieces in order to simplify the next step, </a:t>
            </a:r>
            <a:r>
              <a:rPr lang="en-US" i="1" dirty="0"/>
              <a:t>parsing.</a:t>
            </a:r>
          </a:p>
        </p:txBody>
      </p:sp>
      <p:sp>
        <p:nvSpPr>
          <p:cNvPr id="4" name="Slide Number Placeholder 3">
            <a:extLst>
              <a:ext uri="{FF2B5EF4-FFF2-40B4-BE49-F238E27FC236}">
                <a16:creationId xmlns:a16="http://schemas.microsoft.com/office/drawing/2014/main" id="{ED2B33EC-BFA8-F84B-8823-B124FBEF31C2}"/>
              </a:ext>
            </a:extLst>
          </p:cNvPr>
          <p:cNvSpPr>
            <a:spLocks noGrp="1"/>
          </p:cNvSpPr>
          <p:nvPr>
            <p:ph type="sldNum" sz="quarter" idx="12"/>
          </p:nvPr>
        </p:nvSpPr>
        <p:spPr/>
        <p:txBody>
          <a:bodyPr/>
          <a:lstStyle/>
          <a:p>
            <a:fld id="{3552B95B-556F-44BD-91A5-D80C1B9E2BB3}" type="slidenum">
              <a:rPr lang="en-US" smtClean="0"/>
              <a:pPr/>
              <a:t>4</a:t>
            </a:fld>
            <a:endParaRPr lang="en-US"/>
          </a:p>
        </p:txBody>
      </p:sp>
      <p:sp>
        <p:nvSpPr>
          <p:cNvPr id="5" name="Rectangle 4">
            <a:extLst>
              <a:ext uri="{FF2B5EF4-FFF2-40B4-BE49-F238E27FC236}">
                <a16:creationId xmlns:a16="http://schemas.microsoft.com/office/drawing/2014/main" id="{457383F3-7BEB-C04E-B938-A21A9A7F79E6}"/>
              </a:ext>
            </a:extLst>
          </p:cNvPr>
          <p:cNvSpPr/>
          <p:nvPr/>
        </p:nvSpPr>
        <p:spPr>
          <a:xfrm>
            <a:off x="3733800" y="1896019"/>
            <a:ext cx="1371600" cy="1142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Lexer</a:t>
            </a:r>
          </a:p>
        </p:txBody>
      </p:sp>
      <p:sp>
        <p:nvSpPr>
          <p:cNvPr id="6" name="TextBox 5">
            <a:extLst>
              <a:ext uri="{FF2B5EF4-FFF2-40B4-BE49-F238E27FC236}">
                <a16:creationId xmlns:a16="http://schemas.microsoft.com/office/drawing/2014/main" id="{37B4E7E0-5025-C548-A514-050B408895A5}"/>
              </a:ext>
            </a:extLst>
          </p:cNvPr>
          <p:cNvSpPr txBox="1"/>
          <p:nvPr/>
        </p:nvSpPr>
        <p:spPr>
          <a:xfrm>
            <a:off x="590550" y="2267464"/>
            <a:ext cx="2609850" cy="400110"/>
          </a:xfrm>
          <a:prstGeom prst="rect">
            <a:avLst/>
          </a:prstGeom>
          <a:noFill/>
        </p:spPr>
        <p:txBody>
          <a:bodyPr wrap="square" rtlCol="0">
            <a:spAutoFit/>
          </a:bodyPr>
          <a:lstStyle/>
          <a:p>
            <a:pPr algn="ctr"/>
            <a:r>
              <a:rPr lang="en-US" sz="2000" b="1" dirty="0">
                <a:solidFill>
                  <a:schemeClr val="accent6">
                    <a:lumMod val="75000"/>
                  </a:schemeClr>
                </a:solidFill>
                <a:latin typeface="Consolas" panose="020B0609020204030204" pitchFamily="49" charset="0"/>
                <a:cs typeface="Consolas" panose="020B0609020204030204" pitchFamily="49" charset="0"/>
              </a:rPr>
              <a:t>"3*x + (y / 1.9)"</a:t>
            </a:r>
            <a:endParaRPr lang="en-US" sz="2000" i="1" dirty="0">
              <a:solidFill>
                <a:schemeClr val="accent6">
                  <a:lumMod val="75000"/>
                </a:schemeClr>
              </a:solidFill>
              <a:latin typeface="Consolas" panose="020B0609020204030204" pitchFamily="49" charset="0"/>
              <a:cs typeface="Consolas" panose="020B0609020204030204" pitchFamily="49" charset="0"/>
            </a:endParaRPr>
          </a:p>
        </p:txBody>
      </p:sp>
      <p:sp>
        <p:nvSpPr>
          <p:cNvPr id="7" name="Right Arrow 6">
            <a:extLst>
              <a:ext uri="{FF2B5EF4-FFF2-40B4-BE49-F238E27FC236}">
                <a16:creationId xmlns:a16="http://schemas.microsoft.com/office/drawing/2014/main" id="{39335B36-F56D-2240-A895-341B5CB34FE9}"/>
              </a:ext>
            </a:extLst>
          </p:cNvPr>
          <p:cNvSpPr/>
          <p:nvPr/>
        </p:nvSpPr>
        <p:spPr>
          <a:xfrm>
            <a:off x="3200400" y="2267464"/>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6D659292-4534-014B-8AD7-E199526D04B2}"/>
              </a:ext>
            </a:extLst>
          </p:cNvPr>
          <p:cNvSpPr/>
          <p:nvPr/>
        </p:nvSpPr>
        <p:spPr>
          <a:xfrm>
            <a:off x="5124450" y="2267464"/>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EE9149EA-8928-EF44-B107-AB0B8BC72B0D}"/>
              </a:ext>
            </a:extLst>
          </p:cNvPr>
          <p:cNvSpPr txBox="1"/>
          <p:nvPr/>
        </p:nvSpPr>
        <p:spPr>
          <a:xfrm>
            <a:off x="685800" y="2862538"/>
            <a:ext cx="2703438" cy="769441"/>
          </a:xfrm>
          <a:prstGeom prst="rect">
            <a:avLst/>
          </a:prstGeom>
          <a:noFill/>
        </p:spPr>
        <p:txBody>
          <a:bodyPr wrap="square" rtlCol="0">
            <a:spAutoFit/>
          </a:bodyPr>
          <a:lstStyle/>
          <a:p>
            <a:pPr algn="ctr"/>
            <a:r>
              <a:rPr lang="en-US" sz="2200" dirty="0"/>
              <a:t>the lexer's input is the </a:t>
            </a:r>
            <a:r>
              <a:rPr lang="en-US" sz="2200" b="1" dirty="0"/>
              <a:t>source code.</a:t>
            </a:r>
            <a:endParaRPr lang="en-US" sz="2200" dirty="0"/>
          </a:p>
        </p:txBody>
      </p:sp>
      <p:sp>
        <p:nvSpPr>
          <p:cNvPr id="10" name="TextBox 9">
            <a:extLst>
              <a:ext uri="{FF2B5EF4-FFF2-40B4-BE49-F238E27FC236}">
                <a16:creationId xmlns:a16="http://schemas.microsoft.com/office/drawing/2014/main" id="{C16A4E5E-34D1-7346-96C3-9D4A495482A5}"/>
              </a:ext>
            </a:extLst>
          </p:cNvPr>
          <p:cNvSpPr txBox="1"/>
          <p:nvPr/>
        </p:nvSpPr>
        <p:spPr>
          <a:xfrm>
            <a:off x="5638800" y="2862538"/>
            <a:ext cx="2533650" cy="769441"/>
          </a:xfrm>
          <a:prstGeom prst="rect">
            <a:avLst/>
          </a:prstGeom>
          <a:noFill/>
        </p:spPr>
        <p:txBody>
          <a:bodyPr wrap="square" rtlCol="0">
            <a:spAutoFit/>
          </a:bodyPr>
          <a:lstStyle/>
          <a:p>
            <a:pPr algn="ctr"/>
            <a:r>
              <a:rPr lang="en-US" sz="2200" dirty="0"/>
              <a:t>the lexer's output is a list of </a:t>
            </a:r>
            <a:r>
              <a:rPr lang="en-US" sz="2200" b="1" dirty="0"/>
              <a:t>tokens.</a:t>
            </a:r>
            <a:endParaRPr lang="en-US" sz="2200" dirty="0"/>
          </a:p>
        </p:txBody>
      </p:sp>
      <p:sp>
        <p:nvSpPr>
          <p:cNvPr id="11" name="TextBox 10">
            <a:extLst>
              <a:ext uri="{FF2B5EF4-FFF2-40B4-BE49-F238E27FC236}">
                <a16:creationId xmlns:a16="http://schemas.microsoft.com/office/drawing/2014/main" id="{87BCF59D-5C94-B148-A3D4-22CA1499AFC2}"/>
              </a:ext>
            </a:extLst>
          </p:cNvPr>
          <p:cNvSpPr txBox="1"/>
          <p:nvPr/>
        </p:nvSpPr>
        <p:spPr>
          <a:xfrm>
            <a:off x="5657850" y="2113605"/>
            <a:ext cx="3257550" cy="707886"/>
          </a:xfrm>
          <a:prstGeom prst="rect">
            <a:avLst/>
          </a:prstGeom>
          <a:noFill/>
        </p:spPr>
        <p:txBody>
          <a:bodyPr wrap="square" rtlCol="0">
            <a:spAutoFit/>
          </a:bodyPr>
          <a:lstStyle/>
          <a:p>
            <a:r>
              <a:rPr lang="en-US" sz="2000" b="1" dirty="0" err="1">
                <a:latin typeface="Consolas" panose="020B0609020204030204" pitchFamily="49" charset="0"/>
                <a:cs typeface="Consolas" panose="020B0609020204030204" pitchFamily="49" charset="0"/>
              </a:rPr>
              <a:t>IntLit</a:t>
            </a:r>
            <a:r>
              <a:rPr lang="en-US" sz="2000" b="1" dirty="0">
                <a:latin typeface="Consolas" panose="020B0609020204030204" pitchFamily="49" charset="0"/>
                <a:cs typeface="Consolas" panose="020B0609020204030204" pitchFamily="49" charset="0"/>
              </a:rPr>
              <a:t>(</a:t>
            </a:r>
            <a:r>
              <a:rPr lang="en-US" sz="2000" b="1" dirty="0">
                <a:solidFill>
                  <a:schemeClr val="accent3">
                    <a:lumMod val="75000"/>
                  </a:schemeClr>
                </a:solidFill>
                <a:latin typeface="Consolas" panose="020B0609020204030204" pitchFamily="49" charset="0"/>
                <a:cs typeface="Consolas" panose="020B0609020204030204" pitchFamily="49" charset="0"/>
              </a:rPr>
              <a:t>3</a:t>
            </a:r>
            <a:r>
              <a:rPr lang="en-US" sz="2000" b="1" dirty="0">
                <a:latin typeface="Consolas" panose="020B0609020204030204" pitchFamily="49" charset="0"/>
                <a:cs typeface="Consolas" panose="020B0609020204030204" pitchFamily="49" charset="0"/>
              </a:rPr>
              <a:t>, Dec), Times,</a:t>
            </a:r>
          </a:p>
          <a:p>
            <a:r>
              <a:rPr lang="en-US" sz="2000" b="1" dirty="0">
                <a:latin typeface="Consolas" panose="020B0609020204030204" pitchFamily="49" charset="0"/>
                <a:cs typeface="Consolas" panose="020B0609020204030204" pitchFamily="49" charset="0"/>
              </a:rPr>
              <a:t>Id(</a:t>
            </a:r>
            <a:r>
              <a:rPr lang="en-US" sz="2000" b="1" dirty="0">
                <a:solidFill>
                  <a:schemeClr val="accent6">
                    <a:lumMod val="75000"/>
                  </a:schemeClr>
                </a:solidFill>
                <a:latin typeface="Consolas" panose="020B0609020204030204" pitchFamily="49" charset="0"/>
                <a:cs typeface="Consolas" panose="020B0609020204030204" pitchFamily="49" charset="0"/>
              </a:rPr>
              <a:t>"x"</a:t>
            </a:r>
            <a:r>
              <a:rPr lang="en-US" sz="2000" b="1" dirty="0">
                <a:latin typeface="Consolas" panose="020B0609020204030204" pitchFamily="49" charset="0"/>
                <a:cs typeface="Consolas" panose="020B0609020204030204" pitchFamily="49" charset="0"/>
              </a:rPr>
              <a:t>), Plus, ...</a:t>
            </a:r>
            <a:endParaRPr lang="en-US" sz="2000" dirty="0">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825E0A0D-CA9F-B047-828B-ECC7B0E8BE11}"/>
              </a:ext>
            </a:extLst>
          </p:cNvPr>
          <p:cNvSpPr txBox="1"/>
          <p:nvPr/>
        </p:nvSpPr>
        <p:spPr>
          <a:xfrm>
            <a:off x="1676400" y="4045729"/>
            <a:ext cx="5581650" cy="769441"/>
          </a:xfrm>
          <a:prstGeom prst="rect">
            <a:avLst/>
          </a:prstGeom>
          <a:noFill/>
        </p:spPr>
        <p:txBody>
          <a:bodyPr wrap="square" rtlCol="0">
            <a:spAutoFit/>
          </a:bodyPr>
          <a:lstStyle/>
          <a:p>
            <a:pPr algn="ctr"/>
            <a:r>
              <a:rPr lang="en-US" sz="2200" dirty="0"/>
              <a:t>each token is like one "word" in the source language – the smallest unit of </a:t>
            </a:r>
            <a:r>
              <a:rPr lang="en-US" sz="2200" b="1" dirty="0"/>
              <a:t>meaning.</a:t>
            </a:r>
          </a:p>
        </p:txBody>
      </p:sp>
    </p:spTree>
    <p:extLst>
      <p:ext uri="{BB962C8B-B14F-4D97-AF65-F5344CB8AC3E}">
        <p14:creationId xmlns:p14="http://schemas.microsoft.com/office/powerpoint/2010/main" val="21299597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p:bldP spid="10"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D2346-F725-7549-AEF8-6222C6F6A8A0}"/>
              </a:ext>
            </a:extLst>
          </p:cNvPr>
          <p:cNvSpPr>
            <a:spLocks noGrp="1"/>
          </p:cNvSpPr>
          <p:nvPr>
            <p:ph type="title"/>
          </p:nvPr>
        </p:nvSpPr>
        <p:spPr/>
        <p:txBody>
          <a:bodyPr/>
          <a:lstStyle/>
          <a:p>
            <a:r>
              <a:rPr lang="en-US" dirty="0"/>
              <a:t>Tokens, and… not-tokens</a:t>
            </a:r>
          </a:p>
        </p:txBody>
      </p:sp>
      <p:sp>
        <p:nvSpPr>
          <p:cNvPr id="3" name="Content Placeholder 2">
            <a:extLst>
              <a:ext uri="{FF2B5EF4-FFF2-40B4-BE49-F238E27FC236}">
                <a16:creationId xmlns:a16="http://schemas.microsoft.com/office/drawing/2014/main" id="{18B01509-1586-B64F-8B54-EDB2FD70EC61}"/>
              </a:ext>
            </a:extLst>
          </p:cNvPr>
          <p:cNvSpPr>
            <a:spLocks noGrp="1"/>
          </p:cNvSpPr>
          <p:nvPr>
            <p:ph idx="1"/>
          </p:nvPr>
        </p:nvSpPr>
        <p:spPr>
          <a:xfrm>
            <a:off x="152400" y="495301"/>
            <a:ext cx="8991600" cy="838199"/>
          </a:xfrm>
        </p:spPr>
        <p:txBody>
          <a:bodyPr/>
          <a:lstStyle/>
          <a:p>
            <a:r>
              <a:rPr lang="en-US" b="1" dirty="0"/>
              <a:t>tokens </a:t>
            </a:r>
            <a:r>
              <a:rPr lang="en-US" dirty="0"/>
              <a:t>have meaning to the programming language. but </a:t>
            </a:r>
            <a:r>
              <a:rPr lang="en-US" b="1" dirty="0"/>
              <a:t>not everything</a:t>
            </a:r>
            <a:r>
              <a:rPr lang="en-US" dirty="0"/>
              <a:t> you type in the source code is meaningful.</a:t>
            </a:r>
            <a:endParaRPr lang="en-US" b="1" dirty="0"/>
          </a:p>
        </p:txBody>
      </p:sp>
      <p:sp>
        <p:nvSpPr>
          <p:cNvPr id="4" name="Slide Number Placeholder 3">
            <a:extLst>
              <a:ext uri="{FF2B5EF4-FFF2-40B4-BE49-F238E27FC236}">
                <a16:creationId xmlns:a16="http://schemas.microsoft.com/office/drawing/2014/main" id="{33FAA6CC-93D5-8F42-AD7B-AB43B7C153A7}"/>
              </a:ext>
            </a:extLst>
          </p:cNvPr>
          <p:cNvSpPr>
            <a:spLocks noGrp="1"/>
          </p:cNvSpPr>
          <p:nvPr>
            <p:ph type="sldNum" sz="quarter" idx="12"/>
          </p:nvPr>
        </p:nvSpPr>
        <p:spPr/>
        <p:txBody>
          <a:bodyPr/>
          <a:lstStyle/>
          <a:p>
            <a:fld id="{3552B95B-556F-44BD-91A5-D80C1B9E2BB3}" type="slidenum">
              <a:rPr lang="en-US" smtClean="0"/>
              <a:pPr/>
              <a:t>5</a:t>
            </a:fld>
            <a:endParaRPr lang="en-US"/>
          </a:p>
        </p:txBody>
      </p:sp>
      <p:sp>
        <p:nvSpPr>
          <p:cNvPr id="5" name="TextBox 4">
            <a:extLst>
              <a:ext uri="{FF2B5EF4-FFF2-40B4-BE49-F238E27FC236}">
                <a16:creationId xmlns:a16="http://schemas.microsoft.com/office/drawing/2014/main" id="{6BDC30E3-C476-E840-A04F-648855CA0A6F}"/>
              </a:ext>
            </a:extLst>
          </p:cNvPr>
          <p:cNvSpPr txBox="1"/>
          <p:nvPr/>
        </p:nvSpPr>
        <p:spPr>
          <a:xfrm>
            <a:off x="457200" y="1472410"/>
            <a:ext cx="1828800" cy="1015663"/>
          </a:xfrm>
          <a:prstGeom prst="rect">
            <a:avLst/>
          </a:prstGeom>
          <a:noFill/>
        </p:spPr>
        <p:txBody>
          <a:bodyPr wrap="square" rtlCol="0">
            <a:spAutoFit/>
          </a:bodyPr>
          <a:lstStyle/>
          <a:p>
            <a:r>
              <a:rPr lang="en-US" sz="2000" b="1" dirty="0">
                <a:solidFill>
                  <a:srgbClr val="FF0000"/>
                </a:solidFill>
                <a:latin typeface="Consolas" panose="020B0609020204030204" pitchFamily="49" charset="0"/>
                <a:cs typeface="Consolas" panose="020B0609020204030204" pitchFamily="49" charset="0"/>
              </a:rPr>
              <a:t>if</a:t>
            </a:r>
            <a:r>
              <a:rPr lang="en-US" sz="2000" b="1" dirty="0">
                <a:latin typeface="Consolas" panose="020B0609020204030204" pitchFamily="49" charset="0"/>
                <a:cs typeface="Consolas" panose="020B0609020204030204" pitchFamily="49" charset="0"/>
              </a:rPr>
              <a:t> x &lt; </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f();</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a:t>
            </a:r>
            <a:endParaRPr lang="en-US" sz="2000"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B8DE27C1-A7E8-5C4B-9E7D-F9E4A78F6E6B}"/>
              </a:ext>
            </a:extLst>
          </p:cNvPr>
          <p:cNvSpPr txBox="1"/>
          <p:nvPr/>
        </p:nvSpPr>
        <p:spPr>
          <a:xfrm>
            <a:off x="457200" y="2779383"/>
            <a:ext cx="2133600" cy="400110"/>
          </a:xfrm>
          <a:prstGeom prst="rect">
            <a:avLst/>
          </a:prstGeom>
          <a:noFill/>
        </p:spPr>
        <p:txBody>
          <a:bodyPr wrap="square" rtlCol="0">
            <a:spAutoFit/>
          </a:bodyPr>
          <a:lstStyle/>
          <a:p>
            <a:r>
              <a:rPr lang="en-US" sz="2000" b="1" dirty="0">
                <a:solidFill>
                  <a:srgbClr val="FF0000"/>
                </a:solidFill>
                <a:latin typeface="Consolas" panose="020B0609020204030204" pitchFamily="49" charset="0"/>
                <a:cs typeface="Consolas" panose="020B0609020204030204" pitchFamily="49" charset="0"/>
              </a:rPr>
              <a:t>if</a:t>
            </a:r>
            <a:r>
              <a:rPr lang="en-US" sz="2000" b="1" dirty="0">
                <a:latin typeface="Consolas" panose="020B0609020204030204" pitchFamily="49" charset="0"/>
                <a:cs typeface="Consolas" panose="020B0609020204030204" pitchFamily="49" charset="0"/>
              </a:rPr>
              <a:t> x&lt;</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{f();}</a:t>
            </a:r>
            <a:endParaRPr lang="en-US" sz="2000"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D77B6A9C-AC58-9B4A-BA4A-C0AF4CDF799C}"/>
              </a:ext>
            </a:extLst>
          </p:cNvPr>
          <p:cNvSpPr txBox="1"/>
          <p:nvPr/>
        </p:nvSpPr>
        <p:spPr>
          <a:xfrm>
            <a:off x="457200" y="3461811"/>
            <a:ext cx="1676400" cy="1631216"/>
          </a:xfrm>
          <a:prstGeom prst="rect">
            <a:avLst/>
          </a:prstGeom>
          <a:noFill/>
        </p:spPr>
        <p:txBody>
          <a:bodyPr wrap="square" rtlCol="0">
            <a:spAutoFit/>
          </a:bodyPr>
          <a:lstStyle/>
          <a:p>
            <a:r>
              <a:rPr lang="en-US" sz="2000" b="1" dirty="0">
                <a:solidFill>
                  <a:srgbClr val="FF0000"/>
                </a:solidFill>
                <a:latin typeface="Consolas" panose="020B0609020204030204" pitchFamily="49" charset="0"/>
                <a:cs typeface="Consolas" panose="020B0609020204030204" pitchFamily="49" charset="0"/>
              </a:rPr>
              <a:t>if</a:t>
            </a:r>
            <a:r>
              <a:rPr lang="en-US" sz="2000" b="1" dirty="0">
                <a:latin typeface="Consolas" panose="020B0609020204030204" pitchFamily="49" charset="0"/>
                <a:cs typeface="Consolas" panose="020B0609020204030204" pitchFamily="49" charset="0"/>
              </a:rPr>
              <a:t> x &lt; </a:t>
            </a:r>
            <a:r>
              <a:rPr lang="en-US" sz="2000" b="1" dirty="0">
                <a:solidFill>
                  <a:schemeClr val="accent3">
                    <a:lumMod val="75000"/>
                  </a:schemeClr>
                </a:solidFill>
                <a:latin typeface="Consolas" panose="020B0609020204030204" pitchFamily="49" charset="0"/>
                <a:cs typeface="Consolas" panose="020B0609020204030204" pitchFamily="49" charset="0"/>
              </a:rPr>
              <a:t>10</a:t>
            </a:r>
          </a:p>
          <a:p>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i="1" dirty="0">
                <a:solidFill>
                  <a:schemeClr val="accent3">
                    <a:lumMod val="50000"/>
                  </a:schemeClr>
                </a:solidFill>
                <a:latin typeface="Consolas" panose="020B0609020204030204" pitchFamily="49" charset="0"/>
                <a:cs typeface="Consolas" panose="020B0609020204030204" pitchFamily="49" charset="0"/>
              </a:rPr>
              <a:t>// call</a:t>
            </a:r>
          </a:p>
          <a:p>
            <a:r>
              <a:rPr lang="en-US" sz="2000" b="1" i="1" dirty="0">
                <a:solidFill>
                  <a:schemeClr val="accent3">
                    <a:lumMod val="50000"/>
                  </a:schemeClr>
                </a:solidFill>
                <a:latin typeface="Consolas" panose="020B0609020204030204" pitchFamily="49" charset="0"/>
                <a:cs typeface="Consolas" panose="020B0609020204030204" pitchFamily="49" charset="0"/>
              </a:rPr>
              <a:t>  </a:t>
            </a:r>
            <a:r>
              <a:rPr lang="en-US" sz="2000" b="1" dirty="0">
                <a:latin typeface="Consolas" panose="020B0609020204030204" pitchFamily="49" charset="0"/>
                <a:cs typeface="Consolas" panose="020B0609020204030204" pitchFamily="49" charset="0"/>
              </a:rPr>
              <a:t>f ( ); </a:t>
            </a:r>
          </a:p>
          <a:p>
            <a:r>
              <a:rPr lang="en-US" sz="2000" b="1" dirty="0">
                <a:latin typeface="Consolas" panose="020B0609020204030204" pitchFamily="49" charset="0"/>
                <a:cs typeface="Consolas" panose="020B0609020204030204" pitchFamily="49" charset="0"/>
              </a:rPr>
              <a:t>}</a:t>
            </a:r>
            <a:endParaRPr lang="en-US" sz="2000" dirty="0">
              <a:latin typeface="Consolas" panose="020B0609020204030204" pitchFamily="49" charset="0"/>
              <a:cs typeface="Consolas" panose="020B0609020204030204" pitchFamily="49" charset="0"/>
            </a:endParaRPr>
          </a:p>
        </p:txBody>
      </p:sp>
      <p:cxnSp>
        <p:nvCxnSpPr>
          <p:cNvPr id="9" name="Straight Connector 8">
            <a:extLst>
              <a:ext uri="{FF2B5EF4-FFF2-40B4-BE49-F238E27FC236}">
                <a16:creationId xmlns:a16="http://schemas.microsoft.com/office/drawing/2014/main" id="{A86E2C5B-E33C-9A4D-A793-F753FA73FDF2}"/>
              </a:ext>
            </a:extLst>
          </p:cNvPr>
          <p:cNvCxnSpPr/>
          <p:nvPr/>
        </p:nvCxnSpPr>
        <p:spPr>
          <a:xfrm>
            <a:off x="381000" y="2626983"/>
            <a:ext cx="2133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056D1D2-5738-F94E-8D56-B5DB08EB6984}"/>
              </a:ext>
            </a:extLst>
          </p:cNvPr>
          <p:cNvCxnSpPr/>
          <p:nvPr/>
        </p:nvCxnSpPr>
        <p:spPr>
          <a:xfrm>
            <a:off x="381000" y="3316409"/>
            <a:ext cx="2133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196A105-DD52-D74F-89D5-46F2CA195377}"/>
              </a:ext>
            </a:extLst>
          </p:cNvPr>
          <p:cNvSpPr txBox="1"/>
          <p:nvPr/>
        </p:nvSpPr>
        <p:spPr>
          <a:xfrm>
            <a:off x="3076575" y="1472410"/>
            <a:ext cx="5581650" cy="769441"/>
          </a:xfrm>
          <a:prstGeom prst="rect">
            <a:avLst/>
          </a:prstGeom>
          <a:noFill/>
        </p:spPr>
        <p:txBody>
          <a:bodyPr wrap="square" rtlCol="0">
            <a:spAutoFit/>
          </a:bodyPr>
          <a:lstStyle/>
          <a:p>
            <a:pPr algn="ctr"/>
            <a:r>
              <a:rPr lang="en-US" sz="2200" dirty="0"/>
              <a:t>all three of these would lex to the </a:t>
            </a:r>
            <a:r>
              <a:rPr lang="en-US" sz="2200" b="1" dirty="0"/>
              <a:t>same sequence of tokens. </a:t>
            </a:r>
            <a:r>
              <a:rPr lang="en-US" sz="2200" dirty="0"/>
              <a:t>but what differs?</a:t>
            </a:r>
            <a:endParaRPr lang="en-US" sz="2200" b="1" dirty="0"/>
          </a:p>
        </p:txBody>
      </p:sp>
      <p:sp>
        <p:nvSpPr>
          <p:cNvPr id="12" name="TextBox 11">
            <a:extLst>
              <a:ext uri="{FF2B5EF4-FFF2-40B4-BE49-F238E27FC236}">
                <a16:creationId xmlns:a16="http://schemas.microsoft.com/office/drawing/2014/main" id="{4C080937-D38F-A240-919F-FD56630F4B47}"/>
              </a:ext>
            </a:extLst>
          </p:cNvPr>
          <p:cNvSpPr txBox="1"/>
          <p:nvPr/>
        </p:nvSpPr>
        <p:spPr>
          <a:xfrm>
            <a:off x="3076575" y="2607343"/>
            <a:ext cx="5838825" cy="1107996"/>
          </a:xfrm>
          <a:prstGeom prst="rect">
            <a:avLst/>
          </a:prstGeom>
          <a:noFill/>
        </p:spPr>
        <p:txBody>
          <a:bodyPr wrap="square" rtlCol="0">
            <a:spAutoFit/>
          </a:bodyPr>
          <a:lstStyle/>
          <a:p>
            <a:pPr algn="ctr"/>
            <a:r>
              <a:rPr lang="en-US" sz="2200" b="1" dirty="0"/>
              <a:t>spacing and indentation </a:t>
            </a:r>
            <a:r>
              <a:rPr lang="en-US" sz="2200" dirty="0"/>
              <a:t>– together called </a:t>
            </a:r>
            <a:r>
              <a:rPr lang="en-US" sz="2200" b="1" dirty="0"/>
              <a:t>whitespace </a:t>
            </a:r>
            <a:r>
              <a:rPr lang="en-US" sz="2200" dirty="0"/>
              <a:t>– is meaningless in </a:t>
            </a:r>
            <a:r>
              <a:rPr lang="en-US" sz="2200" i="1" dirty="0"/>
              <a:t>most</a:t>
            </a:r>
            <a:r>
              <a:rPr lang="en-US" sz="2200" dirty="0"/>
              <a:t> modern languages, and the lexer strips it out.</a:t>
            </a:r>
          </a:p>
        </p:txBody>
      </p:sp>
      <p:sp>
        <p:nvSpPr>
          <p:cNvPr id="13" name="TextBox 12">
            <a:extLst>
              <a:ext uri="{FF2B5EF4-FFF2-40B4-BE49-F238E27FC236}">
                <a16:creationId xmlns:a16="http://schemas.microsoft.com/office/drawing/2014/main" id="{D7A18366-CB3A-1248-BDF1-2CC3AE6B6246}"/>
              </a:ext>
            </a:extLst>
          </p:cNvPr>
          <p:cNvSpPr txBox="1"/>
          <p:nvPr/>
        </p:nvSpPr>
        <p:spPr>
          <a:xfrm>
            <a:off x="3105148" y="4082957"/>
            <a:ext cx="5581652" cy="769441"/>
          </a:xfrm>
          <a:prstGeom prst="rect">
            <a:avLst/>
          </a:prstGeom>
          <a:noFill/>
        </p:spPr>
        <p:txBody>
          <a:bodyPr wrap="square" rtlCol="0">
            <a:spAutoFit/>
          </a:bodyPr>
          <a:lstStyle/>
          <a:p>
            <a:pPr algn="ctr"/>
            <a:r>
              <a:rPr lang="en-US" sz="2200" b="1" dirty="0"/>
              <a:t>comments </a:t>
            </a:r>
            <a:r>
              <a:rPr lang="en-US" sz="2200" dirty="0"/>
              <a:t>are another common kind of meaningless text that can be ignored.</a:t>
            </a:r>
          </a:p>
        </p:txBody>
      </p:sp>
    </p:spTree>
    <p:extLst>
      <p:ext uri="{BB962C8B-B14F-4D97-AF65-F5344CB8AC3E}">
        <p14:creationId xmlns:p14="http://schemas.microsoft.com/office/powerpoint/2010/main" val="29386841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1" grpId="0"/>
      <p:bldP spid="12"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8EDA8-BC26-A143-8ED5-BDE1F63BB9E9}"/>
              </a:ext>
            </a:extLst>
          </p:cNvPr>
          <p:cNvSpPr>
            <a:spLocks noGrp="1"/>
          </p:cNvSpPr>
          <p:nvPr>
            <p:ph type="title"/>
          </p:nvPr>
        </p:nvSpPr>
        <p:spPr/>
        <p:txBody>
          <a:bodyPr/>
          <a:lstStyle/>
          <a:p>
            <a:r>
              <a:rPr lang="en-US" dirty="0"/>
              <a:t>Not-so-whitespace</a:t>
            </a:r>
          </a:p>
        </p:txBody>
      </p:sp>
      <p:sp>
        <p:nvSpPr>
          <p:cNvPr id="3" name="Content Placeholder 2">
            <a:extLst>
              <a:ext uri="{FF2B5EF4-FFF2-40B4-BE49-F238E27FC236}">
                <a16:creationId xmlns:a16="http://schemas.microsoft.com/office/drawing/2014/main" id="{A67BC388-F282-064B-9D7A-CDD468D3C1D4}"/>
              </a:ext>
            </a:extLst>
          </p:cNvPr>
          <p:cNvSpPr>
            <a:spLocks noGrp="1"/>
          </p:cNvSpPr>
          <p:nvPr>
            <p:ph idx="1"/>
          </p:nvPr>
        </p:nvSpPr>
        <p:spPr>
          <a:xfrm>
            <a:off x="152400" y="495302"/>
            <a:ext cx="8991600" cy="495300"/>
          </a:xfrm>
        </p:spPr>
        <p:txBody>
          <a:bodyPr/>
          <a:lstStyle/>
          <a:p>
            <a:r>
              <a:rPr lang="en-US" dirty="0"/>
              <a:t>whitespace can't be ignored in </a:t>
            </a:r>
            <a:r>
              <a:rPr lang="en-US" i="1" dirty="0"/>
              <a:t>all</a:t>
            </a:r>
            <a:r>
              <a:rPr lang="en-US" dirty="0"/>
              <a:t> situations, though.</a:t>
            </a:r>
          </a:p>
        </p:txBody>
      </p:sp>
      <p:sp>
        <p:nvSpPr>
          <p:cNvPr id="4" name="Slide Number Placeholder 3">
            <a:extLst>
              <a:ext uri="{FF2B5EF4-FFF2-40B4-BE49-F238E27FC236}">
                <a16:creationId xmlns:a16="http://schemas.microsoft.com/office/drawing/2014/main" id="{A3389D3A-D640-4C48-82C2-D0543BE2572F}"/>
              </a:ext>
            </a:extLst>
          </p:cNvPr>
          <p:cNvSpPr>
            <a:spLocks noGrp="1"/>
          </p:cNvSpPr>
          <p:nvPr>
            <p:ph type="sldNum" sz="quarter" idx="12"/>
          </p:nvPr>
        </p:nvSpPr>
        <p:spPr/>
        <p:txBody>
          <a:bodyPr/>
          <a:lstStyle/>
          <a:p>
            <a:fld id="{3552B95B-556F-44BD-91A5-D80C1B9E2BB3}" type="slidenum">
              <a:rPr lang="en-US" smtClean="0"/>
              <a:pPr/>
              <a:t>6</a:t>
            </a:fld>
            <a:endParaRPr lang="en-US"/>
          </a:p>
        </p:txBody>
      </p:sp>
      <p:sp>
        <p:nvSpPr>
          <p:cNvPr id="6" name="TextBox 5">
            <a:extLst>
              <a:ext uri="{FF2B5EF4-FFF2-40B4-BE49-F238E27FC236}">
                <a16:creationId xmlns:a16="http://schemas.microsoft.com/office/drawing/2014/main" id="{C9DCA75A-40CD-CE41-82C6-51B18BCD3FE1}"/>
              </a:ext>
            </a:extLst>
          </p:cNvPr>
          <p:cNvSpPr txBox="1"/>
          <p:nvPr/>
        </p:nvSpPr>
        <p:spPr>
          <a:xfrm>
            <a:off x="533400" y="952500"/>
            <a:ext cx="2971800" cy="707886"/>
          </a:xfrm>
          <a:prstGeom prst="rect">
            <a:avLst/>
          </a:prstGeom>
          <a:noFill/>
        </p:spPr>
        <p:txBody>
          <a:bodyPr wrap="square" rtlCol="0">
            <a:spAutoFit/>
          </a:bodyPr>
          <a:lstStyle/>
          <a:p>
            <a:r>
              <a:rPr lang="en-US" sz="2000" b="1" dirty="0">
                <a:solidFill>
                  <a:schemeClr val="accent6">
                    <a:lumMod val="75000"/>
                  </a:schemeClr>
                </a:solidFill>
                <a:latin typeface="Consolas" panose="020B0609020204030204" pitchFamily="49" charset="0"/>
                <a:cs typeface="Consolas" panose="020B0609020204030204" pitchFamily="49" charset="0"/>
              </a:rPr>
              <a:t>"hello, world"</a:t>
            </a:r>
          </a:p>
          <a:p>
            <a:r>
              <a:rPr lang="en-US" sz="2000" b="1" dirty="0">
                <a:solidFill>
                  <a:schemeClr val="accent6">
                    <a:lumMod val="75000"/>
                  </a:schemeClr>
                </a:solidFill>
                <a:latin typeface="Consolas" panose="020B0609020204030204" pitchFamily="49" charset="0"/>
                <a:cs typeface="Consolas" panose="020B0609020204030204" pitchFamily="49" charset="0"/>
              </a:rPr>
              <a:t>"hello,    world"</a:t>
            </a:r>
            <a:endParaRPr lang="en-US" sz="2000" dirty="0">
              <a:solidFill>
                <a:schemeClr val="accent6">
                  <a:lumMod val="75000"/>
                </a:schemeClr>
              </a:solidFill>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7CB67A2B-B5A3-914A-AFD9-24A140A76028}"/>
              </a:ext>
            </a:extLst>
          </p:cNvPr>
          <p:cNvSpPr txBox="1"/>
          <p:nvPr/>
        </p:nvSpPr>
        <p:spPr>
          <a:xfrm>
            <a:off x="3352800" y="1042619"/>
            <a:ext cx="4962525" cy="430887"/>
          </a:xfrm>
          <a:prstGeom prst="rect">
            <a:avLst/>
          </a:prstGeom>
          <a:noFill/>
        </p:spPr>
        <p:txBody>
          <a:bodyPr wrap="square" rtlCol="0">
            <a:spAutoFit/>
          </a:bodyPr>
          <a:lstStyle/>
          <a:p>
            <a:pPr algn="ctr"/>
            <a:r>
              <a:rPr lang="en-US" sz="2200" dirty="0"/>
              <a:t>these are different strings, right?</a:t>
            </a:r>
            <a:endParaRPr lang="en-US" sz="2200" b="1" dirty="0"/>
          </a:p>
        </p:txBody>
      </p:sp>
      <p:sp>
        <p:nvSpPr>
          <p:cNvPr id="8" name="TextBox 7">
            <a:extLst>
              <a:ext uri="{FF2B5EF4-FFF2-40B4-BE49-F238E27FC236}">
                <a16:creationId xmlns:a16="http://schemas.microsoft.com/office/drawing/2014/main" id="{8C52E1F2-6C44-BF42-9AB1-11F5C1745918}"/>
              </a:ext>
            </a:extLst>
          </p:cNvPr>
          <p:cNvSpPr txBox="1"/>
          <p:nvPr/>
        </p:nvSpPr>
        <p:spPr>
          <a:xfrm>
            <a:off x="152400" y="2655213"/>
            <a:ext cx="8305800" cy="430887"/>
          </a:xfrm>
          <a:prstGeom prst="rect">
            <a:avLst/>
          </a:prstGeom>
          <a:noFill/>
        </p:spPr>
        <p:txBody>
          <a:bodyPr wrap="square" rtlCol="0">
            <a:spAutoFit/>
          </a:bodyPr>
          <a:lstStyle/>
          <a:p>
            <a:r>
              <a:rPr lang="en-US" sz="2200" b="1" dirty="0"/>
              <a:t>Python</a:t>
            </a:r>
            <a:r>
              <a:rPr lang="en-US" sz="2200" dirty="0"/>
              <a:t> uses </a:t>
            </a:r>
            <a:r>
              <a:rPr lang="en-US" sz="2200" b="1" dirty="0"/>
              <a:t>indentation</a:t>
            </a:r>
            <a:r>
              <a:rPr lang="en-US" sz="2200" dirty="0"/>
              <a:t> to structure code, instead of </a:t>
            </a:r>
            <a:r>
              <a:rPr lang="en-US" sz="2200" b="1" dirty="0"/>
              <a:t>{ </a:t>
            </a:r>
            <a:r>
              <a:rPr lang="en-US" sz="2200" dirty="0"/>
              <a:t>braces</a:t>
            </a:r>
            <a:r>
              <a:rPr lang="en-US" sz="2200" b="1" dirty="0"/>
              <a:t> }.</a:t>
            </a:r>
          </a:p>
        </p:txBody>
      </p:sp>
      <p:sp>
        <p:nvSpPr>
          <p:cNvPr id="9" name="TextBox 8">
            <a:extLst>
              <a:ext uri="{FF2B5EF4-FFF2-40B4-BE49-F238E27FC236}">
                <a16:creationId xmlns:a16="http://schemas.microsoft.com/office/drawing/2014/main" id="{D3628AD1-B114-5E47-B1CE-CE879FF30115}"/>
              </a:ext>
            </a:extLst>
          </p:cNvPr>
          <p:cNvSpPr txBox="1"/>
          <p:nvPr/>
        </p:nvSpPr>
        <p:spPr>
          <a:xfrm>
            <a:off x="533400" y="3162300"/>
            <a:ext cx="2971800" cy="1015663"/>
          </a:xfrm>
          <a:prstGeom prst="rect">
            <a:avLst/>
          </a:prstGeom>
          <a:noFill/>
        </p:spPr>
        <p:txBody>
          <a:bodyPr wrap="square" rtlCol="0">
            <a:spAutoFit/>
          </a:bodyPr>
          <a:lstStyle/>
          <a:p>
            <a:r>
              <a:rPr lang="en-US" sz="2000" b="1" dirty="0">
                <a:solidFill>
                  <a:srgbClr val="FF0000"/>
                </a:solidFill>
                <a:latin typeface="Consolas" panose="020B0609020204030204" pitchFamily="49" charset="0"/>
                <a:cs typeface="Consolas" panose="020B0609020204030204" pitchFamily="49" charset="0"/>
              </a:rPr>
              <a:t>if</a:t>
            </a:r>
            <a:r>
              <a:rPr lang="en-US" sz="2000" b="1" dirty="0">
                <a:latin typeface="Consolas" panose="020B0609020204030204" pitchFamily="49" charset="0"/>
                <a:cs typeface="Consolas" panose="020B0609020204030204" pitchFamily="49" charset="0"/>
              </a:rPr>
              <a:t> x &lt; </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f()</a:t>
            </a:r>
          </a:p>
          <a:p>
            <a:r>
              <a:rPr lang="en-US" sz="2000" b="1" dirty="0">
                <a:latin typeface="Consolas" panose="020B0609020204030204" pitchFamily="49" charset="0"/>
                <a:cs typeface="Consolas" panose="020B0609020204030204" pitchFamily="49" charset="0"/>
              </a:rPr>
              <a:t>print(</a:t>
            </a:r>
            <a:r>
              <a:rPr lang="en-US" sz="2000" b="1" dirty="0">
                <a:solidFill>
                  <a:schemeClr val="accent6">
                    <a:lumMod val="75000"/>
                  </a:schemeClr>
                </a:solidFill>
                <a:latin typeface="Consolas" panose="020B0609020204030204" pitchFamily="49" charset="0"/>
                <a:cs typeface="Consolas" panose="020B0609020204030204" pitchFamily="49" charset="0"/>
              </a:rPr>
              <a:t>"done"</a:t>
            </a:r>
            <a:r>
              <a:rPr lang="en-US" sz="2000" b="1" dirty="0">
                <a:latin typeface="Consolas" panose="020B0609020204030204" pitchFamily="49" charset="0"/>
                <a:cs typeface="Consolas" panose="020B0609020204030204" pitchFamily="49" charset="0"/>
              </a:rPr>
              <a:t>)</a:t>
            </a:r>
            <a:endParaRPr lang="en-US" sz="2000" dirty="0">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60BF718C-31FB-384D-A725-5486ADB371FE}"/>
              </a:ext>
            </a:extLst>
          </p:cNvPr>
          <p:cNvSpPr txBox="1"/>
          <p:nvPr/>
        </p:nvSpPr>
        <p:spPr>
          <a:xfrm>
            <a:off x="2667000" y="3308576"/>
            <a:ext cx="6248400" cy="769441"/>
          </a:xfrm>
          <a:prstGeom prst="rect">
            <a:avLst/>
          </a:prstGeom>
          <a:noFill/>
        </p:spPr>
        <p:txBody>
          <a:bodyPr wrap="square" rtlCol="0">
            <a:spAutoFit/>
          </a:bodyPr>
          <a:lstStyle/>
          <a:p>
            <a:r>
              <a:rPr lang="en-US" sz="2200" dirty="0"/>
              <a:t>the </a:t>
            </a:r>
            <a:r>
              <a:rPr lang="en-US" sz="2200" b="1" dirty="0"/>
              <a:t>print</a:t>
            </a:r>
            <a:r>
              <a:rPr lang="en-US" sz="2200" dirty="0"/>
              <a:t> call is outside of the </a:t>
            </a:r>
            <a:r>
              <a:rPr lang="en-US" sz="2200" b="1" dirty="0"/>
              <a:t>if. </a:t>
            </a:r>
            <a:r>
              <a:rPr lang="en-US" sz="2200" dirty="0"/>
              <a:t>the only thing that indicates that is the indentation.</a:t>
            </a:r>
          </a:p>
        </p:txBody>
      </p:sp>
      <p:sp>
        <p:nvSpPr>
          <p:cNvPr id="11" name="TextBox 10">
            <a:extLst>
              <a:ext uri="{FF2B5EF4-FFF2-40B4-BE49-F238E27FC236}">
                <a16:creationId xmlns:a16="http://schemas.microsoft.com/office/drawing/2014/main" id="{4986C71B-0152-414A-A0CF-C6712A4ACC5D}"/>
              </a:ext>
            </a:extLst>
          </p:cNvPr>
          <p:cNvSpPr txBox="1"/>
          <p:nvPr/>
        </p:nvSpPr>
        <p:spPr>
          <a:xfrm>
            <a:off x="457200" y="1588413"/>
            <a:ext cx="8229600" cy="430887"/>
          </a:xfrm>
          <a:prstGeom prst="rect">
            <a:avLst/>
          </a:prstGeom>
          <a:noFill/>
        </p:spPr>
        <p:txBody>
          <a:bodyPr wrap="square" rtlCol="0">
            <a:spAutoFit/>
          </a:bodyPr>
          <a:lstStyle/>
          <a:p>
            <a:pPr algn="ctr"/>
            <a:r>
              <a:rPr lang="en-US" sz="2200" dirty="0"/>
              <a:t>so we have to </a:t>
            </a:r>
            <a:r>
              <a:rPr lang="en-US" sz="2200" b="1" dirty="0"/>
              <a:t>remember</a:t>
            </a:r>
            <a:r>
              <a:rPr lang="en-US" sz="2200" dirty="0"/>
              <a:t> whether or not we're inside </a:t>
            </a:r>
            <a:r>
              <a:rPr lang="en-US" sz="2200" b="1" dirty="0"/>
              <a:t>"</a:t>
            </a:r>
            <a:r>
              <a:rPr lang="en-US" sz="2200" dirty="0"/>
              <a:t>quotes</a:t>
            </a:r>
            <a:r>
              <a:rPr lang="en-US" sz="2200" b="1" dirty="0"/>
              <a:t>"</a:t>
            </a:r>
            <a:r>
              <a:rPr lang="en-US" sz="2200" dirty="0"/>
              <a:t>.</a:t>
            </a:r>
            <a:endParaRPr lang="en-US" sz="2200" b="1" dirty="0"/>
          </a:p>
        </p:txBody>
      </p:sp>
      <p:sp>
        <p:nvSpPr>
          <p:cNvPr id="12" name="TextBox 11">
            <a:extLst>
              <a:ext uri="{FF2B5EF4-FFF2-40B4-BE49-F238E27FC236}">
                <a16:creationId xmlns:a16="http://schemas.microsoft.com/office/drawing/2014/main" id="{2A327B8E-2E32-B44B-A78C-7E7E56E65E5A}"/>
              </a:ext>
            </a:extLst>
          </p:cNvPr>
          <p:cNvSpPr txBox="1"/>
          <p:nvPr/>
        </p:nvSpPr>
        <p:spPr>
          <a:xfrm>
            <a:off x="152400" y="4374018"/>
            <a:ext cx="8534400" cy="769441"/>
          </a:xfrm>
          <a:prstGeom prst="rect">
            <a:avLst/>
          </a:prstGeom>
          <a:noFill/>
        </p:spPr>
        <p:txBody>
          <a:bodyPr wrap="square" rtlCol="0">
            <a:spAutoFit/>
          </a:bodyPr>
          <a:lstStyle/>
          <a:p>
            <a:r>
              <a:rPr lang="en-US" sz="2200" dirty="0"/>
              <a:t>and </a:t>
            </a:r>
            <a:r>
              <a:rPr lang="en-US" sz="2200" b="1" dirty="0"/>
              <a:t>JavaScript</a:t>
            </a:r>
            <a:r>
              <a:rPr lang="en-US" sz="2200" dirty="0"/>
              <a:t> (aka ECMAScript) does </a:t>
            </a:r>
            <a:r>
              <a:rPr lang="en-US" sz="2200" i="1" dirty="0"/>
              <a:t>weird</a:t>
            </a:r>
            <a:r>
              <a:rPr lang="en-US" sz="2200" dirty="0"/>
              <a:t> things with newlines so you can avoid writing semicolons…</a:t>
            </a:r>
          </a:p>
        </p:txBody>
      </p:sp>
      <p:sp>
        <p:nvSpPr>
          <p:cNvPr id="14" name="TextBox 13">
            <a:extLst>
              <a:ext uri="{FF2B5EF4-FFF2-40B4-BE49-F238E27FC236}">
                <a16:creationId xmlns:a16="http://schemas.microsoft.com/office/drawing/2014/main" id="{E288621D-6EA1-734C-9590-790163C34DB7}"/>
              </a:ext>
            </a:extLst>
          </p:cNvPr>
          <p:cNvSpPr txBox="1"/>
          <p:nvPr/>
        </p:nvSpPr>
        <p:spPr>
          <a:xfrm>
            <a:off x="457200" y="2095500"/>
            <a:ext cx="8229600" cy="430887"/>
          </a:xfrm>
          <a:prstGeom prst="rect">
            <a:avLst/>
          </a:prstGeom>
          <a:noFill/>
        </p:spPr>
        <p:txBody>
          <a:bodyPr wrap="square" rtlCol="0">
            <a:spAutoFit/>
          </a:bodyPr>
          <a:lstStyle/>
          <a:p>
            <a:pPr algn="ctr"/>
            <a:r>
              <a:rPr lang="en-US" sz="2200" dirty="0"/>
              <a:t>also, </a:t>
            </a:r>
            <a:r>
              <a:rPr lang="en-US" sz="2200" b="1" dirty="0">
                <a:latin typeface="Consolas" panose="020B0609020204030204" pitchFamily="49" charset="0"/>
                <a:cs typeface="Consolas" panose="020B0609020204030204" pitchFamily="49" charset="0"/>
              </a:rPr>
              <a:t>fortress</a:t>
            </a:r>
            <a:r>
              <a:rPr lang="en-US" sz="2200" b="1" dirty="0"/>
              <a:t> </a:t>
            </a:r>
            <a:r>
              <a:rPr lang="en-US" sz="2200" dirty="0"/>
              <a:t>and </a:t>
            </a:r>
            <a:r>
              <a:rPr lang="en-US" sz="2200" b="1" dirty="0">
                <a:solidFill>
                  <a:srgbClr val="FF0000"/>
                </a:solidFill>
                <a:latin typeface="Consolas" panose="020B0609020204030204" pitchFamily="49" charset="0"/>
                <a:cs typeface="Consolas" panose="020B0609020204030204" pitchFamily="49" charset="0"/>
              </a:rPr>
              <a:t>for</a:t>
            </a:r>
            <a:r>
              <a:rPr lang="en-US" sz="2200" b="1" dirty="0">
                <a:latin typeface="Consolas" panose="020B0609020204030204" pitchFamily="49" charset="0"/>
                <a:cs typeface="Consolas" panose="020B0609020204030204" pitchFamily="49" charset="0"/>
              </a:rPr>
              <a:t> tress</a:t>
            </a:r>
            <a:r>
              <a:rPr lang="en-US" sz="2200" b="1" dirty="0"/>
              <a:t> </a:t>
            </a:r>
            <a:r>
              <a:rPr lang="en-US" sz="2200" dirty="0"/>
              <a:t>mean different things.</a:t>
            </a:r>
            <a:endParaRPr lang="en-US" sz="2200" b="1" dirty="0"/>
          </a:p>
        </p:txBody>
      </p:sp>
    </p:spTree>
    <p:extLst>
      <p:ext uri="{BB962C8B-B14F-4D97-AF65-F5344CB8AC3E}">
        <p14:creationId xmlns:p14="http://schemas.microsoft.com/office/powerpoint/2010/main" val="7575275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10EFD-C58F-2346-9D25-33CAB3C46B55}"/>
              </a:ext>
            </a:extLst>
          </p:cNvPr>
          <p:cNvSpPr>
            <a:spLocks noGrp="1"/>
          </p:cNvSpPr>
          <p:nvPr>
            <p:ph type="title"/>
          </p:nvPr>
        </p:nvSpPr>
        <p:spPr/>
        <p:txBody>
          <a:bodyPr/>
          <a:lstStyle/>
          <a:p>
            <a:r>
              <a:rPr lang="en-US" dirty="0"/>
              <a:t>Where </a:t>
            </a:r>
            <a:r>
              <a:rPr lang="en-US" i="1" dirty="0"/>
              <a:t>are</a:t>
            </a:r>
            <a:r>
              <a:rPr lang="en-US" dirty="0"/>
              <a:t> we?</a:t>
            </a:r>
          </a:p>
        </p:txBody>
      </p:sp>
      <p:sp>
        <p:nvSpPr>
          <p:cNvPr id="3" name="Content Placeholder 2">
            <a:extLst>
              <a:ext uri="{FF2B5EF4-FFF2-40B4-BE49-F238E27FC236}">
                <a16:creationId xmlns:a16="http://schemas.microsoft.com/office/drawing/2014/main" id="{887F5737-D86A-7543-BAA9-5F6874914712}"/>
              </a:ext>
            </a:extLst>
          </p:cNvPr>
          <p:cNvSpPr>
            <a:spLocks noGrp="1"/>
          </p:cNvSpPr>
          <p:nvPr>
            <p:ph idx="1"/>
          </p:nvPr>
        </p:nvSpPr>
        <p:spPr>
          <a:xfrm>
            <a:off x="152400" y="495301"/>
            <a:ext cx="8991600" cy="838199"/>
          </a:xfrm>
        </p:spPr>
        <p:txBody>
          <a:bodyPr/>
          <a:lstStyle/>
          <a:p>
            <a:r>
              <a:rPr lang="en-US" dirty="0"/>
              <a:t>a secondary (but </a:t>
            </a:r>
            <a:r>
              <a:rPr lang="en-US" i="1" dirty="0"/>
              <a:t>super important</a:t>
            </a:r>
            <a:r>
              <a:rPr lang="en-US" dirty="0"/>
              <a:t>) job of the lexer is to produce </a:t>
            </a:r>
            <a:r>
              <a:rPr lang="en-US" b="1" dirty="0"/>
              <a:t>location info </a:t>
            </a:r>
            <a:r>
              <a:rPr lang="en-US" dirty="0"/>
              <a:t>so the compiler can give good error messages.</a:t>
            </a:r>
          </a:p>
        </p:txBody>
      </p:sp>
      <p:sp>
        <p:nvSpPr>
          <p:cNvPr id="4" name="Slide Number Placeholder 3">
            <a:extLst>
              <a:ext uri="{FF2B5EF4-FFF2-40B4-BE49-F238E27FC236}">
                <a16:creationId xmlns:a16="http://schemas.microsoft.com/office/drawing/2014/main" id="{63477C31-468C-F849-91FB-72E54E25B837}"/>
              </a:ext>
            </a:extLst>
          </p:cNvPr>
          <p:cNvSpPr>
            <a:spLocks noGrp="1"/>
          </p:cNvSpPr>
          <p:nvPr>
            <p:ph type="sldNum" sz="quarter" idx="12"/>
          </p:nvPr>
        </p:nvSpPr>
        <p:spPr/>
        <p:txBody>
          <a:bodyPr/>
          <a:lstStyle/>
          <a:p>
            <a:fld id="{3552B95B-556F-44BD-91A5-D80C1B9E2BB3}" type="slidenum">
              <a:rPr lang="en-US" smtClean="0"/>
              <a:pPr/>
              <a:t>7</a:t>
            </a:fld>
            <a:endParaRPr lang="en-US"/>
          </a:p>
        </p:txBody>
      </p:sp>
      <p:sp>
        <p:nvSpPr>
          <p:cNvPr id="5" name="TextBox 4">
            <a:extLst>
              <a:ext uri="{FF2B5EF4-FFF2-40B4-BE49-F238E27FC236}">
                <a16:creationId xmlns:a16="http://schemas.microsoft.com/office/drawing/2014/main" id="{28372783-8229-5849-9762-F152B175F15B}"/>
              </a:ext>
            </a:extLst>
          </p:cNvPr>
          <p:cNvSpPr txBox="1"/>
          <p:nvPr/>
        </p:nvSpPr>
        <p:spPr>
          <a:xfrm>
            <a:off x="1018480" y="2438067"/>
            <a:ext cx="4724400" cy="1077218"/>
          </a:xfrm>
          <a:prstGeom prst="rect">
            <a:avLst/>
          </a:prstGeom>
          <a:noFill/>
        </p:spPr>
        <p:txBody>
          <a:bodyPr wrap="square" rtlCol="0">
            <a:spAutoFit/>
          </a:bodyPr>
          <a:lstStyle/>
          <a:p>
            <a:r>
              <a:rPr lang="en-US" sz="3200" b="1" dirty="0">
                <a:solidFill>
                  <a:srgbClr val="FF0000"/>
                </a:solidFill>
                <a:latin typeface="Consolas" panose="020B0609020204030204" pitchFamily="49" charset="0"/>
                <a:cs typeface="Consolas" panose="020B0609020204030204" pitchFamily="49" charset="0"/>
              </a:rPr>
              <a:t>if</a:t>
            </a:r>
            <a:r>
              <a:rPr lang="en-US" sz="3200" b="1" dirty="0">
                <a:latin typeface="Consolas" panose="020B0609020204030204" pitchFamily="49" charset="0"/>
                <a:cs typeface="Consolas" panose="020B0609020204030204" pitchFamily="49" charset="0"/>
              </a:rPr>
              <a:t> </a:t>
            </a:r>
            <a:r>
              <a:rPr lang="en-US" sz="3200" b="1" dirty="0" err="1">
                <a:latin typeface="Consolas" panose="020B0609020204030204" pitchFamily="49" charset="0"/>
                <a:cs typeface="Consolas" panose="020B0609020204030204" pitchFamily="49" charset="0"/>
              </a:rPr>
              <a:t>num_cats</a:t>
            </a:r>
            <a:r>
              <a:rPr lang="en-US" sz="3200" b="1" dirty="0">
                <a:latin typeface="Consolas" panose="020B0609020204030204" pitchFamily="49" charset="0"/>
                <a:cs typeface="Consolas" panose="020B0609020204030204" pitchFamily="49" charset="0"/>
              </a:rPr>
              <a:t> == </a:t>
            </a:r>
            <a:r>
              <a:rPr lang="en-US" sz="3200" b="1" dirty="0">
                <a:solidFill>
                  <a:schemeClr val="accent3">
                    <a:lumMod val="75000"/>
                  </a:schemeClr>
                </a:solidFill>
                <a:latin typeface="Consolas" panose="020B0609020204030204" pitchFamily="49" charset="0"/>
                <a:cs typeface="Consolas" panose="020B0609020204030204" pitchFamily="49" charset="0"/>
              </a:rPr>
              <a:t>10 </a:t>
            </a:r>
            <a:r>
              <a:rPr lang="en-US" sz="3200" b="1" dirty="0">
                <a:latin typeface="Consolas" panose="020B0609020204030204" pitchFamily="49" charset="0"/>
                <a:cs typeface="Consolas" panose="020B0609020204030204" pitchFamily="49" charset="0"/>
              </a:rPr>
              <a:t>{</a:t>
            </a:r>
          </a:p>
          <a:p>
            <a:r>
              <a:rPr lang="en-US" sz="3200" b="1" dirty="0">
                <a:latin typeface="Consolas" panose="020B0609020204030204" pitchFamily="49" charset="0"/>
                <a:cs typeface="Consolas" panose="020B0609020204030204" pitchFamily="49" charset="0"/>
              </a:rPr>
              <a:t>    </a:t>
            </a:r>
            <a:r>
              <a:rPr lang="en-US" sz="3200" b="1" dirty="0" err="1">
                <a:latin typeface="Consolas" panose="020B0609020204030204" pitchFamily="49" charset="0"/>
                <a:cs typeface="Consolas" panose="020B0609020204030204" pitchFamily="49" charset="0"/>
              </a:rPr>
              <a:t>println</a:t>
            </a:r>
            <a:r>
              <a:rPr lang="en-US" sz="3200" b="1" dirty="0">
                <a:latin typeface="Consolas" panose="020B0609020204030204" pitchFamily="49" charset="0"/>
                <a:cs typeface="Consolas" panose="020B0609020204030204" pitchFamily="49" charset="0"/>
              </a:rPr>
              <a:t>(</a:t>
            </a:r>
            <a:r>
              <a:rPr lang="en-US" sz="3200" b="1" dirty="0">
                <a:solidFill>
                  <a:schemeClr val="accent6">
                    <a:lumMod val="75000"/>
                  </a:schemeClr>
                </a:solidFill>
                <a:latin typeface="Consolas" panose="020B0609020204030204" pitchFamily="49" charset="0"/>
                <a:cs typeface="Consolas" panose="020B0609020204030204" pitchFamily="49" charset="0"/>
              </a:rPr>
              <a:t>"yay!"</a:t>
            </a:r>
            <a:r>
              <a:rPr lang="en-US" sz="3200" b="1" dirty="0">
                <a:latin typeface="Consolas" panose="020B0609020204030204" pitchFamily="49" charset="0"/>
                <a:cs typeface="Consolas" panose="020B0609020204030204" pitchFamily="49" charset="0"/>
              </a:rPr>
              <a:t>);</a:t>
            </a:r>
          </a:p>
        </p:txBody>
      </p:sp>
      <p:grpSp>
        <p:nvGrpSpPr>
          <p:cNvPr id="31" name="Group 30">
            <a:extLst>
              <a:ext uri="{FF2B5EF4-FFF2-40B4-BE49-F238E27FC236}">
                <a16:creationId xmlns:a16="http://schemas.microsoft.com/office/drawing/2014/main" id="{41B62CCE-2B19-FE4D-A4DF-69FD36015186}"/>
              </a:ext>
            </a:extLst>
          </p:cNvPr>
          <p:cNvGrpSpPr/>
          <p:nvPr/>
        </p:nvGrpSpPr>
        <p:grpSpPr>
          <a:xfrm>
            <a:off x="228600" y="1404264"/>
            <a:ext cx="1978427" cy="1148436"/>
            <a:chOff x="276919" y="1404264"/>
            <a:chExt cx="1978427" cy="1148436"/>
          </a:xfrm>
        </p:grpSpPr>
        <p:sp>
          <p:nvSpPr>
            <p:cNvPr id="6" name="TextBox 5">
              <a:extLst>
                <a:ext uri="{FF2B5EF4-FFF2-40B4-BE49-F238E27FC236}">
                  <a16:creationId xmlns:a16="http://schemas.microsoft.com/office/drawing/2014/main" id="{BA6D7010-3C64-F04A-BA13-D20D91052EA8}"/>
                </a:ext>
              </a:extLst>
            </p:cNvPr>
            <p:cNvSpPr txBox="1"/>
            <p:nvPr/>
          </p:nvSpPr>
          <p:spPr>
            <a:xfrm>
              <a:off x="276919" y="1404264"/>
              <a:ext cx="1978427" cy="400110"/>
            </a:xfrm>
            <a:prstGeom prst="rect">
              <a:avLst/>
            </a:prstGeom>
            <a:noFill/>
          </p:spPr>
          <p:txBody>
            <a:bodyPr wrap="none" rtlCol="0">
              <a:spAutoFit/>
            </a:bodyPr>
            <a:lstStyle/>
            <a:p>
              <a:r>
                <a:rPr lang="en-US" sz="2000" dirty="0"/>
                <a:t>line 1, column 1</a:t>
              </a:r>
            </a:p>
          </p:txBody>
        </p:sp>
        <p:cxnSp>
          <p:nvCxnSpPr>
            <p:cNvPr id="8" name="Straight Arrow Connector 7">
              <a:extLst>
                <a:ext uri="{FF2B5EF4-FFF2-40B4-BE49-F238E27FC236}">
                  <a16:creationId xmlns:a16="http://schemas.microsoft.com/office/drawing/2014/main" id="{D7B35E12-3098-8842-AD71-EB976E8AF833}"/>
                </a:ext>
              </a:extLst>
            </p:cNvPr>
            <p:cNvCxnSpPr>
              <a:cxnSpLocks/>
            </p:cNvCxnSpPr>
            <p:nvPr/>
          </p:nvCxnSpPr>
          <p:spPr>
            <a:xfrm>
              <a:off x="1266133" y="1799922"/>
              <a:ext cx="0" cy="7527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03926701-B39A-5B40-BA23-766D4E5CABA6}"/>
              </a:ext>
            </a:extLst>
          </p:cNvPr>
          <p:cNvGrpSpPr/>
          <p:nvPr/>
        </p:nvGrpSpPr>
        <p:grpSpPr>
          <a:xfrm>
            <a:off x="1341777" y="1799922"/>
            <a:ext cx="1465466" cy="752778"/>
            <a:chOff x="1390096" y="1799922"/>
            <a:chExt cx="1465466" cy="752778"/>
          </a:xfrm>
        </p:grpSpPr>
        <p:sp>
          <p:nvSpPr>
            <p:cNvPr id="9" name="TextBox 8">
              <a:extLst>
                <a:ext uri="{FF2B5EF4-FFF2-40B4-BE49-F238E27FC236}">
                  <a16:creationId xmlns:a16="http://schemas.microsoft.com/office/drawing/2014/main" id="{04141336-5A43-AA45-9CC7-1C606D93F2F8}"/>
                </a:ext>
              </a:extLst>
            </p:cNvPr>
            <p:cNvSpPr txBox="1"/>
            <p:nvPr/>
          </p:nvSpPr>
          <p:spPr>
            <a:xfrm>
              <a:off x="1390096" y="1799922"/>
              <a:ext cx="1465466" cy="400110"/>
            </a:xfrm>
            <a:prstGeom prst="rect">
              <a:avLst/>
            </a:prstGeom>
            <a:noFill/>
          </p:spPr>
          <p:txBody>
            <a:bodyPr wrap="none" rtlCol="0">
              <a:spAutoFit/>
            </a:bodyPr>
            <a:lstStyle/>
            <a:p>
              <a:r>
                <a:rPr lang="en-US" sz="2000" dirty="0"/>
                <a:t>line 1, col 4</a:t>
              </a:r>
            </a:p>
          </p:txBody>
        </p:sp>
        <p:cxnSp>
          <p:nvCxnSpPr>
            <p:cNvPr id="10" name="Straight Arrow Connector 9">
              <a:extLst>
                <a:ext uri="{FF2B5EF4-FFF2-40B4-BE49-F238E27FC236}">
                  <a16:creationId xmlns:a16="http://schemas.microsoft.com/office/drawing/2014/main" id="{1BEE91CF-E0F8-4641-9156-D027D40501BE}"/>
                </a:ext>
              </a:extLst>
            </p:cNvPr>
            <p:cNvCxnSpPr>
              <a:cxnSpLocks/>
            </p:cNvCxnSpPr>
            <p:nvPr/>
          </p:nvCxnSpPr>
          <p:spPr>
            <a:xfrm>
              <a:off x="1905000" y="2200032"/>
              <a:ext cx="0" cy="3526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Group 28">
            <a:extLst>
              <a:ext uri="{FF2B5EF4-FFF2-40B4-BE49-F238E27FC236}">
                <a16:creationId xmlns:a16="http://schemas.microsoft.com/office/drawing/2014/main" id="{4393C1FA-A9A8-2E4D-A0FE-0640DBB1D24E}"/>
              </a:ext>
            </a:extLst>
          </p:cNvPr>
          <p:cNvGrpSpPr/>
          <p:nvPr/>
        </p:nvGrpSpPr>
        <p:grpSpPr>
          <a:xfrm>
            <a:off x="3539975" y="1399812"/>
            <a:ext cx="654346" cy="1152888"/>
            <a:chOff x="3588294" y="1399812"/>
            <a:chExt cx="654346" cy="1152888"/>
          </a:xfrm>
        </p:grpSpPr>
        <p:sp>
          <p:nvSpPr>
            <p:cNvPr id="14" name="TextBox 13">
              <a:extLst>
                <a:ext uri="{FF2B5EF4-FFF2-40B4-BE49-F238E27FC236}">
                  <a16:creationId xmlns:a16="http://schemas.microsoft.com/office/drawing/2014/main" id="{27A67285-35C4-2046-A5C0-231591D44749}"/>
                </a:ext>
              </a:extLst>
            </p:cNvPr>
            <p:cNvSpPr txBox="1"/>
            <p:nvPr/>
          </p:nvSpPr>
          <p:spPr>
            <a:xfrm>
              <a:off x="3588294" y="1399812"/>
              <a:ext cx="654346" cy="400110"/>
            </a:xfrm>
            <a:prstGeom prst="rect">
              <a:avLst/>
            </a:prstGeom>
            <a:noFill/>
          </p:spPr>
          <p:txBody>
            <a:bodyPr wrap="none" rtlCol="0">
              <a:spAutoFit/>
            </a:bodyPr>
            <a:lstStyle/>
            <a:p>
              <a:pPr algn="ctr"/>
              <a:r>
                <a:rPr lang="en-US" sz="2000" dirty="0"/>
                <a:t>1:13</a:t>
              </a:r>
            </a:p>
          </p:txBody>
        </p:sp>
        <p:cxnSp>
          <p:nvCxnSpPr>
            <p:cNvPr id="15" name="Straight Arrow Connector 14">
              <a:extLst>
                <a:ext uri="{FF2B5EF4-FFF2-40B4-BE49-F238E27FC236}">
                  <a16:creationId xmlns:a16="http://schemas.microsoft.com/office/drawing/2014/main" id="{AED0A591-8AB2-D64F-B31D-3727E3CD615F}"/>
                </a:ext>
              </a:extLst>
            </p:cNvPr>
            <p:cNvCxnSpPr>
              <a:cxnSpLocks/>
            </p:cNvCxnSpPr>
            <p:nvPr/>
          </p:nvCxnSpPr>
          <p:spPr>
            <a:xfrm>
              <a:off x="3915467" y="1799922"/>
              <a:ext cx="0" cy="7527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A2B8A40C-D7F4-2240-86C9-E600320A4973}"/>
              </a:ext>
            </a:extLst>
          </p:cNvPr>
          <p:cNvGrpSpPr/>
          <p:nvPr/>
        </p:nvGrpSpPr>
        <p:grpSpPr>
          <a:xfrm>
            <a:off x="4255575" y="1799922"/>
            <a:ext cx="654346" cy="752778"/>
            <a:chOff x="4303894" y="1799922"/>
            <a:chExt cx="654346" cy="752778"/>
          </a:xfrm>
        </p:grpSpPr>
        <p:sp>
          <p:nvSpPr>
            <p:cNvPr id="17" name="TextBox 16">
              <a:extLst>
                <a:ext uri="{FF2B5EF4-FFF2-40B4-BE49-F238E27FC236}">
                  <a16:creationId xmlns:a16="http://schemas.microsoft.com/office/drawing/2014/main" id="{530B0AD6-2789-B64B-9A9F-BD441511F867}"/>
                </a:ext>
              </a:extLst>
            </p:cNvPr>
            <p:cNvSpPr txBox="1"/>
            <p:nvPr/>
          </p:nvSpPr>
          <p:spPr>
            <a:xfrm>
              <a:off x="4303894" y="1799922"/>
              <a:ext cx="654346" cy="400110"/>
            </a:xfrm>
            <a:prstGeom prst="rect">
              <a:avLst/>
            </a:prstGeom>
            <a:noFill/>
          </p:spPr>
          <p:txBody>
            <a:bodyPr wrap="none" rtlCol="0">
              <a:spAutoFit/>
            </a:bodyPr>
            <a:lstStyle/>
            <a:p>
              <a:pPr algn="ctr"/>
              <a:r>
                <a:rPr lang="en-US" sz="2000" dirty="0"/>
                <a:t>1:16</a:t>
              </a:r>
            </a:p>
          </p:txBody>
        </p:sp>
        <p:cxnSp>
          <p:nvCxnSpPr>
            <p:cNvPr id="18" name="Straight Arrow Connector 17">
              <a:extLst>
                <a:ext uri="{FF2B5EF4-FFF2-40B4-BE49-F238E27FC236}">
                  <a16:creationId xmlns:a16="http://schemas.microsoft.com/office/drawing/2014/main" id="{BFFE65BB-F4A1-9A4C-9F60-22B1024EA765}"/>
                </a:ext>
              </a:extLst>
            </p:cNvPr>
            <p:cNvCxnSpPr>
              <a:cxnSpLocks/>
            </p:cNvCxnSpPr>
            <p:nvPr/>
          </p:nvCxnSpPr>
          <p:spPr>
            <a:xfrm>
              <a:off x="4631067" y="2200032"/>
              <a:ext cx="0" cy="3526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431C2BAE-352F-0A4B-8D13-4C7041DD6DE9}"/>
              </a:ext>
            </a:extLst>
          </p:cNvPr>
          <p:cNvGrpSpPr/>
          <p:nvPr/>
        </p:nvGrpSpPr>
        <p:grpSpPr>
          <a:xfrm>
            <a:off x="4900396" y="1399812"/>
            <a:ext cx="654346" cy="1152888"/>
            <a:chOff x="4948715" y="1399812"/>
            <a:chExt cx="654346" cy="1152888"/>
          </a:xfrm>
        </p:grpSpPr>
        <p:sp>
          <p:nvSpPr>
            <p:cNvPr id="19" name="TextBox 18">
              <a:extLst>
                <a:ext uri="{FF2B5EF4-FFF2-40B4-BE49-F238E27FC236}">
                  <a16:creationId xmlns:a16="http://schemas.microsoft.com/office/drawing/2014/main" id="{B29B9950-C28F-AA4E-93D8-91BF6DBB5B15}"/>
                </a:ext>
              </a:extLst>
            </p:cNvPr>
            <p:cNvSpPr txBox="1"/>
            <p:nvPr/>
          </p:nvSpPr>
          <p:spPr>
            <a:xfrm>
              <a:off x="4948715" y="1399812"/>
              <a:ext cx="654346" cy="400110"/>
            </a:xfrm>
            <a:prstGeom prst="rect">
              <a:avLst/>
            </a:prstGeom>
            <a:noFill/>
          </p:spPr>
          <p:txBody>
            <a:bodyPr wrap="none" rtlCol="0">
              <a:spAutoFit/>
            </a:bodyPr>
            <a:lstStyle/>
            <a:p>
              <a:pPr algn="ctr"/>
              <a:r>
                <a:rPr lang="en-US" sz="2000" dirty="0"/>
                <a:t>1:19</a:t>
              </a:r>
            </a:p>
          </p:txBody>
        </p:sp>
        <p:cxnSp>
          <p:nvCxnSpPr>
            <p:cNvPr id="20" name="Straight Arrow Connector 19">
              <a:extLst>
                <a:ext uri="{FF2B5EF4-FFF2-40B4-BE49-F238E27FC236}">
                  <a16:creationId xmlns:a16="http://schemas.microsoft.com/office/drawing/2014/main" id="{29819BC8-EE92-FE42-8A98-DE91FFEB5495}"/>
                </a:ext>
              </a:extLst>
            </p:cNvPr>
            <p:cNvCxnSpPr>
              <a:cxnSpLocks/>
            </p:cNvCxnSpPr>
            <p:nvPr/>
          </p:nvCxnSpPr>
          <p:spPr>
            <a:xfrm>
              <a:off x="5275888" y="1799922"/>
              <a:ext cx="0" cy="7527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 name="Group 25">
            <a:extLst>
              <a:ext uri="{FF2B5EF4-FFF2-40B4-BE49-F238E27FC236}">
                <a16:creationId xmlns:a16="http://schemas.microsoft.com/office/drawing/2014/main" id="{2183FA74-7096-8A41-BB47-06B28950FB5F}"/>
              </a:ext>
            </a:extLst>
          </p:cNvPr>
          <p:cNvGrpSpPr/>
          <p:nvPr/>
        </p:nvGrpSpPr>
        <p:grpSpPr>
          <a:xfrm>
            <a:off x="1826345" y="3486091"/>
            <a:ext cx="516488" cy="914519"/>
            <a:chOff x="1874664" y="3486091"/>
            <a:chExt cx="516488" cy="914519"/>
          </a:xfrm>
        </p:grpSpPr>
        <p:sp>
          <p:nvSpPr>
            <p:cNvPr id="21" name="TextBox 20">
              <a:extLst>
                <a:ext uri="{FF2B5EF4-FFF2-40B4-BE49-F238E27FC236}">
                  <a16:creationId xmlns:a16="http://schemas.microsoft.com/office/drawing/2014/main" id="{2438A8ED-96D8-9549-AECC-656E7DE64D22}"/>
                </a:ext>
              </a:extLst>
            </p:cNvPr>
            <p:cNvSpPr txBox="1"/>
            <p:nvPr/>
          </p:nvSpPr>
          <p:spPr>
            <a:xfrm>
              <a:off x="1874664" y="4000500"/>
              <a:ext cx="516488" cy="400110"/>
            </a:xfrm>
            <a:prstGeom prst="rect">
              <a:avLst/>
            </a:prstGeom>
            <a:noFill/>
          </p:spPr>
          <p:txBody>
            <a:bodyPr wrap="none" rtlCol="0">
              <a:spAutoFit/>
            </a:bodyPr>
            <a:lstStyle/>
            <a:p>
              <a:pPr algn="ctr"/>
              <a:r>
                <a:rPr lang="en-US" sz="2000" dirty="0"/>
                <a:t>2:5</a:t>
              </a:r>
            </a:p>
          </p:txBody>
        </p:sp>
        <p:cxnSp>
          <p:nvCxnSpPr>
            <p:cNvPr id="22" name="Straight Arrow Connector 21">
              <a:extLst>
                <a:ext uri="{FF2B5EF4-FFF2-40B4-BE49-F238E27FC236}">
                  <a16:creationId xmlns:a16="http://schemas.microsoft.com/office/drawing/2014/main" id="{AE1301FA-1583-724F-9CEC-2A8DB1CABAE4}"/>
                </a:ext>
              </a:extLst>
            </p:cNvPr>
            <p:cNvCxnSpPr>
              <a:cxnSpLocks/>
            </p:cNvCxnSpPr>
            <p:nvPr/>
          </p:nvCxnSpPr>
          <p:spPr>
            <a:xfrm flipV="1">
              <a:off x="2132908" y="3486091"/>
              <a:ext cx="0" cy="51440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2" name="Group 31">
            <a:extLst>
              <a:ext uri="{FF2B5EF4-FFF2-40B4-BE49-F238E27FC236}">
                <a16:creationId xmlns:a16="http://schemas.microsoft.com/office/drawing/2014/main" id="{EBB058B7-8513-7E41-9B92-64DEC7B52726}"/>
              </a:ext>
            </a:extLst>
          </p:cNvPr>
          <p:cNvGrpSpPr/>
          <p:nvPr/>
        </p:nvGrpSpPr>
        <p:grpSpPr>
          <a:xfrm>
            <a:off x="3259389" y="3486092"/>
            <a:ext cx="654346" cy="714463"/>
            <a:chOff x="1687011" y="3486092"/>
            <a:chExt cx="654346" cy="714463"/>
          </a:xfrm>
        </p:grpSpPr>
        <p:sp>
          <p:nvSpPr>
            <p:cNvPr id="33" name="TextBox 32">
              <a:extLst>
                <a:ext uri="{FF2B5EF4-FFF2-40B4-BE49-F238E27FC236}">
                  <a16:creationId xmlns:a16="http://schemas.microsoft.com/office/drawing/2014/main" id="{9FD93824-89FF-6A42-9C73-D8780722551F}"/>
                </a:ext>
              </a:extLst>
            </p:cNvPr>
            <p:cNvSpPr txBox="1"/>
            <p:nvPr/>
          </p:nvSpPr>
          <p:spPr>
            <a:xfrm>
              <a:off x="1687011" y="3800445"/>
              <a:ext cx="654346" cy="400110"/>
            </a:xfrm>
            <a:prstGeom prst="rect">
              <a:avLst/>
            </a:prstGeom>
            <a:noFill/>
          </p:spPr>
          <p:txBody>
            <a:bodyPr wrap="none" rtlCol="0">
              <a:spAutoFit/>
            </a:bodyPr>
            <a:lstStyle/>
            <a:p>
              <a:pPr algn="ctr"/>
              <a:r>
                <a:rPr lang="en-US" sz="2000" dirty="0"/>
                <a:t>2:12</a:t>
              </a:r>
            </a:p>
          </p:txBody>
        </p:sp>
        <p:cxnSp>
          <p:nvCxnSpPr>
            <p:cNvPr id="34" name="Straight Arrow Connector 33">
              <a:extLst>
                <a:ext uri="{FF2B5EF4-FFF2-40B4-BE49-F238E27FC236}">
                  <a16:creationId xmlns:a16="http://schemas.microsoft.com/office/drawing/2014/main" id="{BA09D962-BFE5-9D4A-8429-8147E7909F37}"/>
                </a:ext>
              </a:extLst>
            </p:cNvPr>
            <p:cNvCxnSpPr>
              <a:cxnSpLocks/>
            </p:cNvCxnSpPr>
            <p:nvPr/>
          </p:nvCxnSpPr>
          <p:spPr>
            <a:xfrm flipV="1">
              <a:off x="2132908" y="3486092"/>
              <a:ext cx="0" cy="3620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0D361E44-5D3E-A74B-8EE9-4B5EC99767E0}"/>
              </a:ext>
            </a:extLst>
          </p:cNvPr>
          <p:cNvGrpSpPr/>
          <p:nvPr/>
        </p:nvGrpSpPr>
        <p:grpSpPr>
          <a:xfrm>
            <a:off x="3586562" y="3486092"/>
            <a:ext cx="654346" cy="952648"/>
            <a:chOff x="1805735" y="3486092"/>
            <a:chExt cx="654346" cy="952648"/>
          </a:xfrm>
        </p:grpSpPr>
        <p:sp>
          <p:nvSpPr>
            <p:cNvPr id="37" name="TextBox 36">
              <a:extLst>
                <a:ext uri="{FF2B5EF4-FFF2-40B4-BE49-F238E27FC236}">
                  <a16:creationId xmlns:a16="http://schemas.microsoft.com/office/drawing/2014/main" id="{6CCDBF6E-7AB8-2E44-B8C9-D82AA747AF2D}"/>
                </a:ext>
              </a:extLst>
            </p:cNvPr>
            <p:cNvSpPr txBox="1"/>
            <p:nvPr/>
          </p:nvSpPr>
          <p:spPr>
            <a:xfrm>
              <a:off x="1805735" y="4038630"/>
              <a:ext cx="654346" cy="400110"/>
            </a:xfrm>
            <a:prstGeom prst="rect">
              <a:avLst/>
            </a:prstGeom>
            <a:noFill/>
          </p:spPr>
          <p:txBody>
            <a:bodyPr wrap="none" rtlCol="0">
              <a:spAutoFit/>
            </a:bodyPr>
            <a:lstStyle/>
            <a:p>
              <a:pPr algn="ctr"/>
              <a:r>
                <a:rPr lang="en-US" sz="2000" dirty="0"/>
                <a:t>2:13</a:t>
              </a:r>
            </a:p>
          </p:txBody>
        </p:sp>
        <p:cxnSp>
          <p:nvCxnSpPr>
            <p:cNvPr id="38" name="Straight Arrow Connector 37">
              <a:extLst>
                <a:ext uri="{FF2B5EF4-FFF2-40B4-BE49-F238E27FC236}">
                  <a16:creationId xmlns:a16="http://schemas.microsoft.com/office/drawing/2014/main" id="{8A4401ED-7AC3-0E44-9A00-3358BF4A4120}"/>
                </a:ext>
              </a:extLst>
            </p:cNvPr>
            <p:cNvCxnSpPr>
              <a:cxnSpLocks/>
              <a:stCxn id="37" idx="0"/>
            </p:cNvCxnSpPr>
            <p:nvPr/>
          </p:nvCxnSpPr>
          <p:spPr>
            <a:xfrm flipV="1">
              <a:off x="2132908" y="3486092"/>
              <a:ext cx="0" cy="55253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91FF8340-D70B-2946-B842-3A8F2BEC4F89}"/>
              </a:ext>
            </a:extLst>
          </p:cNvPr>
          <p:cNvGrpSpPr/>
          <p:nvPr/>
        </p:nvGrpSpPr>
        <p:grpSpPr>
          <a:xfrm>
            <a:off x="4806455" y="3481300"/>
            <a:ext cx="654346" cy="714463"/>
            <a:chOff x="1687011" y="3486092"/>
            <a:chExt cx="654346" cy="714463"/>
          </a:xfrm>
        </p:grpSpPr>
        <p:sp>
          <p:nvSpPr>
            <p:cNvPr id="44" name="TextBox 43">
              <a:extLst>
                <a:ext uri="{FF2B5EF4-FFF2-40B4-BE49-F238E27FC236}">
                  <a16:creationId xmlns:a16="http://schemas.microsoft.com/office/drawing/2014/main" id="{D7AD5284-5CDB-7949-8CCC-A34A2EBCC241}"/>
                </a:ext>
              </a:extLst>
            </p:cNvPr>
            <p:cNvSpPr txBox="1"/>
            <p:nvPr/>
          </p:nvSpPr>
          <p:spPr>
            <a:xfrm>
              <a:off x="1687011" y="3800445"/>
              <a:ext cx="654346" cy="400110"/>
            </a:xfrm>
            <a:prstGeom prst="rect">
              <a:avLst/>
            </a:prstGeom>
            <a:noFill/>
          </p:spPr>
          <p:txBody>
            <a:bodyPr wrap="none" rtlCol="0">
              <a:spAutoFit/>
            </a:bodyPr>
            <a:lstStyle/>
            <a:p>
              <a:pPr algn="ctr"/>
              <a:r>
                <a:rPr lang="en-US" sz="2000" dirty="0"/>
                <a:t>2:19</a:t>
              </a:r>
            </a:p>
          </p:txBody>
        </p:sp>
        <p:cxnSp>
          <p:nvCxnSpPr>
            <p:cNvPr id="45" name="Straight Arrow Connector 44">
              <a:extLst>
                <a:ext uri="{FF2B5EF4-FFF2-40B4-BE49-F238E27FC236}">
                  <a16:creationId xmlns:a16="http://schemas.microsoft.com/office/drawing/2014/main" id="{E88E14D3-72D1-FC4E-A219-E93381D46C0E}"/>
                </a:ext>
              </a:extLst>
            </p:cNvPr>
            <p:cNvCxnSpPr>
              <a:cxnSpLocks/>
            </p:cNvCxnSpPr>
            <p:nvPr/>
          </p:nvCxnSpPr>
          <p:spPr>
            <a:xfrm flipV="1">
              <a:off x="2132908" y="3486092"/>
              <a:ext cx="0" cy="36200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DA482A36-DBEA-8D45-B3C1-79FAB04FD44F}"/>
              </a:ext>
            </a:extLst>
          </p:cNvPr>
          <p:cNvGrpSpPr/>
          <p:nvPr/>
        </p:nvGrpSpPr>
        <p:grpSpPr>
          <a:xfrm>
            <a:off x="5133628" y="3481300"/>
            <a:ext cx="654346" cy="952648"/>
            <a:chOff x="1805735" y="3486092"/>
            <a:chExt cx="654346" cy="952648"/>
          </a:xfrm>
        </p:grpSpPr>
        <p:sp>
          <p:nvSpPr>
            <p:cNvPr id="47" name="TextBox 46">
              <a:extLst>
                <a:ext uri="{FF2B5EF4-FFF2-40B4-BE49-F238E27FC236}">
                  <a16:creationId xmlns:a16="http://schemas.microsoft.com/office/drawing/2014/main" id="{078772CA-08EC-DE43-94E5-579B1DCF758C}"/>
                </a:ext>
              </a:extLst>
            </p:cNvPr>
            <p:cNvSpPr txBox="1"/>
            <p:nvPr/>
          </p:nvSpPr>
          <p:spPr>
            <a:xfrm>
              <a:off x="1805735" y="4038630"/>
              <a:ext cx="654346" cy="400110"/>
            </a:xfrm>
            <a:prstGeom prst="rect">
              <a:avLst/>
            </a:prstGeom>
            <a:noFill/>
          </p:spPr>
          <p:txBody>
            <a:bodyPr wrap="none" rtlCol="0">
              <a:spAutoFit/>
            </a:bodyPr>
            <a:lstStyle/>
            <a:p>
              <a:pPr algn="ctr"/>
              <a:r>
                <a:rPr lang="en-US" sz="2000" dirty="0"/>
                <a:t>2:20</a:t>
              </a:r>
            </a:p>
          </p:txBody>
        </p:sp>
        <p:cxnSp>
          <p:nvCxnSpPr>
            <p:cNvPr id="48" name="Straight Arrow Connector 47">
              <a:extLst>
                <a:ext uri="{FF2B5EF4-FFF2-40B4-BE49-F238E27FC236}">
                  <a16:creationId xmlns:a16="http://schemas.microsoft.com/office/drawing/2014/main" id="{D3F68924-7743-1648-AAFB-1CD6D8C43645}"/>
                </a:ext>
              </a:extLst>
            </p:cNvPr>
            <p:cNvCxnSpPr>
              <a:cxnSpLocks/>
              <a:stCxn id="47" idx="0"/>
            </p:cNvCxnSpPr>
            <p:nvPr/>
          </p:nvCxnSpPr>
          <p:spPr>
            <a:xfrm flipV="1">
              <a:off x="2132908" y="3486092"/>
              <a:ext cx="0" cy="55253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9" name="TextBox 48">
            <a:extLst>
              <a:ext uri="{FF2B5EF4-FFF2-40B4-BE49-F238E27FC236}">
                <a16:creationId xmlns:a16="http://schemas.microsoft.com/office/drawing/2014/main" id="{97DFCA9B-9F67-6B4D-8792-A99484135717}"/>
              </a:ext>
            </a:extLst>
          </p:cNvPr>
          <p:cNvSpPr txBox="1"/>
          <p:nvPr/>
        </p:nvSpPr>
        <p:spPr>
          <a:xfrm>
            <a:off x="5902274" y="1445979"/>
            <a:ext cx="2898826" cy="1107996"/>
          </a:xfrm>
          <a:prstGeom prst="rect">
            <a:avLst/>
          </a:prstGeom>
          <a:noFill/>
        </p:spPr>
        <p:txBody>
          <a:bodyPr wrap="square" rtlCol="0">
            <a:spAutoFit/>
          </a:bodyPr>
          <a:lstStyle/>
          <a:p>
            <a:r>
              <a:rPr lang="en-US" sz="2200" dirty="0"/>
              <a:t>the </a:t>
            </a:r>
            <a:r>
              <a:rPr lang="en-US" sz="2200" b="1" dirty="0"/>
              <a:t>line</a:t>
            </a:r>
            <a:r>
              <a:rPr lang="en-US" sz="2200" dirty="0"/>
              <a:t> number is based on how many newlines it's seen.</a:t>
            </a:r>
          </a:p>
        </p:txBody>
      </p:sp>
      <p:sp>
        <p:nvSpPr>
          <p:cNvPr id="50" name="TextBox 49">
            <a:extLst>
              <a:ext uri="{FF2B5EF4-FFF2-40B4-BE49-F238E27FC236}">
                <a16:creationId xmlns:a16="http://schemas.microsoft.com/office/drawing/2014/main" id="{8B80EC66-FA02-0743-98B1-D6C77BD9164C}"/>
              </a:ext>
            </a:extLst>
          </p:cNvPr>
          <p:cNvSpPr txBox="1"/>
          <p:nvPr/>
        </p:nvSpPr>
        <p:spPr>
          <a:xfrm>
            <a:off x="5902274" y="2857500"/>
            <a:ext cx="3004408" cy="1446550"/>
          </a:xfrm>
          <a:prstGeom prst="rect">
            <a:avLst/>
          </a:prstGeom>
          <a:noFill/>
        </p:spPr>
        <p:txBody>
          <a:bodyPr wrap="square" rtlCol="0">
            <a:spAutoFit/>
          </a:bodyPr>
          <a:lstStyle/>
          <a:p>
            <a:r>
              <a:rPr lang="en-US" sz="2200" dirty="0"/>
              <a:t>the </a:t>
            </a:r>
            <a:r>
              <a:rPr lang="en-US" sz="2200" b="1" dirty="0"/>
              <a:t>column</a:t>
            </a:r>
            <a:r>
              <a:rPr lang="en-US" sz="2200" dirty="0"/>
              <a:t> number is based on how many characters it's seen since the last newline.</a:t>
            </a:r>
          </a:p>
        </p:txBody>
      </p:sp>
      <p:sp>
        <p:nvSpPr>
          <p:cNvPr id="51" name="TextBox 50">
            <a:extLst>
              <a:ext uri="{FF2B5EF4-FFF2-40B4-BE49-F238E27FC236}">
                <a16:creationId xmlns:a16="http://schemas.microsoft.com/office/drawing/2014/main" id="{0ABBD531-F363-2B49-AFCA-A221BD8B2A6D}"/>
              </a:ext>
            </a:extLst>
          </p:cNvPr>
          <p:cNvSpPr txBox="1"/>
          <p:nvPr/>
        </p:nvSpPr>
        <p:spPr>
          <a:xfrm>
            <a:off x="1164496" y="4594898"/>
            <a:ext cx="6836504" cy="769441"/>
          </a:xfrm>
          <a:prstGeom prst="rect">
            <a:avLst/>
          </a:prstGeom>
          <a:noFill/>
        </p:spPr>
        <p:txBody>
          <a:bodyPr wrap="square" rtlCol="0">
            <a:spAutoFit/>
          </a:bodyPr>
          <a:lstStyle/>
          <a:p>
            <a:pPr algn="ctr"/>
            <a:r>
              <a:rPr lang="en-US" sz="2200" dirty="0"/>
              <a:t>this information can be carried forward through the rest of the compilation process for a number of uses.</a:t>
            </a:r>
          </a:p>
        </p:txBody>
      </p:sp>
    </p:spTree>
    <p:extLst>
      <p:ext uri="{BB962C8B-B14F-4D97-AF65-F5344CB8AC3E}">
        <p14:creationId xmlns:p14="http://schemas.microsoft.com/office/powerpoint/2010/main" val="2387898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200"/>
                                  </p:stCondLst>
                                  <p:childTnLst>
                                    <p:set>
                                      <p:cBhvr>
                                        <p:cTn id="21" dur="1" fill="hold">
                                          <p:stCondLst>
                                            <p:cond delay="0"/>
                                          </p:stCondLst>
                                        </p:cTn>
                                        <p:tgtEl>
                                          <p:spTgt spid="28"/>
                                        </p:tgtEl>
                                        <p:attrNameLst>
                                          <p:attrName>style.visibility</p:attrName>
                                        </p:attrNameLst>
                                      </p:cBhvr>
                                      <p:to>
                                        <p:strVal val="visible"/>
                                      </p:to>
                                    </p:set>
                                  </p:childTnLst>
                                </p:cTn>
                              </p:par>
                            </p:childTnLst>
                          </p:cTn>
                        </p:par>
                        <p:par>
                          <p:cTn id="22" fill="hold">
                            <p:stCondLst>
                              <p:cond delay="200"/>
                            </p:stCondLst>
                            <p:childTnLst>
                              <p:par>
                                <p:cTn id="23" presetID="1" presetClass="entr" presetSubtype="0" fill="hold" nodeType="afterEffect">
                                  <p:stCondLst>
                                    <p:cond delay="200"/>
                                  </p:stCondLst>
                                  <p:childTnLst>
                                    <p:set>
                                      <p:cBhvr>
                                        <p:cTn id="24" dur="1" fill="hold">
                                          <p:stCondLst>
                                            <p:cond delay="0"/>
                                          </p:stCondLst>
                                        </p:cTn>
                                        <p:tgtEl>
                                          <p:spTgt spid="27"/>
                                        </p:tgtEl>
                                        <p:attrNameLst>
                                          <p:attrName>style.visibility</p:attrName>
                                        </p:attrNameLst>
                                      </p:cBhvr>
                                      <p:to>
                                        <p:strVal val="visible"/>
                                      </p:to>
                                    </p:set>
                                  </p:childTnLst>
                                </p:cTn>
                              </p:par>
                            </p:childTnLst>
                          </p:cTn>
                        </p:par>
                        <p:par>
                          <p:cTn id="25" fill="hold">
                            <p:stCondLst>
                              <p:cond delay="400"/>
                            </p:stCondLst>
                            <p:childTnLst>
                              <p:par>
                                <p:cTn id="26" presetID="1" presetClass="entr" presetSubtype="0" fill="hold" nodeType="afterEffect">
                                  <p:stCondLst>
                                    <p:cond delay="200"/>
                                  </p:stCondLst>
                                  <p:childTnLst>
                                    <p:set>
                                      <p:cBhvr>
                                        <p:cTn id="27" dur="1" fill="hold">
                                          <p:stCondLst>
                                            <p:cond delay="0"/>
                                          </p:stCondLst>
                                        </p:cTn>
                                        <p:tgtEl>
                                          <p:spTgt spid="26"/>
                                        </p:tgtEl>
                                        <p:attrNameLst>
                                          <p:attrName>style.visibility</p:attrName>
                                        </p:attrNameLst>
                                      </p:cBhvr>
                                      <p:to>
                                        <p:strVal val="visible"/>
                                      </p:to>
                                    </p:set>
                                  </p:childTnLst>
                                </p:cTn>
                              </p:par>
                            </p:childTnLst>
                          </p:cTn>
                        </p:par>
                        <p:par>
                          <p:cTn id="28" fill="hold">
                            <p:stCondLst>
                              <p:cond delay="600"/>
                            </p:stCondLst>
                            <p:childTnLst>
                              <p:par>
                                <p:cTn id="29" presetID="1" presetClass="entr" presetSubtype="0" fill="hold" nodeType="afterEffect">
                                  <p:stCondLst>
                                    <p:cond delay="200"/>
                                  </p:stCondLst>
                                  <p:childTnLst>
                                    <p:set>
                                      <p:cBhvr>
                                        <p:cTn id="30" dur="1" fill="hold">
                                          <p:stCondLst>
                                            <p:cond delay="0"/>
                                          </p:stCondLst>
                                        </p:cTn>
                                        <p:tgtEl>
                                          <p:spTgt spid="32"/>
                                        </p:tgtEl>
                                        <p:attrNameLst>
                                          <p:attrName>style.visibility</p:attrName>
                                        </p:attrNameLst>
                                      </p:cBhvr>
                                      <p:to>
                                        <p:strVal val="visible"/>
                                      </p:to>
                                    </p:set>
                                  </p:childTnLst>
                                </p:cTn>
                              </p:par>
                            </p:childTnLst>
                          </p:cTn>
                        </p:par>
                        <p:par>
                          <p:cTn id="31" fill="hold">
                            <p:stCondLst>
                              <p:cond delay="800"/>
                            </p:stCondLst>
                            <p:childTnLst>
                              <p:par>
                                <p:cTn id="32" presetID="1" presetClass="entr" presetSubtype="0" fill="hold" nodeType="afterEffect">
                                  <p:stCondLst>
                                    <p:cond delay="200"/>
                                  </p:stCondLst>
                                  <p:childTnLst>
                                    <p:set>
                                      <p:cBhvr>
                                        <p:cTn id="33" dur="1" fill="hold">
                                          <p:stCondLst>
                                            <p:cond delay="0"/>
                                          </p:stCondLst>
                                        </p:cTn>
                                        <p:tgtEl>
                                          <p:spTgt spid="36"/>
                                        </p:tgtEl>
                                        <p:attrNameLst>
                                          <p:attrName>style.visibility</p:attrName>
                                        </p:attrNameLst>
                                      </p:cBhvr>
                                      <p:to>
                                        <p:strVal val="visible"/>
                                      </p:to>
                                    </p:set>
                                  </p:childTnLst>
                                </p:cTn>
                              </p:par>
                            </p:childTnLst>
                          </p:cTn>
                        </p:par>
                        <p:par>
                          <p:cTn id="34" fill="hold">
                            <p:stCondLst>
                              <p:cond delay="1000"/>
                            </p:stCondLst>
                            <p:childTnLst>
                              <p:par>
                                <p:cTn id="35" presetID="1" presetClass="entr" presetSubtype="0" fill="hold" nodeType="afterEffect">
                                  <p:stCondLst>
                                    <p:cond delay="200"/>
                                  </p:stCondLst>
                                  <p:childTnLst>
                                    <p:set>
                                      <p:cBhvr>
                                        <p:cTn id="36" dur="1" fill="hold">
                                          <p:stCondLst>
                                            <p:cond delay="0"/>
                                          </p:stCondLst>
                                        </p:cTn>
                                        <p:tgtEl>
                                          <p:spTgt spid="43"/>
                                        </p:tgtEl>
                                        <p:attrNameLst>
                                          <p:attrName>style.visibility</p:attrName>
                                        </p:attrNameLst>
                                      </p:cBhvr>
                                      <p:to>
                                        <p:strVal val="visible"/>
                                      </p:to>
                                    </p:set>
                                  </p:childTnLst>
                                </p:cTn>
                              </p:par>
                            </p:childTnLst>
                          </p:cTn>
                        </p:par>
                        <p:par>
                          <p:cTn id="37" fill="hold">
                            <p:stCondLst>
                              <p:cond delay="1200"/>
                            </p:stCondLst>
                            <p:childTnLst>
                              <p:par>
                                <p:cTn id="38" presetID="1" presetClass="entr" presetSubtype="0" fill="hold" nodeType="afterEffect">
                                  <p:stCondLst>
                                    <p:cond delay="200"/>
                                  </p:stCondLst>
                                  <p:childTnLst>
                                    <p:set>
                                      <p:cBhvr>
                                        <p:cTn id="39" dur="1" fill="hold">
                                          <p:stCondLst>
                                            <p:cond delay="0"/>
                                          </p:stCondLst>
                                        </p:cTn>
                                        <p:tgtEl>
                                          <p:spTgt spid="46"/>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9"/>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5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9" grpId="0"/>
      <p:bldP spid="50" grpId="0"/>
      <p:bldP spid="5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A0496-4154-7246-8172-01DC1201085E}"/>
              </a:ext>
            </a:extLst>
          </p:cNvPr>
          <p:cNvSpPr>
            <a:spLocks noGrp="1"/>
          </p:cNvSpPr>
          <p:nvPr>
            <p:ph type="ctrTitle"/>
          </p:nvPr>
        </p:nvSpPr>
        <p:spPr/>
        <p:txBody>
          <a:bodyPr/>
          <a:lstStyle/>
          <a:p>
            <a:r>
              <a:rPr lang="en-US" dirty="0"/>
              <a:t>Lexing from Intuition</a:t>
            </a:r>
          </a:p>
        </p:txBody>
      </p:sp>
      <p:sp>
        <p:nvSpPr>
          <p:cNvPr id="3" name="Slide Number Placeholder 2">
            <a:extLst>
              <a:ext uri="{FF2B5EF4-FFF2-40B4-BE49-F238E27FC236}">
                <a16:creationId xmlns:a16="http://schemas.microsoft.com/office/drawing/2014/main" id="{13D12E16-0708-C243-A93F-5066E8EB79ED}"/>
              </a:ext>
            </a:extLst>
          </p:cNvPr>
          <p:cNvSpPr>
            <a:spLocks noGrp="1"/>
          </p:cNvSpPr>
          <p:nvPr>
            <p:ph type="sldNum" sz="quarter" idx="12"/>
          </p:nvPr>
        </p:nvSpPr>
        <p:spPr/>
        <p:txBody>
          <a:bodyPr/>
          <a:lstStyle/>
          <a:p>
            <a:fld id="{3552B95B-556F-44BD-91A5-D80C1B9E2BB3}" type="slidenum">
              <a:rPr lang="en-US" smtClean="0"/>
              <a:pPr/>
              <a:t>8</a:t>
            </a:fld>
            <a:endParaRPr lang="en-US"/>
          </a:p>
        </p:txBody>
      </p:sp>
    </p:spTree>
    <p:extLst>
      <p:ext uri="{BB962C8B-B14F-4D97-AF65-F5344CB8AC3E}">
        <p14:creationId xmlns:p14="http://schemas.microsoft.com/office/powerpoint/2010/main" val="323787506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E03BB-B5EB-0548-9D4C-CBC3078EB1AC}"/>
              </a:ext>
            </a:extLst>
          </p:cNvPr>
          <p:cNvSpPr>
            <a:spLocks noGrp="1"/>
          </p:cNvSpPr>
          <p:nvPr>
            <p:ph type="title"/>
          </p:nvPr>
        </p:nvSpPr>
        <p:spPr/>
        <p:txBody>
          <a:bodyPr/>
          <a:lstStyle/>
          <a:p>
            <a:r>
              <a:rPr lang="en-US" dirty="0"/>
              <a:t>Getting a feel for it</a:t>
            </a:r>
          </a:p>
        </p:txBody>
      </p:sp>
      <p:sp>
        <p:nvSpPr>
          <p:cNvPr id="3" name="Content Placeholder 2">
            <a:extLst>
              <a:ext uri="{FF2B5EF4-FFF2-40B4-BE49-F238E27FC236}">
                <a16:creationId xmlns:a16="http://schemas.microsoft.com/office/drawing/2014/main" id="{9A63211C-D2B9-FA43-B8D2-B1D4E6F82B96}"/>
              </a:ext>
            </a:extLst>
          </p:cNvPr>
          <p:cNvSpPr>
            <a:spLocks noGrp="1"/>
          </p:cNvSpPr>
          <p:nvPr>
            <p:ph idx="1"/>
          </p:nvPr>
        </p:nvSpPr>
        <p:spPr>
          <a:xfrm>
            <a:off x="152400" y="495301"/>
            <a:ext cx="8991600" cy="1142999"/>
          </a:xfrm>
        </p:spPr>
        <p:txBody>
          <a:bodyPr/>
          <a:lstStyle/>
          <a:p>
            <a:r>
              <a:rPr lang="en-US" dirty="0"/>
              <a:t>a lot of problem-solving works by getting a feel for what a solution </a:t>
            </a:r>
            <a:r>
              <a:rPr lang="en-US" i="1" dirty="0"/>
              <a:t>might</a:t>
            </a:r>
            <a:r>
              <a:rPr lang="en-US" dirty="0"/>
              <a:t> look like, then </a:t>
            </a:r>
            <a:r>
              <a:rPr lang="en-US" b="1" dirty="0"/>
              <a:t>formalizing that intuition </a:t>
            </a:r>
            <a:r>
              <a:rPr lang="en-US" dirty="0"/>
              <a:t>into an algorithm.</a:t>
            </a:r>
          </a:p>
          <a:p>
            <a:r>
              <a:rPr lang="en-US" dirty="0"/>
              <a:t>let's start by looking at what our input language looks like.</a:t>
            </a:r>
          </a:p>
        </p:txBody>
      </p:sp>
      <p:sp>
        <p:nvSpPr>
          <p:cNvPr id="4" name="Slide Number Placeholder 3">
            <a:extLst>
              <a:ext uri="{FF2B5EF4-FFF2-40B4-BE49-F238E27FC236}">
                <a16:creationId xmlns:a16="http://schemas.microsoft.com/office/drawing/2014/main" id="{69FF020C-7705-CB47-A1ED-0A5CF03DD0F9}"/>
              </a:ext>
            </a:extLst>
          </p:cNvPr>
          <p:cNvSpPr>
            <a:spLocks noGrp="1"/>
          </p:cNvSpPr>
          <p:nvPr>
            <p:ph type="sldNum" sz="quarter" idx="12"/>
          </p:nvPr>
        </p:nvSpPr>
        <p:spPr/>
        <p:txBody>
          <a:bodyPr/>
          <a:lstStyle/>
          <a:p>
            <a:fld id="{3552B95B-556F-44BD-91A5-D80C1B9E2BB3}" type="slidenum">
              <a:rPr lang="en-US" smtClean="0"/>
              <a:pPr/>
              <a:t>9</a:t>
            </a:fld>
            <a:endParaRPr lang="en-US"/>
          </a:p>
        </p:txBody>
      </p:sp>
      <p:sp>
        <p:nvSpPr>
          <p:cNvPr id="5" name="TextBox 4">
            <a:extLst>
              <a:ext uri="{FF2B5EF4-FFF2-40B4-BE49-F238E27FC236}">
                <a16:creationId xmlns:a16="http://schemas.microsoft.com/office/drawing/2014/main" id="{42ED2012-34E2-4041-B7FF-CA2FBB53CCF5}"/>
              </a:ext>
            </a:extLst>
          </p:cNvPr>
          <p:cNvSpPr txBox="1"/>
          <p:nvPr/>
        </p:nvSpPr>
        <p:spPr>
          <a:xfrm>
            <a:off x="304800" y="1728691"/>
            <a:ext cx="2971800" cy="3785652"/>
          </a:xfrm>
          <a:prstGeom prst="rect">
            <a:avLst/>
          </a:prstGeom>
          <a:noFill/>
        </p:spPr>
        <p:txBody>
          <a:bodyPr wrap="square" rtlCol="0">
            <a:spAutoFit/>
          </a:bodyPr>
          <a:lstStyle/>
          <a:p>
            <a:r>
              <a:rPr lang="en-US" sz="2000" b="1" dirty="0">
                <a:solidFill>
                  <a:srgbClr val="FF0000"/>
                </a:solidFill>
                <a:latin typeface="Consolas" panose="020B0609020204030204" pitchFamily="49" charset="0"/>
                <a:cs typeface="Consolas" panose="020B0609020204030204" pitchFamily="49" charset="0"/>
              </a:rPr>
              <a:t>struct </a:t>
            </a:r>
            <a:r>
              <a:rPr lang="en-US" sz="2000" b="1" dirty="0">
                <a:latin typeface="Consolas" panose="020B0609020204030204" pitchFamily="49" charset="0"/>
                <a:cs typeface="Consolas" panose="020B0609020204030204" pitchFamily="49" charset="0"/>
              </a:rPr>
              <a:t>S {</a:t>
            </a:r>
          </a:p>
          <a:p>
            <a:r>
              <a:rPr lang="en-US" sz="2000" b="1" dirty="0">
                <a:latin typeface="Consolas" panose="020B0609020204030204" pitchFamily="49" charset="0"/>
                <a:cs typeface="Consolas" panose="020B0609020204030204" pitchFamily="49" charset="0"/>
              </a:rPr>
              <a:t>  x: </a:t>
            </a:r>
            <a:r>
              <a:rPr lang="en-US" sz="2000" b="1" dirty="0">
                <a:solidFill>
                  <a:srgbClr val="FF0000"/>
                </a:solidFill>
                <a:latin typeface="Consolas" panose="020B0609020204030204" pitchFamily="49" charset="0"/>
                <a:cs typeface="Consolas" panose="020B0609020204030204" pitchFamily="49" charset="0"/>
              </a:rPr>
              <a:t>int</a:t>
            </a:r>
            <a:r>
              <a:rPr lang="en-US" sz="2000" b="1" dirty="0">
                <a:latin typeface="Consolas" panose="020B0609020204030204" pitchFamily="49" charset="0"/>
                <a:cs typeface="Consolas" panose="020B0609020204030204" pitchFamily="49" charset="0"/>
              </a:rPr>
              <a:t>, </a:t>
            </a:r>
          </a:p>
          <a:p>
            <a:r>
              <a:rPr lang="en-US" sz="2000" b="1" dirty="0">
                <a:latin typeface="Consolas" panose="020B0609020204030204" pitchFamily="49" charset="0"/>
                <a:cs typeface="Consolas" panose="020B0609020204030204" pitchFamily="49" charset="0"/>
              </a:rPr>
              <a:t>  y: </a:t>
            </a:r>
            <a:r>
              <a:rPr lang="en-US" sz="2000" b="1" dirty="0">
                <a:solidFill>
                  <a:srgbClr val="FF0000"/>
                </a:solidFill>
                <a:latin typeface="Consolas" panose="020B0609020204030204" pitchFamily="49" charset="0"/>
                <a:cs typeface="Consolas" panose="020B0609020204030204" pitchFamily="49" charset="0"/>
              </a:rPr>
              <a:t>bool</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a:t>
            </a:r>
          </a:p>
          <a:p>
            <a:endParaRPr lang="en-US" sz="2000" b="1" dirty="0">
              <a:latin typeface="Consolas" panose="020B0609020204030204" pitchFamily="49" charset="0"/>
              <a:cs typeface="Consolas" panose="020B0609020204030204" pitchFamily="49" charset="0"/>
            </a:endParaRPr>
          </a:p>
          <a:p>
            <a:r>
              <a:rPr lang="en-US" sz="2000" b="1" dirty="0" err="1">
                <a:solidFill>
                  <a:srgbClr val="FF0000"/>
                </a:solidFill>
                <a:latin typeface="Consolas" panose="020B0609020204030204" pitchFamily="49" charset="0"/>
                <a:cs typeface="Consolas" panose="020B0609020204030204" pitchFamily="49" charset="0"/>
              </a:rPr>
              <a:t>fn</a:t>
            </a:r>
            <a:r>
              <a:rPr lang="en-US" sz="2000" b="1" dirty="0">
                <a:solidFill>
                  <a:srgbClr val="FF0000"/>
                </a:solidFill>
                <a:latin typeface="Consolas" panose="020B0609020204030204" pitchFamily="49" charset="0"/>
                <a:cs typeface="Consolas" panose="020B0609020204030204" pitchFamily="49" charset="0"/>
              </a:rPr>
              <a:t> </a:t>
            </a:r>
            <a:r>
              <a:rPr lang="en-US" sz="2000" b="1" dirty="0">
                <a:latin typeface="Consolas" panose="020B0609020204030204" pitchFamily="49" charset="0"/>
                <a:cs typeface="Consolas" panose="020B0609020204030204" pitchFamily="49" charset="0"/>
              </a:rPr>
              <a:t>main() {</a:t>
            </a:r>
            <a:br>
              <a:rPr lang="en-US" sz="2000" b="1" dirty="0">
                <a:latin typeface="Consolas" panose="020B0609020204030204" pitchFamily="49" charset="0"/>
                <a:cs typeface="Consolas" panose="020B0609020204030204" pitchFamily="49" charset="0"/>
              </a:rPr>
            </a:br>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println_s</a:t>
            </a:r>
            <a:r>
              <a:rPr lang="en-US" sz="2000" b="1" dirty="0">
                <a:latin typeface="Consolas" panose="020B0609020204030204" pitchFamily="49" charset="0"/>
                <a:cs typeface="Consolas" panose="020B0609020204030204" pitchFamily="49" charset="0"/>
              </a:rPr>
              <a:t>(</a:t>
            </a:r>
            <a:r>
              <a:rPr lang="en-US" sz="2000" b="1" dirty="0">
                <a:solidFill>
                  <a:schemeClr val="accent6">
                    <a:lumMod val="75000"/>
                  </a:schemeClr>
                </a:solidFill>
                <a:latin typeface="Consolas" panose="020B0609020204030204" pitchFamily="49" charset="0"/>
                <a:cs typeface="Consolas" panose="020B0609020204030204" pitchFamily="49" charset="0"/>
              </a:rPr>
              <a:t>"hi!"</a:t>
            </a:r>
            <a:r>
              <a:rPr lang="en-US" sz="2000" b="1" dirty="0">
                <a:latin typeface="Consolas" panose="020B0609020204030204" pitchFamily="49" charset="0"/>
                <a:cs typeface="Consolas" panose="020B0609020204030204" pitchFamily="49" charset="0"/>
              </a:rPr>
              <a:t>);</a:t>
            </a:r>
          </a:p>
          <a:p>
            <a:r>
              <a:rPr lang="en-US" sz="2000" b="1" dirty="0">
                <a:solidFill>
                  <a:srgbClr val="FF0000"/>
                </a:solidFill>
                <a:latin typeface="Consolas" panose="020B0609020204030204" pitchFamily="49" charset="0"/>
                <a:cs typeface="Consolas" panose="020B0609020204030204" pitchFamily="49" charset="0"/>
              </a:rPr>
              <a:t>  let </a:t>
            </a:r>
            <a:r>
              <a:rPr lang="en-US" sz="2000" b="1" dirty="0">
                <a:latin typeface="Consolas" panose="020B0609020204030204" pitchFamily="49" charset="0"/>
                <a:cs typeface="Consolas" panose="020B0609020204030204" pitchFamily="49" charset="0"/>
              </a:rPr>
              <a:t>s = </a:t>
            </a:r>
            <a:r>
              <a:rPr lang="en-US" sz="2000" b="1" dirty="0">
                <a:solidFill>
                  <a:srgbClr val="FF0000"/>
                </a:solidFill>
                <a:latin typeface="Consolas" panose="020B0609020204030204" pitchFamily="49" charset="0"/>
                <a:cs typeface="Consolas" panose="020B0609020204030204" pitchFamily="49" charset="0"/>
              </a:rPr>
              <a:t>new</a:t>
            </a:r>
            <a:r>
              <a:rPr lang="en-US" sz="2000" b="1" dirty="0">
                <a:latin typeface="Consolas" panose="020B0609020204030204" pitchFamily="49" charset="0"/>
                <a:cs typeface="Consolas" panose="020B0609020204030204" pitchFamily="49" charset="0"/>
              </a:rPr>
              <a:t> S();</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s.x</a:t>
            </a:r>
            <a:r>
              <a:rPr lang="en-US" sz="2000" b="1" dirty="0">
                <a:latin typeface="Consolas" panose="020B0609020204030204" pitchFamily="49" charset="0"/>
                <a:cs typeface="Consolas" panose="020B0609020204030204" pitchFamily="49" charset="0"/>
              </a:rPr>
              <a:t> = </a:t>
            </a:r>
            <a:r>
              <a:rPr lang="en-US" sz="2000" b="1" dirty="0">
                <a:solidFill>
                  <a:schemeClr val="accent3">
                    <a:lumMod val="75000"/>
                  </a:schemeClr>
                </a:solidFill>
                <a:latin typeface="Consolas" panose="020B0609020204030204" pitchFamily="49" charset="0"/>
                <a:cs typeface="Consolas" panose="020B0609020204030204" pitchFamily="49" charset="0"/>
              </a:rPr>
              <a:t>10</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s.y</a:t>
            </a:r>
            <a:r>
              <a:rPr lang="en-US" sz="2000" b="1" dirty="0">
                <a:latin typeface="Consolas" panose="020B0609020204030204" pitchFamily="49" charset="0"/>
                <a:cs typeface="Consolas" panose="020B0609020204030204" pitchFamily="49" charset="0"/>
              </a:rPr>
              <a:t> = </a:t>
            </a:r>
            <a:r>
              <a:rPr lang="en-US" sz="2000" b="1" dirty="0">
                <a:solidFill>
                  <a:srgbClr val="FF0000"/>
                </a:solidFill>
                <a:latin typeface="Consolas" panose="020B0609020204030204" pitchFamily="49" charset="0"/>
                <a:cs typeface="Consolas" panose="020B0609020204030204" pitchFamily="49" charset="0"/>
              </a:rPr>
              <a:t>true</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  </a:t>
            </a:r>
            <a:r>
              <a:rPr lang="en-US" sz="2000" b="1" dirty="0" err="1">
                <a:latin typeface="Consolas" panose="020B0609020204030204" pitchFamily="49" charset="0"/>
                <a:cs typeface="Consolas" panose="020B0609020204030204" pitchFamily="49" charset="0"/>
              </a:rPr>
              <a:t>println_i</a:t>
            </a:r>
            <a:r>
              <a:rPr lang="en-US" sz="2000" b="1" dirty="0">
                <a:latin typeface="Consolas" panose="020B0609020204030204" pitchFamily="49" charset="0"/>
                <a:cs typeface="Consolas" panose="020B0609020204030204" pitchFamily="49" charset="0"/>
              </a:rPr>
              <a:t>(</a:t>
            </a:r>
            <a:r>
              <a:rPr lang="en-US" sz="2000" b="1" dirty="0" err="1">
                <a:latin typeface="Consolas" panose="020B0609020204030204" pitchFamily="49" charset="0"/>
                <a:cs typeface="Consolas" panose="020B0609020204030204" pitchFamily="49" charset="0"/>
              </a:rPr>
              <a:t>s.x</a:t>
            </a:r>
            <a:r>
              <a:rPr lang="en-US" sz="2000" b="1" dirty="0">
                <a:latin typeface="Consolas" panose="020B0609020204030204" pitchFamily="49" charset="0"/>
                <a:cs typeface="Consolas" panose="020B0609020204030204" pitchFamily="49" charset="0"/>
              </a:rPr>
              <a:t>);</a:t>
            </a:r>
          </a:p>
          <a:p>
            <a:r>
              <a:rPr lang="en-US" sz="20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63A69569-BFD3-9F45-BEA9-74D3E2C25D9E}"/>
              </a:ext>
            </a:extLst>
          </p:cNvPr>
          <p:cNvSpPr txBox="1"/>
          <p:nvPr/>
        </p:nvSpPr>
        <p:spPr>
          <a:xfrm>
            <a:off x="2438400" y="1638300"/>
            <a:ext cx="5943600" cy="769441"/>
          </a:xfrm>
          <a:prstGeom prst="rect">
            <a:avLst/>
          </a:prstGeom>
          <a:noFill/>
        </p:spPr>
        <p:txBody>
          <a:bodyPr wrap="square" rtlCol="0">
            <a:spAutoFit/>
          </a:bodyPr>
          <a:lstStyle/>
          <a:p>
            <a:pPr algn="ctr"/>
            <a:r>
              <a:rPr lang="en-US" sz="2200" dirty="0"/>
              <a:t>this is the toy language we'll be using for projects and examples, called </a:t>
            </a:r>
            <a:r>
              <a:rPr lang="en-US" sz="2200" b="1" dirty="0"/>
              <a:t>Truss</a:t>
            </a:r>
            <a:r>
              <a:rPr lang="en-US" sz="2200" dirty="0"/>
              <a:t>.</a:t>
            </a:r>
          </a:p>
        </p:txBody>
      </p:sp>
      <p:sp>
        <p:nvSpPr>
          <p:cNvPr id="7" name="TextBox 6">
            <a:extLst>
              <a:ext uri="{FF2B5EF4-FFF2-40B4-BE49-F238E27FC236}">
                <a16:creationId xmlns:a16="http://schemas.microsoft.com/office/drawing/2014/main" id="{A77DDDCA-A7EE-7248-9975-358089501BB4}"/>
              </a:ext>
            </a:extLst>
          </p:cNvPr>
          <p:cNvSpPr txBox="1"/>
          <p:nvPr/>
        </p:nvSpPr>
        <p:spPr>
          <a:xfrm>
            <a:off x="3352800" y="2606619"/>
            <a:ext cx="5029200" cy="769441"/>
          </a:xfrm>
          <a:prstGeom prst="rect">
            <a:avLst/>
          </a:prstGeom>
          <a:noFill/>
        </p:spPr>
        <p:txBody>
          <a:bodyPr wrap="square" rtlCol="0">
            <a:spAutoFit/>
          </a:bodyPr>
          <a:lstStyle/>
          <a:p>
            <a:pPr algn="ctr"/>
            <a:r>
              <a:rPr lang="en-US" sz="2200" dirty="0"/>
              <a:t>it has similarities to both Rust and Java, but is a lot simpler in many ways.</a:t>
            </a:r>
          </a:p>
        </p:txBody>
      </p:sp>
      <p:sp>
        <p:nvSpPr>
          <p:cNvPr id="8" name="TextBox 7">
            <a:extLst>
              <a:ext uri="{FF2B5EF4-FFF2-40B4-BE49-F238E27FC236}">
                <a16:creationId xmlns:a16="http://schemas.microsoft.com/office/drawing/2014/main" id="{5BCF6585-A189-8944-BBA6-2E19ED8CDF03}"/>
              </a:ext>
            </a:extLst>
          </p:cNvPr>
          <p:cNvSpPr txBox="1"/>
          <p:nvPr/>
        </p:nvSpPr>
        <p:spPr>
          <a:xfrm>
            <a:off x="3886200" y="3532668"/>
            <a:ext cx="4572000" cy="769441"/>
          </a:xfrm>
          <a:prstGeom prst="rect">
            <a:avLst/>
          </a:prstGeom>
          <a:noFill/>
        </p:spPr>
        <p:txBody>
          <a:bodyPr wrap="square" rtlCol="0">
            <a:spAutoFit/>
          </a:bodyPr>
          <a:lstStyle/>
          <a:p>
            <a:pPr algn="ctr"/>
            <a:r>
              <a:rPr lang="en-US" sz="2200" dirty="0"/>
              <a:t>what are some kinds of tokens you can pick out from this example?</a:t>
            </a:r>
          </a:p>
        </p:txBody>
      </p:sp>
    </p:spTree>
    <p:extLst>
      <p:ext uri="{BB962C8B-B14F-4D97-AF65-F5344CB8AC3E}">
        <p14:creationId xmlns:p14="http://schemas.microsoft.com/office/powerpoint/2010/main" val="37795123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32D1D-5525-3E44-A661-F0075EB5D985}"/>
              </a:ext>
            </a:extLst>
          </p:cNvPr>
          <p:cNvSpPr>
            <a:spLocks noGrp="1"/>
          </p:cNvSpPr>
          <p:nvPr>
            <p:ph type="title"/>
          </p:nvPr>
        </p:nvSpPr>
        <p:spPr/>
        <p:txBody>
          <a:bodyPr/>
          <a:lstStyle/>
          <a:p>
            <a:r>
              <a:rPr lang="en-US" dirty="0"/>
              <a:t>Common classes of tokens</a:t>
            </a:r>
          </a:p>
        </p:txBody>
      </p:sp>
      <p:sp>
        <p:nvSpPr>
          <p:cNvPr id="3" name="Content Placeholder 2">
            <a:extLst>
              <a:ext uri="{FF2B5EF4-FFF2-40B4-BE49-F238E27FC236}">
                <a16:creationId xmlns:a16="http://schemas.microsoft.com/office/drawing/2014/main" id="{2FEDDC0B-6310-DB4E-AC2E-F84C0A2650F0}"/>
              </a:ext>
            </a:extLst>
          </p:cNvPr>
          <p:cNvSpPr>
            <a:spLocks noGrp="1"/>
          </p:cNvSpPr>
          <p:nvPr>
            <p:ph idx="1"/>
          </p:nvPr>
        </p:nvSpPr>
        <p:spPr>
          <a:xfrm>
            <a:off x="152400" y="495301"/>
            <a:ext cx="8991600" cy="452731"/>
          </a:xfrm>
        </p:spPr>
        <p:txBody>
          <a:bodyPr/>
          <a:lstStyle/>
          <a:p>
            <a:r>
              <a:rPr lang="en-US" i="1" dirty="0"/>
              <a:t>most </a:t>
            </a:r>
            <a:r>
              <a:rPr lang="en-US" dirty="0"/>
              <a:t>languages today use similar rules for their classes of tokens.</a:t>
            </a:r>
          </a:p>
        </p:txBody>
      </p:sp>
      <p:sp>
        <p:nvSpPr>
          <p:cNvPr id="4" name="Slide Number Placeholder 3">
            <a:extLst>
              <a:ext uri="{FF2B5EF4-FFF2-40B4-BE49-F238E27FC236}">
                <a16:creationId xmlns:a16="http://schemas.microsoft.com/office/drawing/2014/main" id="{B0209F54-D6BD-DE4E-9743-40BC6A13F8C3}"/>
              </a:ext>
            </a:extLst>
          </p:cNvPr>
          <p:cNvSpPr>
            <a:spLocks noGrp="1"/>
          </p:cNvSpPr>
          <p:nvPr>
            <p:ph type="sldNum" sz="quarter" idx="12"/>
          </p:nvPr>
        </p:nvSpPr>
        <p:spPr/>
        <p:txBody>
          <a:bodyPr/>
          <a:lstStyle/>
          <a:p>
            <a:fld id="{3552B95B-556F-44BD-91A5-D80C1B9E2BB3}" type="slidenum">
              <a:rPr lang="en-US" smtClean="0"/>
              <a:pPr/>
              <a:t>10</a:t>
            </a:fld>
            <a:endParaRPr lang="en-US"/>
          </a:p>
        </p:txBody>
      </p:sp>
      <p:sp>
        <p:nvSpPr>
          <p:cNvPr id="5" name="TextBox 4">
            <a:extLst>
              <a:ext uri="{FF2B5EF4-FFF2-40B4-BE49-F238E27FC236}">
                <a16:creationId xmlns:a16="http://schemas.microsoft.com/office/drawing/2014/main" id="{E702F057-3215-EC42-9405-9A1ADEBFFBA0}"/>
              </a:ext>
            </a:extLst>
          </p:cNvPr>
          <p:cNvSpPr txBox="1"/>
          <p:nvPr/>
        </p:nvSpPr>
        <p:spPr>
          <a:xfrm>
            <a:off x="1769270" y="1028700"/>
            <a:ext cx="5545930" cy="430887"/>
          </a:xfrm>
          <a:prstGeom prst="rect">
            <a:avLst/>
          </a:prstGeom>
          <a:noFill/>
        </p:spPr>
        <p:txBody>
          <a:bodyPr wrap="square" rtlCol="0">
            <a:spAutoFit/>
          </a:bodyPr>
          <a:lstStyle/>
          <a:p>
            <a:pPr algn="ctr"/>
            <a:r>
              <a:rPr lang="en-US" sz="2200" dirty="0"/>
              <a:t>there are tokens that </a:t>
            </a:r>
            <a:r>
              <a:rPr lang="en-US" sz="2200" b="1" dirty="0"/>
              <a:t>look like words.</a:t>
            </a:r>
          </a:p>
        </p:txBody>
      </p:sp>
      <p:sp>
        <p:nvSpPr>
          <p:cNvPr id="6" name="TextBox 5">
            <a:extLst>
              <a:ext uri="{FF2B5EF4-FFF2-40B4-BE49-F238E27FC236}">
                <a16:creationId xmlns:a16="http://schemas.microsoft.com/office/drawing/2014/main" id="{9B2E69AC-3F91-C842-B6C7-57E79B1D1F4D}"/>
              </a:ext>
            </a:extLst>
          </p:cNvPr>
          <p:cNvSpPr txBox="1"/>
          <p:nvPr/>
        </p:nvSpPr>
        <p:spPr>
          <a:xfrm>
            <a:off x="1135854" y="1501407"/>
            <a:ext cx="1066800" cy="400110"/>
          </a:xfrm>
          <a:prstGeom prst="rect">
            <a:avLst/>
          </a:prstGeom>
          <a:noFill/>
        </p:spPr>
        <p:txBody>
          <a:bodyPr wrap="square" rtlCol="0">
            <a:spAutoFit/>
          </a:bodyPr>
          <a:lstStyle/>
          <a:p>
            <a:pPr algn="ctr"/>
            <a:r>
              <a:rPr lang="en-US" sz="2000" b="1" dirty="0">
                <a:solidFill>
                  <a:srgbClr val="FF0000"/>
                </a:solidFill>
                <a:latin typeface="Consolas" panose="020B0609020204030204" pitchFamily="49" charset="0"/>
                <a:cs typeface="Consolas" panose="020B0609020204030204" pitchFamily="49" charset="0"/>
              </a:rPr>
              <a:t>struct</a:t>
            </a:r>
            <a:endParaRPr lang="en-US" sz="20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A9FC08BE-1D99-2A47-A30E-2211B8334FD4}"/>
              </a:ext>
            </a:extLst>
          </p:cNvPr>
          <p:cNvSpPr txBox="1"/>
          <p:nvPr/>
        </p:nvSpPr>
        <p:spPr>
          <a:xfrm>
            <a:off x="2245515" y="1501407"/>
            <a:ext cx="647702" cy="400110"/>
          </a:xfrm>
          <a:prstGeom prst="rect">
            <a:avLst/>
          </a:prstGeom>
          <a:noFill/>
        </p:spPr>
        <p:txBody>
          <a:bodyPr wrap="square" rtlCol="0">
            <a:spAutoFit/>
          </a:bodyPr>
          <a:lstStyle/>
          <a:p>
            <a:pPr algn="ctr"/>
            <a:r>
              <a:rPr lang="en-US" sz="2000" b="1" dirty="0">
                <a:solidFill>
                  <a:srgbClr val="FF0000"/>
                </a:solidFill>
                <a:latin typeface="Consolas" panose="020B0609020204030204" pitchFamily="49" charset="0"/>
                <a:cs typeface="Consolas" panose="020B0609020204030204" pitchFamily="49" charset="0"/>
              </a:rPr>
              <a:t>int</a:t>
            </a:r>
            <a:endParaRPr lang="en-US" sz="2000" b="1"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6A2DD448-B3DB-7640-843D-6ED8F44927A0}"/>
              </a:ext>
            </a:extLst>
          </p:cNvPr>
          <p:cNvSpPr txBox="1"/>
          <p:nvPr/>
        </p:nvSpPr>
        <p:spPr>
          <a:xfrm>
            <a:off x="781050" y="1874558"/>
            <a:ext cx="1066800" cy="400110"/>
          </a:xfrm>
          <a:prstGeom prst="rect">
            <a:avLst/>
          </a:prstGeom>
          <a:noFill/>
        </p:spPr>
        <p:txBody>
          <a:bodyPr wrap="square" rtlCol="0">
            <a:spAutoFit/>
          </a:bodyPr>
          <a:lstStyle/>
          <a:p>
            <a:pPr algn="ctr"/>
            <a:r>
              <a:rPr lang="en-US" sz="2000" b="1" dirty="0">
                <a:solidFill>
                  <a:srgbClr val="FF0000"/>
                </a:solidFill>
                <a:latin typeface="Consolas" panose="020B0609020204030204" pitchFamily="49" charset="0"/>
                <a:cs typeface="Consolas" panose="020B0609020204030204" pitchFamily="49" charset="0"/>
              </a:rPr>
              <a:t>return</a:t>
            </a:r>
            <a:endParaRPr lang="en-US" sz="2000" b="1" dirty="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6DA965A7-58A7-4D49-9B8F-1D97CFF3E3C6}"/>
              </a:ext>
            </a:extLst>
          </p:cNvPr>
          <p:cNvSpPr txBox="1"/>
          <p:nvPr/>
        </p:nvSpPr>
        <p:spPr>
          <a:xfrm>
            <a:off x="1826417" y="1874558"/>
            <a:ext cx="1066800" cy="400110"/>
          </a:xfrm>
          <a:prstGeom prst="rect">
            <a:avLst/>
          </a:prstGeom>
          <a:noFill/>
        </p:spPr>
        <p:txBody>
          <a:bodyPr wrap="square" rtlCol="0">
            <a:spAutoFit/>
          </a:bodyPr>
          <a:lstStyle/>
          <a:p>
            <a:pPr algn="ctr"/>
            <a:r>
              <a:rPr lang="en-US" sz="2000" b="1" dirty="0">
                <a:solidFill>
                  <a:srgbClr val="FF0000"/>
                </a:solidFill>
                <a:latin typeface="Consolas" panose="020B0609020204030204" pitchFamily="49" charset="0"/>
                <a:cs typeface="Consolas" panose="020B0609020204030204" pitchFamily="49" charset="0"/>
              </a:rPr>
              <a:t>while</a:t>
            </a:r>
            <a:endParaRPr lang="en-US" sz="2000" b="1" dirty="0">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028053B5-CFA4-F542-AEB0-4C9397715B47}"/>
              </a:ext>
            </a:extLst>
          </p:cNvPr>
          <p:cNvSpPr txBox="1"/>
          <p:nvPr/>
        </p:nvSpPr>
        <p:spPr>
          <a:xfrm>
            <a:off x="1026320" y="2297787"/>
            <a:ext cx="323846"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S</a:t>
            </a:r>
          </a:p>
        </p:txBody>
      </p:sp>
      <p:sp>
        <p:nvSpPr>
          <p:cNvPr id="11" name="TextBox 10">
            <a:extLst>
              <a:ext uri="{FF2B5EF4-FFF2-40B4-BE49-F238E27FC236}">
                <a16:creationId xmlns:a16="http://schemas.microsoft.com/office/drawing/2014/main" id="{648CCC07-173C-A246-ACAE-841DA258E205}"/>
              </a:ext>
            </a:extLst>
          </p:cNvPr>
          <p:cNvSpPr txBox="1"/>
          <p:nvPr/>
        </p:nvSpPr>
        <p:spPr>
          <a:xfrm>
            <a:off x="1976436" y="2670938"/>
            <a:ext cx="821530"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main</a:t>
            </a:r>
          </a:p>
        </p:txBody>
      </p:sp>
      <p:sp>
        <p:nvSpPr>
          <p:cNvPr id="12" name="TextBox 11">
            <a:extLst>
              <a:ext uri="{FF2B5EF4-FFF2-40B4-BE49-F238E27FC236}">
                <a16:creationId xmlns:a16="http://schemas.microsoft.com/office/drawing/2014/main" id="{9443AE11-4627-AD46-8264-03360714BDA2}"/>
              </a:ext>
            </a:extLst>
          </p:cNvPr>
          <p:cNvSpPr txBox="1"/>
          <p:nvPr/>
        </p:nvSpPr>
        <p:spPr>
          <a:xfrm>
            <a:off x="685800" y="2670938"/>
            <a:ext cx="1162050" cy="400110"/>
          </a:xfrm>
          <a:prstGeom prst="rect">
            <a:avLst/>
          </a:prstGeom>
          <a:noFill/>
        </p:spPr>
        <p:txBody>
          <a:bodyPr wrap="square" rtlCol="0">
            <a:spAutoFit/>
          </a:bodyPr>
          <a:lstStyle/>
          <a:p>
            <a:pPr algn="ctr"/>
            <a:r>
              <a:rPr lang="en-US" sz="2000" b="1" dirty="0" err="1">
                <a:latin typeface="Consolas" panose="020B0609020204030204" pitchFamily="49" charset="0"/>
                <a:cs typeface="Consolas" panose="020B0609020204030204" pitchFamily="49" charset="0"/>
              </a:rPr>
              <a:t>println</a:t>
            </a:r>
            <a:endParaRPr lang="en-US" sz="2000" b="1" dirty="0">
              <a:latin typeface="Consolas" panose="020B0609020204030204" pitchFamily="49" charset="0"/>
              <a:cs typeface="Consolas" panose="020B0609020204030204" pitchFamily="49" charset="0"/>
            </a:endParaRPr>
          </a:p>
        </p:txBody>
      </p:sp>
      <p:sp>
        <p:nvSpPr>
          <p:cNvPr id="13" name="TextBox 12">
            <a:extLst>
              <a:ext uri="{FF2B5EF4-FFF2-40B4-BE49-F238E27FC236}">
                <a16:creationId xmlns:a16="http://schemas.microsoft.com/office/drawing/2014/main" id="{F5C07933-D417-4144-AF04-E8874AF54B74}"/>
              </a:ext>
            </a:extLst>
          </p:cNvPr>
          <p:cNvSpPr txBox="1"/>
          <p:nvPr/>
        </p:nvSpPr>
        <p:spPr>
          <a:xfrm>
            <a:off x="1484707" y="2297787"/>
            <a:ext cx="1435894" cy="400110"/>
          </a:xfrm>
          <a:prstGeom prst="rect">
            <a:avLst/>
          </a:prstGeom>
          <a:noFill/>
        </p:spPr>
        <p:txBody>
          <a:bodyPr wrap="square" rtlCol="0">
            <a:spAutoFit/>
          </a:bodyPr>
          <a:lstStyle/>
          <a:p>
            <a:pPr algn="ctr"/>
            <a:r>
              <a:rPr lang="en-US" sz="2000" b="1" dirty="0" err="1">
                <a:latin typeface="Consolas" panose="020B0609020204030204" pitchFamily="49" charset="0"/>
                <a:cs typeface="Consolas" panose="020B0609020204030204" pitchFamily="49" charset="0"/>
              </a:rPr>
              <a:t>num_cats</a:t>
            </a:r>
            <a:endParaRPr lang="en-US" sz="2000" b="1" dirty="0">
              <a:latin typeface="Consolas" panose="020B0609020204030204" pitchFamily="49" charset="0"/>
              <a:cs typeface="Consolas" panose="020B0609020204030204" pitchFamily="49" charset="0"/>
            </a:endParaRPr>
          </a:p>
        </p:txBody>
      </p:sp>
      <p:sp>
        <p:nvSpPr>
          <p:cNvPr id="14" name="TextBox 13">
            <a:extLst>
              <a:ext uri="{FF2B5EF4-FFF2-40B4-BE49-F238E27FC236}">
                <a16:creationId xmlns:a16="http://schemas.microsoft.com/office/drawing/2014/main" id="{A1612D9E-48A2-8D42-88BD-B5B2129AC92E}"/>
              </a:ext>
            </a:extLst>
          </p:cNvPr>
          <p:cNvSpPr txBox="1"/>
          <p:nvPr/>
        </p:nvSpPr>
        <p:spPr>
          <a:xfrm>
            <a:off x="3343281" y="1484381"/>
            <a:ext cx="4962520" cy="769441"/>
          </a:xfrm>
          <a:prstGeom prst="rect">
            <a:avLst/>
          </a:prstGeom>
          <a:noFill/>
        </p:spPr>
        <p:txBody>
          <a:bodyPr wrap="square" rtlCol="0">
            <a:spAutoFit/>
          </a:bodyPr>
          <a:lstStyle/>
          <a:p>
            <a:r>
              <a:rPr lang="en-US" sz="2200" dirty="0"/>
              <a:t>some have</a:t>
            </a:r>
            <a:r>
              <a:rPr lang="en-US" sz="2200" i="1" dirty="0"/>
              <a:t> special meaning</a:t>
            </a:r>
            <a:r>
              <a:rPr lang="en-US" sz="2200" b="1" dirty="0"/>
              <a:t> </a:t>
            </a:r>
            <a:r>
              <a:rPr lang="en-US" sz="2200" dirty="0"/>
              <a:t>in the language. these are called </a:t>
            </a:r>
            <a:r>
              <a:rPr lang="en-US" sz="2200" b="1" dirty="0"/>
              <a:t>keywords.</a:t>
            </a:r>
            <a:endParaRPr lang="en-US" sz="2200" dirty="0"/>
          </a:p>
        </p:txBody>
      </p:sp>
      <p:sp>
        <p:nvSpPr>
          <p:cNvPr id="15" name="TextBox 14">
            <a:extLst>
              <a:ext uri="{FF2B5EF4-FFF2-40B4-BE49-F238E27FC236}">
                <a16:creationId xmlns:a16="http://schemas.microsoft.com/office/drawing/2014/main" id="{58631085-E3EE-2641-8BDC-D9D6187A4C2E}"/>
              </a:ext>
            </a:extLst>
          </p:cNvPr>
          <p:cNvSpPr txBox="1"/>
          <p:nvPr/>
        </p:nvSpPr>
        <p:spPr>
          <a:xfrm>
            <a:off x="3333755" y="2301607"/>
            <a:ext cx="5564589" cy="769441"/>
          </a:xfrm>
          <a:prstGeom prst="rect">
            <a:avLst/>
          </a:prstGeom>
          <a:noFill/>
        </p:spPr>
        <p:txBody>
          <a:bodyPr wrap="square" rtlCol="0">
            <a:spAutoFit/>
          </a:bodyPr>
          <a:lstStyle/>
          <a:p>
            <a:r>
              <a:rPr lang="en-US" sz="2200" dirty="0"/>
              <a:t>others are written by the programmer to name things.</a:t>
            </a:r>
            <a:r>
              <a:rPr lang="en-US" sz="2200" b="1" dirty="0"/>
              <a:t> </a:t>
            </a:r>
            <a:r>
              <a:rPr lang="en-US" sz="2200" dirty="0"/>
              <a:t>these are called </a:t>
            </a:r>
            <a:r>
              <a:rPr lang="en-US" sz="2200" b="1" dirty="0"/>
              <a:t>identifiers.</a:t>
            </a:r>
            <a:endParaRPr lang="en-US" sz="2200" dirty="0"/>
          </a:p>
        </p:txBody>
      </p:sp>
      <p:sp>
        <p:nvSpPr>
          <p:cNvPr id="16" name="TextBox 15">
            <a:extLst>
              <a:ext uri="{FF2B5EF4-FFF2-40B4-BE49-F238E27FC236}">
                <a16:creationId xmlns:a16="http://schemas.microsoft.com/office/drawing/2014/main" id="{CB28E154-321F-6C4E-AAB7-6C8AAD5DA7B9}"/>
              </a:ext>
            </a:extLst>
          </p:cNvPr>
          <p:cNvSpPr txBox="1"/>
          <p:nvPr/>
        </p:nvSpPr>
        <p:spPr>
          <a:xfrm>
            <a:off x="407194" y="3372952"/>
            <a:ext cx="2514600" cy="769441"/>
          </a:xfrm>
          <a:prstGeom prst="rect">
            <a:avLst/>
          </a:prstGeom>
          <a:noFill/>
        </p:spPr>
        <p:txBody>
          <a:bodyPr wrap="square" rtlCol="0">
            <a:spAutoFit/>
          </a:bodyPr>
          <a:lstStyle/>
          <a:p>
            <a:pPr algn="ctr"/>
            <a:r>
              <a:rPr lang="en-US" sz="2200" dirty="0"/>
              <a:t>there are often many </a:t>
            </a:r>
            <a:r>
              <a:rPr lang="en-US" sz="2200" b="1" dirty="0"/>
              <a:t>symbols.</a:t>
            </a:r>
          </a:p>
        </p:txBody>
      </p:sp>
      <p:sp>
        <p:nvSpPr>
          <p:cNvPr id="17" name="TextBox 16">
            <a:extLst>
              <a:ext uri="{FF2B5EF4-FFF2-40B4-BE49-F238E27FC236}">
                <a16:creationId xmlns:a16="http://schemas.microsoft.com/office/drawing/2014/main" id="{D64B058F-FAA3-DA48-93F3-8225D225C163}"/>
              </a:ext>
            </a:extLst>
          </p:cNvPr>
          <p:cNvSpPr txBox="1"/>
          <p:nvPr/>
        </p:nvSpPr>
        <p:spPr>
          <a:xfrm>
            <a:off x="686205" y="4151308"/>
            <a:ext cx="323846"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18" name="TextBox 17">
            <a:extLst>
              <a:ext uri="{FF2B5EF4-FFF2-40B4-BE49-F238E27FC236}">
                <a16:creationId xmlns:a16="http://schemas.microsoft.com/office/drawing/2014/main" id="{2C5D424D-9304-2D4E-AFB2-6AAE2A0A702C}"/>
              </a:ext>
            </a:extLst>
          </p:cNvPr>
          <p:cNvSpPr txBox="1"/>
          <p:nvPr/>
        </p:nvSpPr>
        <p:spPr>
          <a:xfrm>
            <a:off x="1936366" y="4151308"/>
            <a:ext cx="323846"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19" name="TextBox 18">
            <a:extLst>
              <a:ext uri="{FF2B5EF4-FFF2-40B4-BE49-F238E27FC236}">
                <a16:creationId xmlns:a16="http://schemas.microsoft.com/office/drawing/2014/main" id="{0C83F4A2-79BB-6B47-84F3-2997009E2C94}"/>
              </a:ext>
            </a:extLst>
          </p:cNvPr>
          <p:cNvSpPr txBox="1"/>
          <p:nvPr/>
        </p:nvSpPr>
        <p:spPr>
          <a:xfrm>
            <a:off x="1558935" y="4151308"/>
            <a:ext cx="323846"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20" name="TextBox 19">
            <a:extLst>
              <a:ext uri="{FF2B5EF4-FFF2-40B4-BE49-F238E27FC236}">
                <a16:creationId xmlns:a16="http://schemas.microsoft.com/office/drawing/2014/main" id="{ED015975-A974-D345-AFEA-DA6A5B744D25}"/>
              </a:ext>
            </a:extLst>
          </p:cNvPr>
          <p:cNvSpPr txBox="1"/>
          <p:nvPr/>
        </p:nvSpPr>
        <p:spPr>
          <a:xfrm>
            <a:off x="1144592" y="4151308"/>
            <a:ext cx="323846"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22" name="TextBox 21">
            <a:extLst>
              <a:ext uri="{FF2B5EF4-FFF2-40B4-BE49-F238E27FC236}">
                <a16:creationId xmlns:a16="http://schemas.microsoft.com/office/drawing/2014/main" id="{8EF7BD44-EF17-2542-BA20-C014386F300E}"/>
              </a:ext>
            </a:extLst>
          </p:cNvPr>
          <p:cNvSpPr txBox="1"/>
          <p:nvPr/>
        </p:nvSpPr>
        <p:spPr>
          <a:xfrm>
            <a:off x="2362015" y="4151308"/>
            <a:ext cx="323846"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24" name="TextBox 23">
            <a:extLst>
              <a:ext uri="{FF2B5EF4-FFF2-40B4-BE49-F238E27FC236}">
                <a16:creationId xmlns:a16="http://schemas.microsoft.com/office/drawing/2014/main" id="{FFE99428-6F3F-BE44-993F-65B172D0C9A3}"/>
              </a:ext>
            </a:extLst>
          </p:cNvPr>
          <p:cNvSpPr txBox="1"/>
          <p:nvPr/>
        </p:nvSpPr>
        <p:spPr>
          <a:xfrm>
            <a:off x="766257" y="4568839"/>
            <a:ext cx="323846"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25" name="TextBox 24">
            <a:extLst>
              <a:ext uri="{FF2B5EF4-FFF2-40B4-BE49-F238E27FC236}">
                <a16:creationId xmlns:a16="http://schemas.microsoft.com/office/drawing/2014/main" id="{A021B666-67EA-5749-B814-DE976EC33333}"/>
              </a:ext>
            </a:extLst>
          </p:cNvPr>
          <p:cNvSpPr txBox="1"/>
          <p:nvPr/>
        </p:nvSpPr>
        <p:spPr>
          <a:xfrm>
            <a:off x="328958" y="4568839"/>
            <a:ext cx="502456"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32" name="TextBox 31">
            <a:extLst>
              <a:ext uri="{FF2B5EF4-FFF2-40B4-BE49-F238E27FC236}">
                <a16:creationId xmlns:a16="http://schemas.microsoft.com/office/drawing/2014/main" id="{BCDAF8B5-15E1-3440-9DC3-EF941BF3EE9A}"/>
              </a:ext>
            </a:extLst>
          </p:cNvPr>
          <p:cNvSpPr txBox="1"/>
          <p:nvPr/>
        </p:nvSpPr>
        <p:spPr>
          <a:xfrm>
            <a:off x="1142985" y="4545248"/>
            <a:ext cx="323846"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33" name="TextBox 32">
            <a:extLst>
              <a:ext uri="{FF2B5EF4-FFF2-40B4-BE49-F238E27FC236}">
                <a16:creationId xmlns:a16="http://schemas.microsoft.com/office/drawing/2014/main" id="{10864624-425A-9343-A9AC-9EA13A08E15F}"/>
              </a:ext>
            </a:extLst>
          </p:cNvPr>
          <p:cNvSpPr txBox="1"/>
          <p:nvPr/>
        </p:nvSpPr>
        <p:spPr>
          <a:xfrm>
            <a:off x="2393145" y="4545248"/>
            <a:ext cx="502455"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34" name="TextBox 33">
            <a:extLst>
              <a:ext uri="{FF2B5EF4-FFF2-40B4-BE49-F238E27FC236}">
                <a16:creationId xmlns:a16="http://schemas.microsoft.com/office/drawing/2014/main" id="{59374C3B-881E-5541-8398-4EE7AB1BD5D0}"/>
              </a:ext>
            </a:extLst>
          </p:cNvPr>
          <p:cNvSpPr txBox="1"/>
          <p:nvPr/>
        </p:nvSpPr>
        <p:spPr>
          <a:xfrm>
            <a:off x="2015715" y="4545248"/>
            <a:ext cx="323846"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35" name="TextBox 34">
            <a:extLst>
              <a:ext uri="{FF2B5EF4-FFF2-40B4-BE49-F238E27FC236}">
                <a16:creationId xmlns:a16="http://schemas.microsoft.com/office/drawing/2014/main" id="{7A3EEA03-983E-8C4C-9332-182C8CC70F79}"/>
              </a:ext>
            </a:extLst>
          </p:cNvPr>
          <p:cNvSpPr txBox="1"/>
          <p:nvPr/>
        </p:nvSpPr>
        <p:spPr>
          <a:xfrm>
            <a:off x="1512067" y="4545248"/>
            <a:ext cx="502456"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37" name="TextBox 36">
            <a:extLst>
              <a:ext uri="{FF2B5EF4-FFF2-40B4-BE49-F238E27FC236}">
                <a16:creationId xmlns:a16="http://schemas.microsoft.com/office/drawing/2014/main" id="{26285FEF-EF8F-2A4E-9171-24E46F6751D3}"/>
              </a:ext>
            </a:extLst>
          </p:cNvPr>
          <p:cNvSpPr txBox="1"/>
          <p:nvPr/>
        </p:nvSpPr>
        <p:spPr>
          <a:xfrm>
            <a:off x="3217070" y="3372952"/>
            <a:ext cx="5545930" cy="769441"/>
          </a:xfrm>
          <a:prstGeom prst="rect">
            <a:avLst/>
          </a:prstGeom>
          <a:noFill/>
        </p:spPr>
        <p:txBody>
          <a:bodyPr wrap="square" rtlCol="0">
            <a:spAutoFit/>
          </a:bodyPr>
          <a:lstStyle/>
          <a:p>
            <a:pPr algn="ctr"/>
            <a:r>
              <a:rPr lang="en-US" sz="2200" dirty="0"/>
              <a:t>and there are </a:t>
            </a:r>
            <a:r>
              <a:rPr lang="en-US" sz="2200" b="1" dirty="0"/>
              <a:t>literals: </a:t>
            </a:r>
            <a:r>
              <a:rPr lang="en-US" sz="2200" dirty="0"/>
              <a:t>a way of embedding constant values directly into your code.</a:t>
            </a:r>
          </a:p>
        </p:txBody>
      </p:sp>
      <p:sp>
        <p:nvSpPr>
          <p:cNvPr id="38" name="TextBox 37">
            <a:extLst>
              <a:ext uri="{FF2B5EF4-FFF2-40B4-BE49-F238E27FC236}">
                <a16:creationId xmlns:a16="http://schemas.microsoft.com/office/drawing/2014/main" id="{08B48DCC-4B09-4D4E-81E7-3689C4BA8455}"/>
              </a:ext>
            </a:extLst>
          </p:cNvPr>
          <p:cNvSpPr txBox="1"/>
          <p:nvPr/>
        </p:nvSpPr>
        <p:spPr>
          <a:xfrm>
            <a:off x="3943352" y="4527702"/>
            <a:ext cx="923924" cy="400110"/>
          </a:xfrm>
          <a:prstGeom prst="rect">
            <a:avLst/>
          </a:prstGeom>
          <a:noFill/>
        </p:spPr>
        <p:txBody>
          <a:bodyPr wrap="square" rtlCol="0">
            <a:spAutoFit/>
          </a:bodyPr>
          <a:lstStyle/>
          <a:p>
            <a:pPr algn="ctr"/>
            <a:r>
              <a:rPr lang="en-US" sz="2000" b="1" dirty="0">
                <a:solidFill>
                  <a:srgbClr val="FF0000"/>
                </a:solidFill>
                <a:latin typeface="Consolas" panose="020B0609020204030204" pitchFamily="49" charset="0"/>
                <a:cs typeface="Consolas" panose="020B0609020204030204" pitchFamily="49" charset="0"/>
              </a:rPr>
              <a:t>true</a:t>
            </a:r>
            <a:endParaRPr lang="en-US" sz="2000" b="1" dirty="0">
              <a:latin typeface="Consolas" panose="020B0609020204030204" pitchFamily="49" charset="0"/>
              <a:cs typeface="Consolas" panose="020B0609020204030204" pitchFamily="49" charset="0"/>
            </a:endParaRPr>
          </a:p>
        </p:txBody>
      </p:sp>
      <p:sp>
        <p:nvSpPr>
          <p:cNvPr id="39" name="TextBox 38">
            <a:extLst>
              <a:ext uri="{FF2B5EF4-FFF2-40B4-BE49-F238E27FC236}">
                <a16:creationId xmlns:a16="http://schemas.microsoft.com/office/drawing/2014/main" id="{E4B08F47-DDAE-FD44-925F-12E3BFBCB93C}"/>
              </a:ext>
            </a:extLst>
          </p:cNvPr>
          <p:cNvSpPr txBox="1"/>
          <p:nvPr/>
        </p:nvSpPr>
        <p:spPr>
          <a:xfrm>
            <a:off x="4180291" y="4167187"/>
            <a:ext cx="2549128" cy="400110"/>
          </a:xfrm>
          <a:prstGeom prst="rect">
            <a:avLst/>
          </a:prstGeom>
          <a:noFill/>
        </p:spPr>
        <p:txBody>
          <a:bodyPr wrap="square" rtlCol="0">
            <a:spAutoFit/>
          </a:bodyPr>
          <a:lstStyle/>
          <a:p>
            <a:pPr algn="ctr"/>
            <a:r>
              <a:rPr lang="en-US" sz="2000" b="1" dirty="0">
                <a:solidFill>
                  <a:schemeClr val="accent6">
                    <a:lumMod val="75000"/>
                  </a:schemeClr>
                </a:solidFill>
                <a:latin typeface="Consolas" panose="020B0609020204030204" pitchFamily="49" charset="0"/>
                <a:cs typeface="Consolas" panose="020B0609020204030204" pitchFamily="49" charset="0"/>
              </a:rPr>
              <a:t>"hello,\</a:t>
            </a:r>
            <a:r>
              <a:rPr lang="en-US" sz="2000" b="1" dirty="0" err="1">
                <a:solidFill>
                  <a:schemeClr val="accent6">
                    <a:lumMod val="75000"/>
                  </a:schemeClr>
                </a:solidFill>
                <a:latin typeface="Consolas" panose="020B0609020204030204" pitchFamily="49" charset="0"/>
                <a:cs typeface="Consolas" panose="020B0609020204030204" pitchFamily="49" charset="0"/>
              </a:rPr>
              <a:t>nworld</a:t>
            </a:r>
            <a:r>
              <a:rPr lang="en-US" sz="2000" b="1" dirty="0">
                <a:solidFill>
                  <a:schemeClr val="accent6">
                    <a:lumMod val="75000"/>
                  </a:schemeClr>
                </a:solidFill>
                <a:latin typeface="Consolas" panose="020B0609020204030204" pitchFamily="49" charset="0"/>
                <a:cs typeface="Consolas" panose="020B0609020204030204" pitchFamily="49" charset="0"/>
              </a:rPr>
              <a:t>!"</a:t>
            </a:r>
          </a:p>
        </p:txBody>
      </p:sp>
      <p:sp>
        <p:nvSpPr>
          <p:cNvPr id="40" name="TextBox 39">
            <a:extLst>
              <a:ext uri="{FF2B5EF4-FFF2-40B4-BE49-F238E27FC236}">
                <a16:creationId xmlns:a16="http://schemas.microsoft.com/office/drawing/2014/main" id="{1CA91B6D-5E3F-B845-891C-41B5320B8DBD}"/>
              </a:ext>
            </a:extLst>
          </p:cNvPr>
          <p:cNvSpPr txBox="1"/>
          <p:nvPr/>
        </p:nvSpPr>
        <p:spPr>
          <a:xfrm>
            <a:off x="6353180" y="4530121"/>
            <a:ext cx="1778786" cy="400110"/>
          </a:xfrm>
          <a:prstGeom prst="rect">
            <a:avLst/>
          </a:prstGeom>
          <a:noFill/>
        </p:spPr>
        <p:txBody>
          <a:bodyPr wrap="square" rtlCol="0">
            <a:spAutoFit/>
          </a:bodyPr>
          <a:lstStyle/>
          <a:p>
            <a:pPr algn="ctr"/>
            <a:r>
              <a:rPr lang="en-US" sz="2000" b="1" dirty="0">
                <a:solidFill>
                  <a:schemeClr val="accent3">
                    <a:lumMod val="75000"/>
                  </a:schemeClr>
                </a:solidFill>
                <a:latin typeface="Consolas" panose="020B0609020204030204" pitchFamily="49" charset="0"/>
                <a:cs typeface="Consolas" panose="020B0609020204030204" pitchFamily="49" charset="0"/>
              </a:rPr>
              <a:t>0xDEADBEEF</a:t>
            </a:r>
          </a:p>
        </p:txBody>
      </p:sp>
      <p:sp>
        <p:nvSpPr>
          <p:cNvPr id="41" name="TextBox 40">
            <a:extLst>
              <a:ext uri="{FF2B5EF4-FFF2-40B4-BE49-F238E27FC236}">
                <a16:creationId xmlns:a16="http://schemas.microsoft.com/office/drawing/2014/main" id="{F4604506-B39E-5C4C-8122-96F90D97D2E7}"/>
              </a:ext>
            </a:extLst>
          </p:cNvPr>
          <p:cNvSpPr txBox="1"/>
          <p:nvPr/>
        </p:nvSpPr>
        <p:spPr>
          <a:xfrm>
            <a:off x="4713720" y="4819590"/>
            <a:ext cx="681009" cy="400110"/>
          </a:xfrm>
          <a:prstGeom prst="rect">
            <a:avLst/>
          </a:prstGeom>
          <a:noFill/>
        </p:spPr>
        <p:txBody>
          <a:bodyPr wrap="square" rtlCol="0">
            <a:spAutoFit/>
          </a:bodyPr>
          <a:lstStyle/>
          <a:p>
            <a:pPr algn="ctr"/>
            <a:r>
              <a:rPr lang="en-US" sz="2000" b="1" dirty="0">
                <a:solidFill>
                  <a:schemeClr val="accent3">
                    <a:lumMod val="75000"/>
                  </a:schemeClr>
                </a:solidFill>
                <a:latin typeface="Consolas" panose="020B0609020204030204" pitchFamily="49" charset="0"/>
                <a:cs typeface="Consolas" panose="020B0609020204030204" pitchFamily="49" charset="0"/>
              </a:rPr>
              <a:t>345</a:t>
            </a:r>
          </a:p>
        </p:txBody>
      </p:sp>
      <p:sp>
        <p:nvSpPr>
          <p:cNvPr id="42" name="TextBox 41">
            <a:extLst>
              <a:ext uri="{FF2B5EF4-FFF2-40B4-BE49-F238E27FC236}">
                <a16:creationId xmlns:a16="http://schemas.microsoft.com/office/drawing/2014/main" id="{59D3ED39-70F1-2B44-A172-6CF05D55C59D}"/>
              </a:ext>
            </a:extLst>
          </p:cNvPr>
          <p:cNvSpPr txBox="1"/>
          <p:nvPr/>
        </p:nvSpPr>
        <p:spPr>
          <a:xfrm>
            <a:off x="5451860" y="4666105"/>
            <a:ext cx="1015603" cy="400110"/>
          </a:xfrm>
          <a:prstGeom prst="rect">
            <a:avLst/>
          </a:prstGeom>
          <a:noFill/>
        </p:spPr>
        <p:txBody>
          <a:bodyPr wrap="square" rtlCol="0">
            <a:spAutoFit/>
          </a:bodyPr>
          <a:lstStyle/>
          <a:p>
            <a:pPr algn="ctr"/>
            <a:r>
              <a:rPr lang="en-US" sz="2000" b="1" dirty="0">
                <a:solidFill>
                  <a:schemeClr val="accent3">
                    <a:lumMod val="75000"/>
                  </a:schemeClr>
                </a:solidFill>
                <a:latin typeface="Consolas" panose="020B0609020204030204" pitchFamily="49" charset="0"/>
                <a:cs typeface="Consolas" panose="020B0609020204030204" pitchFamily="49" charset="0"/>
              </a:rPr>
              <a:t>1.9e6</a:t>
            </a:r>
          </a:p>
        </p:txBody>
      </p:sp>
      <p:sp>
        <p:nvSpPr>
          <p:cNvPr id="43" name="TextBox 42">
            <a:extLst>
              <a:ext uri="{FF2B5EF4-FFF2-40B4-BE49-F238E27FC236}">
                <a16:creationId xmlns:a16="http://schemas.microsoft.com/office/drawing/2014/main" id="{746FE6F7-9A16-8D4C-B46E-1F79AD683FE4}"/>
              </a:ext>
            </a:extLst>
          </p:cNvPr>
          <p:cNvSpPr txBox="1"/>
          <p:nvPr/>
        </p:nvSpPr>
        <p:spPr>
          <a:xfrm>
            <a:off x="6966358" y="4177235"/>
            <a:ext cx="819684" cy="400110"/>
          </a:xfrm>
          <a:prstGeom prst="rect">
            <a:avLst/>
          </a:prstGeom>
          <a:noFill/>
        </p:spPr>
        <p:txBody>
          <a:bodyPr wrap="square" rtlCol="0">
            <a:spAutoFit/>
          </a:bodyPr>
          <a:lstStyle/>
          <a:p>
            <a:pPr algn="ctr"/>
            <a:r>
              <a:rPr lang="en-US" sz="2000" b="1" dirty="0">
                <a:solidFill>
                  <a:schemeClr val="accent6">
                    <a:lumMod val="75000"/>
                  </a:schemeClr>
                </a:solidFill>
                <a:latin typeface="Consolas" panose="020B0609020204030204" pitchFamily="49" charset="0"/>
                <a:cs typeface="Consolas" panose="020B0609020204030204" pitchFamily="49" charset="0"/>
              </a:rPr>
              <a:t>'c'</a:t>
            </a:r>
          </a:p>
        </p:txBody>
      </p:sp>
      <p:sp>
        <p:nvSpPr>
          <p:cNvPr id="44" name="TextBox 43">
            <a:extLst>
              <a:ext uri="{FF2B5EF4-FFF2-40B4-BE49-F238E27FC236}">
                <a16:creationId xmlns:a16="http://schemas.microsoft.com/office/drawing/2014/main" id="{82491610-1D26-B345-9229-20E85AF6994C}"/>
              </a:ext>
            </a:extLst>
          </p:cNvPr>
          <p:cNvSpPr txBox="1"/>
          <p:nvPr/>
        </p:nvSpPr>
        <p:spPr>
          <a:xfrm>
            <a:off x="814785" y="4876711"/>
            <a:ext cx="502455"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&amp;&amp;</a:t>
            </a:r>
          </a:p>
        </p:txBody>
      </p:sp>
      <p:sp>
        <p:nvSpPr>
          <p:cNvPr id="45" name="TextBox 44">
            <a:extLst>
              <a:ext uri="{FF2B5EF4-FFF2-40B4-BE49-F238E27FC236}">
                <a16:creationId xmlns:a16="http://schemas.microsoft.com/office/drawing/2014/main" id="{C15D33E7-4832-D24C-9791-404A6C2883EA}"/>
              </a:ext>
            </a:extLst>
          </p:cNvPr>
          <p:cNvSpPr txBox="1"/>
          <p:nvPr/>
        </p:nvSpPr>
        <p:spPr>
          <a:xfrm>
            <a:off x="1312469" y="4886295"/>
            <a:ext cx="502455"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
        <p:nvSpPr>
          <p:cNvPr id="46" name="TextBox 45">
            <a:extLst>
              <a:ext uri="{FF2B5EF4-FFF2-40B4-BE49-F238E27FC236}">
                <a16:creationId xmlns:a16="http://schemas.microsoft.com/office/drawing/2014/main" id="{7310D45F-8059-CB41-881C-170178DB6C12}"/>
              </a:ext>
            </a:extLst>
          </p:cNvPr>
          <p:cNvSpPr txBox="1"/>
          <p:nvPr/>
        </p:nvSpPr>
        <p:spPr>
          <a:xfrm>
            <a:off x="1914337" y="4895790"/>
            <a:ext cx="502455" cy="400110"/>
          </a:xfrm>
          <a:prstGeom prst="rect">
            <a:avLst/>
          </a:prstGeom>
          <a:noFill/>
        </p:spPr>
        <p:txBody>
          <a:bodyPr wrap="square" rtlCol="0">
            <a:spAutoFit/>
          </a:bodyPr>
          <a:lstStyle/>
          <a:p>
            <a:pPr algn="ctr"/>
            <a:r>
              <a:rPr lang="en-US" sz="2000" b="1"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5036034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300"/>
                                  </p:stCondLst>
                                  <p:childTnLst>
                                    <p:set>
                                      <p:cBhvr>
                                        <p:cTn id="13" dur="1" fill="hold">
                                          <p:stCondLst>
                                            <p:cond delay="0"/>
                                          </p:stCondLst>
                                        </p:cTn>
                                        <p:tgtEl>
                                          <p:spTgt spid="6"/>
                                        </p:tgtEl>
                                        <p:attrNameLst>
                                          <p:attrName>style.visibility</p:attrName>
                                        </p:attrNameLst>
                                      </p:cBhvr>
                                      <p:to>
                                        <p:strVal val="visible"/>
                                      </p:to>
                                    </p:set>
                                  </p:childTnLst>
                                </p:cTn>
                              </p:par>
                            </p:childTnLst>
                          </p:cTn>
                        </p:par>
                        <p:par>
                          <p:cTn id="14" fill="hold">
                            <p:stCondLst>
                              <p:cond delay="300"/>
                            </p:stCondLst>
                            <p:childTnLst>
                              <p:par>
                                <p:cTn id="15" presetID="1" presetClass="entr" presetSubtype="0" fill="hold" grpId="0" nodeType="afterEffect">
                                  <p:stCondLst>
                                    <p:cond delay="300"/>
                                  </p:stCondLst>
                                  <p:childTnLst>
                                    <p:set>
                                      <p:cBhvr>
                                        <p:cTn id="16" dur="1" fill="hold">
                                          <p:stCondLst>
                                            <p:cond delay="0"/>
                                          </p:stCondLst>
                                        </p:cTn>
                                        <p:tgtEl>
                                          <p:spTgt spid="7"/>
                                        </p:tgtEl>
                                        <p:attrNameLst>
                                          <p:attrName>style.visibility</p:attrName>
                                        </p:attrNameLst>
                                      </p:cBhvr>
                                      <p:to>
                                        <p:strVal val="visible"/>
                                      </p:to>
                                    </p:set>
                                  </p:childTnLst>
                                </p:cTn>
                              </p:par>
                            </p:childTnLst>
                          </p:cTn>
                        </p:par>
                        <p:par>
                          <p:cTn id="17" fill="hold">
                            <p:stCondLst>
                              <p:cond delay="600"/>
                            </p:stCondLst>
                            <p:childTnLst>
                              <p:par>
                                <p:cTn id="18" presetID="1" presetClass="entr" presetSubtype="0" fill="hold" grpId="0" nodeType="afterEffect">
                                  <p:stCondLst>
                                    <p:cond delay="300"/>
                                  </p:stCondLst>
                                  <p:childTnLst>
                                    <p:set>
                                      <p:cBhvr>
                                        <p:cTn id="19" dur="1" fill="hold">
                                          <p:stCondLst>
                                            <p:cond delay="0"/>
                                          </p:stCondLst>
                                        </p:cTn>
                                        <p:tgtEl>
                                          <p:spTgt spid="8"/>
                                        </p:tgtEl>
                                        <p:attrNameLst>
                                          <p:attrName>style.visibility</p:attrName>
                                        </p:attrNameLst>
                                      </p:cBhvr>
                                      <p:to>
                                        <p:strVal val="visible"/>
                                      </p:to>
                                    </p:set>
                                  </p:childTnLst>
                                </p:cTn>
                              </p:par>
                            </p:childTnLst>
                          </p:cTn>
                        </p:par>
                        <p:par>
                          <p:cTn id="20" fill="hold">
                            <p:stCondLst>
                              <p:cond delay="900"/>
                            </p:stCondLst>
                            <p:childTnLst>
                              <p:par>
                                <p:cTn id="21" presetID="1" presetClass="entr" presetSubtype="0" fill="hold" grpId="0" nodeType="afterEffect">
                                  <p:stCondLst>
                                    <p:cond delay="30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300"/>
                                  </p:stCondLst>
                                  <p:childTnLst>
                                    <p:set>
                                      <p:cBhvr>
                                        <p:cTn id="29" dur="1" fill="hold">
                                          <p:stCondLst>
                                            <p:cond delay="0"/>
                                          </p:stCondLst>
                                        </p:cTn>
                                        <p:tgtEl>
                                          <p:spTgt spid="10"/>
                                        </p:tgtEl>
                                        <p:attrNameLst>
                                          <p:attrName>style.visibility</p:attrName>
                                        </p:attrNameLst>
                                      </p:cBhvr>
                                      <p:to>
                                        <p:strVal val="visible"/>
                                      </p:to>
                                    </p:set>
                                  </p:childTnLst>
                                </p:cTn>
                              </p:par>
                            </p:childTnLst>
                          </p:cTn>
                        </p:par>
                        <p:par>
                          <p:cTn id="30" fill="hold">
                            <p:stCondLst>
                              <p:cond delay="300"/>
                            </p:stCondLst>
                            <p:childTnLst>
                              <p:par>
                                <p:cTn id="31" presetID="1" presetClass="entr" presetSubtype="0" fill="hold" grpId="0" nodeType="afterEffect">
                                  <p:stCondLst>
                                    <p:cond delay="300"/>
                                  </p:stCondLst>
                                  <p:childTnLst>
                                    <p:set>
                                      <p:cBhvr>
                                        <p:cTn id="32" dur="1" fill="hold">
                                          <p:stCondLst>
                                            <p:cond delay="0"/>
                                          </p:stCondLst>
                                        </p:cTn>
                                        <p:tgtEl>
                                          <p:spTgt spid="13"/>
                                        </p:tgtEl>
                                        <p:attrNameLst>
                                          <p:attrName>style.visibility</p:attrName>
                                        </p:attrNameLst>
                                      </p:cBhvr>
                                      <p:to>
                                        <p:strVal val="visible"/>
                                      </p:to>
                                    </p:set>
                                  </p:childTnLst>
                                </p:cTn>
                              </p:par>
                            </p:childTnLst>
                          </p:cTn>
                        </p:par>
                        <p:par>
                          <p:cTn id="33" fill="hold">
                            <p:stCondLst>
                              <p:cond delay="600"/>
                            </p:stCondLst>
                            <p:childTnLst>
                              <p:par>
                                <p:cTn id="34" presetID="1" presetClass="entr" presetSubtype="0" fill="hold" grpId="0" nodeType="afterEffect">
                                  <p:stCondLst>
                                    <p:cond delay="300"/>
                                  </p:stCondLst>
                                  <p:childTnLst>
                                    <p:set>
                                      <p:cBhvr>
                                        <p:cTn id="35" dur="1" fill="hold">
                                          <p:stCondLst>
                                            <p:cond delay="0"/>
                                          </p:stCondLst>
                                        </p:cTn>
                                        <p:tgtEl>
                                          <p:spTgt spid="12"/>
                                        </p:tgtEl>
                                        <p:attrNameLst>
                                          <p:attrName>style.visibility</p:attrName>
                                        </p:attrNameLst>
                                      </p:cBhvr>
                                      <p:to>
                                        <p:strVal val="visible"/>
                                      </p:to>
                                    </p:set>
                                  </p:childTnLst>
                                </p:cTn>
                              </p:par>
                            </p:childTnLst>
                          </p:cTn>
                        </p:par>
                        <p:par>
                          <p:cTn id="36" fill="hold">
                            <p:stCondLst>
                              <p:cond delay="900"/>
                            </p:stCondLst>
                            <p:childTnLst>
                              <p:par>
                                <p:cTn id="37" presetID="1" presetClass="entr" presetSubtype="0" fill="hold" grpId="0" nodeType="afterEffect">
                                  <p:stCondLst>
                                    <p:cond delay="30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par>
                          <p:cTn id="43" fill="hold">
                            <p:stCondLst>
                              <p:cond delay="0"/>
                            </p:stCondLst>
                            <p:childTnLst>
                              <p:par>
                                <p:cTn id="44" presetID="1" presetClass="entr" presetSubtype="0" fill="hold" grpId="0" nodeType="afterEffect">
                                  <p:stCondLst>
                                    <p:cond delay="150"/>
                                  </p:stCondLst>
                                  <p:childTnLst>
                                    <p:set>
                                      <p:cBhvr>
                                        <p:cTn id="45" dur="1" fill="hold">
                                          <p:stCondLst>
                                            <p:cond delay="0"/>
                                          </p:stCondLst>
                                        </p:cTn>
                                        <p:tgtEl>
                                          <p:spTgt spid="17"/>
                                        </p:tgtEl>
                                        <p:attrNameLst>
                                          <p:attrName>style.visibility</p:attrName>
                                        </p:attrNameLst>
                                      </p:cBhvr>
                                      <p:to>
                                        <p:strVal val="visible"/>
                                      </p:to>
                                    </p:set>
                                  </p:childTnLst>
                                </p:cTn>
                              </p:par>
                            </p:childTnLst>
                          </p:cTn>
                        </p:par>
                        <p:par>
                          <p:cTn id="46" fill="hold">
                            <p:stCondLst>
                              <p:cond delay="150"/>
                            </p:stCondLst>
                            <p:childTnLst>
                              <p:par>
                                <p:cTn id="47" presetID="1" presetClass="entr" presetSubtype="0" fill="hold" grpId="0" nodeType="afterEffect">
                                  <p:stCondLst>
                                    <p:cond delay="150"/>
                                  </p:stCondLst>
                                  <p:childTnLst>
                                    <p:set>
                                      <p:cBhvr>
                                        <p:cTn id="48" dur="1" fill="hold">
                                          <p:stCondLst>
                                            <p:cond delay="0"/>
                                          </p:stCondLst>
                                        </p:cTn>
                                        <p:tgtEl>
                                          <p:spTgt spid="20"/>
                                        </p:tgtEl>
                                        <p:attrNameLst>
                                          <p:attrName>style.visibility</p:attrName>
                                        </p:attrNameLst>
                                      </p:cBhvr>
                                      <p:to>
                                        <p:strVal val="visible"/>
                                      </p:to>
                                    </p:set>
                                  </p:childTnLst>
                                </p:cTn>
                              </p:par>
                            </p:childTnLst>
                          </p:cTn>
                        </p:par>
                        <p:par>
                          <p:cTn id="49" fill="hold">
                            <p:stCondLst>
                              <p:cond delay="300"/>
                            </p:stCondLst>
                            <p:childTnLst>
                              <p:par>
                                <p:cTn id="50" presetID="1" presetClass="entr" presetSubtype="0" fill="hold" grpId="0" nodeType="afterEffect">
                                  <p:stCondLst>
                                    <p:cond delay="150"/>
                                  </p:stCondLst>
                                  <p:childTnLst>
                                    <p:set>
                                      <p:cBhvr>
                                        <p:cTn id="51" dur="1" fill="hold">
                                          <p:stCondLst>
                                            <p:cond delay="0"/>
                                          </p:stCondLst>
                                        </p:cTn>
                                        <p:tgtEl>
                                          <p:spTgt spid="19"/>
                                        </p:tgtEl>
                                        <p:attrNameLst>
                                          <p:attrName>style.visibility</p:attrName>
                                        </p:attrNameLst>
                                      </p:cBhvr>
                                      <p:to>
                                        <p:strVal val="visible"/>
                                      </p:to>
                                    </p:set>
                                  </p:childTnLst>
                                </p:cTn>
                              </p:par>
                            </p:childTnLst>
                          </p:cTn>
                        </p:par>
                        <p:par>
                          <p:cTn id="52" fill="hold">
                            <p:stCondLst>
                              <p:cond delay="450"/>
                            </p:stCondLst>
                            <p:childTnLst>
                              <p:par>
                                <p:cTn id="53" presetID="1" presetClass="entr" presetSubtype="0" fill="hold" grpId="0" nodeType="afterEffect">
                                  <p:stCondLst>
                                    <p:cond delay="150"/>
                                  </p:stCondLst>
                                  <p:childTnLst>
                                    <p:set>
                                      <p:cBhvr>
                                        <p:cTn id="54" dur="1" fill="hold">
                                          <p:stCondLst>
                                            <p:cond delay="0"/>
                                          </p:stCondLst>
                                        </p:cTn>
                                        <p:tgtEl>
                                          <p:spTgt spid="18"/>
                                        </p:tgtEl>
                                        <p:attrNameLst>
                                          <p:attrName>style.visibility</p:attrName>
                                        </p:attrNameLst>
                                      </p:cBhvr>
                                      <p:to>
                                        <p:strVal val="visible"/>
                                      </p:to>
                                    </p:set>
                                  </p:childTnLst>
                                </p:cTn>
                              </p:par>
                            </p:childTnLst>
                          </p:cTn>
                        </p:par>
                        <p:par>
                          <p:cTn id="55" fill="hold">
                            <p:stCondLst>
                              <p:cond delay="600"/>
                            </p:stCondLst>
                            <p:childTnLst>
                              <p:par>
                                <p:cTn id="56" presetID="1" presetClass="entr" presetSubtype="0" fill="hold" grpId="0" nodeType="afterEffect">
                                  <p:stCondLst>
                                    <p:cond delay="150"/>
                                  </p:stCondLst>
                                  <p:childTnLst>
                                    <p:set>
                                      <p:cBhvr>
                                        <p:cTn id="57" dur="1" fill="hold">
                                          <p:stCondLst>
                                            <p:cond delay="0"/>
                                          </p:stCondLst>
                                        </p:cTn>
                                        <p:tgtEl>
                                          <p:spTgt spid="22"/>
                                        </p:tgtEl>
                                        <p:attrNameLst>
                                          <p:attrName>style.visibility</p:attrName>
                                        </p:attrNameLst>
                                      </p:cBhvr>
                                      <p:to>
                                        <p:strVal val="visible"/>
                                      </p:to>
                                    </p:set>
                                  </p:childTnLst>
                                </p:cTn>
                              </p:par>
                            </p:childTnLst>
                          </p:cTn>
                        </p:par>
                        <p:par>
                          <p:cTn id="58" fill="hold">
                            <p:stCondLst>
                              <p:cond delay="750"/>
                            </p:stCondLst>
                            <p:childTnLst>
                              <p:par>
                                <p:cTn id="59" presetID="1" presetClass="entr" presetSubtype="0" fill="hold" grpId="0" nodeType="afterEffect">
                                  <p:stCondLst>
                                    <p:cond delay="150"/>
                                  </p:stCondLst>
                                  <p:childTnLst>
                                    <p:set>
                                      <p:cBhvr>
                                        <p:cTn id="60" dur="1" fill="hold">
                                          <p:stCondLst>
                                            <p:cond delay="0"/>
                                          </p:stCondLst>
                                        </p:cTn>
                                        <p:tgtEl>
                                          <p:spTgt spid="25"/>
                                        </p:tgtEl>
                                        <p:attrNameLst>
                                          <p:attrName>style.visibility</p:attrName>
                                        </p:attrNameLst>
                                      </p:cBhvr>
                                      <p:to>
                                        <p:strVal val="visible"/>
                                      </p:to>
                                    </p:set>
                                  </p:childTnLst>
                                </p:cTn>
                              </p:par>
                            </p:childTnLst>
                          </p:cTn>
                        </p:par>
                        <p:par>
                          <p:cTn id="61" fill="hold">
                            <p:stCondLst>
                              <p:cond delay="900"/>
                            </p:stCondLst>
                            <p:childTnLst>
                              <p:par>
                                <p:cTn id="62" presetID="1" presetClass="entr" presetSubtype="0" fill="hold" grpId="0" nodeType="afterEffect">
                                  <p:stCondLst>
                                    <p:cond delay="150"/>
                                  </p:stCondLst>
                                  <p:childTnLst>
                                    <p:set>
                                      <p:cBhvr>
                                        <p:cTn id="63" dur="1" fill="hold">
                                          <p:stCondLst>
                                            <p:cond delay="0"/>
                                          </p:stCondLst>
                                        </p:cTn>
                                        <p:tgtEl>
                                          <p:spTgt spid="24"/>
                                        </p:tgtEl>
                                        <p:attrNameLst>
                                          <p:attrName>style.visibility</p:attrName>
                                        </p:attrNameLst>
                                      </p:cBhvr>
                                      <p:to>
                                        <p:strVal val="visible"/>
                                      </p:to>
                                    </p:set>
                                  </p:childTnLst>
                                </p:cTn>
                              </p:par>
                            </p:childTnLst>
                          </p:cTn>
                        </p:par>
                        <p:par>
                          <p:cTn id="64" fill="hold">
                            <p:stCondLst>
                              <p:cond delay="1050"/>
                            </p:stCondLst>
                            <p:childTnLst>
                              <p:par>
                                <p:cTn id="65" presetID="1" presetClass="entr" presetSubtype="0" fill="hold" grpId="0" nodeType="afterEffect">
                                  <p:stCondLst>
                                    <p:cond delay="150"/>
                                  </p:stCondLst>
                                  <p:childTnLst>
                                    <p:set>
                                      <p:cBhvr>
                                        <p:cTn id="66" dur="1" fill="hold">
                                          <p:stCondLst>
                                            <p:cond delay="0"/>
                                          </p:stCondLst>
                                        </p:cTn>
                                        <p:tgtEl>
                                          <p:spTgt spid="32"/>
                                        </p:tgtEl>
                                        <p:attrNameLst>
                                          <p:attrName>style.visibility</p:attrName>
                                        </p:attrNameLst>
                                      </p:cBhvr>
                                      <p:to>
                                        <p:strVal val="visible"/>
                                      </p:to>
                                    </p:set>
                                  </p:childTnLst>
                                </p:cTn>
                              </p:par>
                            </p:childTnLst>
                          </p:cTn>
                        </p:par>
                        <p:par>
                          <p:cTn id="67" fill="hold">
                            <p:stCondLst>
                              <p:cond delay="1200"/>
                            </p:stCondLst>
                            <p:childTnLst>
                              <p:par>
                                <p:cTn id="68" presetID="1" presetClass="entr" presetSubtype="0" fill="hold" grpId="0" nodeType="afterEffect">
                                  <p:stCondLst>
                                    <p:cond delay="150"/>
                                  </p:stCondLst>
                                  <p:childTnLst>
                                    <p:set>
                                      <p:cBhvr>
                                        <p:cTn id="69" dur="1" fill="hold">
                                          <p:stCondLst>
                                            <p:cond delay="0"/>
                                          </p:stCondLst>
                                        </p:cTn>
                                        <p:tgtEl>
                                          <p:spTgt spid="35"/>
                                        </p:tgtEl>
                                        <p:attrNameLst>
                                          <p:attrName>style.visibility</p:attrName>
                                        </p:attrNameLst>
                                      </p:cBhvr>
                                      <p:to>
                                        <p:strVal val="visible"/>
                                      </p:to>
                                    </p:set>
                                  </p:childTnLst>
                                </p:cTn>
                              </p:par>
                            </p:childTnLst>
                          </p:cTn>
                        </p:par>
                        <p:par>
                          <p:cTn id="70" fill="hold">
                            <p:stCondLst>
                              <p:cond delay="1350"/>
                            </p:stCondLst>
                            <p:childTnLst>
                              <p:par>
                                <p:cTn id="71" presetID="1" presetClass="entr" presetSubtype="0" fill="hold" grpId="0" nodeType="afterEffect">
                                  <p:stCondLst>
                                    <p:cond delay="150"/>
                                  </p:stCondLst>
                                  <p:childTnLst>
                                    <p:set>
                                      <p:cBhvr>
                                        <p:cTn id="72" dur="1" fill="hold">
                                          <p:stCondLst>
                                            <p:cond delay="0"/>
                                          </p:stCondLst>
                                        </p:cTn>
                                        <p:tgtEl>
                                          <p:spTgt spid="34"/>
                                        </p:tgtEl>
                                        <p:attrNameLst>
                                          <p:attrName>style.visibility</p:attrName>
                                        </p:attrNameLst>
                                      </p:cBhvr>
                                      <p:to>
                                        <p:strVal val="visible"/>
                                      </p:to>
                                    </p:set>
                                  </p:childTnLst>
                                </p:cTn>
                              </p:par>
                            </p:childTnLst>
                          </p:cTn>
                        </p:par>
                        <p:par>
                          <p:cTn id="73" fill="hold">
                            <p:stCondLst>
                              <p:cond delay="1500"/>
                            </p:stCondLst>
                            <p:childTnLst>
                              <p:par>
                                <p:cTn id="74" presetID="1" presetClass="entr" presetSubtype="0" fill="hold" grpId="0" nodeType="afterEffect">
                                  <p:stCondLst>
                                    <p:cond delay="150"/>
                                  </p:stCondLst>
                                  <p:childTnLst>
                                    <p:set>
                                      <p:cBhvr>
                                        <p:cTn id="75" dur="1" fill="hold">
                                          <p:stCondLst>
                                            <p:cond delay="0"/>
                                          </p:stCondLst>
                                        </p:cTn>
                                        <p:tgtEl>
                                          <p:spTgt spid="33"/>
                                        </p:tgtEl>
                                        <p:attrNameLst>
                                          <p:attrName>style.visibility</p:attrName>
                                        </p:attrNameLst>
                                      </p:cBhvr>
                                      <p:to>
                                        <p:strVal val="visible"/>
                                      </p:to>
                                    </p:set>
                                  </p:childTnLst>
                                </p:cTn>
                              </p:par>
                            </p:childTnLst>
                          </p:cTn>
                        </p:par>
                        <p:par>
                          <p:cTn id="76" fill="hold">
                            <p:stCondLst>
                              <p:cond delay="1650"/>
                            </p:stCondLst>
                            <p:childTnLst>
                              <p:par>
                                <p:cTn id="77" presetID="1" presetClass="entr" presetSubtype="0" fill="hold" grpId="0" nodeType="afterEffect">
                                  <p:stCondLst>
                                    <p:cond delay="150"/>
                                  </p:stCondLst>
                                  <p:childTnLst>
                                    <p:set>
                                      <p:cBhvr>
                                        <p:cTn id="78" dur="1" fill="hold">
                                          <p:stCondLst>
                                            <p:cond delay="0"/>
                                          </p:stCondLst>
                                        </p:cTn>
                                        <p:tgtEl>
                                          <p:spTgt spid="44"/>
                                        </p:tgtEl>
                                        <p:attrNameLst>
                                          <p:attrName>style.visibility</p:attrName>
                                        </p:attrNameLst>
                                      </p:cBhvr>
                                      <p:to>
                                        <p:strVal val="visible"/>
                                      </p:to>
                                    </p:set>
                                  </p:childTnLst>
                                </p:cTn>
                              </p:par>
                            </p:childTnLst>
                          </p:cTn>
                        </p:par>
                        <p:par>
                          <p:cTn id="79" fill="hold">
                            <p:stCondLst>
                              <p:cond delay="1800"/>
                            </p:stCondLst>
                            <p:childTnLst>
                              <p:par>
                                <p:cTn id="80" presetID="1" presetClass="entr" presetSubtype="0" fill="hold" grpId="0" nodeType="afterEffect">
                                  <p:stCondLst>
                                    <p:cond delay="150"/>
                                  </p:stCondLst>
                                  <p:childTnLst>
                                    <p:set>
                                      <p:cBhvr>
                                        <p:cTn id="81" dur="1" fill="hold">
                                          <p:stCondLst>
                                            <p:cond delay="0"/>
                                          </p:stCondLst>
                                        </p:cTn>
                                        <p:tgtEl>
                                          <p:spTgt spid="45"/>
                                        </p:tgtEl>
                                        <p:attrNameLst>
                                          <p:attrName>style.visibility</p:attrName>
                                        </p:attrNameLst>
                                      </p:cBhvr>
                                      <p:to>
                                        <p:strVal val="visible"/>
                                      </p:to>
                                    </p:set>
                                  </p:childTnLst>
                                </p:cTn>
                              </p:par>
                            </p:childTnLst>
                          </p:cTn>
                        </p:par>
                        <p:par>
                          <p:cTn id="82" fill="hold">
                            <p:stCondLst>
                              <p:cond delay="1950"/>
                            </p:stCondLst>
                            <p:childTnLst>
                              <p:par>
                                <p:cTn id="83" presetID="1" presetClass="entr" presetSubtype="0" fill="hold" grpId="0" nodeType="afterEffect">
                                  <p:stCondLst>
                                    <p:cond delay="150"/>
                                  </p:stCondLst>
                                  <p:childTnLst>
                                    <p:set>
                                      <p:cBhvr>
                                        <p:cTn id="84" dur="1" fill="hold">
                                          <p:stCondLst>
                                            <p:cond delay="0"/>
                                          </p:stCondLst>
                                        </p:cTn>
                                        <p:tgtEl>
                                          <p:spTgt spid="4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37"/>
                                        </p:tgtEl>
                                        <p:attrNameLst>
                                          <p:attrName>style.visibility</p:attrName>
                                        </p:attrNameLst>
                                      </p:cBhvr>
                                      <p:to>
                                        <p:strVal val="visible"/>
                                      </p:to>
                                    </p:set>
                                  </p:childTnLst>
                                </p:cTn>
                              </p:par>
                            </p:childTnLst>
                          </p:cTn>
                        </p:par>
                        <p:par>
                          <p:cTn id="89" fill="hold">
                            <p:stCondLst>
                              <p:cond delay="0"/>
                            </p:stCondLst>
                            <p:childTnLst>
                              <p:par>
                                <p:cTn id="90" presetID="1" presetClass="entr" presetSubtype="0" fill="hold" grpId="0" nodeType="afterEffect">
                                  <p:stCondLst>
                                    <p:cond delay="300"/>
                                  </p:stCondLst>
                                  <p:childTnLst>
                                    <p:set>
                                      <p:cBhvr>
                                        <p:cTn id="91" dur="1" fill="hold">
                                          <p:stCondLst>
                                            <p:cond delay="0"/>
                                          </p:stCondLst>
                                        </p:cTn>
                                        <p:tgtEl>
                                          <p:spTgt spid="39"/>
                                        </p:tgtEl>
                                        <p:attrNameLst>
                                          <p:attrName>style.visibility</p:attrName>
                                        </p:attrNameLst>
                                      </p:cBhvr>
                                      <p:to>
                                        <p:strVal val="visible"/>
                                      </p:to>
                                    </p:set>
                                  </p:childTnLst>
                                </p:cTn>
                              </p:par>
                            </p:childTnLst>
                          </p:cTn>
                        </p:par>
                        <p:par>
                          <p:cTn id="92" fill="hold">
                            <p:stCondLst>
                              <p:cond delay="300"/>
                            </p:stCondLst>
                            <p:childTnLst>
                              <p:par>
                                <p:cTn id="93" presetID="1" presetClass="entr" presetSubtype="0" fill="hold" grpId="0" nodeType="afterEffect">
                                  <p:stCondLst>
                                    <p:cond delay="300"/>
                                  </p:stCondLst>
                                  <p:childTnLst>
                                    <p:set>
                                      <p:cBhvr>
                                        <p:cTn id="94" dur="1" fill="hold">
                                          <p:stCondLst>
                                            <p:cond delay="0"/>
                                          </p:stCondLst>
                                        </p:cTn>
                                        <p:tgtEl>
                                          <p:spTgt spid="43"/>
                                        </p:tgtEl>
                                        <p:attrNameLst>
                                          <p:attrName>style.visibility</p:attrName>
                                        </p:attrNameLst>
                                      </p:cBhvr>
                                      <p:to>
                                        <p:strVal val="visible"/>
                                      </p:to>
                                    </p:set>
                                  </p:childTnLst>
                                </p:cTn>
                              </p:par>
                            </p:childTnLst>
                          </p:cTn>
                        </p:par>
                        <p:par>
                          <p:cTn id="95" fill="hold">
                            <p:stCondLst>
                              <p:cond delay="600"/>
                            </p:stCondLst>
                            <p:childTnLst>
                              <p:par>
                                <p:cTn id="96" presetID="1" presetClass="entr" presetSubtype="0" fill="hold" grpId="0" nodeType="afterEffect">
                                  <p:stCondLst>
                                    <p:cond delay="300"/>
                                  </p:stCondLst>
                                  <p:childTnLst>
                                    <p:set>
                                      <p:cBhvr>
                                        <p:cTn id="97" dur="1" fill="hold">
                                          <p:stCondLst>
                                            <p:cond delay="0"/>
                                          </p:stCondLst>
                                        </p:cTn>
                                        <p:tgtEl>
                                          <p:spTgt spid="38"/>
                                        </p:tgtEl>
                                        <p:attrNameLst>
                                          <p:attrName>style.visibility</p:attrName>
                                        </p:attrNameLst>
                                      </p:cBhvr>
                                      <p:to>
                                        <p:strVal val="visible"/>
                                      </p:to>
                                    </p:set>
                                  </p:childTnLst>
                                </p:cTn>
                              </p:par>
                            </p:childTnLst>
                          </p:cTn>
                        </p:par>
                        <p:par>
                          <p:cTn id="98" fill="hold">
                            <p:stCondLst>
                              <p:cond delay="900"/>
                            </p:stCondLst>
                            <p:childTnLst>
                              <p:par>
                                <p:cTn id="99" presetID="1" presetClass="entr" presetSubtype="0" fill="hold" grpId="0" nodeType="afterEffect">
                                  <p:stCondLst>
                                    <p:cond delay="300"/>
                                  </p:stCondLst>
                                  <p:childTnLst>
                                    <p:set>
                                      <p:cBhvr>
                                        <p:cTn id="100" dur="1" fill="hold">
                                          <p:stCondLst>
                                            <p:cond delay="0"/>
                                          </p:stCondLst>
                                        </p:cTn>
                                        <p:tgtEl>
                                          <p:spTgt spid="41"/>
                                        </p:tgtEl>
                                        <p:attrNameLst>
                                          <p:attrName>style.visibility</p:attrName>
                                        </p:attrNameLst>
                                      </p:cBhvr>
                                      <p:to>
                                        <p:strVal val="visible"/>
                                      </p:to>
                                    </p:set>
                                  </p:childTnLst>
                                </p:cTn>
                              </p:par>
                            </p:childTnLst>
                          </p:cTn>
                        </p:par>
                        <p:par>
                          <p:cTn id="101" fill="hold">
                            <p:stCondLst>
                              <p:cond delay="1200"/>
                            </p:stCondLst>
                            <p:childTnLst>
                              <p:par>
                                <p:cTn id="102" presetID="1" presetClass="entr" presetSubtype="0" fill="hold" grpId="0" nodeType="afterEffect">
                                  <p:stCondLst>
                                    <p:cond delay="300"/>
                                  </p:stCondLst>
                                  <p:childTnLst>
                                    <p:set>
                                      <p:cBhvr>
                                        <p:cTn id="103" dur="1" fill="hold">
                                          <p:stCondLst>
                                            <p:cond delay="0"/>
                                          </p:stCondLst>
                                        </p:cTn>
                                        <p:tgtEl>
                                          <p:spTgt spid="42"/>
                                        </p:tgtEl>
                                        <p:attrNameLst>
                                          <p:attrName>style.visibility</p:attrName>
                                        </p:attrNameLst>
                                      </p:cBhvr>
                                      <p:to>
                                        <p:strVal val="visible"/>
                                      </p:to>
                                    </p:set>
                                  </p:childTnLst>
                                </p:cTn>
                              </p:par>
                            </p:childTnLst>
                          </p:cTn>
                        </p:par>
                        <p:par>
                          <p:cTn id="104" fill="hold">
                            <p:stCondLst>
                              <p:cond delay="1500"/>
                            </p:stCondLst>
                            <p:childTnLst>
                              <p:par>
                                <p:cTn id="105" presetID="1" presetClass="entr" presetSubtype="0" fill="hold" grpId="0" nodeType="afterEffect">
                                  <p:stCondLst>
                                    <p:cond delay="300"/>
                                  </p:stCondLst>
                                  <p:childTnLst>
                                    <p:set>
                                      <p:cBhvr>
                                        <p:cTn id="106"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P spid="18" grpId="0"/>
      <p:bldP spid="19" grpId="0"/>
      <p:bldP spid="20" grpId="0"/>
      <p:bldP spid="22" grpId="0"/>
      <p:bldP spid="24" grpId="0"/>
      <p:bldP spid="25" grpId="0"/>
      <p:bldP spid="32" grpId="0"/>
      <p:bldP spid="33" grpId="0"/>
      <p:bldP spid="34" grpId="0"/>
      <p:bldP spid="35" grpId="0"/>
      <p:bldP spid="37" grpId="0"/>
      <p:bldP spid="38" grpId="0"/>
      <p:bldP spid="39" grpId="0"/>
      <p:bldP spid="40" grpId="0"/>
      <p:bldP spid="41" grpId="0"/>
      <p:bldP spid="42" grpId="0"/>
      <p:bldP spid="43" grpId="0"/>
      <p:bldP spid="44" grpId="0"/>
      <p:bldP spid="45" grpId="0"/>
      <p:bldP spid="4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5D29B-BCD5-FB48-A043-B13BEC28632A}"/>
              </a:ext>
            </a:extLst>
          </p:cNvPr>
          <p:cNvSpPr>
            <a:spLocks noGrp="1"/>
          </p:cNvSpPr>
          <p:nvPr>
            <p:ph type="title"/>
          </p:nvPr>
        </p:nvSpPr>
        <p:spPr/>
        <p:txBody>
          <a:bodyPr/>
          <a:lstStyle/>
          <a:p>
            <a:r>
              <a:rPr lang="en-US" dirty="0"/>
              <a:t>A first attempt</a:t>
            </a:r>
          </a:p>
        </p:txBody>
      </p:sp>
      <p:sp>
        <p:nvSpPr>
          <p:cNvPr id="3" name="Content Placeholder 2">
            <a:extLst>
              <a:ext uri="{FF2B5EF4-FFF2-40B4-BE49-F238E27FC236}">
                <a16:creationId xmlns:a16="http://schemas.microsoft.com/office/drawing/2014/main" id="{25C37801-300E-D04B-9C27-A0F2E0CC8AEE}"/>
              </a:ext>
            </a:extLst>
          </p:cNvPr>
          <p:cNvSpPr>
            <a:spLocks noGrp="1"/>
          </p:cNvSpPr>
          <p:nvPr>
            <p:ph idx="1"/>
          </p:nvPr>
        </p:nvSpPr>
        <p:spPr/>
        <p:txBody>
          <a:bodyPr/>
          <a:lstStyle/>
          <a:p>
            <a:r>
              <a:rPr lang="en-US" dirty="0"/>
              <a:t>we might come up with some simple rules for these tokens:</a:t>
            </a:r>
          </a:p>
          <a:p>
            <a:pPr lvl="1"/>
            <a:r>
              <a:rPr lang="en-US" b="1" dirty="0"/>
              <a:t>identifiers </a:t>
            </a:r>
            <a:r>
              <a:rPr lang="en-US" dirty="0"/>
              <a:t>are a sequence of letters, underscores, and digits.</a:t>
            </a:r>
          </a:p>
          <a:p>
            <a:pPr lvl="2"/>
            <a:r>
              <a:rPr lang="en-US" dirty="0"/>
              <a:t>e.g. </a:t>
            </a:r>
            <a:r>
              <a:rPr lang="en-US" b="1" dirty="0">
                <a:latin typeface="Consolas" panose="020B0609020204030204" pitchFamily="49" charset="0"/>
                <a:cs typeface="Consolas" panose="020B0609020204030204" pitchFamily="49" charset="0"/>
              </a:rPr>
              <a:t>x</a:t>
            </a:r>
            <a:r>
              <a:rPr lang="en-US" dirty="0"/>
              <a:t>, </a:t>
            </a:r>
            <a:r>
              <a:rPr lang="en-US" b="1" dirty="0">
                <a:latin typeface="Consolas" panose="020B0609020204030204" pitchFamily="49" charset="0"/>
                <a:cs typeface="Consolas" panose="020B0609020204030204" pitchFamily="49" charset="0"/>
              </a:rPr>
              <a:t>x2</a:t>
            </a:r>
            <a:r>
              <a:rPr lang="en-US" dirty="0"/>
              <a:t>, </a:t>
            </a:r>
            <a:r>
              <a:rPr lang="en-US" b="1" dirty="0">
                <a:latin typeface="Consolas" panose="020B0609020204030204" pitchFamily="49" charset="0"/>
                <a:cs typeface="Consolas" panose="020B0609020204030204" pitchFamily="49" charset="0"/>
              </a:rPr>
              <a:t>_lift</a:t>
            </a:r>
            <a:r>
              <a:rPr lang="en-US" dirty="0"/>
              <a:t>, </a:t>
            </a:r>
            <a:r>
              <a:rPr lang="en-US" b="1" dirty="0">
                <a:latin typeface="Consolas" panose="020B0609020204030204" pitchFamily="49" charset="0"/>
                <a:cs typeface="Consolas" panose="020B0609020204030204" pitchFamily="49" charset="0"/>
              </a:rPr>
              <a:t>THIS_IS_A_TEST</a:t>
            </a:r>
            <a:r>
              <a:rPr lang="en-US" dirty="0"/>
              <a:t>, </a:t>
            </a:r>
            <a:r>
              <a:rPr lang="en-US" b="1" dirty="0">
                <a:latin typeface="Consolas" panose="020B0609020204030204" pitchFamily="49" charset="0"/>
                <a:cs typeface="Consolas" panose="020B0609020204030204" pitchFamily="49" charset="0"/>
              </a:rPr>
              <a:t>fort</a:t>
            </a:r>
            <a:r>
              <a:rPr lang="en-US" dirty="0"/>
              <a:t>, </a:t>
            </a:r>
            <a:r>
              <a:rPr lang="en-US" b="1" dirty="0" err="1">
                <a:latin typeface="Consolas" panose="020B0609020204030204" pitchFamily="49" charset="0"/>
                <a:cs typeface="Consolas" panose="020B0609020204030204" pitchFamily="49" charset="0"/>
              </a:rPr>
              <a:t>o_o</a:t>
            </a:r>
            <a:endParaRPr lang="en-US" b="1" dirty="0">
              <a:latin typeface="Consolas" panose="020B0609020204030204" pitchFamily="49" charset="0"/>
              <a:cs typeface="Consolas" panose="020B0609020204030204" pitchFamily="49" charset="0"/>
            </a:endParaRPr>
          </a:p>
          <a:p>
            <a:pPr lvl="1"/>
            <a:r>
              <a:rPr lang="en-US" b="1" dirty="0"/>
              <a:t>keywords</a:t>
            </a:r>
            <a:r>
              <a:rPr lang="en-US" dirty="0"/>
              <a:t> are a fixed subset of identifiers.</a:t>
            </a:r>
          </a:p>
          <a:p>
            <a:pPr lvl="2"/>
            <a:r>
              <a:rPr lang="en-US" dirty="0"/>
              <a:t>e.g. </a:t>
            </a:r>
            <a:r>
              <a:rPr lang="en-US" b="1" dirty="0">
                <a:solidFill>
                  <a:srgbClr val="FF0000"/>
                </a:solidFill>
                <a:latin typeface="Consolas" panose="020B0609020204030204" pitchFamily="49" charset="0"/>
                <a:cs typeface="Consolas" panose="020B0609020204030204" pitchFamily="49" charset="0"/>
              </a:rPr>
              <a:t>if</a:t>
            </a:r>
            <a:r>
              <a:rPr lang="en-US" dirty="0"/>
              <a:t>, </a:t>
            </a:r>
            <a:r>
              <a:rPr lang="en-US" b="1" dirty="0">
                <a:solidFill>
                  <a:srgbClr val="FF0000"/>
                </a:solidFill>
                <a:latin typeface="Consolas" panose="020B0609020204030204" pitchFamily="49" charset="0"/>
                <a:cs typeface="Consolas" panose="020B0609020204030204" pitchFamily="49" charset="0"/>
              </a:rPr>
              <a:t>else</a:t>
            </a:r>
            <a:r>
              <a:rPr lang="en-US" dirty="0"/>
              <a:t>, </a:t>
            </a:r>
            <a:r>
              <a:rPr lang="en-US" b="1" dirty="0">
                <a:solidFill>
                  <a:srgbClr val="FF0000"/>
                </a:solidFill>
                <a:latin typeface="Consolas" panose="020B0609020204030204" pitchFamily="49" charset="0"/>
                <a:cs typeface="Consolas" panose="020B0609020204030204" pitchFamily="49" charset="0"/>
              </a:rPr>
              <a:t>int</a:t>
            </a:r>
            <a:r>
              <a:rPr lang="en-US" dirty="0"/>
              <a:t>, </a:t>
            </a:r>
            <a:r>
              <a:rPr lang="en-US" b="1" dirty="0">
                <a:solidFill>
                  <a:srgbClr val="FF0000"/>
                </a:solidFill>
                <a:latin typeface="Consolas" panose="020B0609020204030204" pitchFamily="49" charset="0"/>
                <a:cs typeface="Consolas" panose="020B0609020204030204" pitchFamily="49" charset="0"/>
              </a:rPr>
              <a:t>private</a:t>
            </a:r>
            <a:r>
              <a:rPr lang="en-US" dirty="0"/>
              <a:t>, </a:t>
            </a:r>
            <a:r>
              <a:rPr lang="en-US" b="1" dirty="0">
                <a:solidFill>
                  <a:srgbClr val="FF0000"/>
                </a:solidFill>
                <a:latin typeface="Consolas" panose="020B0609020204030204" pitchFamily="49" charset="0"/>
                <a:cs typeface="Consolas" panose="020B0609020204030204" pitchFamily="49" charset="0"/>
              </a:rPr>
              <a:t>for</a:t>
            </a:r>
          </a:p>
          <a:p>
            <a:pPr lvl="1"/>
            <a:r>
              <a:rPr lang="en-US" b="1" dirty="0"/>
              <a:t>symbols </a:t>
            </a:r>
            <a:r>
              <a:rPr lang="en-US" dirty="0"/>
              <a:t>are a fixed set of sequences of symbol characters.</a:t>
            </a:r>
          </a:p>
          <a:p>
            <a:pPr lvl="2"/>
            <a:r>
              <a:rPr lang="en-US" dirty="0"/>
              <a:t>e.g. </a:t>
            </a:r>
            <a:r>
              <a:rPr lang="en-US" b="1" dirty="0">
                <a:latin typeface="Consolas" panose="020B0609020204030204" pitchFamily="49" charset="0"/>
                <a:cs typeface="Consolas" panose="020B0609020204030204" pitchFamily="49" charset="0"/>
              </a:rPr>
              <a:t>+</a:t>
            </a:r>
            <a:r>
              <a:rPr lang="en-US" dirty="0"/>
              <a:t>, </a:t>
            </a:r>
            <a:r>
              <a:rPr lang="en-US" b="1" dirty="0">
                <a:latin typeface="Consolas" panose="020B0609020204030204" pitchFamily="49" charset="0"/>
                <a:cs typeface="Consolas" panose="020B0609020204030204" pitchFamily="49" charset="0"/>
              </a:rPr>
              <a:t>+=</a:t>
            </a:r>
            <a:r>
              <a:rPr lang="en-US" dirty="0"/>
              <a:t>, </a:t>
            </a:r>
            <a:r>
              <a:rPr lang="en-US" b="1" dirty="0">
                <a:latin typeface="Consolas" panose="020B0609020204030204" pitchFamily="49" charset="0"/>
                <a:cs typeface="Consolas" panose="020B0609020204030204" pitchFamily="49" charset="0"/>
              </a:rPr>
              <a:t>=</a:t>
            </a:r>
            <a:r>
              <a:rPr lang="en-US" dirty="0"/>
              <a:t>, </a:t>
            </a:r>
            <a:r>
              <a:rPr lang="en-US" b="1" dirty="0">
                <a:latin typeface="Consolas" panose="020B0609020204030204" pitchFamily="49" charset="0"/>
                <a:cs typeface="Consolas" panose="020B0609020204030204" pitchFamily="49" charset="0"/>
              </a:rPr>
              <a:t>==</a:t>
            </a:r>
            <a:r>
              <a:rPr lang="en-US" dirty="0"/>
              <a:t>, </a:t>
            </a:r>
            <a:r>
              <a:rPr lang="en-US" b="1" dirty="0">
                <a:latin typeface="Consolas" panose="020B0609020204030204" pitchFamily="49" charset="0"/>
                <a:cs typeface="Consolas" panose="020B0609020204030204" pitchFamily="49" charset="0"/>
              </a:rPr>
              <a:t>&amp;</a:t>
            </a:r>
            <a:r>
              <a:rPr lang="en-US" dirty="0"/>
              <a:t>, </a:t>
            </a:r>
            <a:r>
              <a:rPr lang="en-US" b="1" dirty="0">
                <a:latin typeface="Consolas" panose="020B0609020204030204" pitchFamily="49" charset="0"/>
                <a:cs typeface="Consolas" panose="020B0609020204030204" pitchFamily="49" charset="0"/>
              </a:rPr>
              <a:t>&amp;=</a:t>
            </a:r>
            <a:r>
              <a:rPr lang="en-US" dirty="0"/>
              <a:t>, </a:t>
            </a:r>
            <a:r>
              <a:rPr lang="en-US" b="1" dirty="0">
                <a:latin typeface="Consolas" panose="020B0609020204030204" pitchFamily="49" charset="0"/>
                <a:cs typeface="Consolas" panose="020B0609020204030204" pitchFamily="49" charset="0"/>
              </a:rPr>
              <a:t>&amp;&amp;</a:t>
            </a:r>
          </a:p>
          <a:p>
            <a:r>
              <a:rPr lang="en-US" dirty="0"/>
              <a:t>but then we get to the literals, and it gets harder.</a:t>
            </a:r>
          </a:p>
          <a:p>
            <a:pPr lvl="1"/>
            <a:r>
              <a:rPr lang="en-US" dirty="0"/>
              <a:t>here are some floats: </a:t>
            </a:r>
            <a:r>
              <a:rPr lang="en-US" b="1" dirty="0">
                <a:solidFill>
                  <a:schemeClr val="accent3">
                    <a:lumMod val="75000"/>
                  </a:schemeClr>
                </a:solidFill>
                <a:latin typeface="Consolas" panose="020B0609020204030204" pitchFamily="49" charset="0"/>
                <a:cs typeface="Consolas" panose="020B0609020204030204" pitchFamily="49" charset="0"/>
              </a:rPr>
              <a:t>1.2</a:t>
            </a:r>
            <a:r>
              <a:rPr lang="en-US" dirty="0"/>
              <a:t>, </a:t>
            </a:r>
            <a:r>
              <a:rPr lang="en-US" b="1" dirty="0">
                <a:solidFill>
                  <a:schemeClr val="accent3">
                    <a:lumMod val="75000"/>
                  </a:schemeClr>
                </a:solidFill>
                <a:latin typeface="Consolas" panose="020B0609020204030204" pitchFamily="49" charset="0"/>
                <a:cs typeface="Consolas" panose="020B0609020204030204" pitchFamily="49" charset="0"/>
              </a:rPr>
              <a:t>10e9</a:t>
            </a:r>
            <a:r>
              <a:rPr lang="en-US" dirty="0"/>
              <a:t>, </a:t>
            </a:r>
            <a:r>
              <a:rPr lang="en-US" b="1" dirty="0">
                <a:solidFill>
                  <a:schemeClr val="accent3">
                    <a:lumMod val="75000"/>
                  </a:schemeClr>
                </a:solidFill>
                <a:latin typeface="Consolas" panose="020B0609020204030204" pitchFamily="49" charset="0"/>
                <a:cs typeface="Consolas" panose="020B0609020204030204" pitchFamily="49" charset="0"/>
              </a:rPr>
              <a:t>6.28E+23</a:t>
            </a:r>
            <a:r>
              <a:rPr lang="en-US" dirty="0"/>
              <a:t>, </a:t>
            </a:r>
            <a:r>
              <a:rPr lang="en-US" b="1" dirty="0">
                <a:solidFill>
                  <a:schemeClr val="accent3">
                    <a:lumMod val="75000"/>
                  </a:schemeClr>
                </a:solidFill>
                <a:latin typeface="Consolas" panose="020B0609020204030204" pitchFamily="49" charset="0"/>
                <a:cs typeface="Consolas" panose="020B0609020204030204" pitchFamily="49" charset="0"/>
              </a:rPr>
              <a:t>4.</a:t>
            </a:r>
            <a:r>
              <a:rPr lang="en-US" dirty="0"/>
              <a:t>, </a:t>
            </a:r>
            <a:r>
              <a:rPr lang="en-US" b="1" dirty="0">
                <a:solidFill>
                  <a:schemeClr val="accent3">
                    <a:lumMod val="75000"/>
                  </a:schemeClr>
                </a:solidFill>
                <a:latin typeface="Consolas" panose="020B0609020204030204" pitchFamily="49" charset="0"/>
                <a:cs typeface="Consolas" panose="020B0609020204030204" pitchFamily="49" charset="0"/>
              </a:rPr>
              <a:t>5f</a:t>
            </a:r>
          </a:p>
          <a:p>
            <a:pPr lvl="1"/>
            <a:r>
              <a:rPr lang="en-US" dirty="0"/>
              <a:t>do you think you could come up with a concise rule for that?</a:t>
            </a:r>
          </a:p>
          <a:p>
            <a:pPr lvl="1"/>
            <a:r>
              <a:rPr lang="en-US" dirty="0"/>
              <a:t>and then strings… </a:t>
            </a:r>
            <a:r>
              <a:rPr lang="en-US" b="1" dirty="0">
                <a:solidFill>
                  <a:schemeClr val="accent6">
                    <a:lumMod val="75000"/>
                  </a:schemeClr>
                </a:solidFill>
                <a:latin typeface="Consolas" panose="020B0609020204030204" pitchFamily="49" charset="0"/>
                <a:cs typeface="Consolas" panose="020B0609020204030204" pitchFamily="49" charset="0"/>
              </a:rPr>
              <a:t>"hello\</a:t>
            </a:r>
            <a:r>
              <a:rPr lang="en-US" b="1" dirty="0" err="1">
                <a:solidFill>
                  <a:schemeClr val="accent6">
                    <a:lumMod val="75000"/>
                  </a:schemeClr>
                </a:solidFill>
                <a:latin typeface="Consolas" panose="020B0609020204030204" pitchFamily="49" charset="0"/>
                <a:cs typeface="Consolas" panose="020B0609020204030204" pitchFamily="49" charset="0"/>
              </a:rPr>
              <a:t>nworld</a:t>
            </a:r>
            <a:r>
              <a:rPr lang="en-US" b="1" dirty="0">
                <a:solidFill>
                  <a:schemeClr val="accent6">
                    <a:lumMod val="75000"/>
                  </a:schemeClr>
                </a:solidFill>
                <a:latin typeface="Consolas" panose="020B0609020204030204" pitchFamily="49" charset="0"/>
                <a:cs typeface="Consolas" panose="020B0609020204030204" pitchFamily="49" charset="0"/>
              </a:rPr>
              <a:t>"</a:t>
            </a:r>
          </a:p>
          <a:p>
            <a:r>
              <a:rPr lang="en-US" dirty="0"/>
              <a:t>oh, but it gets worse!</a:t>
            </a:r>
          </a:p>
        </p:txBody>
      </p:sp>
      <p:sp>
        <p:nvSpPr>
          <p:cNvPr id="4" name="Slide Number Placeholder 3">
            <a:extLst>
              <a:ext uri="{FF2B5EF4-FFF2-40B4-BE49-F238E27FC236}">
                <a16:creationId xmlns:a16="http://schemas.microsoft.com/office/drawing/2014/main" id="{E91A8411-F6A9-E74E-B5C9-645516800010}"/>
              </a:ext>
            </a:extLst>
          </p:cNvPr>
          <p:cNvSpPr>
            <a:spLocks noGrp="1"/>
          </p:cNvSpPr>
          <p:nvPr>
            <p:ph type="sldNum" sz="quarter" idx="12"/>
          </p:nvPr>
        </p:nvSpPr>
        <p:spPr/>
        <p:txBody>
          <a:bodyPr/>
          <a:lstStyle/>
          <a:p>
            <a:fld id="{3552B95B-556F-44BD-91A5-D80C1B9E2BB3}" type="slidenum">
              <a:rPr lang="en-US" smtClean="0"/>
              <a:pPr/>
              <a:t>11</a:t>
            </a:fld>
            <a:endParaRPr lang="en-US"/>
          </a:p>
        </p:txBody>
      </p:sp>
    </p:spTree>
    <p:extLst>
      <p:ext uri="{BB962C8B-B14F-4D97-AF65-F5344CB8AC3E}">
        <p14:creationId xmlns:p14="http://schemas.microsoft.com/office/powerpoint/2010/main" val="120868893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171AA-9934-8B44-9C65-FEB75449F986}"/>
              </a:ext>
            </a:extLst>
          </p:cNvPr>
          <p:cNvSpPr>
            <a:spLocks noGrp="1"/>
          </p:cNvSpPr>
          <p:nvPr>
            <p:ph type="title"/>
          </p:nvPr>
        </p:nvSpPr>
        <p:spPr/>
        <p:txBody>
          <a:bodyPr/>
          <a:lstStyle/>
          <a:p>
            <a:r>
              <a:rPr lang="en-US" dirty="0"/>
              <a:t>We keep running into each other</a:t>
            </a:r>
          </a:p>
        </p:txBody>
      </p:sp>
      <p:sp>
        <p:nvSpPr>
          <p:cNvPr id="3" name="Content Placeholder 2">
            <a:extLst>
              <a:ext uri="{FF2B5EF4-FFF2-40B4-BE49-F238E27FC236}">
                <a16:creationId xmlns:a16="http://schemas.microsoft.com/office/drawing/2014/main" id="{7DE1CA9B-C412-F344-B1BB-3D9BAB8620FE}"/>
              </a:ext>
            </a:extLst>
          </p:cNvPr>
          <p:cNvSpPr>
            <a:spLocks noGrp="1"/>
          </p:cNvSpPr>
          <p:nvPr>
            <p:ph idx="1"/>
          </p:nvPr>
        </p:nvSpPr>
        <p:spPr>
          <a:xfrm>
            <a:off x="152400" y="495302"/>
            <a:ext cx="8991600" cy="495300"/>
          </a:xfrm>
        </p:spPr>
        <p:txBody>
          <a:bodyPr>
            <a:normAutofit/>
          </a:bodyPr>
          <a:lstStyle/>
          <a:p>
            <a:r>
              <a:rPr lang="en-US" dirty="0"/>
              <a:t>let's look at some awkward situations!</a:t>
            </a:r>
            <a:endParaRPr lang="en-US" b="1" dirty="0"/>
          </a:p>
        </p:txBody>
      </p:sp>
      <p:sp>
        <p:nvSpPr>
          <p:cNvPr id="4" name="Slide Number Placeholder 3">
            <a:extLst>
              <a:ext uri="{FF2B5EF4-FFF2-40B4-BE49-F238E27FC236}">
                <a16:creationId xmlns:a16="http://schemas.microsoft.com/office/drawing/2014/main" id="{900B463E-587F-5E45-8FF1-33BA1F42D131}"/>
              </a:ext>
            </a:extLst>
          </p:cNvPr>
          <p:cNvSpPr>
            <a:spLocks noGrp="1"/>
          </p:cNvSpPr>
          <p:nvPr>
            <p:ph type="sldNum" sz="quarter" idx="12"/>
          </p:nvPr>
        </p:nvSpPr>
        <p:spPr/>
        <p:txBody>
          <a:bodyPr/>
          <a:lstStyle/>
          <a:p>
            <a:fld id="{3552B95B-556F-44BD-91A5-D80C1B9E2BB3}" type="slidenum">
              <a:rPr lang="en-US" smtClean="0"/>
              <a:pPr/>
              <a:t>12</a:t>
            </a:fld>
            <a:endParaRPr lang="en-US"/>
          </a:p>
        </p:txBody>
      </p:sp>
      <p:sp>
        <p:nvSpPr>
          <p:cNvPr id="12" name="TextBox 11">
            <a:extLst>
              <a:ext uri="{FF2B5EF4-FFF2-40B4-BE49-F238E27FC236}">
                <a16:creationId xmlns:a16="http://schemas.microsoft.com/office/drawing/2014/main" id="{BF9AA9F8-B5DB-AF4C-8FED-43F4825FD487}"/>
              </a:ext>
            </a:extLst>
          </p:cNvPr>
          <p:cNvSpPr txBox="1"/>
          <p:nvPr/>
        </p:nvSpPr>
        <p:spPr>
          <a:xfrm>
            <a:off x="617621" y="886480"/>
            <a:ext cx="1820779"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abc123</a:t>
            </a:r>
          </a:p>
        </p:txBody>
      </p:sp>
      <p:sp>
        <p:nvSpPr>
          <p:cNvPr id="13" name="TextBox 12">
            <a:extLst>
              <a:ext uri="{FF2B5EF4-FFF2-40B4-BE49-F238E27FC236}">
                <a16:creationId xmlns:a16="http://schemas.microsoft.com/office/drawing/2014/main" id="{3D28A408-CE43-0649-BC43-44E5DC75380E}"/>
              </a:ext>
            </a:extLst>
          </p:cNvPr>
          <p:cNvSpPr txBox="1"/>
          <p:nvPr/>
        </p:nvSpPr>
        <p:spPr>
          <a:xfrm>
            <a:off x="617621" y="1343680"/>
            <a:ext cx="1820779"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123abc</a:t>
            </a:r>
          </a:p>
        </p:txBody>
      </p:sp>
      <p:sp>
        <p:nvSpPr>
          <p:cNvPr id="20" name="TextBox 19">
            <a:extLst>
              <a:ext uri="{FF2B5EF4-FFF2-40B4-BE49-F238E27FC236}">
                <a16:creationId xmlns:a16="http://schemas.microsoft.com/office/drawing/2014/main" id="{144AD41F-FCE2-6B49-8907-BF086820C0EF}"/>
              </a:ext>
            </a:extLst>
          </p:cNvPr>
          <p:cNvSpPr txBox="1"/>
          <p:nvPr/>
        </p:nvSpPr>
        <p:spPr>
          <a:xfrm>
            <a:off x="3672965" y="924106"/>
            <a:ext cx="1280036"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abc123</a:t>
            </a:r>
          </a:p>
        </p:txBody>
      </p:sp>
      <p:sp>
        <p:nvSpPr>
          <p:cNvPr id="21" name="Right Arrow 20">
            <a:extLst>
              <a:ext uri="{FF2B5EF4-FFF2-40B4-BE49-F238E27FC236}">
                <a16:creationId xmlns:a16="http://schemas.microsoft.com/office/drawing/2014/main" id="{47447F83-C27A-1146-83D3-7B8D77D598F0}"/>
              </a:ext>
            </a:extLst>
          </p:cNvPr>
          <p:cNvSpPr/>
          <p:nvPr/>
        </p:nvSpPr>
        <p:spPr>
          <a:xfrm>
            <a:off x="2676750" y="1031438"/>
            <a:ext cx="746635"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607398D-463D-FB4E-ADD8-17355CC49938}"/>
              </a:ext>
            </a:extLst>
          </p:cNvPr>
          <p:cNvSpPr txBox="1"/>
          <p:nvPr/>
        </p:nvSpPr>
        <p:spPr>
          <a:xfrm>
            <a:off x="3667350" y="1376807"/>
            <a:ext cx="1590450"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123abc</a:t>
            </a:r>
            <a:r>
              <a:rPr lang="en-US" sz="2200" dirty="0"/>
              <a:t>?</a:t>
            </a:r>
            <a:endParaRPr lang="en-US" sz="2200" b="1" dirty="0">
              <a:latin typeface="Consolas" panose="020B0609020204030204" pitchFamily="49" charset="0"/>
              <a:cs typeface="Consolas" panose="020B0609020204030204" pitchFamily="49" charset="0"/>
            </a:endParaRPr>
          </a:p>
        </p:txBody>
      </p:sp>
      <p:sp>
        <p:nvSpPr>
          <p:cNvPr id="25" name="Right Arrow 24">
            <a:extLst>
              <a:ext uri="{FF2B5EF4-FFF2-40B4-BE49-F238E27FC236}">
                <a16:creationId xmlns:a16="http://schemas.microsoft.com/office/drawing/2014/main" id="{5B0E1EA0-423D-3648-B7D9-EC63746AA025}"/>
              </a:ext>
            </a:extLst>
          </p:cNvPr>
          <p:cNvSpPr/>
          <p:nvPr/>
        </p:nvSpPr>
        <p:spPr>
          <a:xfrm>
            <a:off x="2671135" y="1484139"/>
            <a:ext cx="746635"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A75B112A-817F-2D4D-88BD-EB7E85B9D995}"/>
              </a:ext>
            </a:extLst>
          </p:cNvPr>
          <p:cNvGrpSpPr/>
          <p:nvPr/>
        </p:nvGrpSpPr>
        <p:grpSpPr>
          <a:xfrm>
            <a:off x="4956207" y="1376807"/>
            <a:ext cx="2553340" cy="461665"/>
            <a:chOff x="4956207" y="3627301"/>
            <a:chExt cx="2553340" cy="461665"/>
          </a:xfrm>
        </p:grpSpPr>
        <p:sp>
          <p:nvSpPr>
            <p:cNvPr id="26" name="TextBox 25">
              <a:extLst>
                <a:ext uri="{FF2B5EF4-FFF2-40B4-BE49-F238E27FC236}">
                  <a16:creationId xmlns:a16="http://schemas.microsoft.com/office/drawing/2014/main" id="{50D6689D-08A0-4F4B-98EA-FACAA4710AA2}"/>
                </a:ext>
              </a:extLst>
            </p:cNvPr>
            <p:cNvSpPr txBox="1"/>
            <p:nvPr/>
          </p:nvSpPr>
          <p:spPr>
            <a:xfrm>
              <a:off x="5541932" y="3627301"/>
              <a:ext cx="1967615"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123</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err="1">
                  <a:solidFill>
                    <a:schemeClr val="accent6">
                      <a:lumMod val="75000"/>
                    </a:schemeClr>
                  </a:solidFill>
                  <a:latin typeface="Consolas" panose="020B0609020204030204" pitchFamily="49" charset="0"/>
                  <a:cs typeface="Consolas" panose="020B0609020204030204" pitchFamily="49" charset="0"/>
                </a:rPr>
                <a:t>abc</a:t>
              </a:r>
              <a:r>
                <a:rPr lang="en-US" sz="2400" dirty="0"/>
                <a:t>?</a:t>
              </a:r>
              <a:endParaRPr lang="en-US" sz="2400" b="1" dirty="0">
                <a:solidFill>
                  <a:schemeClr val="accent6">
                    <a:lumMod val="75000"/>
                  </a:schemeClr>
                </a:solidFill>
                <a:latin typeface="Consolas" panose="020B0609020204030204" pitchFamily="49" charset="0"/>
                <a:cs typeface="Consolas" panose="020B0609020204030204" pitchFamily="49" charset="0"/>
              </a:endParaRPr>
            </a:p>
          </p:txBody>
        </p:sp>
        <p:sp>
          <p:nvSpPr>
            <p:cNvPr id="27" name="TextBox 26">
              <a:extLst>
                <a:ext uri="{FF2B5EF4-FFF2-40B4-BE49-F238E27FC236}">
                  <a16:creationId xmlns:a16="http://schemas.microsoft.com/office/drawing/2014/main" id="{2F210AC8-5361-754D-94A4-6081C486665B}"/>
                </a:ext>
              </a:extLst>
            </p:cNvPr>
            <p:cNvSpPr txBox="1"/>
            <p:nvPr/>
          </p:nvSpPr>
          <p:spPr>
            <a:xfrm flipH="1">
              <a:off x="4956207" y="3639295"/>
              <a:ext cx="609600" cy="430887"/>
            </a:xfrm>
            <a:prstGeom prst="rect">
              <a:avLst/>
            </a:prstGeom>
            <a:noFill/>
          </p:spPr>
          <p:txBody>
            <a:bodyPr wrap="square" rtlCol="0">
              <a:spAutoFit/>
            </a:bodyPr>
            <a:lstStyle/>
            <a:p>
              <a:pPr algn="ctr"/>
              <a:r>
                <a:rPr lang="en-US" sz="2200" i="1" dirty="0"/>
                <a:t>or</a:t>
              </a:r>
              <a:endParaRPr lang="en-US" sz="2200" b="1" i="1" dirty="0"/>
            </a:p>
          </p:txBody>
        </p:sp>
      </p:grpSp>
      <p:sp>
        <p:nvSpPr>
          <p:cNvPr id="32" name="TextBox 31">
            <a:extLst>
              <a:ext uri="{FF2B5EF4-FFF2-40B4-BE49-F238E27FC236}">
                <a16:creationId xmlns:a16="http://schemas.microsoft.com/office/drawing/2014/main" id="{B9B69CAF-1B25-A84B-9AAD-CBD192C7E86B}"/>
              </a:ext>
            </a:extLst>
          </p:cNvPr>
          <p:cNvSpPr txBox="1"/>
          <p:nvPr/>
        </p:nvSpPr>
        <p:spPr>
          <a:xfrm flipH="1">
            <a:off x="7159114" y="1363075"/>
            <a:ext cx="1280036" cy="430887"/>
          </a:xfrm>
          <a:prstGeom prst="rect">
            <a:avLst/>
          </a:prstGeom>
          <a:noFill/>
        </p:spPr>
        <p:txBody>
          <a:bodyPr wrap="square" rtlCol="0">
            <a:spAutoFit/>
          </a:bodyPr>
          <a:lstStyle/>
          <a:p>
            <a:pPr algn="ctr"/>
            <a:r>
              <a:rPr lang="en-US" sz="2200" i="1" dirty="0"/>
              <a:t>or </a:t>
            </a:r>
            <a:r>
              <a:rPr lang="en-US" sz="2200" b="1" i="1" dirty="0">
                <a:solidFill>
                  <a:srgbClr val="FF0000"/>
                </a:solidFill>
              </a:rPr>
              <a:t>error?</a:t>
            </a:r>
          </a:p>
        </p:txBody>
      </p:sp>
      <p:sp>
        <p:nvSpPr>
          <p:cNvPr id="49" name="TextBox 48">
            <a:extLst>
              <a:ext uri="{FF2B5EF4-FFF2-40B4-BE49-F238E27FC236}">
                <a16:creationId xmlns:a16="http://schemas.microsoft.com/office/drawing/2014/main" id="{128262B6-4797-4640-A600-9155801544F5}"/>
              </a:ext>
            </a:extLst>
          </p:cNvPr>
          <p:cNvSpPr txBox="1"/>
          <p:nvPr/>
        </p:nvSpPr>
        <p:spPr>
          <a:xfrm>
            <a:off x="617621" y="1802793"/>
            <a:ext cx="1820779" cy="523220"/>
          </a:xfrm>
          <a:prstGeom prst="rect">
            <a:avLst/>
          </a:prstGeom>
          <a:noFill/>
        </p:spPr>
        <p:txBody>
          <a:bodyPr wrap="square" rtlCol="0">
            <a:spAutoFit/>
          </a:bodyPr>
          <a:lstStyle/>
          <a:p>
            <a:r>
              <a:rPr lang="en-US" sz="2800" b="1" dirty="0" err="1">
                <a:latin typeface="Consolas" panose="020B0609020204030204" pitchFamily="49" charset="0"/>
                <a:cs typeface="Consolas" panose="020B0609020204030204" pitchFamily="49" charset="0"/>
              </a:rPr>
              <a:t>x.y</a:t>
            </a:r>
            <a:endParaRPr lang="en-US" sz="2800" b="1" dirty="0">
              <a:latin typeface="Consolas" panose="020B0609020204030204" pitchFamily="49" charset="0"/>
              <a:cs typeface="Consolas" panose="020B0609020204030204" pitchFamily="49" charset="0"/>
            </a:endParaRPr>
          </a:p>
        </p:txBody>
      </p:sp>
      <p:sp>
        <p:nvSpPr>
          <p:cNvPr id="50" name="TextBox 49">
            <a:extLst>
              <a:ext uri="{FF2B5EF4-FFF2-40B4-BE49-F238E27FC236}">
                <a16:creationId xmlns:a16="http://schemas.microsoft.com/office/drawing/2014/main" id="{A44C1391-051F-CF45-88AF-F6B9599B7619}"/>
              </a:ext>
            </a:extLst>
          </p:cNvPr>
          <p:cNvSpPr txBox="1"/>
          <p:nvPr/>
        </p:nvSpPr>
        <p:spPr>
          <a:xfrm>
            <a:off x="3667349" y="1835920"/>
            <a:ext cx="1691451"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x</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y</a:t>
            </a:r>
          </a:p>
        </p:txBody>
      </p:sp>
      <p:sp>
        <p:nvSpPr>
          <p:cNvPr id="51" name="Right Arrow 50">
            <a:extLst>
              <a:ext uri="{FF2B5EF4-FFF2-40B4-BE49-F238E27FC236}">
                <a16:creationId xmlns:a16="http://schemas.microsoft.com/office/drawing/2014/main" id="{7A641319-ACF3-A44B-876E-0ECB00A7D636}"/>
              </a:ext>
            </a:extLst>
          </p:cNvPr>
          <p:cNvSpPr/>
          <p:nvPr/>
        </p:nvSpPr>
        <p:spPr>
          <a:xfrm>
            <a:off x="2671135" y="1943252"/>
            <a:ext cx="746635"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A18EEC4E-6655-5D48-9028-B555F0A987A6}"/>
              </a:ext>
            </a:extLst>
          </p:cNvPr>
          <p:cNvSpPr txBox="1"/>
          <p:nvPr/>
        </p:nvSpPr>
        <p:spPr>
          <a:xfrm>
            <a:off x="611471" y="2231037"/>
            <a:ext cx="1820779"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4.y</a:t>
            </a:r>
          </a:p>
        </p:txBody>
      </p:sp>
      <p:sp>
        <p:nvSpPr>
          <p:cNvPr id="53" name="TextBox 52">
            <a:extLst>
              <a:ext uri="{FF2B5EF4-FFF2-40B4-BE49-F238E27FC236}">
                <a16:creationId xmlns:a16="http://schemas.microsoft.com/office/drawing/2014/main" id="{5AF046F7-F6AD-E141-AF2F-EC6EE455FE6C}"/>
              </a:ext>
            </a:extLst>
          </p:cNvPr>
          <p:cNvSpPr txBox="1"/>
          <p:nvPr/>
        </p:nvSpPr>
        <p:spPr>
          <a:xfrm>
            <a:off x="3661199" y="2264164"/>
            <a:ext cx="1691451"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4</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y</a:t>
            </a:r>
          </a:p>
        </p:txBody>
      </p:sp>
      <p:sp>
        <p:nvSpPr>
          <p:cNvPr id="54" name="Right Arrow 53">
            <a:extLst>
              <a:ext uri="{FF2B5EF4-FFF2-40B4-BE49-F238E27FC236}">
                <a16:creationId xmlns:a16="http://schemas.microsoft.com/office/drawing/2014/main" id="{9B62BF71-9712-934E-A87A-0AF8A48184DA}"/>
              </a:ext>
            </a:extLst>
          </p:cNvPr>
          <p:cNvSpPr/>
          <p:nvPr/>
        </p:nvSpPr>
        <p:spPr>
          <a:xfrm>
            <a:off x="2664985" y="2371496"/>
            <a:ext cx="746635"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B92926BC-4804-E949-A61C-2F8332EDB1C7}"/>
              </a:ext>
            </a:extLst>
          </p:cNvPr>
          <p:cNvGrpSpPr/>
          <p:nvPr/>
        </p:nvGrpSpPr>
        <p:grpSpPr>
          <a:xfrm>
            <a:off x="4947386" y="2261612"/>
            <a:ext cx="2277178" cy="461665"/>
            <a:chOff x="4956207" y="3627301"/>
            <a:chExt cx="2277178" cy="461665"/>
          </a:xfrm>
        </p:grpSpPr>
        <p:sp>
          <p:nvSpPr>
            <p:cNvPr id="56" name="TextBox 55">
              <a:extLst>
                <a:ext uri="{FF2B5EF4-FFF2-40B4-BE49-F238E27FC236}">
                  <a16:creationId xmlns:a16="http://schemas.microsoft.com/office/drawing/2014/main" id="{36D64219-F843-E045-9718-68585D2655EC}"/>
                </a:ext>
              </a:extLst>
            </p:cNvPr>
            <p:cNvSpPr txBox="1"/>
            <p:nvPr/>
          </p:nvSpPr>
          <p:spPr>
            <a:xfrm>
              <a:off x="5541933" y="3627301"/>
              <a:ext cx="1691452"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4.</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y</a:t>
              </a:r>
            </a:p>
          </p:txBody>
        </p:sp>
        <p:sp>
          <p:nvSpPr>
            <p:cNvPr id="57" name="TextBox 56">
              <a:extLst>
                <a:ext uri="{FF2B5EF4-FFF2-40B4-BE49-F238E27FC236}">
                  <a16:creationId xmlns:a16="http://schemas.microsoft.com/office/drawing/2014/main" id="{4FCD6701-0BF5-A745-B7BC-FA49272DFDE2}"/>
                </a:ext>
              </a:extLst>
            </p:cNvPr>
            <p:cNvSpPr txBox="1"/>
            <p:nvPr/>
          </p:nvSpPr>
          <p:spPr>
            <a:xfrm flipH="1">
              <a:off x="4956207" y="3639295"/>
              <a:ext cx="609600" cy="430887"/>
            </a:xfrm>
            <a:prstGeom prst="rect">
              <a:avLst/>
            </a:prstGeom>
            <a:noFill/>
          </p:spPr>
          <p:txBody>
            <a:bodyPr wrap="square" rtlCol="0">
              <a:spAutoFit/>
            </a:bodyPr>
            <a:lstStyle/>
            <a:p>
              <a:pPr algn="ctr"/>
              <a:r>
                <a:rPr lang="en-US" sz="2200" i="1" dirty="0"/>
                <a:t>or</a:t>
              </a:r>
              <a:endParaRPr lang="en-US" sz="2200" b="1" i="1" dirty="0"/>
            </a:p>
          </p:txBody>
        </p:sp>
        <p:sp>
          <p:nvSpPr>
            <p:cNvPr id="58" name="TextBox 57">
              <a:extLst>
                <a:ext uri="{FF2B5EF4-FFF2-40B4-BE49-F238E27FC236}">
                  <a16:creationId xmlns:a16="http://schemas.microsoft.com/office/drawing/2014/main" id="{323108DB-58FE-F94E-A45E-3153503F411A}"/>
                </a:ext>
              </a:extLst>
            </p:cNvPr>
            <p:cNvSpPr txBox="1"/>
            <p:nvPr/>
          </p:nvSpPr>
          <p:spPr>
            <a:xfrm flipH="1">
              <a:off x="6465736" y="3639295"/>
              <a:ext cx="609600" cy="430887"/>
            </a:xfrm>
            <a:prstGeom prst="rect">
              <a:avLst/>
            </a:prstGeom>
            <a:noFill/>
          </p:spPr>
          <p:txBody>
            <a:bodyPr wrap="square" rtlCol="0">
              <a:spAutoFit/>
            </a:bodyPr>
            <a:lstStyle/>
            <a:p>
              <a:pPr algn="ctr"/>
              <a:r>
                <a:rPr lang="en-US" sz="2200" i="1" dirty="0"/>
                <a:t>?</a:t>
              </a:r>
              <a:endParaRPr lang="en-US" sz="2200" b="1" i="1" dirty="0"/>
            </a:p>
          </p:txBody>
        </p:sp>
      </p:grpSp>
      <p:sp>
        <p:nvSpPr>
          <p:cNvPr id="59" name="TextBox 58">
            <a:extLst>
              <a:ext uri="{FF2B5EF4-FFF2-40B4-BE49-F238E27FC236}">
                <a16:creationId xmlns:a16="http://schemas.microsoft.com/office/drawing/2014/main" id="{DF690C59-3DAA-2046-9E2A-F10385AF89E4}"/>
              </a:ext>
            </a:extLst>
          </p:cNvPr>
          <p:cNvSpPr txBox="1"/>
          <p:nvPr/>
        </p:nvSpPr>
        <p:spPr>
          <a:xfrm>
            <a:off x="611471" y="2669459"/>
            <a:ext cx="1820779"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x.5</a:t>
            </a:r>
          </a:p>
        </p:txBody>
      </p:sp>
      <p:sp>
        <p:nvSpPr>
          <p:cNvPr id="60" name="TextBox 59">
            <a:extLst>
              <a:ext uri="{FF2B5EF4-FFF2-40B4-BE49-F238E27FC236}">
                <a16:creationId xmlns:a16="http://schemas.microsoft.com/office/drawing/2014/main" id="{38EB5256-60E3-4246-BFE4-7A7A9C8D310C}"/>
              </a:ext>
            </a:extLst>
          </p:cNvPr>
          <p:cNvSpPr txBox="1"/>
          <p:nvPr/>
        </p:nvSpPr>
        <p:spPr>
          <a:xfrm>
            <a:off x="3661199" y="2702586"/>
            <a:ext cx="1691451"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x</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5</a:t>
            </a:r>
          </a:p>
        </p:txBody>
      </p:sp>
      <p:sp>
        <p:nvSpPr>
          <p:cNvPr id="61" name="Right Arrow 60">
            <a:extLst>
              <a:ext uri="{FF2B5EF4-FFF2-40B4-BE49-F238E27FC236}">
                <a16:creationId xmlns:a16="http://schemas.microsoft.com/office/drawing/2014/main" id="{F37D030B-5172-224B-A2FC-7E5790CAF1A3}"/>
              </a:ext>
            </a:extLst>
          </p:cNvPr>
          <p:cNvSpPr/>
          <p:nvPr/>
        </p:nvSpPr>
        <p:spPr>
          <a:xfrm>
            <a:off x="2664985" y="2809918"/>
            <a:ext cx="746635"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31E0789D-7804-0243-B07C-7284DF0BB6FD}"/>
              </a:ext>
            </a:extLst>
          </p:cNvPr>
          <p:cNvSpPr txBox="1"/>
          <p:nvPr/>
        </p:nvSpPr>
        <p:spPr>
          <a:xfrm>
            <a:off x="611471" y="3097220"/>
            <a:ext cx="1820779"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4.5</a:t>
            </a:r>
          </a:p>
        </p:txBody>
      </p:sp>
      <p:sp>
        <p:nvSpPr>
          <p:cNvPr id="67" name="TextBox 66">
            <a:extLst>
              <a:ext uri="{FF2B5EF4-FFF2-40B4-BE49-F238E27FC236}">
                <a16:creationId xmlns:a16="http://schemas.microsoft.com/office/drawing/2014/main" id="{941B053E-8F70-4848-ADFF-CDA7F775426F}"/>
              </a:ext>
            </a:extLst>
          </p:cNvPr>
          <p:cNvSpPr txBox="1"/>
          <p:nvPr/>
        </p:nvSpPr>
        <p:spPr>
          <a:xfrm>
            <a:off x="3661200" y="3130347"/>
            <a:ext cx="716452"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4.5</a:t>
            </a:r>
          </a:p>
        </p:txBody>
      </p:sp>
      <p:sp>
        <p:nvSpPr>
          <p:cNvPr id="68" name="Right Arrow 67">
            <a:extLst>
              <a:ext uri="{FF2B5EF4-FFF2-40B4-BE49-F238E27FC236}">
                <a16:creationId xmlns:a16="http://schemas.microsoft.com/office/drawing/2014/main" id="{48DB26BD-6142-AD41-80C9-18EA95F07B15}"/>
              </a:ext>
            </a:extLst>
          </p:cNvPr>
          <p:cNvSpPr/>
          <p:nvPr/>
        </p:nvSpPr>
        <p:spPr>
          <a:xfrm>
            <a:off x="2664985" y="3237679"/>
            <a:ext cx="746635"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9" name="Group 68">
            <a:extLst>
              <a:ext uri="{FF2B5EF4-FFF2-40B4-BE49-F238E27FC236}">
                <a16:creationId xmlns:a16="http://schemas.microsoft.com/office/drawing/2014/main" id="{8F045918-2DF9-AB4D-A19F-437583D11CB9}"/>
              </a:ext>
            </a:extLst>
          </p:cNvPr>
          <p:cNvGrpSpPr/>
          <p:nvPr/>
        </p:nvGrpSpPr>
        <p:grpSpPr>
          <a:xfrm>
            <a:off x="5791200" y="3127795"/>
            <a:ext cx="2327948" cy="461665"/>
            <a:chOff x="4956207" y="3627301"/>
            <a:chExt cx="2327948" cy="461665"/>
          </a:xfrm>
        </p:grpSpPr>
        <p:sp>
          <p:nvSpPr>
            <p:cNvPr id="70" name="TextBox 69">
              <a:extLst>
                <a:ext uri="{FF2B5EF4-FFF2-40B4-BE49-F238E27FC236}">
                  <a16:creationId xmlns:a16="http://schemas.microsoft.com/office/drawing/2014/main" id="{5D981BC4-E57E-164E-94B9-24F154517BD7}"/>
                </a:ext>
              </a:extLst>
            </p:cNvPr>
            <p:cNvSpPr txBox="1"/>
            <p:nvPr/>
          </p:nvSpPr>
          <p:spPr>
            <a:xfrm>
              <a:off x="5541933" y="3627301"/>
              <a:ext cx="1691452"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4</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5</a:t>
              </a:r>
            </a:p>
          </p:txBody>
        </p:sp>
        <p:sp>
          <p:nvSpPr>
            <p:cNvPr id="71" name="TextBox 70">
              <a:extLst>
                <a:ext uri="{FF2B5EF4-FFF2-40B4-BE49-F238E27FC236}">
                  <a16:creationId xmlns:a16="http://schemas.microsoft.com/office/drawing/2014/main" id="{4DDD9A19-BEB1-C040-B6AC-C52B2E87BB33}"/>
                </a:ext>
              </a:extLst>
            </p:cNvPr>
            <p:cNvSpPr txBox="1"/>
            <p:nvPr/>
          </p:nvSpPr>
          <p:spPr>
            <a:xfrm flipH="1">
              <a:off x="4956207" y="3639295"/>
              <a:ext cx="609600" cy="430887"/>
            </a:xfrm>
            <a:prstGeom prst="rect">
              <a:avLst/>
            </a:prstGeom>
            <a:noFill/>
          </p:spPr>
          <p:txBody>
            <a:bodyPr wrap="square" rtlCol="0">
              <a:spAutoFit/>
            </a:bodyPr>
            <a:lstStyle/>
            <a:p>
              <a:pPr algn="ctr"/>
              <a:r>
                <a:rPr lang="en-US" sz="2200" i="1" dirty="0"/>
                <a:t>or</a:t>
              </a:r>
              <a:endParaRPr lang="en-US" sz="2200" b="1" i="1" dirty="0"/>
            </a:p>
          </p:txBody>
        </p:sp>
        <p:sp>
          <p:nvSpPr>
            <p:cNvPr id="72" name="TextBox 71">
              <a:extLst>
                <a:ext uri="{FF2B5EF4-FFF2-40B4-BE49-F238E27FC236}">
                  <a16:creationId xmlns:a16="http://schemas.microsoft.com/office/drawing/2014/main" id="{6C51DCE6-F08F-6B45-B6BE-1E261458C112}"/>
                </a:ext>
              </a:extLst>
            </p:cNvPr>
            <p:cNvSpPr txBox="1"/>
            <p:nvPr/>
          </p:nvSpPr>
          <p:spPr>
            <a:xfrm flipH="1">
              <a:off x="6674555" y="3639295"/>
              <a:ext cx="609600" cy="430887"/>
            </a:xfrm>
            <a:prstGeom prst="rect">
              <a:avLst/>
            </a:prstGeom>
            <a:noFill/>
          </p:spPr>
          <p:txBody>
            <a:bodyPr wrap="square" rtlCol="0">
              <a:spAutoFit/>
            </a:bodyPr>
            <a:lstStyle/>
            <a:p>
              <a:pPr algn="ctr"/>
              <a:r>
                <a:rPr lang="en-US" sz="2200" i="1" dirty="0"/>
                <a:t>?</a:t>
              </a:r>
              <a:endParaRPr lang="en-US" sz="2200" b="1" i="1" dirty="0"/>
            </a:p>
          </p:txBody>
        </p:sp>
      </p:grpSp>
      <p:grpSp>
        <p:nvGrpSpPr>
          <p:cNvPr id="73" name="Group 72">
            <a:extLst>
              <a:ext uri="{FF2B5EF4-FFF2-40B4-BE49-F238E27FC236}">
                <a16:creationId xmlns:a16="http://schemas.microsoft.com/office/drawing/2014/main" id="{07B8FE29-437C-1A4E-9D48-FB9A7A0E0912}"/>
              </a:ext>
            </a:extLst>
          </p:cNvPr>
          <p:cNvGrpSpPr/>
          <p:nvPr/>
        </p:nvGrpSpPr>
        <p:grpSpPr>
          <a:xfrm>
            <a:off x="4304500" y="3126471"/>
            <a:ext cx="1633876" cy="461665"/>
            <a:chOff x="4956207" y="3627301"/>
            <a:chExt cx="1633876" cy="461665"/>
          </a:xfrm>
        </p:grpSpPr>
        <p:sp>
          <p:nvSpPr>
            <p:cNvPr id="74" name="TextBox 73">
              <a:extLst>
                <a:ext uri="{FF2B5EF4-FFF2-40B4-BE49-F238E27FC236}">
                  <a16:creationId xmlns:a16="http://schemas.microsoft.com/office/drawing/2014/main" id="{901DC05F-1E62-DA4A-AB3B-C6B420A8C066}"/>
                </a:ext>
              </a:extLst>
            </p:cNvPr>
            <p:cNvSpPr txBox="1"/>
            <p:nvPr/>
          </p:nvSpPr>
          <p:spPr>
            <a:xfrm>
              <a:off x="5541933" y="3627301"/>
              <a:ext cx="1048150"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4.</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5</a:t>
              </a:r>
            </a:p>
          </p:txBody>
        </p:sp>
        <p:sp>
          <p:nvSpPr>
            <p:cNvPr id="75" name="TextBox 74">
              <a:extLst>
                <a:ext uri="{FF2B5EF4-FFF2-40B4-BE49-F238E27FC236}">
                  <a16:creationId xmlns:a16="http://schemas.microsoft.com/office/drawing/2014/main" id="{8104680D-FCD9-C446-A10D-D10185D7C656}"/>
                </a:ext>
              </a:extLst>
            </p:cNvPr>
            <p:cNvSpPr txBox="1"/>
            <p:nvPr/>
          </p:nvSpPr>
          <p:spPr>
            <a:xfrm flipH="1">
              <a:off x="4956207" y="3639295"/>
              <a:ext cx="609600" cy="430887"/>
            </a:xfrm>
            <a:prstGeom prst="rect">
              <a:avLst/>
            </a:prstGeom>
            <a:noFill/>
          </p:spPr>
          <p:txBody>
            <a:bodyPr wrap="square" rtlCol="0">
              <a:spAutoFit/>
            </a:bodyPr>
            <a:lstStyle/>
            <a:p>
              <a:pPr algn="ctr"/>
              <a:r>
                <a:rPr lang="en-US" sz="2200" i="1" dirty="0"/>
                <a:t>or</a:t>
              </a:r>
              <a:endParaRPr lang="en-US" sz="2200" b="1" i="1" dirty="0"/>
            </a:p>
          </p:txBody>
        </p:sp>
      </p:grpSp>
      <p:pic>
        <p:nvPicPr>
          <p:cNvPr id="78" name="Picture 77">
            <a:extLst>
              <a:ext uri="{FF2B5EF4-FFF2-40B4-BE49-F238E27FC236}">
                <a16:creationId xmlns:a16="http://schemas.microsoft.com/office/drawing/2014/main" id="{316FE9DE-E7F0-4748-82A5-6F098B1A6704}"/>
              </a:ext>
            </a:extLst>
          </p:cNvPr>
          <p:cNvPicPr>
            <a:picLocks noChangeAspect="1"/>
          </p:cNvPicPr>
          <p:nvPr/>
        </p:nvPicPr>
        <p:blipFill rotWithShape="1">
          <a:blip r:embed="rId3">
            <a:extLst>
              <a:ext uri="{28A0092B-C50C-407E-A947-70E740481C1C}">
                <a14:useLocalDpi xmlns:a14="http://schemas.microsoft.com/office/drawing/2010/main" val="0"/>
              </a:ext>
            </a:extLst>
          </a:blip>
          <a:srcRect b="37624"/>
          <a:stretch/>
        </p:blipFill>
        <p:spPr>
          <a:xfrm rot="1489900">
            <a:off x="5236383" y="4282061"/>
            <a:ext cx="1524158" cy="950707"/>
          </a:xfrm>
          <a:prstGeom prst="rect">
            <a:avLst/>
          </a:prstGeom>
        </p:spPr>
      </p:pic>
      <p:sp>
        <p:nvSpPr>
          <p:cNvPr id="79" name="TextBox 78">
            <a:extLst>
              <a:ext uri="{FF2B5EF4-FFF2-40B4-BE49-F238E27FC236}">
                <a16:creationId xmlns:a16="http://schemas.microsoft.com/office/drawing/2014/main" id="{AB62349E-C8B0-2848-A72D-492DE4E88BF4}"/>
              </a:ext>
            </a:extLst>
          </p:cNvPr>
          <p:cNvSpPr txBox="1"/>
          <p:nvPr/>
        </p:nvSpPr>
        <p:spPr>
          <a:xfrm>
            <a:off x="606391" y="3595077"/>
            <a:ext cx="1820779"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1.2.3</a:t>
            </a:r>
          </a:p>
        </p:txBody>
      </p:sp>
      <p:sp>
        <p:nvSpPr>
          <p:cNvPr id="80" name="TextBox 79">
            <a:extLst>
              <a:ext uri="{FF2B5EF4-FFF2-40B4-BE49-F238E27FC236}">
                <a16:creationId xmlns:a16="http://schemas.microsoft.com/office/drawing/2014/main" id="{C73DBEA7-6DAA-CF44-8F53-EB3404426BE5}"/>
              </a:ext>
            </a:extLst>
          </p:cNvPr>
          <p:cNvSpPr txBox="1"/>
          <p:nvPr/>
        </p:nvSpPr>
        <p:spPr>
          <a:xfrm>
            <a:off x="3656120" y="3628204"/>
            <a:ext cx="1820778"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1.2</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3</a:t>
            </a:r>
          </a:p>
        </p:txBody>
      </p:sp>
      <p:sp>
        <p:nvSpPr>
          <p:cNvPr id="81" name="Right Arrow 80">
            <a:extLst>
              <a:ext uri="{FF2B5EF4-FFF2-40B4-BE49-F238E27FC236}">
                <a16:creationId xmlns:a16="http://schemas.microsoft.com/office/drawing/2014/main" id="{D015DF82-FC6D-FE4F-9AAA-0537C02BEAA4}"/>
              </a:ext>
            </a:extLst>
          </p:cNvPr>
          <p:cNvSpPr/>
          <p:nvPr/>
        </p:nvSpPr>
        <p:spPr>
          <a:xfrm>
            <a:off x="2659905" y="3735536"/>
            <a:ext cx="746635" cy="304057"/>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6" name="Group 85">
            <a:extLst>
              <a:ext uri="{FF2B5EF4-FFF2-40B4-BE49-F238E27FC236}">
                <a16:creationId xmlns:a16="http://schemas.microsoft.com/office/drawing/2014/main" id="{EEBA1F53-B23B-EB47-A7AD-EBD07F377A32}"/>
              </a:ext>
            </a:extLst>
          </p:cNvPr>
          <p:cNvGrpSpPr/>
          <p:nvPr/>
        </p:nvGrpSpPr>
        <p:grpSpPr>
          <a:xfrm>
            <a:off x="3069852" y="4040994"/>
            <a:ext cx="2642250" cy="461665"/>
            <a:chOff x="4956207" y="3627301"/>
            <a:chExt cx="2642250" cy="461665"/>
          </a:xfrm>
        </p:grpSpPr>
        <p:sp>
          <p:nvSpPr>
            <p:cNvPr id="87" name="TextBox 86">
              <a:extLst>
                <a:ext uri="{FF2B5EF4-FFF2-40B4-BE49-F238E27FC236}">
                  <a16:creationId xmlns:a16="http://schemas.microsoft.com/office/drawing/2014/main" id="{15C97FD4-EA99-AD4E-8B82-B7F644ED6370}"/>
                </a:ext>
              </a:extLst>
            </p:cNvPr>
            <p:cNvSpPr txBox="1"/>
            <p:nvPr/>
          </p:nvSpPr>
          <p:spPr>
            <a:xfrm>
              <a:off x="5541933" y="3627301"/>
              <a:ext cx="2056524"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1.2</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.3</a:t>
              </a:r>
            </a:p>
          </p:txBody>
        </p:sp>
        <p:sp>
          <p:nvSpPr>
            <p:cNvPr id="88" name="TextBox 87">
              <a:extLst>
                <a:ext uri="{FF2B5EF4-FFF2-40B4-BE49-F238E27FC236}">
                  <a16:creationId xmlns:a16="http://schemas.microsoft.com/office/drawing/2014/main" id="{1A0DB790-2520-7842-832F-4605B78BFDAC}"/>
                </a:ext>
              </a:extLst>
            </p:cNvPr>
            <p:cNvSpPr txBox="1"/>
            <p:nvPr/>
          </p:nvSpPr>
          <p:spPr>
            <a:xfrm flipH="1">
              <a:off x="4956207" y="3639295"/>
              <a:ext cx="609600" cy="430887"/>
            </a:xfrm>
            <a:prstGeom prst="rect">
              <a:avLst/>
            </a:prstGeom>
            <a:noFill/>
          </p:spPr>
          <p:txBody>
            <a:bodyPr wrap="square" rtlCol="0">
              <a:spAutoFit/>
            </a:bodyPr>
            <a:lstStyle/>
            <a:p>
              <a:pPr algn="ctr"/>
              <a:r>
                <a:rPr lang="en-US" sz="2200" i="1" dirty="0"/>
                <a:t>or</a:t>
              </a:r>
              <a:endParaRPr lang="en-US" sz="2200" b="1" i="1" dirty="0"/>
            </a:p>
          </p:txBody>
        </p:sp>
      </p:grpSp>
      <p:grpSp>
        <p:nvGrpSpPr>
          <p:cNvPr id="89" name="Group 88">
            <a:extLst>
              <a:ext uri="{FF2B5EF4-FFF2-40B4-BE49-F238E27FC236}">
                <a16:creationId xmlns:a16="http://schemas.microsoft.com/office/drawing/2014/main" id="{30781B21-E7C4-E74D-A303-50287ADB1584}"/>
              </a:ext>
            </a:extLst>
          </p:cNvPr>
          <p:cNvGrpSpPr/>
          <p:nvPr/>
        </p:nvGrpSpPr>
        <p:grpSpPr>
          <a:xfrm>
            <a:off x="3058622" y="4428990"/>
            <a:ext cx="2642250" cy="461665"/>
            <a:chOff x="4956207" y="3627301"/>
            <a:chExt cx="2642250" cy="461665"/>
          </a:xfrm>
        </p:grpSpPr>
        <p:sp>
          <p:nvSpPr>
            <p:cNvPr id="90" name="TextBox 89">
              <a:extLst>
                <a:ext uri="{FF2B5EF4-FFF2-40B4-BE49-F238E27FC236}">
                  <a16:creationId xmlns:a16="http://schemas.microsoft.com/office/drawing/2014/main" id="{E038C2A5-D3C3-0840-93AE-C4005D0606B7}"/>
                </a:ext>
              </a:extLst>
            </p:cNvPr>
            <p:cNvSpPr txBox="1"/>
            <p:nvPr/>
          </p:nvSpPr>
          <p:spPr>
            <a:xfrm>
              <a:off x="5541933" y="3627301"/>
              <a:ext cx="2056524"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1.</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2.3</a:t>
              </a:r>
            </a:p>
          </p:txBody>
        </p:sp>
        <p:sp>
          <p:nvSpPr>
            <p:cNvPr id="91" name="TextBox 90">
              <a:extLst>
                <a:ext uri="{FF2B5EF4-FFF2-40B4-BE49-F238E27FC236}">
                  <a16:creationId xmlns:a16="http://schemas.microsoft.com/office/drawing/2014/main" id="{01C3B6EB-A23B-2744-A1FC-A2D5CEB5C941}"/>
                </a:ext>
              </a:extLst>
            </p:cNvPr>
            <p:cNvSpPr txBox="1"/>
            <p:nvPr/>
          </p:nvSpPr>
          <p:spPr>
            <a:xfrm flipH="1">
              <a:off x="4956207" y="3639295"/>
              <a:ext cx="609600" cy="430887"/>
            </a:xfrm>
            <a:prstGeom prst="rect">
              <a:avLst/>
            </a:prstGeom>
            <a:noFill/>
          </p:spPr>
          <p:txBody>
            <a:bodyPr wrap="square" rtlCol="0">
              <a:spAutoFit/>
            </a:bodyPr>
            <a:lstStyle/>
            <a:p>
              <a:pPr algn="ctr"/>
              <a:r>
                <a:rPr lang="en-US" sz="2200" i="1" dirty="0"/>
                <a:t>or</a:t>
              </a:r>
              <a:endParaRPr lang="en-US" sz="2200" b="1" i="1" dirty="0"/>
            </a:p>
          </p:txBody>
        </p:sp>
      </p:grpSp>
      <p:grpSp>
        <p:nvGrpSpPr>
          <p:cNvPr id="92" name="Group 91">
            <a:extLst>
              <a:ext uri="{FF2B5EF4-FFF2-40B4-BE49-F238E27FC236}">
                <a16:creationId xmlns:a16="http://schemas.microsoft.com/office/drawing/2014/main" id="{E223B712-66B3-B34B-85A1-2C29D39155EC}"/>
              </a:ext>
            </a:extLst>
          </p:cNvPr>
          <p:cNvGrpSpPr/>
          <p:nvPr/>
        </p:nvGrpSpPr>
        <p:grpSpPr>
          <a:xfrm>
            <a:off x="3050190" y="4824004"/>
            <a:ext cx="2642250" cy="461665"/>
            <a:chOff x="4956207" y="3627301"/>
            <a:chExt cx="2642250" cy="461665"/>
          </a:xfrm>
        </p:grpSpPr>
        <p:sp>
          <p:nvSpPr>
            <p:cNvPr id="93" name="TextBox 92">
              <a:extLst>
                <a:ext uri="{FF2B5EF4-FFF2-40B4-BE49-F238E27FC236}">
                  <a16:creationId xmlns:a16="http://schemas.microsoft.com/office/drawing/2014/main" id="{D7E7551A-69A9-2240-94CE-CDC3F13663FB}"/>
                </a:ext>
              </a:extLst>
            </p:cNvPr>
            <p:cNvSpPr txBox="1"/>
            <p:nvPr/>
          </p:nvSpPr>
          <p:spPr>
            <a:xfrm>
              <a:off x="5541933" y="3627301"/>
              <a:ext cx="2056524"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1.</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2.</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3</a:t>
              </a:r>
            </a:p>
          </p:txBody>
        </p:sp>
        <p:sp>
          <p:nvSpPr>
            <p:cNvPr id="94" name="TextBox 93">
              <a:extLst>
                <a:ext uri="{FF2B5EF4-FFF2-40B4-BE49-F238E27FC236}">
                  <a16:creationId xmlns:a16="http://schemas.microsoft.com/office/drawing/2014/main" id="{062608A4-A55E-2A4D-940F-D220AF34CD6C}"/>
                </a:ext>
              </a:extLst>
            </p:cNvPr>
            <p:cNvSpPr txBox="1"/>
            <p:nvPr/>
          </p:nvSpPr>
          <p:spPr>
            <a:xfrm flipH="1">
              <a:off x="4956207" y="3639295"/>
              <a:ext cx="609600" cy="430887"/>
            </a:xfrm>
            <a:prstGeom prst="rect">
              <a:avLst/>
            </a:prstGeom>
            <a:noFill/>
          </p:spPr>
          <p:txBody>
            <a:bodyPr wrap="square" rtlCol="0">
              <a:spAutoFit/>
            </a:bodyPr>
            <a:lstStyle/>
            <a:p>
              <a:pPr algn="ctr"/>
              <a:r>
                <a:rPr lang="en-US" sz="2200" i="1" dirty="0"/>
                <a:t>or</a:t>
              </a:r>
              <a:endParaRPr lang="en-US" sz="2200" b="1" i="1" dirty="0"/>
            </a:p>
          </p:txBody>
        </p:sp>
      </p:grpSp>
      <p:grpSp>
        <p:nvGrpSpPr>
          <p:cNvPr id="95" name="Group 94">
            <a:extLst>
              <a:ext uri="{FF2B5EF4-FFF2-40B4-BE49-F238E27FC236}">
                <a16:creationId xmlns:a16="http://schemas.microsoft.com/office/drawing/2014/main" id="{60ADC2A7-0897-494F-834E-4DD090C0E93E}"/>
              </a:ext>
            </a:extLst>
          </p:cNvPr>
          <p:cNvGrpSpPr/>
          <p:nvPr/>
        </p:nvGrpSpPr>
        <p:grpSpPr>
          <a:xfrm>
            <a:off x="3050190" y="5187739"/>
            <a:ext cx="3223610" cy="461665"/>
            <a:chOff x="4956207" y="3627301"/>
            <a:chExt cx="3223610" cy="461665"/>
          </a:xfrm>
        </p:grpSpPr>
        <p:sp>
          <p:nvSpPr>
            <p:cNvPr id="96" name="TextBox 95">
              <a:extLst>
                <a:ext uri="{FF2B5EF4-FFF2-40B4-BE49-F238E27FC236}">
                  <a16:creationId xmlns:a16="http://schemas.microsoft.com/office/drawing/2014/main" id="{12332976-6CD2-024D-BD25-4219021BD196}"/>
                </a:ext>
              </a:extLst>
            </p:cNvPr>
            <p:cNvSpPr txBox="1"/>
            <p:nvPr/>
          </p:nvSpPr>
          <p:spPr>
            <a:xfrm>
              <a:off x="5541933" y="3627301"/>
              <a:ext cx="2637884"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1</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2</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3</a:t>
              </a:r>
            </a:p>
          </p:txBody>
        </p:sp>
        <p:sp>
          <p:nvSpPr>
            <p:cNvPr id="97" name="TextBox 96">
              <a:extLst>
                <a:ext uri="{FF2B5EF4-FFF2-40B4-BE49-F238E27FC236}">
                  <a16:creationId xmlns:a16="http://schemas.microsoft.com/office/drawing/2014/main" id="{9B32768E-A229-B64E-872D-EBE6065D6293}"/>
                </a:ext>
              </a:extLst>
            </p:cNvPr>
            <p:cNvSpPr txBox="1"/>
            <p:nvPr/>
          </p:nvSpPr>
          <p:spPr>
            <a:xfrm flipH="1">
              <a:off x="4956207" y="3639295"/>
              <a:ext cx="609600" cy="430887"/>
            </a:xfrm>
            <a:prstGeom prst="rect">
              <a:avLst/>
            </a:prstGeom>
            <a:noFill/>
          </p:spPr>
          <p:txBody>
            <a:bodyPr wrap="square" rtlCol="0">
              <a:spAutoFit/>
            </a:bodyPr>
            <a:lstStyle/>
            <a:p>
              <a:pPr algn="ctr"/>
              <a:r>
                <a:rPr lang="en-US" sz="2200" i="1" dirty="0"/>
                <a:t>or</a:t>
              </a:r>
              <a:endParaRPr lang="en-US" sz="2200" b="1" i="1" dirty="0"/>
            </a:p>
          </p:txBody>
        </p:sp>
      </p:grpSp>
      <p:grpSp>
        <p:nvGrpSpPr>
          <p:cNvPr id="62" name="Group 61">
            <a:extLst>
              <a:ext uri="{FF2B5EF4-FFF2-40B4-BE49-F238E27FC236}">
                <a16:creationId xmlns:a16="http://schemas.microsoft.com/office/drawing/2014/main" id="{6984DAD9-6815-9544-A680-56FD70FC1B96}"/>
              </a:ext>
            </a:extLst>
          </p:cNvPr>
          <p:cNvGrpSpPr/>
          <p:nvPr/>
        </p:nvGrpSpPr>
        <p:grpSpPr>
          <a:xfrm>
            <a:off x="4947386" y="2725076"/>
            <a:ext cx="2277178" cy="461665"/>
            <a:chOff x="4956207" y="3627301"/>
            <a:chExt cx="2277178" cy="461665"/>
          </a:xfrm>
        </p:grpSpPr>
        <p:sp>
          <p:nvSpPr>
            <p:cNvPr id="63" name="TextBox 62">
              <a:extLst>
                <a:ext uri="{FF2B5EF4-FFF2-40B4-BE49-F238E27FC236}">
                  <a16:creationId xmlns:a16="http://schemas.microsoft.com/office/drawing/2014/main" id="{0B98B013-6A65-154B-83A6-3D83B27193E9}"/>
                </a:ext>
              </a:extLst>
            </p:cNvPr>
            <p:cNvSpPr txBox="1"/>
            <p:nvPr/>
          </p:nvSpPr>
          <p:spPr>
            <a:xfrm>
              <a:off x="5541933" y="3627301"/>
              <a:ext cx="1691452"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x</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.5</a:t>
              </a:r>
            </a:p>
          </p:txBody>
        </p:sp>
        <p:sp>
          <p:nvSpPr>
            <p:cNvPr id="64" name="TextBox 63">
              <a:extLst>
                <a:ext uri="{FF2B5EF4-FFF2-40B4-BE49-F238E27FC236}">
                  <a16:creationId xmlns:a16="http://schemas.microsoft.com/office/drawing/2014/main" id="{4BBF5184-DE2A-E34F-B04E-2E1E5F13DFAF}"/>
                </a:ext>
              </a:extLst>
            </p:cNvPr>
            <p:cNvSpPr txBox="1"/>
            <p:nvPr/>
          </p:nvSpPr>
          <p:spPr>
            <a:xfrm flipH="1">
              <a:off x="4956207" y="3639295"/>
              <a:ext cx="609600" cy="430887"/>
            </a:xfrm>
            <a:prstGeom prst="rect">
              <a:avLst/>
            </a:prstGeom>
            <a:noFill/>
          </p:spPr>
          <p:txBody>
            <a:bodyPr wrap="square" rtlCol="0">
              <a:spAutoFit/>
            </a:bodyPr>
            <a:lstStyle/>
            <a:p>
              <a:pPr algn="ctr"/>
              <a:r>
                <a:rPr lang="en-US" sz="2200" i="1" dirty="0"/>
                <a:t>or</a:t>
              </a:r>
              <a:endParaRPr lang="en-US" sz="2200" b="1" i="1" dirty="0"/>
            </a:p>
          </p:txBody>
        </p:sp>
        <p:sp>
          <p:nvSpPr>
            <p:cNvPr id="65" name="TextBox 64">
              <a:extLst>
                <a:ext uri="{FF2B5EF4-FFF2-40B4-BE49-F238E27FC236}">
                  <a16:creationId xmlns:a16="http://schemas.microsoft.com/office/drawing/2014/main" id="{20C51CF6-464C-EF44-87BA-CDF7FB8BB524}"/>
                </a:ext>
              </a:extLst>
            </p:cNvPr>
            <p:cNvSpPr txBox="1"/>
            <p:nvPr/>
          </p:nvSpPr>
          <p:spPr>
            <a:xfrm flipH="1">
              <a:off x="6465736" y="3639295"/>
              <a:ext cx="609600" cy="430887"/>
            </a:xfrm>
            <a:prstGeom prst="rect">
              <a:avLst/>
            </a:prstGeom>
            <a:noFill/>
          </p:spPr>
          <p:txBody>
            <a:bodyPr wrap="square" rtlCol="0">
              <a:spAutoFit/>
            </a:bodyPr>
            <a:lstStyle/>
            <a:p>
              <a:pPr algn="ctr"/>
              <a:r>
                <a:rPr lang="en-US" sz="2200" i="1" dirty="0"/>
                <a:t>?</a:t>
              </a:r>
              <a:endParaRPr lang="en-US" sz="2200" b="1" i="1" dirty="0"/>
            </a:p>
          </p:txBody>
        </p:sp>
      </p:grpSp>
    </p:spTree>
    <p:extLst>
      <p:ext uri="{BB962C8B-B14F-4D97-AF65-F5344CB8AC3E}">
        <p14:creationId xmlns:p14="http://schemas.microsoft.com/office/powerpoint/2010/main" val="14529591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6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6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6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66"/>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6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6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7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69"/>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7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81"/>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0"/>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86"/>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89"/>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9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95"/>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20" grpId="0"/>
      <p:bldP spid="21" grpId="0" animBg="1"/>
      <p:bldP spid="24" grpId="0"/>
      <p:bldP spid="25" grpId="0" animBg="1"/>
      <p:bldP spid="32" grpId="0"/>
      <p:bldP spid="49" grpId="0"/>
      <p:bldP spid="50" grpId="0"/>
      <p:bldP spid="51" grpId="0" animBg="1"/>
      <p:bldP spid="52" grpId="0"/>
      <p:bldP spid="53" grpId="0"/>
      <p:bldP spid="54" grpId="0" animBg="1"/>
      <p:bldP spid="59" grpId="0"/>
      <p:bldP spid="60" grpId="0"/>
      <p:bldP spid="61" grpId="0" animBg="1"/>
      <p:bldP spid="66" grpId="0"/>
      <p:bldP spid="67" grpId="0"/>
      <p:bldP spid="68" grpId="0" animBg="1"/>
      <p:bldP spid="79" grpId="0"/>
      <p:bldP spid="80" grpId="0"/>
      <p:bldP spid="8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B3391-E952-1847-AE71-53A3A020E5C3}"/>
              </a:ext>
            </a:extLst>
          </p:cNvPr>
          <p:cNvSpPr>
            <a:spLocks noGrp="1"/>
          </p:cNvSpPr>
          <p:nvPr>
            <p:ph type="title"/>
          </p:nvPr>
        </p:nvSpPr>
        <p:spPr/>
        <p:txBody>
          <a:bodyPr/>
          <a:lstStyle/>
          <a:p>
            <a:r>
              <a:rPr lang="en-US" dirty="0" err="1"/>
              <a:t>uHH</a:t>
            </a:r>
            <a:endParaRPr lang="en-US" dirty="0"/>
          </a:p>
        </p:txBody>
      </p:sp>
      <p:sp>
        <p:nvSpPr>
          <p:cNvPr id="3" name="Content Placeholder 2">
            <a:extLst>
              <a:ext uri="{FF2B5EF4-FFF2-40B4-BE49-F238E27FC236}">
                <a16:creationId xmlns:a16="http://schemas.microsoft.com/office/drawing/2014/main" id="{1AC34B67-2DFE-A940-B7B4-CDBCE256CAEE}"/>
              </a:ext>
            </a:extLst>
          </p:cNvPr>
          <p:cNvSpPr>
            <a:spLocks noGrp="1"/>
          </p:cNvSpPr>
          <p:nvPr>
            <p:ph idx="1"/>
          </p:nvPr>
        </p:nvSpPr>
        <p:spPr/>
        <p:txBody>
          <a:bodyPr/>
          <a:lstStyle/>
          <a:p>
            <a:r>
              <a:rPr lang="en-US" dirty="0"/>
              <a:t>even with such a simple set of tokens, we're already running into problems, and it's not entirely clear where we went wrong.</a:t>
            </a:r>
          </a:p>
          <a:p>
            <a:r>
              <a:rPr lang="en-US" dirty="0"/>
              <a:t>well, let's first learn a bit about </a:t>
            </a:r>
            <a:r>
              <a:rPr lang="en-US" b="1" dirty="0"/>
              <a:t>grammars, </a:t>
            </a:r>
            <a:r>
              <a:rPr lang="en-US" dirty="0"/>
              <a:t>which can give us some tools to talk about these things more rigorously.</a:t>
            </a:r>
          </a:p>
        </p:txBody>
      </p:sp>
      <p:sp>
        <p:nvSpPr>
          <p:cNvPr id="4" name="Slide Number Placeholder 3">
            <a:extLst>
              <a:ext uri="{FF2B5EF4-FFF2-40B4-BE49-F238E27FC236}">
                <a16:creationId xmlns:a16="http://schemas.microsoft.com/office/drawing/2014/main" id="{3DF04D15-8219-0F44-B0C8-AC2013A0F1F8}"/>
              </a:ext>
            </a:extLst>
          </p:cNvPr>
          <p:cNvSpPr>
            <a:spLocks noGrp="1"/>
          </p:cNvSpPr>
          <p:nvPr>
            <p:ph type="sldNum" sz="quarter" idx="12"/>
          </p:nvPr>
        </p:nvSpPr>
        <p:spPr/>
        <p:txBody>
          <a:bodyPr/>
          <a:lstStyle/>
          <a:p>
            <a:fld id="{3552B95B-556F-44BD-91A5-D80C1B9E2BB3}" type="slidenum">
              <a:rPr lang="en-US" smtClean="0"/>
              <a:pPr/>
              <a:t>13</a:t>
            </a:fld>
            <a:endParaRPr lang="en-US"/>
          </a:p>
        </p:txBody>
      </p:sp>
    </p:spTree>
    <p:extLst>
      <p:ext uri="{BB962C8B-B14F-4D97-AF65-F5344CB8AC3E}">
        <p14:creationId xmlns:p14="http://schemas.microsoft.com/office/powerpoint/2010/main" val="16343554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A0496-4154-7246-8172-01DC1201085E}"/>
              </a:ext>
            </a:extLst>
          </p:cNvPr>
          <p:cNvSpPr>
            <a:spLocks noGrp="1"/>
          </p:cNvSpPr>
          <p:nvPr>
            <p:ph type="ctrTitle"/>
          </p:nvPr>
        </p:nvSpPr>
        <p:spPr/>
        <p:txBody>
          <a:bodyPr/>
          <a:lstStyle/>
          <a:p>
            <a:r>
              <a:rPr lang="en-US" dirty="0"/>
              <a:t>Grammars</a:t>
            </a:r>
          </a:p>
        </p:txBody>
      </p:sp>
      <p:sp>
        <p:nvSpPr>
          <p:cNvPr id="3" name="Slide Number Placeholder 2">
            <a:extLst>
              <a:ext uri="{FF2B5EF4-FFF2-40B4-BE49-F238E27FC236}">
                <a16:creationId xmlns:a16="http://schemas.microsoft.com/office/drawing/2014/main" id="{13D12E16-0708-C243-A93F-5066E8EB79ED}"/>
              </a:ext>
            </a:extLst>
          </p:cNvPr>
          <p:cNvSpPr>
            <a:spLocks noGrp="1"/>
          </p:cNvSpPr>
          <p:nvPr>
            <p:ph type="sldNum" sz="quarter" idx="12"/>
          </p:nvPr>
        </p:nvSpPr>
        <p:spPr/>
        <p:txBody>
          <a:bodyPr/>
          <a:lstStyle/>
          <a:p>
            <a:fld id="{3552B95B-556F-44BD-91A5-D80C1B9E2BB3}" type="slidenum">
              <a:rPr lang="en-US" smtClean="0"/>
              <a:pPr/>
              <a:t>14</a:t>
            </a:fld>
            <a:endParaRPr lang="en-US"/>
          </a:p>
        </p:txBody>
      </p:sp>
    </p:spTree>
    <p:extLst>
      <p:ext uri="{BB962C8B-B14F-4D97-AF65-F5344CB8AC3E}">
        <p14:creationId xmlns:p14="http://schemas.microsoft.com/office/powerpoint/2010/main" val="34010656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4B61F-0B5F-AD4D-A5E9-FEDC73F206A7}"/>
              </a:ext>
            </a:extLst>
          </p:cNvPr>
          <p:cNvSpPr>
            <a:spLocks noGrp="1"/>
          </p:cNvSpPr>
          <p:nvPr>
            <p:ph type="title"/>
          </p:nvPr>
        </p:nvSpPr>
        <p:spPr/>
        <p:txBody>
          <a:bodyPr/>
          <a:lstStyle/>
          <a:p>
            <a:r>
              <a:rPr lang="en-US" dirty="0"/>
              <a:t>Languages and alphabets</a:t>
            </a:r>
          </a:p>
        </p:txBody>
      </p:sp>
      <p:sp>
        <p:nvSpPr>
          <p:cNvPr id="3" name="Content Placeholder 2">
            <a:extLst>
              <a:ext uri="{FF2B5EF4-FFF2-40B4-BE49-F238E27FC236}">
                <a16:creationId xmlns:a16="http://schemas.microsoft.com/office/drawing/2014/main" id="{E123C020-0338-D249-9315-524102C02327}"/>
              </a:ext>
            </a:extLst>
          </p:cNvPr>
          <p:cNvSpPr>
            <a:spLocks noGrp="1"/>
          </p:cNvSpPr>
          <p:nvPr>
            <p:ph idx="1"/>
          </p:nvPr>
        </p:nvSpPr>
        <p:spPr>
          <a:xfrm>
            <a:off x="152400" y="495301"/>
            <a:ext cx="8991600" cy="1294961"/>
          </a:xfrm>
        </p:spPr>
        <p:txBody>
          <a:bodyPr>
            <a:normAutofit/>
          </a:bodyPr>
          <a:lstStyle/>
          <a:p>
            <a:r>
              <a:rPr lang="en-US" dirty="0"/>
              <a:t>a </a:t>
            </a:r>
            <a:r>
              <a:rPr lang="en-US" b="1" dirty="0"/>
              <a:t>language </a:t>
            </a:r>
            <a:r>
              <a:rPr lang="en-US" dirty="0"/>
              <a:t>is a </a:t>
            </a:r>
            <a:r>
              <a:rPr lang="en-US" b="1" dirty="0"/>
              <a:t>set of strings. </a:t>
            </a:r>
            <a:r>
              <a:rPr lang="en-US" sz="1600" dirty="0"/>
              <a:t>(most </a:t>
            </a:r>
            <a:r>
              <a:rPr lang="en-US" sz="1600" i="1" dirty="0"/>
              <a:t>useful</a:t>
            </a:r>
            <a:r>
              <a:rPr lang="en-US" sz="1600" dirty="0"/>
              <a:t> languages are infinite sets.)</a:t>
            </a:r>
          </a:p>
          <a:p>
            <a:r>
              <a:rPr lang="en-US" dirty="0"/>
              <a:t>each </a:t>
            </a:r>
            <a:r>
              <a:rPr lang="en-US" b="1" dirty="0"/>
              <a:t>string </a:t>
            </a:r>
            <a:r>
              <a:rPr lang="en-US" dirty="0"/>
              <a:t>is a sequence of symbols chosen from an </a:t>
            </a:r>
            <a:r>
              <a:rPr lang="en-US" b="1" dirty="0"/>
              <a:t>alphabet.</a:t>
            </a:r>
            <a:endParaRPr lang="en-US" dirty="0"/>
          </a:p>
          <a:p>
            <a:r>
              <a:rPr lang="en-US" dirty="0"/>
              <a:t>for example, here's a really dumb language and its alphabet:</a:t>
            </a:r>
          </a:p>
        </p:txBody>
      </p:sp>
      <p:sp>
        <p:nvSpPr>
          <p:cNvPr id="4" name="Slide Number Placeholder 3">
            <a:extLst>
              <a:ext uri="{FF2B5EF4-FFF2-40B4-BE49-F238E27FC236}">
                <a16:creationId xmlns:a16="http://schemas.microsoft.com/office/drawing/2014/main" id="{15EBDFA1-483B-6D45-921E-04A62C8E7ECE}"/>
              </a:ext>
            </a:extLst>
          </p:cNvPr>
          <p:cNvSpPr>
            <a:spLocks noGrp="1"/>
          </p:cNvSpPr>
          <p:nvPr>
            <p:ph type="sldNum" sz="quarter" idx="12"/>
          </p:nvPr>
        </p:nvSpPr>
        <p:spPr/>
        <p:txBody>
          <a:bodyPr/>
          <a:lstStyle/>
          <a:p>
            <a:fld id="{3552B95B-556F-44BD-91A5-D80C1B9E2BB3}" type="slidenum">
              <a:rPr lang="en-US" smtClean="0"/>
              <a:pPr/>
              <a:t>15</a:t>
            </a:fld>
            <a:endParaRPr lang="en-US"/>
          </a:p>
        </p:txBody>
      </p:sp>
      <p:sp>
        <p:nvSpPr>
          <p:cNvPr id="5" name="TextBox 4">
            <a:extLst>
              <a:ext uri="{FF2B5EF4-FFF2-40B4-BE49-F238E27FC236}">
                <a16:creationId xmlns:a16="http://schemas.microsoft.com/office/drawing/2014/main" id="{2A303CE9-500B-C240-99DB-4117024F6B59}"/>
              </a:ext>
            </a:extLst>
          </p:cNvPr>
          <p:cNvSpPr txBox="1"/>
          <p:nvPr/>
        </p:nvSpPr>
        <p:spPr>
          <a:xfrm>
            <a:off x="457200" y="1682760"/>
            <a:ext cx="3505200" cy="461665"/>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L = { </a:t>
            </a:r>
            <a:r>
              <a:rPr lang="en-US" sz="2400" b="1" dirty="0">
                <a:solidFill>
                  <a:schemeClr val="accent6">
                    <a:lumMod val="75000"/>
                  </a:schemeClr>
                </a:solidFill>
                <a:latin typeface="Consolas" panose="020B0609020204030204" pitchFamily="49" charset="0"/>
                <a:cs typeface="Consolas" panose="020B0609020204030204" pitchFamily="49" charset="0"/>
              </a:rPr>
              <a:t>"hi"</a:t>
            </a:r>
            <a:r>
              <a:rPr lang="en-US" sz="2400" b="1" dirty="0">
                <a:latin typeface="Consolas" panose="020B0609020204030204" pitchFamily="49" charset="0"/>
                <a:cs typeface="Consolas" panose="020B0609020204030204" pitchFamily="49" charset="0"/>
              </a:rPr>
              <a:t>, </a:t>
            </a:r>
            <a:r>
              <a:rPr lang="en-US" sz="2400" b="1" dirty="0">
                <a:solidFill>
                  <a:schemeClr val="accent6">
                    <a:lumMod val="75000"/>
                  </a:schemeClr>
                </a:solidFill>
                <a:latin typeface="Consolas" panose="020B0609020204030204" pitchFamily="49" charset="0"/>
                <a:cs typeface="Consolas" panose="020B0609020204030204" pitchFamily="49" charset="0"/>
              </a:rPr>
              <a:t>"bye"</a:t>
            </a:r>
            <a:r>
              <a:rPr lang="en-US" sz="2400" b="1" dirty="0">
                <a:latin typeface="Consolas" panose="020B0609020204030204" pitchFamily="49" charset="0"/>
                <a:cs typeface="Consolas" panose="020B0609020204030204" pitchFamily="49" charset="0"/>
              </a:rPr>
              <a:t> }</a:t>
            </a:r>
          </a:p>
        </p:txBody>
      </p:sp>
      <p:sp>
        <p:nvSpPr>
          <p:cNvPr id="7" name="TextBox 6">
            <a:extLst>
              <a:ext uri="{FF2B5EF4-FFF2-40B4-BE49-F238E27FC236}">
                <a16:creationId xmlns:a16="http://schemas.microsoft.com/office/drawing/2014/main" id="{2A59D86F-D316-FF43-B4AE-518F9A49027B}"/>
              </a:ext>
            </a:extLst>
          </p:cNvPr>
          <p:cNvSpPr txBox="1"/>
          <p:nvPr/>
        </p:nvSpPr>
        <p:spPr>
          <a:xfrm>
            <a:off x="3367090" y="3564177"/>
            <a:ext cx="1952622"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"hi"</a:t>
            </a:r>
            <a:r>
              <a:rPr lang="en-US" sz="2400" b="1" dirty="0">
                <a:latin typeface="Consolas" panose="020B0609020204030204" pitchFamily="49" charset="0"/>
                <a:cs typeface="Consolas" panose="020B0609020204030204" pitchFamily="49" charset="0"/>
              </a:rPr>
              <a:t>  ∈ L</a:t>
            </a:r>
          </a:p>
        </p:txBody>
      </p:sp>
      <p:sp>
        <p:nvSpPr>
          <p:cNvPr id="8" name="TextBox 7">
            <a:extLst>
              <a:ext uri="{FF2B5EF4-FFF2-40B4-BE49-F238E27FC236}">
                <a16:creationId xmlns:a16="http://schemas.microsoft.com/office/drawing/2014/main" id="{1DA77553-3F86-3140-9EE0-87CB19958513}"/>
              </a:ext>
            </a:extLst>
          </p:cNvPr>
          <p:cNvSpPr txBox="1"/>
          <p:nvPr/>
        </p:nvSpPr>
        <p:spPr>
          <a:xfrm>
            <a:off x="3367090" y="4403582"/>
            <a:ext cx="1952622"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"cat"</a:t>
            </a:r>
            <a:r>
              <a:rPr lang="en-US" sz="2400" b="1" dirty="0">
                <a:latin typeface="Consolas" panose="020B0609020204030204" pitchFamily="49" charset="0"/>
                <a:cs typeface="Consolas" panose="020B0609020204030204" pitchFamily="49" charset="0"/>
              </a:rPr>
              <a:t> ∉ L</a:t>
            </a:r>
          </a:p>
        </p:txBody>
      </p:sp>
      <p:sp>
        <p:nvSpPr>
          <p:cNvPr id="9" name="TextBox 8">
            <a:extLst>
              <a:ext uri="{FF2B5EF4-FFF2-40B4-BE49-F238E27FC236}">
                <a16:creationId xmlns:a16="http://schemas.microsoft.com/office/drawing/2014/main" id="{AAA5C9E4-F1AB-6241-A525-F2E87435AF62}"/>
              </a:ext>
            </a:extLst>
          </p:cNvPr>
          <p:cNvSpPr txBox="1"/>
          <p:nvPr/>
        </p:nvSpPr>
        <p:spPr>
          <a:xfrm>
            <a:off x="1452562" y="2706539"/>
            <a:ext cx="6238875" cy="769441"/>
          </a:xfrm>
          <a:prstGeom prst="rect">
            <a:avLst/>
          </a:prstGeom>
          <a:noFill/>
        </p:spPr>
        <p:txBody>
          <a:bodyPr wrap="square" rtlCol="0">
            <a:spAutoFit/>
          </a:bodyPr>
          <a:lstStyle/>
          <a:p>
            <a:pPr algn="ctr"/>
            <a:r>
              <a:rPr lang="en-US" sz="2200" dirty="0"/>
              <a:t>if we generate strings from this alphabet, it's kind of obvious whether or not they are in L.</a:t>
            </a:r>
          </a:p>
        </p:txBody>
      </p:sp>
      <p:sp>
        <p:nvSpPr>
          <p:cNvPr id="15" name="TextBox 14">
            <a:extLst>
              <a:ext uri="{FF2B5EF4-FFF2-40B4-BE49-F238E27FC236}">
                <a16:creationId xmlns:a16="http://schemas.microsoft.com/office/drawing/2014/main" id="{98AAE834-D027-7E44-9723-CEB0F4BD7AE4}"/>
              </a:ext>
            </a:extLst>
          </p:cNvPr>
          <p:cNvSpPr txBox="1"/>
          <p:nvPr/>
        </p:nvSpPr>
        <p:spPr>
          <a:xfrm>
            <a:off x="4800596" y="1854300"/>
            <a:ext cx="3733801" cy="769441"/>
          </a:xfrm>
          <a:prstGeom prst="rect">
            <a:avLst/>
          </a:prstGeom>
          <a:noFill/>
        </p:spPr>
        <p:txBody>
          <a:bodyPr wrap="square" rtlCol="0">
            <a:spAutoFit/>
          </a:bodyPr>
          <a:lstStyle/>
          <a:p>
            <a:pPr algn="ctr"/>
            <a:r>
              <a:rPr lang="en-US" sz="2200" dirty="0"/>
              <a:t>each symbol in the alphabet is called a </a:t>
            </a:r>
            <a:r>
              <a:rPr lang="en-US" sz="2200" b="1" dirty="0"/>
              <a:t>terminal.</a:t>
            </a:r>
            <a:endParaRPr lang="en-US" sz="2200" dirty="0"/>
          </a:p>
        </p:txBody>
      </p:sp>
      <p:sp>
        <p:nvSpPr>
          <p:cNvPr id="16" name="TextBox 15">
            <a:extLst>
              <a:ext uri="{FF2B5EF4-FFF2-40B4-BE49-F238E27FC236}">
                <a16:creationId xmlns:a16="http://schemas.microsoft.com/office/drawing/2014/main" id="{1A283E97-1EC8-F447-B95B-A2F1B5A39985}"/>
              </a:ext>
            </a:extLst>
          </p:cNvPr>
          <p:cNvSpPr txBox="1"/>
          <p:nvPr/>
        </p:nvSpPr>
        <p:spPr>
          <a:xfrm>
            <a:off x="457200" y="2073107"/>
            <a:ext cx="4343396" cy="461665"/>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A = { </a:t>
            </a:r>
            <a:r>
              <a:rPr lang="en-US" sz="2400" b="1" dirty="0">
                <a:solidFill>
                  <a:schemeClr val="accent6">
                    <a:lumMod val="75000"/>
                  </a:schemeClr>
                </a:solidFill>
                <a:latin typeface="Consolas" panose="020B0609020204030204" pitchFamily="49" charset="0"/>
                <a:cs typeface="Consolas" panose="020B0609020204030204" pitchFamily="49" charset="0"/>
              </a:rPr>
              <a:t>'a'</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'b'</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'z'</a:t>
            </a:r>
            <a:r>
              <a:rPr lang="en-US" sz="2400" b="1" dirty="0">
                <a:latin typeface="Consolas" panose="020B0609020204030204" pitchFamily="49" charset="0"/>
                <a:cs typeface="Consolas" panose="020B0609020204030204" pitchFamily="49" charset="0"/>
              </a:rPr>
              <a:t> }</a:t>
            </a:r>
          </a:p>
        </p:txBody>
      </p:sp>
      <p:sp>
        <p:nvSpPr>
          <p:cNvPr id="17" name="TextBox 16">
            <a:extLst>
              <a:ext uri="{FF2B5EF4-FFF2-40B4-BE49-F238E27FC236}">
                <a16:creationId xmlns:a16="http://schemas.microsoft.com/office/drawing/2014/main" id="{4C254862-BAEB-B24A-902C-D385317F2DF6}"/>
              </a:ext>
            </a:extLst>
          </p:cNvPr>
          <p:cNvSpPr txBox="1"/>
          <p:nvPr/>
        </p:nvSpPr>
        <p:spPr>
          <a:xfrm>
            <a:off x="3367090" y="3992624"/>
            <a:ext cx="1952622" cy="461665"/>
          </a:xfrm>
          <a:prstGeom prst="rect">
            <a:avLst/>
          </a:prstGeom>
          <a:noFill/>
        </p:spPr>
        <p:txBody>
          <a:bodyPr wrap="square" rtlCol="0">
            <a:spAutoFit/>
          </a:bodyPr>
          <a:lstStyle/>
          <a:p>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err="1">
                <a:solidFill>
                  <a:schemeClr val="accent6">
                    <a:lumMod val="75000"/>
                  </a:schemeClr>
                </a:solidFill>
                <a:latin typeface="Consolas" panose="020B0609020204030204" pitchFamily="49" charset="0"/>
                <a:cs typeface="Consolas" panose="020B0609020204030204" pitchFamily="49" charset="0"/>
              </a:rPr>
              <a:t>hii</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 L</a:t>
            </a:r>
          </a:p>
        </p:txBody>
      </p:sp>
      <p:sp>
        <p:nvSpPr>
          <p:cNvPr id="19" name="TextBox 18">
            <a:extLst>
              <a:ext uri="{FF2B5EF4-FFF2-40B4-BE49-F238E27FC236}">
                <a16:creationId xmlns:a16="http://schemas.microsoft.com/office/drawing/2014/main" id="{0D4F98D1-CD4F-C04A-94CB-85BAB98AAD98}"/>
              </a:ext>
            </a:extLst>
          </p:cNvPr>
          <p:cNvSpPr txBox="1"/>
          <p:nvPr/>
        </p:nvSpPr>
        <p:spPr>
          <a:xfrm>
            <a:off x="5486400" y="3677971"/>
            <a:ext cx="2819400" cy="1107996"/>
          </a:xfrm>
          <a:prstGeom prst="rect">
            <a:avLst/>
          </a:prstGeom>
          <a:noFill/>
        </p:spPr>
        <p:txBody>
          <a:bodyPr wrap="square" rtlCol="0">
            <a:spAutoFit/>
          </a:bodyPr>
          <a:lstStyle/>
          <a:p>
            <a:pPr algn="ctr"/>
            <a:r>
              <a:rPr lang="en-US" sz="2200" dirty="0"/>
              <a:t>…ok, what about a more complicated example?</a:t>
            </a:r>
          </a:p>
        </p:txBody>
      </p:sp>
    </p:spTree>
    <p:extLst>
      <p:ext uri="{BB962C8B-B14F-4D97-AF65-F5344CB8AC3E}">
        <p14:creationId xmlns:p14="http://schemas.microsoft.com/office/powerpoint/2010/main" val="29258078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P spid="9" grpId="0"/>
      <p:bldP spid="15" grpId="0"/>
      <p:bldP spid="16" grpId="0"/>
      <p:bldP spid="17" grpId="0"/>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4B61F-0B5F-AD4D-A5E9-FEDC73F206A7}"/>
              </a:ext>
            </a:extLst>
          </p:cNvPr>
          <p:cNvSpPr>
            <a:spLocks noGrp="1"/>
          </p:cNvSpPr>
          <p:nvPr>
            <p:ph type="title"/>
          </p:nvPr>
        </p:nvSpPr>
        <p:spPr/>
        <p:txBody>
          <a:bodyPr/>
          <a:lstStyle/>
          <a:p>
            <a:r>
              <a:rPr lang="en-US" dirty="0"/>
              <a:t>Grammars</a:t>
            </a:r>
          </a:p>
        </p:txBody>
      </p:sp>
      <p:sp>
        <p:nvSpPr>
          <p:cNvPr id="3" name="Content Placeholder 2">
            <a:extLst>
              <a:ext uri="{FF2B5EF4-FFF2-40B4-BE49-F238E27FC236}">
                <a16:creationId xmlns:a16="http://schemas.microsoft.com/office/drawing/2014/main" id="{E123C020-0338-D249-9315-524102C02327}"/>
              </a:ext>
            </a:extLst>
          </p:cNvPr>
          <p:cNvSpPr>
            <a:spLocks noGrp="1"/>
          </p:cNvSpPr>
          <p:nvPr>
            <p:ph idx="1"/>
          </p:nvPr>
        </p:nvSpPr>
        <p:spPr>
          <a:xfrm>
            <a:off x="152400" y="495301"/>
            <a:ext cx="8991600" cy="838199"/>
          </a:xfrm>
        </p:spPr>
        <p:txBody>
          <a:bodyPr/>
          <a:lstStyle/>
          <a:p>
            <a:r>
              <a:rPr lang="en-US" dirty="0"/>
              <a:t>for more complex or infinite languages, you need a </a:t>
            </a:r>
            <a:r>
              <a:rPr lang="en-US" b="1" dirty="0"/>
              <a:t>grammar: </a:t>
            </a:r>
            <a:r>
              <a:rPr lang="en-US" dirty="0"/>
              <a:t>a set of rules to decide if a string is in the language.</a:t>
            </a:r>
          </a:p>
        </p:txBody>
      </p:sp>
      <p:sp>
        <p:nvSpPr>
          <p:cNvPr id="4" name="Slide Number Placeholder 3">
            <a:extLst>
              <a:ext uri="{FF2B5EF4-FFF2-40B4-BE49-F238E27FC236}">
                <a16:creationId xmlns:a16="http://schemas.microsoft.com/office/drawing/2014/main" id="{15EBDFA1-483B-6D45-921E-04A62C8E7ECE}"/>
              </a:ext>
            </a:extLst>
          </p:cNvPr>
          <p:cNvSpPr>
            <a:spLocks noGrp="1"/>
          </p:cNvSpPr>
          <p:nvPr>
            <p:ph type="sldNum" sz="quarter" idx="12"/>
          </p:nvPr>
        </p:nvSpPr>
        <p:spPr/>
        <p:txBody>
          <a:bodyPr/>
          <a:lstStyle/>
          <a:p>
            <a:fld id="{3552B95B-556F-44BD-91A5-D80C1B9E2BB3}" type="slidenum">
              <a:rPr lang="en-US" smtClean="0"/>
              <a:pPr/>
              <a:t>16</a:t>
            </a:fld>
            <a:endParaRPr lang="en-US"/>
          </a:p>
        </p:txBody>
      </p:sp>
      <p:sp>
        <p:nvSpPr>
          <p:cNvPr id="10" name="TextBox 9">
            <a:extLst>
              <a:ext uri="{FF2B5EF4-FFF2-40B4-BE49-F238E27FC236}">
                <a16:creationId xmlns:a16="http://schemas.microsoft.com/office/drawing/2014/main" id="{0A41C985-04E0-0249-87C5-AE4CE038CB45}"/>
              </a:ext>
            </a:extLst>
          </p:cNvPr>
          <p:cNvSpPr txBox="1"/>
          <p:nvPr/>
        </p:nvSpPr>
        <p:spPr>
          <a:xfrm>
            <a:off x="447680" y="1333500"/>
            <a:ext cx="4953000" cy="461665"/>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L = { </a:t>
            </a:r>
            <a:r>
              <a:rPr lang="en-US" sz="2400" b="1" dirty="0">
                <a:solidFill>
                  <a:schemeClr val="accent6">
                    <a:lumMod val="75000"/>
                  </a:schemeClr>
                </a:solidFill>
                <a:latin typeface="Consolas" panose="020B0609020204030204" pitchFamily="49" charset="0"/>
                <a:cs typeface="Consolas" panose="020B0609020204030204" pitchFamily="49" charset="0"/>
              </a:rPr>
              <a:t>"a"</a:t>
            </a:r>
            <a:r>
              <a:rPr lang="en-US" sz="2400" b="1" dirty="0">
                <a:latin typeface="Consolas" panose="020B0609020204030204" pitchFamily="49" charset="0"/>
                <a:cs typeface="Consolas" panose="020B0609020204030204" pitchFamily="49" charset="0"/>
              </a:rPr>
              <a:t>, </a:t>
            </a:r>
            <a:r>
              <a:rPr lang="en-US" sz="2400" b="1" dirty="0">
                <a:solidFill>
                  <a:schemeClr val="accent6">
                    <a:lumMod val="75000"/>
                  </a:schemeClr>
                </a:solidFill>
                <a:latin typeface="Consolas" panose="020B0609020204030204" pitchFamily="49" charset="0"/>
                <a:cs typeface="Consolas" panose="020B0609020204030204" pitchFamily="49" charset="0"/>
              </a:rPr>
              <a:t>"aa"</a:t>
            </a:r>
            <a:r>
              <a:rPr lang="en-US" sz="2400" b="1" dirty="0">
                <a:latin typeface="Consolas" panose="020B0609020204030204" pitchFamily="49" charset="0"/>
                <a:cs typeface="Consolas" panose="020B0609020204030204" pitchFamily="49" charset="0"/>
              </a:rPr>
              <a:t>, </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err="1">
                <a:solidFill>
                  <a:schemeClr val="accent6">
                    <a:lumMod val="75000"/>
                  </a:schemeClr>
                </a:solidFill>
                <a:latin typeface="Consolas" panose="020B0609020204030204" pitchFamily="49" charset="0"/>
                <a:cs typeface="Consolas" panose="020B0609020204030204" pitchFamily="49" charset="0"/>
              </a:rPr>
              <a:t>aaa</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 }</a:t>
            </a:r>
          </a:p>
        </p:txBody>
      </p:sp>
      <p:sp>
        <p:nvSpPr>
          <p:cNvPr id="11" name="TextBox 10">
            <a:extLst>
              <a:ext uri="{FF2B5EF4-FFF2-40B4-BE49-F238E27FC236}">
                <a16:creationId xmlns:a16="http://schemas.microsoft.com/office/drawing/2014/main" id="{66652C4F-BB1E-0A43-A4A9-99D5DBC1D08B}"/>
              </a:ext>
            </a:extLst>
          </p:cNvPr>
          <p:cNvSpPr txBox="1"/>
          <p:nvPr/>
        </p:nvSpPr>
        <p:spPr>
          <a:xfrm>
            <a:off x="5442588" y="1315531"/>
            <a:ext cx="3015612" cy="769441"/>
          </a:xfrm>
          <a:prstGeom prst="rect">
            <a:avLst/>
          </a:prstGeom>
          <a:noFill/>
        </p:spPr>
        <p:txBody>
          <a:bodyPr wrap="square" rtlCol="0">
            <a:spAutoFit/>
          </a:bodyPr>
          <a:lstStyle/>
          <a:p>
            <a:pPr algn="ctr"/>
            <a:r>
              <a:rPr lang="en-US" sz="2200" dirty="0"/>
              <a:t>what is/are the rule(s) for this language?</a:t>
            </a:r>
          </a:p>
        </p:txBody>
      </p:sp>
      <p:sp>
        <p:nvSpPr>
          <p:cNvPr id="12" name="TextBox 11">
            <a:extLst>
              <a:ext uri="{FF2B5EF4-FFF2-40B4-BE49-F238E27FC236}">
                <a16:creationId xmlns:a16="http://schemas.microsoft.com/office/drawing/2014/main" id="{7F0571B9-8355-424D-A52C-1EF3D242704A}"/>
              </a:ext>
            </a:extLst>
          </p:cNvPr>
          <p:cNvSpPr txBox="1"/>
          <p:nvPr/>
        </p:nvSpPr>
        <p:spPr>
          <a:xfrm>
            <a:off x="5505465" y="2090254"/>
            <a:ext cx="2724140" cy="430887"/>
          </a:xfrm>
          <a:prstGeom prst="rect">
            <a:avLst/>
          </a:prstGeom>
          <a:noFill/>
        </p:spPr>
        <p:txBody>
          <a:bodyPr wrap="square" rtlCol="0">
            <a:spAutoFit/>
          </a:bodyPr>
          <a:lstStyle/>
          <a:p>
            <a:pPr algn="ctr"/>
            <a:r>
              <a:rPr lang="en-US" sz="2200" b="1" dirty="0"/>
              <a:t>"1 or more 'a's"</a:t>
            </a:r>
          </a:p>
        </p:txBody>
      </p:sp>
      <p:sp>
        <p:nvSpPr>
          <p:cNvPr id="14" name="TextBox 13">
            <a:extLst>
              <a:ext uri="{FF2B5EF4-FFF2-40B4-BE49-F238E27FC236}">
                <a16:creationId xmlns:a16="http://schemas.microsoft.com/office/drawing/2014/main" id="{7A019AD4-727B-3844-B9D2-FB6957B53F2B}"/>
              </a:ext>
            </a:extLst>
          </p:cNvPr>
          <p:cNvSpPr txBox="1"/>
          <p:nvPr/>
        </p:nvSpPr>
        <p:spPr>
          <a:xfrm>
            <a:off x="381000" y="2599225"/>
            <a:ext cx="8458200" cy="430887"/>
          </a:xfrm>
          <a:prstGeom prst="rect">
            <a:avLst/>
          </a:prstGeom>
          <a:noFill/>
        </p:spPr>
        <p:txBody>
          <a:bodyPr wrap="square" rtlCol="0">
            <a:spAutoFit/>
          </a:bodyPr>
          <a:lstStyle/>
          <a:p>
            <a:r>
              <a:rPr lang="en-US" sz="2200" dirty="0"/>
              <a:t>okay. but can we write that grammar </a:t>
            </a:r>
            <a:r>
              <a:rPr lang="en-US" sz="2200" b="1" dirty="0"/>
              <a:t>rule</a:t>
            </a:r>
            <a:r>
              <a:rPr lang="en-US" sz="2200" dirty="0"/>
              <a:t> in a more </a:t>
            </a:r>
            <a:r>
              <a:rPr lang="en-US" sz="2200" i="1" dirty="0"/>
              <a:t>rigorous</a:t>
            </a:r>
            <a:r>
              <a:rPr lang="en-US" sz="2200" dirty="0"/>
              <a:t> way?</a:t>
            </a:r>
          </a:p>
        </p:txBody>
      </p:sp>
      <p:sp>
        <p:nvSpPr>
          <p:cNvPr id="15" name="TextBox 14">
            <a:extLst>
              <a:ext uri="{FF2B5EF4-FFF2-40B4-BE49-F238E27FC236}">
                <a16:creationId xmlns:a16="http://schemas.microsoft.com/office/drawing/2014/main" id="{DF75A793-F686-D148-A168-754B325FB479}"/>
              </a:ext>
            </a:extLst>
          </p:cNvPr>
          <p:cNvSpPr txBox="1"/>
          <p:nvPr/>
        </p:nvSpPr>
        <p:spPr>
          <a:xfrm>
            <a:off x="447680" y="1735530"/>
            <a:ext cx="4343396" cy="461665"/>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A = { </a:t>
            </a:r>
            <a:r>
              <a:rPr lang="en-US" sz="2400" b="1" dirty="0">
                <a:solidFill>
                  <a:schemeClr val="accent6">
                    <a:lumMod val="75000"/>
                  </a:schemeClr>
                </a:solidFill>
                <a:latin typeface="Consolas" panose="020B0609020204030204" pitchFamily="49" charset="0"/>
                <a:cs typeface="Consolas" panose="020B0609020204030204" pitchFamily="49" charset="0"/>
              </a:rPr>
              <a:t>'a'</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'b'</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'z'</a:t>
            </a:r>
            <a:r>
              <a:rPr lang="en-US" sz="2400" b="1" dirty="0">
                <a:latin typeface="Consolas" panose="020B0609020204030204" pitchFamily="49" charset="0"/>
                <a:cs typeface="Consolas" panose="020B0609020204030204" pitchFamily="49" charset="0"/>
              </a:rPr>
              <a:t> }</a:t>
            </a:r>
          </a:p>
        </p:txBody>
      </p:sp>
      <p:sp>
        <p:nvSpPr>
          <p:cNvPr id="16" name="TextBox 15">
            <a:extLst>
              <a:ext uri="{FF2B5EF4-FFF2-40B4-BE49-F238E27FC236}">
                <a16:creationId xmlns:a16="http://schemas.microsoft.com/office/drawing/2014/main" id="{5D9A700A-B05D-2A4F-ADB1-9139C622B21E}"/>
              </a:ext>
            </a:extLst>
          </p:cNvPr>
          <p:cNvSpPr txBox="1"/>
          <p:nvPr/>
        </p:nvSpPr>
        <p:spPr>
          <a:xfrm>
            <a:off x="3721744" y="3060890"/>
            <a:ext cx="1949444" cy="584775"/>
          </a:xfrm>
          <a:prstGeom prst="rect">
            <a:avLst/>
          </a:prstGeom>
          <a:noFill/>
        </p:spPr>
        <p:txBody>
          <a:bodyPr wrap="square" rtlCol="0">
            <a:spAutoFit/>
          </a:bodyPr>
          <a:lstStyle/>
          <a:p>
            <a:r>
              <a:rPr lang="en-US" sz="3200" b="1" dirty="0">
                <a:latin typeface="Consolas" panose="020B0609020204030204" pitchFamily="49" charset="0"/>
                <a:cs typeface="Consolas" panose="020B0609020204030204" pitchFamily="49" charset="0"/>
              </a:rPr>
              <a:t>L: </a:t>
            </a:r>
            <a:r>
              <a:rPr lang="en-US" sz="3200" b="1" dirty="0">
                <a:solidFill>
                  <a:schemeClr val="accent6">
                    <a:lumMod val="75000"/>
                  </a:schemeClr>
                </a:solidFill>
                <a:latin typeface="Consolas" panose="020B0609020204030204" pitchFamily="49" charset="0"/>
                <a:cs typeface="Consolas" panose="020B0609020204030204" pitchFamily="49" charset="0"/>
              </a:rPr>
              <a:t>'a'</a:t>
            </a:r>
            <a:r>
              <a:rPr lang="en-US" sz="3200" b="1" dirty="0">
                <a:latin typeface="Consolas" panose="020B0609020204030204" pitchFamily="49" charset="0"/>
                <a:cs typeface="Consolas" panose="020B0609020204030204" pitchFamily="49" charset="0"/>
              </a:rPr>
              <a:t>+</a:t>
            </a:r>
          </a:p>
        </p:txBody>
      </p:sp>
      <p:grpSp>
        <p:nvGrpSpPr>
          <p:cNvPr id="22" name="Group 21">
            <a:extLst>
              <a:ext uri="{FF2B5EF4-FFF2-40B4-BE49-F238E27FC236}">
                <a16:creationId xmlns:a16="http://schemas.microsoft.com/office/drawing/2014/main" id="{91534B37-E34A-2846-87D2-932E7AD8023E}"/>
              </a:ext>
            </a:extLst>
          </p:cNvPr>
          <p:cNvGrpSpPr/>
          <p:nvPr/>
        </p:nvGrpSpPr>
        <p:grpSpPr>
          <a:xfrm>
            <a:off x="360680" y="3572403"/>
            <a:ext cx="3649340" cy="1570612"/>
            <a:chOff x="132080" y="3572403"/>
            <a:chExt cx="3649340" cy="1570612"/>
          </a:xfrm>
        </p:grpSpPr>
        <p:sp>
          <p:nvSpPr>
            <p:cNvPr id="18" name="TextBox 17">
              <a:extLst>
                <a:ext uri="{FF2B5EF4-FFF2-40B4-BE49-F238E27FC236}">
                  <a16:creationId xmlns:a16="http://schemas.microsoft.com/office/drawing/2014/main" id="{53955582-F5B1-F242-B64A-E3ED6D881D91}"/>
                </a:ext>
              </a:extLst>
            </p:cNvPr>
            <p:cNvSpPr txBox="1"/>
            <p:nvPr/>
          </p:nvSpPr>
          <p:spPr>
            <a:xfrm>
              <a:off x="132080" y="3696465"/>
              <a:ext cx="3352800" cy="1446550"/>
            </a:xfrm>
            <a:prstGeom prst="rect">
              <a:avLst/>
            </a:prstGeom>
            <a:noFill/>
          </p:spPr>
          <p:txBody>
            <a:bodyPr wrap="square" rtlCol="0">
              <a:spAutoFit/>
            </a:bodyPr>
            <a:lstStyle/>
            <a:p>
              <a:pPr algn="ctr"/>
              <a:r>
                <a:rPr lang="en-US" sz="2200" dirty="0"/>
                <a:t>this is a </a:t>
              </a:r>
              <a:r>
                <a:rPr lang="en-US" sz="2200" b="1" dirty="0"/>
                <a:t>nonterminal. </a:t>
              </a:r>
              <a:r>
                <a:rPr lang="en-US" sz="2200" dirty="0"/>
                <a:t>it isn't part of the alphabet; it </a:t>
              </a:r>
              <a:r>
                <a:rPr lang="en-US" sz="2200" b="1" dirty="0"/>
                <a:t>stands in </a:t>
              </a:r>
              <a:r>
                <a:rPr lang="en-US" sz="2200" dirty="0"/>
                <a:t>for some combination of terminals.</a:t>
              </a:r>
            </a:p>
          </p:txBody>
        </p:sp>
        <p:sp>
          <p:nvSpPr>
            <p:cNvPr id="21" name="Bent Arrow 20">
              <a:extLst>
                <a:ext uri="{FF2B5EF4-FFF2-40B4-BE49-F238E27FC236}">
                  <a16:creationId xmlns:a16="http://schemas.microsoft.com/office/drawing/2014/main" id="{1CBBB6A3-610B-FC41-A9B2-742487512D14}"/>
                </a:ext>
              </a:extLst>
            </p:cNvPr>
            <p:cNvSpPr/>
            <p:nvPr/>
          </p:nvSpPr>
          <p:spPr>
            <a:xfrm rot="5400000" flipH="1">
              <a:off x="3366335" y="3558868"/>
              <a:ext cx="401549" cy="428620"/>
            </a:xfrm>
            <a:prstGeom prst="bentArrow">
              <a:avLst>
                <a:gd name="adj1" fmla="val 25000"/>
                <a:gd name="adj2" fmla="val 25000"/>
                <a:gd name="adj3" fmla="val 25000"/>
                <a:gd name="adj4" fmla="val 75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23" name="Group 22">
            <a:extLst>
              <a:ext uri="{FF2B5EF4-FFF2-40B4-BE49-F238E27FC236}">
                <a16:creationId xmlns:a16="http://schemas.microsoft.com/office/drawing/2014/main" id="{61097CAD-20A4-F74F-BF9D-E901BEAB5614}"/>
              </a:ext>
            </a:extLst>
          </p:cNvPr>
          <p:cNvGrpSpPr/>
          <p:nvPr/>
        </p:nvGrpSpPr>
        <p:grpSpPr>
          <a:xfrm>
            <a:off x="5214934" y="3566514"/>
            <a:ext cx="3438529" cy="1232058"/>
            <a:chOff x="-254313" y="3572403"/>
            <a:chExt cx="3438529" cy="1232058"/>
          </a:xfrm>
        </p:grpSpPr>
        <p:sp>
          <p:nvSpPr>
            <p:cNvPr id="24" name="TextBox 23">
              <a:extLst>
                <a:ext uri="{FF2B5EF4-FFF2-40B4-BE49-F238E27FC236}">
                  <a16:creationId xmlns:a16="http://schemas.microsoft.com/office/drawing/2014/main" id="{5CF42102-3B71-DC49-9772-401F9FA1A8F8}"/>
                </a:ext>
              </a:extLst>
            </p:cNvPr>
            <p:cNvSpPr txBox="1"/>
            <p:nvPr/>
          </p:nvSpPr>
          <p:spPr>
            <a:xfrm>
              <a:off x="132080" y="3696465"/>
              <a:ext cx="3052136" cy="1107996"/>
            </a:xfrm>
            <a:prstGeom prst="rect">
              <a:avLst/>
            </a:prstGeom>
            <a:noFill/>
          </p:spPr>
          <p:txBody>
            <a:bodyPr wrap="square" rtlCol="0">
              <a:spAutoFit/>
            </a:bodyPr>
            <a:lstStyle/>
            <a:p>
              <a:pPr algn="ctr"/>
              <a:r>
                <a:rPr lang="en-US" sz="2200" dirty="0"/>
                <a:t>this + says "repeat the previous thing </a:t>
              </a:r>
              <a:r>
                <a:rPr lang="en-US" sz="2200" b="1" dirty="0"/>
                <a:t>1 or more times.</a:t>
              </a:r>
              <a:r>
                <a:rPr lang="en-US" sz="2200" dirty="0"/>
                <a:t>"</a:t>
              </a:r>
            </a:p>
          </p:txBody>
        </p:sp>
        <p:sp>
          <p:nvSpPr>
            <p:cNvPr id="25" name="Bent Arrow 24">
              <a:extLst>
                <a:ext uri="{FF2B5EF4-FFF2-40B4-BE49-F238E27FC236}">
                  <a16:creationId xmlns:a16="http://schemas.microsoft.com/office/drawing/2014/main" id="{240AC227-F303-2144-B3E0-05EFA80AA4D1}"/>
                </a:ext>
              </a:extLst>
            </p:cNvPr>
            <p:cNvSpPr/>
            <p:nvPr/>
          </p:nvSpPr>
          <p:spPr>
            <a:xfrm rot="16200000">
              <a:off x="-240778" y="3558868"/>
              <a:ext cx="401549" cy="428620"/>
            </a:xfrm>
            <a:prstGeom prst="bentArrow">
              <a:avLst>
                <a:gd name="adj1" fmla="val 25000"/>
                <a:gd name="adj2" fmla="val 25000"/>
                <a:gd name="adj3" fmla="val 25000"/>
                <a:gd name="adj4" fmla="val 75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Tree>
    <p:extLst>
      <p:ext uri="{BB962C8B-B14F-4D97-AF65-F5344CB8AC3E}">
        <p14:creationId xmlns:p14="http://schemas.microsoft.com/office/powerpoint/2010/main" val="400920782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4" grpId="0"/>
      <p:bldP spid="15" grpId="0"/>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1B888-8E0A-DD44-9DE6-5169285A5837}"/>
              </a:ext>
            </a:extLst>
          </p:cNvPr>
          <p:cNvSpPr>
            <a:spLocks noGrp="1"/>
          </p:cNvSpPr>
          <p:nvPr>
            <p:ph type="title"/>
          </p:nvPr>
        </p:nvSpPr>
        <p:spPr/>
        <p:txBody>
          <a:bodyPr/>
          <a:lstStyle/>
          <a:p>
            <a:r>
              <a:rPr lang="en-US" dirty="0"/>
              <a:t>A language for specifying languages</a:t>
            </a:r>
          </a:p>
        </p:txBody>
      </p:sp>
      <p:sp>
        <p:nvSpPr>
          <p:cNvPr id="3" name="Content Placeholder 2">
            <a:extLst>
              <a:ext uri="{FF2B5EF4-FFF2-40B4-BE49-F238E27FC236}">
                <a16:creationId xmlns:a16="http://schemas.microsoft.com/office/drawing/2014/main" id="{A6EF645A-5CD9-F141-AF42-B6B726449715}"/>
              </a:ext>
            </a:extLst>
          </p:cNvPr>
          <p:cNvSpPr>
            <a:spLocks noGrp="1"/>
          </p:cNvSpPr>
          <p:nvPr>
            <p:ph idx="1"/>
          </p:nvPr>
        </p:nvSpPr>
        <p:spPr>
          <a:xfrm>
            <a:off x="152400" y="495300"/>
            <a:ext cx="8991600" cy="1219200"/>
          </a:xfrm>
        </p:spPr>
        <p:txBody>
          <a:bodyPr/>
          <a:lstStyle/>
          <a:p>
            <a:r>
              <a:rPr lang="en-US" dirty="0"/>
              <a:t>we usually specify the lexical and syntactic form of a language with a </a:t>
            </a:r>
            <a:r>
              <a:rPr lang="en-US" b="1" dirty="0"/>
              <a:t>metalanguage: </a:t>
            </a:r>
            <a:r>
              <a:rPr lang="en-US" dirty="0"/>
              <a:t>a concise way of specifying rules.</a:t>
            </a:r>
          </a:p>
          <a:p>
            <a:r>
              <a:rPr lang="en-US" dirty="0"/>
              <a:t>there are some common patterns for these rules:</a:t>
            </a:r>
          </a:p>
        </p:txBody>
      </p:sp>
      <p:sp>
        <p:nvSpPr>
          <p:cNvPr id="4" name="Slide Number Placeholder 3">
            <a:extLst>
              <a:ext uri="{FF2B5EF4-FFF2-40B4-BE49-F238E27FC236}">
                <a16:creationId xmlns:a16="http://schemas.microsoft.com/office/drawing/2014/main" id="{A62D13DF-BE15-A145-9BF6-8131EA88DCB9}"/>
              </a:ext>
            </a:extLst>
          </p:cNvPr>
          <p:cNvSpPr>
            <a:spLocks noGrp="1"/>
          </p:cNvSpPr>
          <p:nvPr>
            <p:ph type="sldNum" sz="quarter" idx="12"/>
          </p:nvPr>
        </p:nvSpPr>
        <p:spPr/>
        <p:txBody>
          <a:bodyPr/>
          <a:lstStyle/>
          <a:p>
            <a:fld id="{3552B95B-556F-44BD-91A5-D80C1B9E2BB3}" type="slidenum">
              <a:rPr lang="en-US" smtClean="0"/>
              <a:pPr/>
              <a:t>17</a:t>
            </a:fld>
            <a:endParaRPr lang="en-US"/>
          </a:p>
        </p:txBody>
      </p:sp>
      <p:sp>
        <p:nvSpPr>
          <p:cNvPr id="5" name="TextBox 4">
            <a:extLst>
              <a:ext uri="{FF2B5EF4-FFF2-40B4-BE49-F238E27FC236}">
                <a16:creationId xmlns:a16="http://schemas.microsoft.com/office/drawing/2014/main" id="{9DE4FE19-46DC-044F-BC06-5BD3878FD69E}"/>
              </a:ext>
            </a:extLst>
          </p:cNvPr>
          <p:cNvSpPr txBox="1"/>
          <p:nvPr/>
        </p:nvSpPr>
        <p:spPr>
          <a:xfrm>
            <a:off x="1143000" y="1750926"/>
            <a:ext cx="1676400"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L: A B</a:t>
            </a:r>
          </a:p>
        </p:txBody>
      </p:sp>
      <p:sp>
        <p:nvSpPr>
          <p:cNvPr id="6" name="TextBox 5">
            <a:extLst>
              <a:ext uri="{FF2B5EF4-FFF2-40B4-BE49-F238E27FC236}">
                <a16:creationId xmlns:a16="http://schemas.microsoft.com/office/drawing/2014/main" id="{4447BC9C-2DBD-9644-AC0B-0F5480959437}"/>
              </a:ext>
            </a:extLst>
          </p:cNvPr>
          <p:cNvSpPr txBox="1"/>
          <p:nvPr/>
        </p:nvSpPr>
        <p:spPr>
          <a:xfrm>
            <a:off x="3733800" y="1794301"/>
            <a:ext cx="4724400" cy="430887"/>
          </a:xfrm>
          <a:prstGeom prst="rect">
            <a:avLst/>
          </a:prstGeom>
          <a:noFill/>
        </p:spPr>
        <p:txBody>
          <a:bodyPr wrap="square" rtlCol="0">
            <a:spAutoFit/>
          </a:bodyPr>
          <a:lstStyle/>
          <a:p>
            <a:r>
              <a:rPr lang="en-US" sz="2200" b="1" dirty="0"/>
              <a:t>A </a:t>
            </a:r>
            <a:r>
              <a:rPr lang="en-US" sz="2200" dirty="0"/>
              <a:t>followed by </a:t>
            </a:r>
            <a:r>
              <a:rPr lang="en-US" sz="2200" b="1" dirty="0"/>
              <a:t>B. </a:t>
            </a:r>
            <a:r>
              <a:rPr lang="en-US" sz="2200" i="1" dirty="0"/>
              <a:t>(sequencing)</a:t>
            </a:r>
          </a:p>
        </p:txBody>
      </p:sp>
      <p:sp>
        <p:nvSpPr>
          <p:cNvPr id="7" name="TextBox 6">
            <a:extLst>
              <a:ext uri="{FF2B5EF4-FFF2-40B4-BE49-F238E27FC236}">
                <a16:creationId xmlns:a16="http://schemas.microsoft.com/office/drawing/2014/main" id="{E339D25D-7577-7046-8127-007A928F0EF7}"/>
              </a:ext>
            </a:extLst>
          </p:cNvPr>
          <p:cNvSpPr txBox="1"/>
          <p:nvPr/>
        </p:nvSpPr>
        <p:spPr>
          <a:xfrm>
            <a:off x="1143000" y="2181813"/>
            <a:ext cx="2057400"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R: A | B</a:t>
            </a:r>
          </a:p>
        </p:txBody>
      </p:sp>
      <p:sp>
        <p:nvSpPr>
          <p:cNvPr id="8" name="TextBox 7">
            <a:extLst>
              <a:ext uri="{FF2B5EF4-FFF2-40B4-BE49-F238E27FC236}">
                <a16:creationId xmlns:a16="http://schemas.microsoft.com/office/drawing/2014/main" id="{34FF536C-DA09-F14E-8189-EFD8BC535C25}"/>
              </a:ext>
            </a:extLst>
          </p:cNvPr>
          <p:cNvSpPr txBox="1"/>
          <p:nvPr/>
        </p:nvSpPr>
        <p:spPr>
          <a:xfrm>
            <a:off x="3733800" y="2225188"/>
            <a:ext cx="4724400" cy="430887"/>
          </a:xfrm>
          <a:prstGeom prst="rect">
            <a:avLst/>
          </a:prstGeom>
          <a:noFill/>
        </p:spPr>
        <p:txBody>
          <a:bodyPr wrap="square" rtlCol="0">
            <a:spAutoFit/>
          </a:bodyPr>
          <a:lstStyle/>
          <a:p>
            <a:r>
              <a:rPr lang="en-US" sz="2200" dirty="0"/>
              <a:t>an </a:t>
            </a:r>
            <a:r>
              <a:rPr lang="en-US" sz="2200" b="1" dirty="0"/>
              <a:t>A </a:t>
            </a:r>
            <a:r>
              <a:rPr lang="en-US" sz="2200" i="1" dirty="0"/>
              <a:t>or</a:t>
            </a:r>
            <a:r>
              <a:rPr lang="en-US" sz="2200" dirty="0"/>
              <a:t> a </a:t>
            </a:r>
            <a:r>
              <a:rPr lang="en-US" sz="2200" b="1" dirty="0"/>
              <a:t>B. </a:t>
            </a:r>
            <a:r>
              <a:rPr lang="en-US" sz="2200" i="1" dirty="0"/>
              <a:t>(alternation)</a:t>
            </a:r>
          </a:p>
        </p:txBody>
      </p:sp>
      <p:sp>
        <p:nvSpPr>
          <p:cNvPr id="9" name="TextBox 8">
            <a:extLst>
              <a:ext uri="{FF2B5EF4-FFF2-40B4-BE49-F238E27FC236}">
                <a16:creationId xmlns:a16="http://schemas.microsoft.com/office/drawing/2014/main" id="{8A7B5B4F-2EE3-1449-828D-66FB2CEE0210}"/>
              </a:ext>
            </a:extLst>
          </p:cNvPr>
          <p:cNvSpPr txBox="1"/>
          <p:nvPr/>
        </p:nvSpPr>
        <p:spPr>
          <a:xfrm>
            <a:off x="1143000" y="2631750"/>
            <a:ext cx="2057400"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X: A*</a:t>
            </a:r>
          </a:p>
        </p:txBody>
      </p:sp>
      <p:sp>
        <p:nvSpPr>
          <p:cNvPr id="10" name="TextBox 9">
            <a:extLst>
              <a:ext uri="{FF2B5EF4-FFF2-40B4-BE49-F238E27FC236}">
                <a16:creationId xmlns:a16="http://schemas.microsoft.com/office/drawing/2014/main" id="{6650EE87-F148-2F4A-8404-55CAE4B9514E}"/>
              </a:ext>
            </a:extLst>
          </p:cNvPr>
          <p:cNvSpPr txBox="1"/>
          <p:nvPr/>
        </p:nvSpPr>
        <p:spPr>
          <a:xfrm>
            <a:off x="3733800" y="2675125"/>
            <a:ext cx="4724400" cy="430887"/>
          </a:xfrm>
          <a:prstGeom prst="rect">
            <a:avLst/>
          </a:prstGeom>
          <a:noFill/>
        </p:spPr>
        <p:txBody>
          <a:bodyPr wrap="square" rtlCol="0">
            <a:spAutoFit/>
          </a:bodyPr>
          <a:lstStyle/>
          <a:p>
            <a:r>
              <a:rPr lang="en-US" sz="2200" dirty="0"/>
              <a:t>zero or more </a:t>
            </a:r>
            <a:r>
              <a:rPr lang="en-US" sz="2200" b="1" dirty="0"/>
              <a:t>A</a:t>
            </a:r>
            <a:r>
              <a:rPr lang="en-US" sz="2200" dirty="0"/>
              <a:t>s. </a:t>
            </a:r>
            <a:r>
              <a:rPr lang="en-US" sz="2200" i="1" dirty="0"/>
              <a:t>(repetition)</a:t>
            </a:r>
          </a:p>
        </p:txBody>
      </p:sp>
      <p:sp>
        <p:nvSpPr>
          <p:cNvPr id="11" name="TextBox 10">
            <a:extLst>
              <a:ext uri="{FF2B5EF4-FFF2-40B4-BE49-F238E27FC236}">
                <a16:creationId xmlns:a16="http://schemas.microsoft.com/office/drawing/2014/main" id="{90B2EB33-7796-F04D-9479-65D30D98D263}"/>
              </a:ext>
            </a:extLst>
          </p:cNvPr>
          <p:cNvSpPr txBox="1"/>
          <p:nvPr/>
        </p:nvSpPr>
        <p:spPr>
          <a:xfrm>
            <a:off x="1143000" y="3058926"/>
            <a:ext cx="2057400"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Y: A+</a:t>
            </a:r>
          </a:p>
        </p:txBody>
      </p:sp>
      <p:sp>
        <p:nvSpPr>
          <p:cNvPr id="12" name="TextBox 11">
            <a:extLst>
              <a:ext uri="{FF2B5EF4-FFF2-40B4-BE49-F238E27FC236}">
                <a16:creationId xmlns:a16="http://schemas.microsoft.com/office/drawing/2014/main" id="{5F329AF3-2415-F048-8B48-CFE662215CAF}"/>
              </a:ext>
            </a:extLst>
          </p:cNvPr>
          <p:cNvSpPr txBox="1"/>
          <p:nvPr/>
        </p:nvSpPr>
        <p:spPr>
          <a:xfrm>
            <a:off x="3733800" y="3102301"/>
            <a:ext cx="4724400" cy="430887"/>
          </a:xfrm>
          <a:prstGeom prst="rect">
            <a:avLst/>
          </a:prstGeom>
          <a:noFill/>
        </p:spPr>
        <p:txBody>
          <a:bodyPr wrap="square" rtlCol="0">
            <a:spAutoFit/>
          </a:bodyPr>
          <a:lstStyle/>
          <a:p>
            <a:r>
              <a:rPr lang="en-US" sz="2200" dirty="0"/>
              <a:t>one or more </a:t>
            </a:r>
            <a:r>
              <a:rPr lang="en-US" sz="2200" b="1" dirty="0"/>
              <a:t>A</a:t>
            </a:r>
            <a:r>
              <a:rPr lang="en-US" sz="2200" dirty="0"/>
              <a:t>s. </a:t>
            </a:r>
            <a:r>
              <a:rPr lang="en-US" sz="2200" i="1" dirty="0"/>
              <a:t>(repetition… again)</a:t>
            </a:r>
          </a:p>
        </p:txBody>
      </p:sp>
      <p:sp>
        <p:nvSpPr>
          <p:cNvPr id="13" name="TextBox 12">
            <a:extLst>
              <a:ext uri="{FF2B5EF4-FFF2-40B4-BE49-F238E27FC236}">
                <a16:creationId xmlns:a16="http://schemas.microsoft.com/office/drawing/2014/main" id="{F28A652B-F59C-AE4D-BF8F-8322730F763D}"/>
              </a:ext>
            </a:extLst>
          </p:cNvPr>
          <p:cNvSpPr txBox="1"/>
          <p:nvPr/>
        </p:nvSpPr>
        <p:spPr>
          <a:xfrm>
            <a:off x="1143000" y="3486102"/>
            <a:ext cx="2057400"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U: A?</a:t>
            </a:r>
          </a:p>
        </p:txBody>
      </p:sp>
      <p:sp>
        <p:nvSpPr>
          <p:cNvPr id="14" name="TextBox 13">
            <a:extLst>
              <a:ext uri="{FF2B5EF4-FFF2-40B4-BE49-F238E27FC236}">
                <a16:creationId xmlns:a16="http://schemas.microsoft.com/office/drawing/2014/main" id="{C2021B18-3CA3-4F4F-BE15-821DA6ED0EEA}"/>
              </a:ext>
            </a:extLst>
          </p:cNvPr>
          <p:cNvSpPr txBox="1"/>
          <p:nvPr/>
        </p:nvSpPr>
        <p:spPr>
          <a:xfrm>
            <a:off x="3733800" y="3529477"/>
            <a:ext cx="4724400" cy="430887"/>
          </a:xfrm>
          <a:prstGeom prst="rect">
            <a:avLst/>
          </a:prstGeom>
          <a:noFill/>
        </p:spPr>
        <p:txBody>
          <a:bodyPr wrap="square" rtlCol="0">
            <a:spAutoFit/>
          </a:bodyPr>
          <a:lstStyle/>
          <a:p>
            <a:r>
              <a:rPr lang="en-US" sz="2200" dirty="0"/>
              <a:t>zero or one </a:t>
            </a:r>
            <a:r>
              <a:rPr lang="en-US" sz="2200" b="1" dirty="0"/>
              <a:t>A</a:t>
            </a:r>
            <a:r>
              <a:rPr lang="en-US" sz="2200" dirty="0"/>
              <a:t>, or "an optional </a:t>
            </a:r>
            <a:r>
              <a:rPr lang="en-US" sz="2200" b="1" dirty="0"/>
              <a:t>A</a:t>
            </a:r>
            <a:r>
              <a:rPr lang="en-US" sz="2200" dirty="0"/>
              <a:t>".</a:t>
            </a:r>
            <a:endParaRPr lang="en-US" sz="2200" i="1" dirty="0"/>
          </a:p>
        </p:txBody>
      </p:sp>
      <p:sp>
        <p:nvSpPr>
          <p:cNvPr id="15" name="TextBox 14">
            <a:extLst>
              <a:ext uri="{FF2B5EF4-FFF2-40B4-BE49-F238E27FC236}">
                <a16:creationId xmlns:a16="http://schemas.microsoft.com/office/drawing/2014/main" id="{E9467282-D9B6-5F4E-945A-34D551FCB5EF}"/>
              </a:ext>
            </a:extLst>
          </p:cNvPr>
          <p:cNvSpPr txBox="1"/>
          <p:nvPr/>
        </p:nvSpPr>
        <p:spPr>
          <a:xfrm>
            <a:off x="1143000" y="3892790"/>
            <a:ext cx="2057400" cy="523220"/>
          </a:xfrm>
          <a:prstGeom prst="rect">
            <a:avLst/>
          </a:prstGeom>
          <a:noFill/>
        </p:spPr>
        <p:txBody>
          <a:bodyPr wrap="square" rtlCol="0">
            <a:spAutoFit/>
          </a:bodyPr>
          <a:lstStyle/>
          <a:p>
            <a:r>
              <a:rPr lang="en-US" sz="2800" b="1" dirty="0">
                <a:latin typeface="Consolas" panose="020B0609020204030204" pitchFamily="49" charset="0"/>
                <a:cs typeface="Consolas" panose="020B0609020204030204" pitchFamily="49" charset="0"/>
              </a:rPr>
              <a:t>D: (A B)+</a:t>
            </a:r>
          </a:p>
        </p:txBody>
      </p:sp>
      <p:sp>
        <p:nvSpPr>
          <p:cNvPr id="16" name="TextBox 15">
            <a:extLst>
              <a:ext uri="{FF2B5EF4-FFF2-40B4-BE49-F238E27FC236}">
                <a16:creationId xmlns:a16="http://schemas.microsoft.com/office/drawing/2014/main" id="{3204EC32-657A-4E4B-A062-1B3C69F549A7}"/>
              </a:ext>
            </a:extLst>
          </p:cNvPr>
          <p:cNvSpPr txBox="1"/>
          <p:nvPr/>
        </p:nvSpPr>
        <p:spPr>
          <a:xfrm>
            <a:off x="3733800" y="3936165"/>
            <a:ext cx="4724400" cy="430887"/>
          </a:xfrm>
          <a:prstGeom prst="rect">
            <a:avLst/>
          </a:prstGeom>
          <a:noFill/>
        </p:spPr>
        <p:txBody>
          <a:bodyPr wrap="square" rtlCol="0">
            <a:spAutoFit/>
          </a:bodyPr>
          <a:lstStyle/>
          <a:p>
            <a:r>
              <a:rPr lang="en-US" sz="2200" dirty="0" err="1"/>
              <a:t>parens</a:t>
            </a:r>
            <a:r>
              <a:rPr lang="en-US" sz="2200" dirty="0"/>
              <a:t> can group things together.</a:t>
            </a:r>
            <a:endParaRPr lang="en-US" sz="2200" i="1" dirty="0"/>
          </a:p>
        </p:txBody>
      </p:sp>
      <p:sp>
        <p:nvSpPr>
          <p:cNvPr id="17" name="TextBox 16">
            <a:extLst>
              <a:ext uri="{FF2B5EF4-FFF2-40B4-BE49-F238E27FC236}">
                <a16:creationId xmlns:a16="http://schemas.microsoft.com/office/drawing/2014/main" id="{5937BF33-345C-A84A-942A-8029BBEAC296}"/>
              </a:ext>
            </a:extLst>
          </p:cNvPr>
          <p:cNvSpPr txBox="1"/>
          <p:nvPr/>
        </p:nvSpPr>
        <p:spPr>
          <a:xfrm>
            <a:off x="838200" y="4511210"/>
            <a:ext cx="7467600" cy="769441"/>
          </a:xfrm>
          <a:prstGeom prst="rect">
            <a:avLst/>
          </a:prstGeom>
          <a:noFill/>
        </p:spPr>
        <p:txBody>
          <a:bodyPr wrap="square" rtlCol="0">
            <a:spAutoFit/>
          </a:bodyPr>
          <a:lstStyle/>
          <a:p>
            <a:pPr algn="ctr"/>
            <a:r>
              <a:rPr lang="en-US" sz="2200" dirty="0"/>
              <a:t>in these examples, A and B can be </a:t>
            </a:r>
            <a:r>
              <a:rPr lang="en-US" sz="2200" b="1" dirty="0"/>
              <a:t>terminals</a:t>
            </a:r>
            <a:r>
              <a:rPr lang="en-US" sz="2200" dirty="0"/>
              <a:t> (from the alphabet) </a:t>
            </a:r>
            <a:r>
              <a:rPr lang="en-US" sz="2200" i="1" dirty="0"/>
              <a:t>or</a:t>
            </a:r>
            <a:r>
              <a:rPr lang="en-US" sz="2200" dirty="0"/>
              <a:t> </a:t>
            </a:r>
            <a:r>
              <a:rPr lang="en-US" sz="2200" b="1" dirty="0" err="1"/>
              <a:t>nonterminals</a:t>
            </a:r>
            <a:r>
              <a:rPr lang="en-US" sz="2200" dirty="0"/>
              <a:t> (names of other rules).</a:t>
            </a:r>
            <a:endParaRPr lang="en-US" sz="2200" i="1" dirty="0"/>
          </a:p>
        </p:txBody>
      </p:sp>
    </p:spTree>
    <p:extLst>
      <p:ext uri="{BB962C8B-B14F-4D97-AF65-F5344CB8AC3E}">
        <p14:creationId xmlns:p14="http://schemas.microsoft.com/office/powerpoint/2010/main" val="29073800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3" grpId="0"/>
      <p:bldP spid="14" grpId="0"/>
      <p:bldP spid="15" grpId="0"/>
      <p:bldP spid="16"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63C61-D2C6-DC47-80C5-5E881A3A629D}"/>
              </a:ext>
            </a:extLst>
          </p:cNvPr>
          <p:cNvSpPr>
            <a:spLocks noGrp="1"/>
          </p:cNvSpPr>
          <p:nvPr>
            <p:ph type="title"/>
          </p:nvPr>
        </p:nvSpPr>
        <p:spPr/>
        <p:txBody>
          <a:bodyPr/>
          <a:lstStyle/>
          <a:p>
            <a:r>
              <a:rPr lang="en-US" dirty="0"/>
              <a:t>Lexing a programming language</a:t>
            </a:r>
          </a:p>
        </p:txBody>
      </p:sp>
      <p:sp>
        <p:nvSpPr>
          <p:cNvPr id="3" name="Content Placeholder 2">
            <a:extLst>
              <a:ext uri="{FF2B5EF4-FFF2-40B4-BE49-F238E27FC236}">
                <a16:creationId xmlns:a16="http://schemas.microsoft.com/office/drawing/2014/main" id="{994FA19C-15B7-A144-B91F-4CF44A7154F7}"/>
              </a:ext>
            </a:extLst>
          </p:cNvPr>
          <p:cNvSpPr>
            <a:spLocks noGrp="1"/>
          </p:cNvSpPr>
          <p:nvPr>
            <p:ph idx="1"/>
          </p:nvPr>
        </p:nvSpPr>
        <p:spPr>
          <a:xfrm>
            <a:off x="152400" y="495301"/>
            <a:ext cx="8991600" cy="1828799"/>
          </a:xfrm>
        </p:spPr>
        <p:txBody>
          <a:bodyPr/>
          <a:lstStyle/>
          <a:p>
            <a:r>
              <a:rPr lang="en-US" dirty="0"/>
              <a:t>the </a:t>
            </a:r>
            <a:r>
              <a:rPr lang="en-US" b="1" dirty="0"/>
              <a:t>alphabet</a:t>
            </a:r>
            <a:r>
              <a:rPr lang="en-US" dirty="0"/>
              <a:t> is the character set that the source code is in.</a:t>
            </a:r>
          </a:p>
          <a:p>
            <a:pPr lvl="1"/>
            <a:r>
              <a:rPr lang="en-US" dirty="0"/>
              <a:t>in our case, that's </a:t>
            </a:r>
            <a:r>
              <a:rPr lang="en-US" b="1" dirty="0"/>
              <a:t>Unicode!</a:t>
            </a:r>
          </a:p>
          <a:p>
            <a:r>
              <a:rPr lang="en-US" dirty="0"/>
              <a:t>the </a:t>
            </a:r>
            <a:r>
              <a:rPr lang="en-US" b="1" dirty="0"/>
              <a:t>language</a:t>
            </a:r>
            <a:r>
              <a:rPr lang="en-US" dirty="0"/>
              <a:t> isn't the </a:t>
            </a:r>
            <a:r>
              <a:rPr lang="en-US" i="1" dirty="0"/>
              <a:t>entire</a:t>
            </a:r>
            <a:r>
              <a:rPr lang="en-US" dirty="0"/>
              <a:t> programming language…</a:t>
            </a:r>
          </a:p>
          <a:p>
            <a:pPr lvl="1"/>
            <a:r>
              <a:rPr lang="en-US" dirty="0"/>
              <a:t>instead, it's </a:t>
            </a:r>
            <a:r>
              <a:rPr lang="en-US" b="1" dirty="0"/>
              <a:t>the tokens we want to produce.</a:t>
            </a:r>
          </a:p>
          <a:p>
            <a:r>
              <a:rPr lang="en-US" dirty="0"/>
              <a:t>so, we'll write a rule for each kind of token.</a:t>
            </a:r>
          </a:p>
        </p:txBody>
      </p:sp>
      <p:sp>
        <p:nvSpPr>
          <p:cNvPr id="4" name="Slide Number Placeholder 3">
            <a:extLst>
              <a:ext uri="{FF2B5EF4-FFF2-40B4-BE49-F238E27FC236}">
                <a16:creationId xmlns:a16="http://schemas.microsoft.com/office/drawing/2014/main" id="{AF6F8130-4558-B245-AA5D-FEA3C24ABD4C}"/>
              </a:ext>
            </a:extLst>
          </p:cNvPr>
          <p:cNvSpPr>
            <a:spLocks noGrp="1"/>
          </p:cNvSpPr>
          <p:nvPr>
            <p:ph type="sldNum" sz="quarter" idx="12"/>
          </p:nvPr>
        </p:nvSpPr>
        <p:spPr/>
        <p:txBody>
          <a:bodyPr/>
          <a:lstStyle/>
          <a:p>
            <a:fld id="{3552B95B-556F-44BD-91A5-D80C1B9E2BB3}" type="slidenum">
              <a:rPr lang="en-US" smtClean="0"/>
              <a:pPr/>
              <a:t>18</a:t>
            </a:fld>
            <a:endParaRPr lang="en-US"/>
          </a:p>
        </p:txBody>
      </p:sp>
      <p:sp>
        <p:nvSpPr>
          <p:cNvPr id="5" name="TextBox 4">
            <a:extLst>
              <a:ext uri="{FF2B5EF4-FFF2-40B4-BE49-F238E27FC236}">
                <a16:creationId xmlns:a16="http://schemas.microsoft.com/office/drawing/2014/main" id="{9E8525B3-87DA-2648-84DD-4925E8F6CD1A}"/>
              </a:ext>
            </a:extLst>
          </p:cNvPr>
          <p:cNvSpPr txBox="1"/>
          <p:nvPr/>
        </p:nvSpPr>
        <p:spPr>
          <a:xfrm>
            <a:off x="304800" y="2400300"/>
            <a:ext cx="8382000" cy="461665"/>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Symbol: </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 </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 </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 </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 </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 (</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E24B25E0-7A21-B74A-8881-7EC763A77469}"/>
              </a:ext>
            </a:extLst>
          </p:cNvPr>
          <p:cNvSpPr txBox="1"/>
          <p:nvPr/>
        </p:nvSpPr>
        <p:spPr>
          <a:xfrm>
            <a:off x="457200" y="2861965"/>
            <a:ext cx="8305800" cy="430887"/>
          </a:xfrm>
          <a:prstGeom prst="rect">
            <a:avLst/>
          </a:prstGeom>
          <a:noFill/>
        </p:spPr>
        <p:txBody>
          <a:bodyPr wrap="square" rtlCol="0">
            <a:spAutoFit/>
          </a:bodyPr>
          <a:lstStyle/>
          <a:p>
            <a:pPr algn="ctr"/>
            <a:r>
              <a:rPr lang="en-US" sz="2200" dirty="0"/>
              <a:t>'quoted' things are </a:t>
            </a:r>
            <a:r>
              <a:rPr lang="en-US" sz="2200" b="1" dirty="0"/>
              <a:t>terminals, </a:t>
            </a:r>
            <a:r>
              <a:rPr lang="en-US" sz="2200" dirty="0"/>
              <a:t>picked from the </a:t>
            </a:r>
            <a:r>
              <a:rPr lang="en-US" sz="2200" b="1" dirty="0"/>
              <a:t>alphabet.</a:t>
            </a:r>
            <a:endParaRPr lang="en-US" sz="2200" dirty="0"/>
          </a:p>
        </p:txBody>
      </p:sp>
      <p:sp>
        <p:nvSpPr>
          <p:cNvPr id="7" name="TextBox 6">
            <a:extLst>
              <a:ext uri="{FF2B5EF4-FFF2-40B4-BE49-F238E27FC236}">
                <a16:creationId xmlns:a16="http://schemas.microsoft.com/office/drawing/2014/main" id="{76E2B9FF-A9B9-914D-B454-25588141D518}"/>
              </a:ext>
            </a:extLst>
          </p:cNvPr>
          <p:cNvSpPr txBox="1"/>
          <p:nvPr/>
        </p:nvSpPr>
        <p:spPr>
          <a:xfrm>
            <a:off x="304800" y="3323630"/>
            <a:ext cx="8382000" cy="461665"/>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Keyword: (</a:t>
            </a:r>
            <a:r>
              <a:rPr lang="en-US" sz="2400" b="1" dirty="0">
                <a:solidFill>
                  <a:schemeClr val="accent6">
                    <a:lumMod val="75000"/>
                  </a:schemeClr>
                </a:solidFill>
                <a:latin typeface="Consolas" panose="020B0609020204030204" pitchFamily="49" charset="0"/>
                <a:cs typeface="Consolas" panose="020B0609020204030204" pitchFamily="49" charset="0"/>
              </a:rPr>
              <a:t>'i' 'f'</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'e' 'l' 's' 'e'</a:t>
            </a:r>
            <a:r>
              <a:rPr lang="en-US" sz="2400" b="1" dirty="0">
                <a:latin typeface="Consolas" panose="020B0609020204030204" pitchFamily="49" charset="0"/>
                <a:cs typeface="Consolas" panose="020B0609020204030204" pitchFamily="49" charset="0"/>
              </a:rPr>
              <a:t>) |... </a:t>
            </a:r>
          </a:p>
        </p:txBody>
      </p:sp>
      <p:sp>
        <p:nvSpPr>
          <p:cNvPr id="8" name="TextBox 7">
            <a:extLst>
              <a:ext uri="{FF2B5EF4-FFF2-40B4-BE49-F238E27FC236}">
                <a16:creationId xmlns:a16="http://schemas.microsoft.com/office/drawing/2014/main" id="{CDDCC3C1-11CE-CD40-8FF9-332C5BDAD947}"/>
              </a:ext>
            </a:extLst>
          </p:cNvPr>
          <p:cNvSpPr txBox="1"/>
          <p:nvPr/>
        </p:nvSpPr>
        <p:spPr>
          <a:xfrm>
            <a:off x="228600" y="3876934"/>
            <a:ext cx="8763000" cy="430887"/>
          </a:xfrm>
          <a:prstGeom prst="rect">
            <a:avLst/>
          </a:prstGeom>
          <a:noFill/>
        </p:spPr>
        <p:txBody>
          <a:bodyPr wrap="square" rtlCol="0">
            <a:spAutoFit/>
          </a:bodyPr>
          <a:lstStyle/>
          <a:p>
            <a:r>
              <a:rPr lang="en-US" sz="2200" dirty="0"/>
              <a:t>that's ugly, but we can make our metalanguage look any way we like.</a:t>
            </a:r>
          </a:p>
        </p:txBody>
      </p:sp>
      <p:sp>
        <p:nvSpPr>
          <p:cNvPr id="9" name="TextBox 8">
            <a:extLst>
              <a:ext uri="{FF2B5EF4-FFF2-40B4-BE49-F238E27FC236}">
                <a16:creationId xmlns:a16="http://schemas.microsoft.com/office/drawing/2014/main" id="{92BD3D17-B890-C044-8381-8984A05C2411}"/>
              </a:ext>
            </a:extLst>
          </p:cNvPr>
          <p:cNvSpPr txBox="1"/>
          <p:nvPr/>
        </p:nvSpPr>
        <p:spPr>
          <a:xfrm>
            <a:off x="295275" y="4427651"/>
            <a:ext cx="8382000" cy="461665"/>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Keyword: </a:t>
            </a:r>
            <a:r>
              <a:rPr lang="en-US" sz="2400" b="1" dirty="0">
                <a:solidFill>
                  <a:schemeClr val="accent6">
                    <a:lumMod val="75000"/>
                  </a:schemeClr>
                </a:solidFill>
                <a:latin typeface="Consolas" panose="020B0609020204030204" pitchFamily="49" charset="0"/>
                <a:cs typeface="Consolas" panose="020B0609020204030204" pitchFamily="49" charset="0"/>
              </a:rPr>
              <a:t>"if" </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 "else"</a:t>
            </a:r>
            <a:r>
              <a:rPr lang="en-US" sz="2400" b="1" dirty="0">
                <a:latin typeface="Consolas" panose="020B0609020204030204" pitchFamily="49" charset="0"/>
                <a:cs typeface="Consolas" panose="020B0609020204030204" pitchFamily="49" charset="0"/>
              </a:rPr>
              <a:t> | </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err="1">
                <a:solidFill>
                  <a:schemeClr val="accent6">
                    <a:lumMod val="75000"/>
                  </a:schemeClr>
                </a:solidFill>
                <a:latin typeface="Consolas" panose="020B0609020204030204" pitchFamily="49" charset="0"/>
                <a:cs typeface="Consolas" panose="020B0609020204030204" pitchFamily="49" charset="0"/>
              </a:rPr>
              <a:t>fn</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 </a:t>
            </a:r>
            <a:r>
              <a:rPr lang="en-US" sz="2400" b="1" dirty="0">
                <a:solidFill>
                  <a:schemeClr val="accent6">
                    <a:lumMod val="75000"/>
                  </a:schemeClr>
                </a:solidFill>
                <a:latin typeface="Consolas" panose="020B0609020204030204" pitchFamily="49" charset="0"/>
                <a:cs typeface="Consolas" panose="020B0609020204030204" pitchFamily="49" charset="0"/>
              </a:rPr>
              <a:t>"return"</a:t>
            </a:r>
          </a:p>
        </p:txBody>
      </p:sp>
      <p:sp>
        <p:nvSpPr>
          <p:cNvPr id="10" name="TextBox 9">
            <a:extLst>
              <a:ext uri="{FF2B5EF4-FFF2-40B4-BE49-F238E27FC236}">
                <a16:creationId xmlns:a16="http://schemas.microsoft.com/office/drawing/2014/main" id="{7C2DCDED-EB4F-094D-B9BC-FC31BE84E2C7}"/>
              </a:ext>
            </a:extLst>
          </p:cNvPr>
          <p:cNvSpPr txBox="1"/>
          <p:nvPr/>
        </p:nvSpPr>
        <p:spPr>
          <a:xfrm>
            <a:off x="228600" y="5009146"/>
            <a:ext cx="1905000" cy="430887"/>
          </a:xfrm>
          <a:prstGeom prst="rect">
            <a:avLst/>
          </a:prstGeom>
          <a:noFill/>
        </p:spPr>
        <p:txBody>
          <a:bodyPr wrap="square" rtlCol="0">
            <a:spAutoFit/>
          </a:bodyPr>
          <a:lstStyle/>
          <a:p>
            <a:r>
              <a:rPr lang="en-US" sz="2200" dirty="0"/>
              <a:t>that's better!</a:t>
            </a:r>
          </a:p>
        </p:txBody>
      </p:sp>
    </p:spTree>
    <p:extLst>
      <p:ext uri="{BB962C8B-B14F-4D97-AF65-F5344CB8AC3E}">
        <p14:creationId xmlns:p14="http://schemas.microsoft.com/office/powerpoint/2010/main" val="25576852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91C64-B19F-AA4D-ADC8-DF79B9307DC2}"/>
              </a:ext>
            </a:extLst>
          </p:cNvPr>
          <p:cNvSpPr>
            <a:spLocks noGrp="1"/>
          </p:cNvSpPr>
          <p:nvPr>
            <p:ph type="title"/>
          </p:nvPr>
        </p:nvSpPr>
        <p:spPr/>
        <p:txBody>
          <a:bodyPr/>
          <a:lstStyle/>
          <a:p>
            <a:r>
              <a:rPr lang="en-US" dirty="0"/>
              <a:t>Getting more complex</a:t>
            </a:r>
          </a:p>
        </p:txBody>
      </p:sp>
      <p:sp>
        <p:nvSpPr>
          <p:cNvPr id="3" name="Content Placeholder 2">
            <a:extLst>
              <a:ext uri="{FF2B5EF4-FFF2-40B4-BE49-F238E27FC236}">
                <a16:creationId xmlns:a16="http://schemas.microsoft.com/office/drawing/2014/main" id="{92828742-453B-E541-9296-6DBCD48248D7}"/>
              </a:ext>
            </a:extLst>
          </p:cNvPr>
          <p:cNvSpPr>
            <a:spLocks noGrp="1"/>
          </p:cNvSpPr>
          <p:nvPr>
            <p:ph idx="1"/>
          </p:nvPr>
        </p:nvSpPr>
        <p:spPr>
          <a:xfrm>
            <a:off x="152400" y="495301"/>
            <a:ext cx="8991600" cy="533399"/>
          </a:xfrm>
        </p:spPr>
        <p:txBody>
          <a:bodyPr/>
          <a:lstStyle/>
          <a:p>
            <a:r>
              <a:rPr lang="en-US" dirty="0"/>
              <a:t>rules can refer to other rules. like here:</a:t>
            </a:r>
          </a:p>
        </p:txBody>
      </p:sp>
      <p:sp>
        <p:nvSpPr>
          <p:cNvPr id="4" name="Slide Number Placeholder 3">
            <a:extLst>
              <a:ext uri="{FF2B5EF4-FFF2-40B4-BE49-F238E27FC236}">
                <a16:creationId xmlns:a16="http://schemas.microsoft.com/office/drawing/2014/main" id="{7ED6E75E-9FAE-DD42-896E-617DB1D85EAF}"/>
              </a:ext>
            </a:extLst>
          </p:cNvPr>
          <p:cNvSpPr>
            <a:spLocks noGrp="1"/>
          </p:cNvSpPr>
          <p:nvPr>
            <p:ph type="sldNum" sz="quarter" idx="12"/>
          </p:nvPr>
        </p:nvSpPr>
        <p:spPr/>
        <p:txBody>
          <a:bodyPr/>
          <a:lstStyle/>
          <a:p>
            <a:fld id="{3552B95B-556F-44BD-91A5-D80C1B9E2BB3}" type="slidenum">
              <a:rPr lang="en-US" smtClean="0"/>
              <a:pPr/>
              <a:t>19</a:t>
            </a:fld>
            <a:endParaRPr lang="en-US"/>
          </a:p>
        </p:txBody>
      </p:sp>
      <p:sp>
        <p:nvSpPr>
          <p:cNvPr id="5" name="TextBox 4">
            <a:extLst>
              <a:ext uri="{FF2B5EF4-FFF2-40B4-BE49-F238E27FC236}">
                <a16:creationId xmlns:a16="http://schemas.microsoft.com/office/drawing/2014/main" id="{7AF93575-34B0-1D44-86B7-A4F7826991D8}"/>
              </a:ext>
            </a:extLst>
          </p:cNvPr>
          <p:cNvSpPr txBox="1"/>
          <p:nvPr/>
        </p:nvSpPr>
        <p:spPr>
          <a:xfrm>
            <a:off x="419100" y="918508"/>
            <a:ext cx="8382000" cy="1938992"/>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Id:      </a:t>
            </a:r>
            <a:r>
              <a:rPr lang="en-US" sz="2400" b="1" dirty="0" err="1">
                <a:latin typeface="Consolas" panose="020B0609020204030204" pitchFamily="49" charset="0"/>
                <a:cs typeface="Consolas" panose="020B0609020204030204" pitchFamily="49" charset="0"/>
              </a:rPr>
              <a:t>IdStart</a:t>
            </a:r>
            <a:r>
              <a:rPr lang="en-US" sz="2400" b="1" dirty="0">
                <a:latin typeface="Consolas" panose="020B0609020204030204" pitchFamily="49" charset="0"/>
                <a:cs typeface="Consolas" panose="020B0609020204030204" pitchFamily="49" charset="0"/>
              </a:rPr>
              <a:t> </a:t>
            </a:r>
            <a:r>
              <a:rPr lang="en-US" sz="2400" b="1" dirty="0" err="1">
                <a:latin typeface="Consolas" panose="020B0609020204030204" pitchFamily="49" charset="0"/>
                <a:cs typeface="Consolas" panose="020B0609020204030204" pitchFamily="49" charset="0"/>
              </a:rPr>
              <a:t>IdCont</a:t>
            </a:r>
            <a:r>
              <a:rPr lang="en-US" sz="2400" b="1" dirty="0">
                <a:latin typeface="Consolas" panose="020B0609020204030204" pitchFamily="49" charset="0"/>
                <a:cs typeface="Consolas" panose="020B0609020204030204" pitchFamily="49" charset="0"/>
              </a:rPr>
              <a:t>*</a:t>
            </a:r>
          </a:p>
          <a:p>
            <a:r>
              <a:rPr lang="en-US" sz="2400" b="1" dirty="0" err="1">
                <a:latin typeface="Consolas" panose="020B0609020204030204" pitchFamily="49" charset="0"/>
                <a:cs typeface="Consolas" panose="020B0609020204030204" pitchFamily="49" charset="0"/>
              </a:rPr>
              <a:t>IdStart</a:t>
            </a:r>
            <a:r>
              <a:rPr lang="en-US" sz="2400" b="1" dirty="0">
                <a:latin typeface="Consolas" panose="020B0609020204030204" pitchFamily="49" charset="0"/>
                <a:cs typeface="Consolas" panose="020B0609020204030204" pitchFamily="49" charset="0"/>
              </a:rPr>
              <a:t>: Alphabetic | </a:t>
            </a:r>
            <a:r>
              <a:rPr lang="en-US" sz="2400" b="1" dirty="0">
                <a:solidFill>
                  <a:schemeClr val="accent6">
                    <a:lumMod val="75000"/>
                  </a:schemeClr>
                </a:solidFill>
                <a:latin typeface="Consolas" panose="020B0609020204030204" pitchFamily="49" charset="0"/>
                <a:cs typeface="Consolas" panose="020B0609020204030204" pitchFamily="49" charset="0"/>
              </a:rPr>
              <a:t>'_'</a:t>
            </a:r>
            <a:r>
              <a:rPr lang="en-US" sz="2400" b="1" dirty="0">
                <a:latin typeface="Consolas" panose="020B0609020204030204" pitchFamily="49" charset="0"/>
                <a:cs typeface="Consolas" panose="020B0609020204030204" pitchFamily="49" charset="0"/>
              </a:rPr>
              <a:t> | </a:t>
            </a:r>
            <a:r>
              <a:rPr lang="en-US" sz="2400" b="1" dirty="0">
                <a:solidFill>
                  <a:schemeClr val="accent6">
                    <a:lumMod val="75000"/>
                  </a:schemeClr>
                </a:solidFill>
                <a:latin typeface="Consolas" panose="020B0609020204030204" pitchFamily="49" charset="0"/>
                <a:cs typeface="Consolas" panose="020B0609020204030204" pitchFamily="49" charset="0"/>
              </a:rPr>
              <a:t>'$'</a:t>
            </a:r>
          </a:p>
          <a:p>
            <a:r>
              <a:rPr lang="en-US" sz="2400" b="1" dirty="0" err="1">
                <a:latin typeface="Consolas" panose="020B0609020204030204" pitchFamily="49" charset="0"/>
                <a:cs typeface="Consolas" panose="020B0609020204030204" pitchFamily="49" charset="0"/>
              </a:rPr>
              <a:t>IdCont</a:t>
            </a:r>
            <a:r>
              <a:rPr lang="en-US" sz="2400" b="1" dirty="0">
                <a:latin typeface="Consolas" panose="020B0609020204030204" pitchFamily="49" charset="0"/>
                <a:cs typeface="Consolas" panose="020B0609020204030204" pitchFamily="49" charset="0"/>
              </a:rPr>
              <a:t>:  </a:t>
            </a:r>
            <a:r>
              <a:rPr lang="en-US" sz="2400" b="1" dirty="0" err="1">
                <a:latin typeface="Consolas" panose="020B0609020204030204" pitchFamily="49" charset="0"/>
                <a:cs typeface="Consolas" panose="020B0609020204030204" pitchFamily="49" charset="0"/>
              </a:rPr>
              <a:t>IdStart</a:t>
            </a:r>
            <a:r>
              <a:rPr lang="en-US" sz="2400" b="1" dirty="0">
                <a:latin typeface="Consolas" panose="020B0609020204030204" pitchFamily="49" charset="0"/>
                <a:cs typeface="Consolas" panose="020B0609020204030204" pitchFamily="49" charset="0"/>
              </a:rPr>
              <a:t> | Digit</a:t>
            </a:r>
          </a:p>
          <a:p>
            <a:r>
              <a:rPr lang="en-US" sz="2400" b="1" dirty="0">
                <a:latin typeface="Consolas" panose="020B0609020204030204" pitchFamily="49" charset="0"/>
                <a:cs typeface="Consolas" panose="020B0609020204030204" pitchFamily="49" charset="0"/>
              </a:rPr>
              <a:t>Digit:   </a:t>
            </a:r>
            <a:r>
              <a:rPr lang="en-US" sz="2400" b="1" dirty="0">
                <a:solidFill>
                  <a:schemeClr val="accent6">
                    <a:lumMod val="75000"/>
                  </a:schemeClr>
                </a:solidFill>
                <a:latin typeface="Consolas" panose="020B0609020204030204" pitchFamily="49" charset="0"/>
                <a:cs typeface="Consolas" panose="020B0609020204030204" pitchFamily="49" charset="0"/>
              </a:rPr>
              <a:t>'0'</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'1'</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'2'</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'3'</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'4'</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'5'</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'6'</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'7'</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'8'</a:t>
            </a:r>
            <a:r>
              <a:rPr lang="en-US" sz="2400" b="1" dirty="0">
                <a:latin typeface="Consolas" panose="020B0609020204030204" pitchFamily="49" charset="0"/>
                <a:cs typeface="Consolas" panose="020B0609020204030204" pitchFamily="49" charset="0"/>
              </a:rPr>
              <a:t>|</a:t>
            </a:r>
            <a:r>
              <a:rPr lang="en-US" sz="2400" b="1" dirty="0">
                <a:solidFill>
                  <a:schemeClr val="accent6">
                    <a:lumMod val="75000"/>
                  </a:schemeClr>
                </a:solidFill>
                <a:latin typeface="Consolas" panose="020B0609020204030204" pitchFamily="49" charset="0"/>
                <a:cs typeface="Consolas" panose="020B0609020204030204" pitchFamily="49" charset="0"/>
              </a:rPr>
              <a:t>'9'</a:t>
            </a:r>
          </a:p>
          <a:p>
            <a:r>
              <a:rPr lang="en-US" sz="2400" b="1" dirty="0">
                <a:latin typeface="Consolas" panose="020B0609020204030204" pitchFamily="49" charset="0"/>
                <a:cs typeface="Consolas" panose="020B0609020204030204" pitchFamily="49" charset="0"/>
              </a:rPr>
              <a:t>Alphabetic: </a:t>
            </a:r>
            <a:r>
              <a:rPr lang="en-US" sz="2400" i="1" dirty="0">
                <a:latin typeface="Consolas" panose="020B0609020204030204" pitchFamily="49" charset="0"/>
                <a:cs typeface="Consolas" panose="020B0609020204030204" pitchFamily="49" charset="0"/>
              </a:rPr>
              <a:t>(a whole bunch of characters)</a:t>
            </a:r>
          </a:p>
        </p:txBody>
      </p:sp>
      <p:sp>
        <p:nvSpPr>
          <p:cNvPr id="6" name="TextBox 5">
            <a:extLst>
              <a:ext uri="{FF2B5EF4-FFF2-40B4-BE49-F238E27FC236}">
                <a16:creationId xmlns:a16="http://schemas.microsoft.com/office/drawing/2014/main" id="{A30DAD4C-AA93-A045-84E7-1819F607EF08}"/>
              </a:ext>
            </a:extLst>
          </p:cNvPr>
          <p:cNvSpPr txBox="1"/>
          <p:nvPr/>
        </p:nvSpPr>
        <p:spPr>
          <a:xfrm>
            <a:off x="190500" y="2923068"/>
            <a:ext cx="8763000" cy="769441"/>
          </a:xfrm>
          <a:prstGeom prst="rect">
            <a:avLst/>
          </a:prstGeom>
          <a:noFill/>
        </p:spPr>
        <p:txBody>
          <a:bodyPr wrap="square" rtlCol="0">
            <a:spAutoFit/>
          </a:bodyPr>
          <a:lstStyle/>
          <a:p>
            <a:pPr algn="ctr"/>
            <a:r>
              <a:rPr lang="en-US" sz="2200" dirty="0"/>
              <a:t>so, an identifier starts with a letter or underscore or dollar sign; and that is followed by zero or more of those, plus digits. neat.</a:t>
            </a:r>
          </a:p>
        </p:txBody>
      </p:sp>
      <p:sp>
        <p:nvSpPr>
          <p:cNvPr id="8" name="TextBox 7">
            <a:extLst>
              <a:ext uri="{FF2B5EF4-FFF2-40B4-BE49-F238E27FC236}">
                <a16:creationId xmlns:a16="http://schemas.microsoft.com/office/drawing/2014/main" id="{C4E0FA96-1360-7C49-8933-7B625CB545CA}"/>
              </a:ext>
            </a:extLst>
          </p:cNvPr>
          <p:cNvSpPr txBox="1"/>
          <p:nvPr/>
        </p:nvSpPr>
        <p:spPr>
          <a:xfrm>
            <a:off x="1676400" y="4000500"/>
            <a:ext cx="5715000" cy="430887"/>
          </a:xfrm>
          <a:prstGeom prst="rect">
            <a:avLst/>
          </a:prstGeom>
          <a:noFill/>
        </p:spPr>
        <p:txBody>
          <a:bodyPr wrap="square" rtlCol="0">
            <a:spAutoFit/>
          </a:bodyPr>
          <a:lstStyle/>
          <a:p>
            <a:pPr algn="ctr"/>
            <a:r>
              <a:rPr lang="en-US" sz="2200" dirty="0"/>
              <a:t>and we could keep going for all the tokens!</a:t>
            </a:r>
          </a:p>
        </p:txBody>
      </p:sp>
    </p:spTree>
    <p:extLst>
      <p:ext uri="{BB962C8B-B14F-4D97-AF65-F5344CB8AC3E}">
        <p14:creationId xmlns:p14="http://schemas.microsoft.com/office/powerpoint/2010/main" val="17811985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p:bldP spid="6"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91C64-B19F-AA4D-ADC8-DF79B9307DC2}"/>
              </a:ext>
            </a:extLst>
          </p:cNvPr>
          <p:cNvSpPr>
            <a:spLocks noGrp="1"/>
          </p:cNvSpPr>
          <p:nvPr>
            <p:ph type="title"/>
          </p:nvPr>
        </p:nvSpPr>
        <p:spPr/>
        <p:txBody>
          <a:bodyPr/>
          <a:lstStyle/>
          <a:p>
            <a:r>
              <a:rPr lang="en-US" dirty="0"/>
              <a:t>Literals!</a:t>
            </a:r>
          </a:p>
        </p:txBody>
      </p:sp>
      <p:sp>
        <p:nvSpPr>
          <p:cNvPr id="3" name="Content Placeholder 2">
            <a:extLst>
              <a:ext uri="{FF2B5EF4-FFF2-40B4-BE49-F238E27FC236}">
                <a16:creationId xmlns:a16="http://schemas.microsoft.com/office/drawing/2014/main" id="{92828742-453B-E541-9296-6DBCD48248D7}"/>
              </a:ext>
            </a:extLst>
          </p:cNvPr>
          <p:cNvSpPr>
            <a:spLocks noGrp="1"/>
          </p:cNvSpPr>
          <p:nvPr>
            <p:ph idx="1"/>
          </p:nvPr>
        </p:nvSpPr>
        <p:spPr>
          <a:xfrm>
            <a:off x="152400" y="495302"/>
            <a:ext cx="8991600" cy="823316"/>
          </a:xfrm>
        </p:spPr>
        <p:txBody>
          <a:bodyPr>
            <a:normAutofit/>
          </a:bodyPr>
          <a:lstStyle/>
          <a:p>
            <a:r>
              <a:rPr lang="en-US" dirty="0"/>
              <a:t>numeric and string literals can get pretty complicated, but let’s keep them simple for now:</a:t>
            </a:r>
          </a:p>
        </p:txBody>
      </p:sp>
      <p:sp>
        <p:nvSpPr>
          <p:cNvPr id="4" name="Slide Number Placeholder 3">
            <a:extLst>
              <a:ext uri="{FF2B5EF4-FFF2-40B4-BE49-F238E27FC236}">
                <a16:creationId xmlns:a16="http://schemas.microsoft.com/office/drawing/2014/main" id="{7ED6E75E-9FAE-DD42-896E-617DB1D85EAF}"/>
              </a:ext>
            </a:extLst>
          </p:cNvPr>
          <p:cNvSpPr>
            <a:spLocks noGrp="1"/>
          </p:cNvSpPr>
          <p:nvPr>
            <p:ph type="sldNum" sz="quarter" idx="12"/>
          </p:nvPr>
        </p:nvSpPr>
        <p:spPr/>
        <p:txBody>
          <a:bodyPr/>
          <a:lstStyle/>
          <a:p>
            <a:fld id="{3552B95B-556F-44BD-91A5-D80C1B9E2BB3}" type="slidenum">
              <a:rPr lang="en-US" smtClean="0"/>
              <a:pPr/>
              <a:t>20</a:t>
            </a:fld>
            <a:endParaRPr lang="en-US"/>
          </a:p>
        </p:txBody>
      </p:sp>
      <p:sp>
        <p:nvSpPr>
          <p:cNvPr id="5" name="TextBox 4">
            <a:extLst>
              <a:ext uri="{FF2B5EF4-FFF2-40B4-BE49-F238E27FC236}">
                <a16:creationId xmlns:a16="http://schemas.microsoft.com/office/drawing/2014/main" id="{7AF93575-34B0-1D44-86B7-A4F7826991D8}"/>
              </a:ext>
            </a:extLst>
          </p:cNvPr>
          <p:cNvSpPr txBox="1"/>
          <p:nvPr/>
        </p:nvSpPr>
        <p:spPr>
          <a:xfrm>
            <a:off x="419100" y="1257300"/>
            <a:ext cx="8382000" cy="1200329"/>
          </a:xfrm>
          <a:prstGeom prst="rect">
            <a:avLst/>
          </a:prstGeom>
          <a:noFill/>
        </p:spPr>
        <p:txBody>
          <a:bodyPr wrap="square" rtlCol="0">
            <a:spAutoFit/>
          </a:bodyPr>
          <a:lstStyle/>
          <a:p>
            <a:r>
              <a:rPr lang="en-US" sz="2400" b="1" dirty="0" err="1">
                <a:latin typeface="Consolas" panose="020B0609020204030204" pitchFamily="49" charset="0"/>
                <a:cs typeface="Consolas" panose="020B0609020204030204" pitchFamily="49" charset="0"/>
              </a:rPr>
              <a:t>IntLit</a:t>
            </a:r>
            <a:r>
              <a:rPr lang="en-US" sz="2400" b="1" dirty="0">
                <a:latin typeface="Consolas" panose="020B0609020204030204" pitchFamily="49" charset="0"/>
                <a:cs typeface="Consolas" panose="020B0609020204030204" pitchFamily="49" charset="0"/>
              </a:rPr>
              <a:t>:  Digit+</a:t>
            </a:r>
          </a:p>
          <a:p>
            <a:r>
              <a:rPr lang="en-US" sz="2400" b="1" dirty="0" err="1">
                <a:latin typeface="Consolas" panose="020B0609020204030204" pitchFamily="49" charset="0"/>
                <a:cs typeface="Consolas" panose="020B0609020204030204" pitchFamily="49" charset="0"/>
              </a:rPr>
              <a:t>StrLit</a:t>
            </a:r>
            <a:r>
              <a:rPr lang="en-US" sz="2400" b="1" dirty="0">
                <a:latin typeface="Consolas" panose="020B0609020204030204" pitchFamily="49" charset="0"/>
                <a:cs typeface="Consolas" panose="020B0609020204030204" pitchFamily="49" charset="0"/>
              </a:rPr>
              <a:t>:  </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r>
              <a:rPr lang="en-US" sz="2400" b="1" dirty="0" err="1">
                <a:latin typeface="Consolas" panose="020B0609020204030204" pitchFamily="49" charset="0"/>
                <a:cs typeface="Consolas" panose="020B0609020204030204" pitchFamily="49" charset="0"/>
              </a:rPr>
              <a:t>StrChar</a:t>
            </a:r>
            <a:r>
              <a:rPr lang="en-US" sz="2400" b="1" dirty="0">
                <a:latin typeface="Consolas" panose="020B0609020204030204" pitchFamily="49" charset="0"/>
                <a:cs typeface="Consolas" panose="020B0609020204030204" pitchFamily="49" charset="0"/>
              </a:rPr>
              <a:t>* </a:t>
            </a:r>
            <a:r>
              <a:rPr lang="en-US" sz="2400" b="1" dirty="0">
                <a:solidFill>
                  <a:schemeClr val="accent6">
                    <a:lumMod val="75000"/>
                  </a:schemeClr>
                </a:solidFill>
                <a:latin typeface="Consolas" panose="020B0609020204030204" pitchFamily="49" charset="0"/>
                <a:cs typeface="Consolas" panose="020B0609020204030204" pitchFamily="49" charset="0"/>
              </a:rPr>
              <a:t>'"'</a:t>
            </a:r>
          </a:p>
          <a:p>
            <a:r>
              <a:rPr lang="en-US" sz="2400" b="1" dirty="0" err="1">
                <a:latin typeface="Consolas" panose="020B0609020204030204" pitchFamily="49" charset="0"/>
                <a:cs typeface="Consolas" panose="020B0609020204030204" pitchFamily="49" charset="0"/>
              </a:rPr>
              <a:t>StrChar</a:t>
            </a:r>
            <a:r>
              <a:rPr lang="en-US" sz="2400" b="1" dirty="0">
                <a:latin typeface="Consolas" panose="020B0609020204030204" pitchFamily="49" charset="0"/>
                <a:cs typeface="Consolas" panose="020B0609020204030204" pitchFamily="49" charset="0"/>
              </a:rPr>
              <a:t>: </a:t>
            </a:r>
            <a:r>
              <a:rPr lang="en-US" sz="2400" i="1" dirty="0">
                <a:latin typeface="Consolas" panose="020B0609020204030204" pitchFamily="49" charset="0"/>
                <a:cs typeface="Consolas" panose="020B0609020204030204" pitchFamily="49" charset="0"/>
              </a:rPr>
              <a:t>&lt;any character except </a:t>
            </a:r>
            <a:r>
              <a:rPr lang="en-US" sz="2400" i="1" dirty="0">
                <a:solidFill>
                  <a:schemeClr val="accent6">
                    <a:lumMod val="75000"/>
                  </a:schemeClr>
                </a:solidFill>
                <a:latin typeface="Consolas" panose="020B0609020204030204" pitchFamily="49" charset="0"/>
                <a:cs typeface="Consolas" panose="020B0609020204030204" pitchFamily="49" charset="0"/>
              </a:rPr>
              <a:t>'"'</a:t>
            </a:r>
            <a:r>
              <a:rPr lang="en-US" sz="2400" i="1" dirty="0">
                <a:latin typeface="Consolas" panose="020B0609020204030204" pitchFamily="49" charset="0"/>
                <a:cs typeface="Consolas" panose="020B0609020204030204" pitchFamily="49" charset="0"/>
              </a:rPr>
              <a:t>&gt;</a:t>
            </a:r>
            <a:endParaRPr lang="en-US" sz="2400" i="1" dirty="0">
              <a:solidFill>
                <a:schemeClr val="accent6">
                  <a:lumMod val="75000"/>
                </a:schemeClr>
              </a:solidFill>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A30DAD4C-AA93-A045-84E7-1819F607EF08}"/>
              </a:ext>
            </a:extLst>
          </p:cNvPr>
          <p:cNvSpPr txBox="1"/>
          <p:nvPr/>
        </p:nvSpPr>
        <p:spPr>
          <a:xfrm>
            <a:off x="190500" y="2530918"/>
            <a:ext cx="8763000" cy="1107996"/>
          </a:xfrm>
          <a:prstGeom prst="rect">
            <a:avLst/>
          </a:prstGeom>
          <a:noFill/>
        </p:spPr>
        <p:txBody>
          <a:bodyPr wrap="square" rtlCol="0">
            <a:spAutoFit/>
          </a:bodyPr>
          <a:lstStyle/>
          <a:p>
            <a:pPr algn="ctr"/>
            <a:r>
              <a:rPr lang="en-US" sz="2200" dirty="0"/>
              <a:t>integer literals are sequences of digits, and string literals are sequences of characters surrounded by double quotes. also it’s fine to be a bit hand-</a:t>
            </a:r>
            <a:r>
              <a:rPr lang="en-US" sz="2200" dirty="0" err="1"/>
              <a:t>wavey</a:t>
            </a:r>
            <a:r>
              <a:rPr lang="en-US" sz="2200" dirty="0"/>
              <a:t> like in </a:t>
            </a:r>
            <a:r>
              <a:rPr lang="en-US" sz="2200" b="1" dirty="0" err="1">
                <a:latin typeface="Consolas" panose="020B0609020204030204" pitchFamily="49" charset="0"/>
                <a:cs typeface="Consolas" panose="020B0609020204030204" pitchFamily="49" charset="0"/>
              </a:rPr>
              <a:t>StrChar</a:t>
            </a:r>
            <a:r>
              <a:rPr lang="en-US" sz="2200" dirty="0"/>
              <a:t>, as long as the intent is clear.</a:t>
            </a:r>
          </a:p>
        </p:txBody>
      </p:sp>
      <p:sp>
        <p:nvSpPr>
          <p:cNvPr id="8" name="TextBox 7">
            <a:extLst>
              <a:ext uri="{FF2B5EF4-FFF2-40B4-BE49-F238E27FC236}">
                <a16:creationId xmlns:a16="http://schemas.microsoft.com/office/drawing/2014/main" id="{C4E0FA96-1360-7C49-8933-7B625CB545CA}"/>
              </a:ext>
            </a:extLst>
          </p:cNvPr>
          <p:cNvSpPr txBox="1"/>
          <p:nvPr/>
        </p:nvSpPr>
        <p:spPr>
          <a:xfrm>
            <a:off x="1800860" y="3698496"/>
            <a:ext cx="5694680" cy="769441"/>
          </a:xfrm>
          <a:prstGeom prst="rect">
            <a:avLst/>
          </a:prstGeom>
          <a:noFill/>
        </p:spPr>
        <p:txBody>
          <a:bodyPr wrap="square" rtlCol="0">
            <a:spAutoFit/>
          </a:bodyPr>
          <a:lstStyle/>
          <a:p>
            <a:pPr algn="ctr"/>
            <a:r>
              <a:rPr lang="en-US" sz="2200" dirty="0"/>
              <a:t>but: what if the input contains the number 100000000000000000000? isn’t it too big…?</a:t>
            </a:r>
          </a:p>
        </p:txBody>
      </p:sp>
      <p:sp>
        <p:nvSpPr>
          <p:cNvPr id="9" name="TextBox 8">
            <a:extLst>
              <a:ext uri="{FF2B5EF4-FFF2-40B4-BE49-F238E27FC236}">
                <a16:creationId xmlns:a16="http://schemas.microsoft.com/office/drawing/2014/main" id="{C135A58F-FB3C-0542-AFC6-AF0961194C89}"/>
              </a:ext>
            </a:extLst>
          </p:cNvPr>
          <p:cNvSpPr txBox="1"/>
          <p:nvPr/>
        </p:nvSpPr>
        <p:spPr>
          <a:xfrm>
            <a:off x="666750" y="4551439"/>
            <a:ext cx="7962900" cy="769441"/>
          </a:xfrm>
          <a:prstGeom prst="rect">
            <a:avLst/>
          </a:prstGeom>
          <a:noFill/>
        </p:spPr>
        <p:txBody>
          <a:bodyPr wrap="square" rtlCol="0">
            <a:spAutoFit/>
          </a:bodyPr>
          <a:lstStyle/>
          <a:p>
            <a:pPr algn="ctr"/>
            <a:r>
              <a:rPr lang="en-US" sz="2200" dirty="0"/>
              <a:t>defining the valid ranges of numbers </a:t>
            </a:r>
            <a:r>
              <a:rPr lang="en-US" sz="2200" i="1" dirty="0"/>
              <a:t>within the metalanguage</a:t>
            </a:r>
            <a:r>
              <a:rPr lang="en-US" sz="2200" dirty="0"/>
              <a:t> isn’t possible. so we could define that as an additional rule.</a:t>
            </a:r>
          </a:p>
        </p:txBody>
      </p:sp>
    </p:spTree>
    <p:extLst>
      <p:ext uri="{BB962C8B-B14F-4D97-AF65-F5344CB8AC3E}">
        <p14:creationId xmlns:p14="http://schemas.microsoft.com/office/powerpoint/2010/main" val="75458083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p:bldP spid="6" grpId="0"/>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34F5C-2190-6844-9B72-6FA27BC329B5}"/>
              </a:ext>
            </a:extLst>
          </p:cNvPr>
          <p:cNvSpPr>
            <a:spLocks noGrp="1"/>
          </p:cNvSpPr>
          <p:nvPr>
            <p:ph type="title"/>
          </p:nvPr>
        </p:nvSpPr>
        <p:spPr/>
        <p:txBody>
          <a:bodyPr/>
          <a:lstStyle/>
          <a:p>
            <a:r>
              <a:rPr lang="en-US" dirty="0"/>
              <a:t>Uh oh, whitespace.</a:t>
            </a:r>
          </a:p>
        </p:txBody>
      </p:sp>
      <p:sp>
        <p:nvSpPr>
          <p:cNvPr id="3" name="Content Placeholder 2">
            <a:extLst>
              <a:ext uri="{FF2B5EF4-FFF2-40B4-BE49-F238E27FC236}">
                <a16:creationId xmlns:a16="http://schemas.microsoft.com/office/drawing/2014/main" id="{FCF602CC-4FCE-8A43-B5F1-3936417A0402}"/>
              </a:ext>
            </a:extLst>
          </p:cNvPr>
          <p:cNvSpPr>
            <a:spLocks noGrp="1"/>
          </p:cNvSpPr>
          <p:nvPr>
            <p:ph idx="1"/>
          </p:nvPr>
        </p:nvSpPr>
        <p:spPr>
          <a:xfrm>
            <a:off x="152400" y="495301"/>
            <a:ext cx="8991600" cy="838199"/>
          </a:xfrm>
        </p:spPr>
        <p:txBody>
          <a:bodyPr/>
          <a:lstStyle/>
          <a:p>
            <a:r>
              <a:rPr lang="en-US" dirty="0"/>
              <a:t>whitespace isn't a token, but we do have to deal with it somehow.</a:t>
            </a:r>
          </a:p>
          <a:p>
            <a:r>
              <a:rPr lang="en-US" dirty="0"/>
              <a:t>we can write rules for it, like a real token:</a:t>
            </a:r>
          </a:p>
        </p:txBody>
      </p:sp>
      <p:sp>
        <p:nvSpPr>
          <p:cNvPr id="4" name="Slide Number Placeholder 3">
            <a:extLst>
              <a:ext uri="{FF2B5EF4-FFF2-40B4-BE49-F238E27FC236}">
                <a16:creationId xmlns:a16="http://schemas.microsoft.com/office/drawing/2014/main" id="{8BC25F72-A149-874A-85AE-7A7B1E806EDA}"/>
              </a:ext>
            </a:extLst>
          </p:cNvPr>
          <p:cNvSpPr>
            <a:spLocks noGrp="1"/>
          </p:cNvSpPr>
          <p:nvPr>
            <p:ph type="sldNum" sz="quarter" idx="12"/>
          </p:nvPr>
        </p:nvSpPr>
        <p:spPr/>
        <p:txBody>
          <a:bodyPr/>
          <a:lstStyle/>
          <a:p>
            <a:fld id="{3552B95B-556F-44BD-91A5-D80C1B9E2BB3}" type="slidenum">
              <a:rPr lang="en-US" smtClean="0"/>
              <a:pPr/>
              <a:t>21</a:t>
            </a:fld>
            <a:endParaRPr lang="en-US"/>
          </a:p>
        </p:txBody>
      </p:sp>
      <p:sp>
        <p:nvSpPr>
          <p:cNvPr id="5" name="TextBox 4">
            <a:extLst>
              <a:ext uri="{FF2B5EF4-FFF2-40B4-BE49-F238E27FC236}">
                <a16:creationId xmlns:a16="http://schemas.microsoft.com/office/drawing/2014/main" id="{E9D7CB26-F8D3-7A43-9AAA-92140CAEADD4}"/>
              </a:ext>
            </a:extLst>
          </p:cNvPr>
          <p:cNvSpPr txBox="1"/>
          <p:nvPr/>
        </p:nvSpPr>
        <p:spPr>
          <a:xfrm>
            <a:off x="381000" y="1335932"/>
            <a:ext cx="8382000" cy="1569660"/>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Whitespace:  </a:t>
            </a:r>
            <a:r>
              <a:rPr lang="en-US" sz="2400" b="1" dirty="0">
                <a:solidFill>
                  <a:schemeClr val="accent6">
                    <a:lumMod val="75000"/>
                  </a:schemeClr>
                </a:solidFill>
                <a:latin typeface="Consolas" panose="020B0609020204030204" pitchFamily="49" charset="0"/>
                <a:cs typeface="Consolas" panose="020B0609020204030204" pitchFamily="49" charset="0"/>
              </a:rPr>
              <a:t>' '</a:t>
            </a:r>
            <a:r>
              <a:rPr lang="en-US" sz="2400" b="1" dirty="0">
                <a:latin typeface="Consolas" panose="020B0609020204030204" pitchFamily="49" charset="0"/>
                <a:cs typeface="Consolas" panose="020B0609020204030204" pitchFamily="49" charset="0"/>
              </a:rPr>
              <a:t> | </a:t>
            </a:r>
            <a:r>
              <a:rPr lang="en-US" sz="2400" b="1" dirty="0">
                <a:solidFill>
                  <a:schemeClr val="accent6">
                    <a:lumMod val="75000"/>
                  </a:schemeClr>
                </a:solidFill>
                <a:latin typeface="Consolas" panose="020B0609020204030204" pitchFamily="49" charset="0"/>
                <a:cs typeface="Consolas" panose="020B0609020204030204" pitchFamily="49" charset="0"/>
              </a:rPr>
              <a:t>'\t'</a:t>
            </a:r>
            <a:r>
              <a:rPr lang="en-US" sz="2400" b="1" dirty="0">
                <a:latin typeface="Consolas" panose="020B0609020204030204" pitchFamily="49" charset="0"/>
                <a:cs typeface="Consolas" panose="020B0609020204030204" pitchFamily="49" charset="0"/>
              </a:rPr>
              <a:t> | </a:t>
            </a:r>
            <a:r>
              <a:rPr lang="en-US" sz="2400" b="1" dirty="0">
                <a:solidFill>
                  <a:schemeClr val="accent6">
                    <a:lumMod val="75000"/>
                  </a:schemeClr>
                </a:solidFill>
                <a:latin typeface="Consolas" panose="020B0609020204030204" pitchFamily="49" charset="0"/>
                <a:cs typeface="Consolas" panose="020B0609020204030204" pitchFamily="49" charset="0"/>
              </a:rPr>
              <a:t>'\n'</a:t>
            </a:r>
            <a:r>
              <a:rPr lang="en-US" sz="2400" b="1" dirty="0">
                <a:latin typeface="Consolas" panose="020B0609020204030204" pitchFamily="49" charset="0"/>
                <a:cs typeface="Consolas" panose="020B0609020204030204" pitchFamily="49" charset="0"/>
              </a:rPr>
              <a:t> | Comment</a:t>
            </a:r>
          </a:p>
          <a:p>
            <a:r>
              <a:rPr lang="en-US" sz="2400" b="1" dirty="0">
                <a:latin typeface="Consolas" panose="020B0609020204030204" pitchFamily="49" charset="0"/>
                <a:cs typeface="Consolas" panose="020B0609020204030204" pitchFamily="49" charset="0"/>
              </a:rPr>
              <a:t>Comment:     </a:t>
            </a:r>
            <a:r>
              <a:rPr lang="en-US" sz="2400" b="1" dirty="0">
                <a:solidFill>
                  <a:schemeClr val="accent6">
                    <a:lumMod val="75000"/>
                  </a:schemeClr>
                </a:solidFill>
                <a:latin typeface="Consolas" panose="020B0609020204030204" pitchFamily="49" charset="0"/>
                <a:cs typeface="Consolas" panose="020B0609020204030204" pitchFamily="49" charset="0"/>
              </a:rPr>
              <a:t>"//"</a:t>
            </a:r>
            <a:r>
              <a:rPr lang="en-US" sz="2400" b="1" dirty="0">
                <a:latin typeface="Consolas" panose="020B0609020204030204" pitchFamily="49" charset="0"/>
                <a:cs typeface="Consolas" panose="020B0609020204030204" pitchFamily="49" charset="0"/>
              </a:rPr>
              <a:t> </a:t>
            </a:r>
            <a:r>
              <a:rPr lang="en-US" sz="2400" b="1" dirty="0" err="1">
                <a:latin typeface="Consolas" panose="020B0609020204030204" pitchFamily="49" charset="0"/>
                <a:cs typeface="Consolas" panose="020B0609020204030204" pitchFamily="49" charset="0"/>
              </a:rPr>
              <a:t>CommentChar</a:t>
            </a:r>
            <a:r>
              <a:rPr lang="en-US" sz="2400" b="1" dirty="0">
                <a:latin typeface="Consolas" panose="020B0609020204030204" pitchFamily="49" charset="0"/>
                <a:cs typeface="Consolas" panose="020B0609020204030204" pitchFamily="49" charset="0"/>
              </a:rPr>
              <a:t>* </a:t>
            </a:r>
            <a:r>
              <a:rPr lang="en-US" sz="2400" b="1" dirty="0" err="1">
                <a:latin typeface="Consolas" panose="020B0609020204030204" pitchFamily="49" charset="0"/>
                <a:cs typeface="Consolas" panose="020B0609020204030204" pitchFamily="49" charset="0"/>
              </a:rPr>
              <a:t>CommentEnd</a:t>
            </a:r>
            <a:endParaRPr lang="en-US" sz="2400" baseline="30000" dirty="0">
              <a:latin typeface="Consolas" panose="020B0609020204030204" pitchFamily="49" charset="0"/>
              <a:cs typeface="Consolas" panose="020B0609020204030204" pitchFamily="49" charset="0"/>
            </a:endParaRPr>
          </a:p>
          <a:p>
            <a:r>
              <a:rPr lang="en-US" sz="2400" b="1" dirty="0" err="1">
                <a:latin typeface="Consolas" panose="020B0609020204030204" pitchFamily="49" charset="0"/>
                <a:cs typeface="Consolas" panose="020B0609020204030204" pitchFamily="49" charset="0"/>
              </a:rPr>
              <a:t>CommentChar</a:t>
            </a:r>
            <a:r>
              <a:rPr lang="en-US" sz="2400" b="1" dirty="0">
                <a:latin typeface="Consolas" panose="020B0609020204030204" pitchFamily="49" charset="0"/>
                <a:cs typeface="Consolas" panose="020B0609020204030204" pitchFamily="49" charset="0"/>
              </a:rPr>
              <a:t>: </a:t>
            </a:r>
            <a:r>
              <a:rPr lang="en-US" sz="2400" i="1" dirty="0">
                <a:latin typeface="Consolas" panose="020B0609020204030204" pitchFamily="49" charset="0"/>
                <a:cs typeface="Consolas" panose="020B0609020204030204" pitchFamily="49" charset="0"/>
              </a:rPr>
              <a:t>&lt;any character except </a:t>
            </a:r>
            <a:r>
              <a:rPr lang="en-US" sz="2400" i="1" dirty="0">
                <a:solidFill>
                  <a:schemeClr val="accent6">
                    <a:lumMod val="75000"/>
                  </a:schemeClr>
                </a:solidFill>
                <a:latin typeface="Consolas" panose="020B0609020204030204" pitchFamily="49" charset="0"/>
                <a:cs typeface="Consolas" panose="020B0609020204030204" pitchFamily="49" charset="0"/>
              </a:rPr>
              <a:t>'\n'</a:t>
            </a:r>
            <a:r>
              <a:rPr lang="en-US" sz="2400" i="1" dirty="0">
                <a:latin typeface="Consolas" panose="020B0609020204030204" pitchFamily="49" charset="0"/>
                <a:cs typeface="Consolas" panose="020B0609020204030204" pitchFamily="49" charset="0"/>
              </a:rPr>
              <a:t> or </a:t>
            </a:r>
            <a:r>
              <a:rPr lang="en-US" sz="2400" i="1" dirty="0" err="1">
                <a:latin typeface="Consolas" panose="020B0609020204030204" pitchFamily="49" charset="0"/>
                <a:cs typeface="Consolas" panose="020B0609020204030204" pitchFamily="49" charset="0"/>
              </a:rPr>
              <a:t>Eof</a:t>
            </a:r>
            <a:r>
              <a:rPr lang="en-US" sz="2400" i="1" dirty="0">
                <a:latin typeface="Consolas" panose="020B0609020204030204" pitchFamily="49" charset="0"/>
                <a:cs typeface="Consolas" panose="020B0609020204030204" pitchFamily="49" charset="0"/>
              </a:rPr>
              <a:t>&gt;</a:t>
            </a:r>
          </a:p>
          <a:p>
            <a:r>
              <a:rPr lang="en-US" sz="2400" b="1" dirty="0" err="1">
                <a:latin typeface="Consolas" panose="020B0609020204030204" pitchFamily="49" charset="0"/>
                <a:cs typeface="Consolas" panose="020B0609020204030204" pitchFamily="49" charset="0"/>
              </a:rPr>
              <a:t>CommentEnd</a:t>
            </a:r>
            <a:r>
              <a:rPr lang="en-US" sz="2400" b="1" dirty="0">
                <a:latin typeface="Consolas" panose="020B0609020204030204" pitchFamily="49" charset="0"/>
                <a:cs typeface="Consolas" panose="020B0609020204030204" pitchFamily="49" charset="0"/>
              </a:rPr>
              <a:t>:  (</a:t>
            </a:r>
            <a:r>
              <a:rPr lang="en-US" sz="2400" b="1" dirty="0">
                <a:solidFill>
                  <a:schemeClr val="accent6">
                    <a:lumMod val="75000"/>
                  </a:schemeClr>
                </a:solidFill>
                <a:latin typeface="Consolas" panose="020B0609020204030204" pitchFamily="49" charset="0"/>
                <a:cs typeface="Consolas" panose="020B0609020204030204" pitchFamily="49" charset="0"/>
              </a:rPr>
              <a:t>'\n'</a:t>
            </a:r>
            <a:r>
              <a:rPr lang="en-US" sz="2400" b="1" dirty="0">
                <a:latin typeface="Consolas" panose="020B0609020204030204" pitchFamily="49" charset="0"/>
                <a:cs typeface="Consolas" panose="020B0609020204030204" pitchFamily="49" charset="0"/>
              </a:rPr>
              <a:t> | </a:t>
            </a:r>
            <a:r>
              <a:rPr lang="en-US" sz="2400" b="1" dirty="0" err="1">
                <a:latin typeface="Consolas" panose="020B0609020204030204" pitchFamily="49" charset="0"/>
                <a:cs typeface="Consolas" panose="020B0609020204030204" pitchFamily="49" charset="0"/>
              </a:rPr>
              <a:t>Eof</a:t>
            </a:r>
            <a:r>
              <a:rPr lang="en-US" sz="2400" b="1" dirty="0">
                <a:latin typeface="Consolas" panose="020B0609020204030204" pitchFamily="49" charset="0"/>
                <a:cs typeface="Consolas" panose="020B0609020204030204" pitchFamily="49" charset="0"/>
              </a:rPr>
              <a:t>)</a:t>
            </a:r>
            <a:r>
              <a:rPr lang="en-US" sz="2400" baseline="30000" dirty="0">
                <a:latin typeface="Consolas" panose="020B0609020204030204" pitchFamily="49" charset="0"/>
                <a:cs typeface="Consolas" panose="020B0609020204030204" pitchFamily="49" charset="0"/>
              </a:rPr>
              <a:t>non-consuming</a:t>
            </a:r>
            <a:endParaRPr lang="en-US" sz="2400" b="1"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3FB18EBE-5F68-E34F-9F19-5B1A6D07DC85}"/>
              </a:ext>
            </a:extLst>
          </p:cNvPr>
          <p:cNvSpPr txBox="1"/>
          <p:nvPr/>
        </p:nvSpPr>
        <p:spPr>
          <a:xfrm>
            <a:off x="590550" y="3340147"/>
            <a:ext cx="7962900" cy="769441"/>
          </a:xfrm>
          <a:prstGeom prst="rect">
            <a:avLst/>
          </a:prstGeom>
          <a:noFill/>
        </p:spPr>
        <p:txBody>
          <a:bodyPr wrap="square" rtlCol="0">
            <a:spAutoFit/>
          </a:bodyPr>
          <a:lstStyle/>
          <a:p>
            <a:pPr algn="ctr"/>
            <a:r>
              <a:rPr lang="en-US" sz="2200" dirty="0"/>
              <a:t>this is a </a:t>
            </a:r>
            <a:r>
              <a:rPr lang="en-US" sz="2200" b="1" dirty="0"/>
              <a:t>lookahead: </a:t>
            </a:r>
            <a:r>
              <a:rPr lang="en-US" sz="2200" dirty="0"/>
              <a:t>it checks if the next character is a newline or EOF, but </a:t>
            </a:r>
            <a:r>
              <a:rPr lang="en-US" sz="2200" b="1" dirty="0"/>
              <a:t>it does not make it part of the Comment.</a:t>
            </a:r>
            <a:endParaRPr lang="en-US" sz="2200" dirty="0"/>
          </a:p>
        </p:txBody>
      </p:sp>
      <p:grpSp>
        <p:nvGrpSpPr>
          <p:cNvPr id="10" name="Group 9">
            <a:extLst>
              <a:ext uri="{FF2B5EF4-FFF2-40B4-BE49-F238E27FC236}">
                <a16:creationId xmlns:a16="http://schemas.microsoft.com/office/drawing/2014/main" id="{7D7C93EB-DE00-6948-9BB4-B0C41382D05D}"/>
              </a:ext>
            </a:extLst>
          </p:cNvPr>
          <p:cNvGrpSpPr/>
          <p:nvPr/>
        </p:nvGrpSpPr>
        <p:grpSpPr>
          <a:xfrm>
            <a:off x="5031030" y="2721319"/>
            <a:ext cx="3901394" cy="567068"/>
            <a:chOff x="5031030" y="2721319"/>
            <a:chExt cx="3901394" cy="567068"/>
          </a:xfrm>
        </p:grpSpPr>
        <p:sp>
          <p:nvSpPr>
            <p:cNvPr id="6" name="TextBox 5">
              <a:extLst>
                <a:ext uri="{FF2B5EF4-FFF2-40B4-BE49-F238E27FC236}">
                  <a16:creationId xmlns:a16="http://schemas.microsoft.com/office/drawing/2014/main" id="{68E1AD3E-6B8D-BF4D-A388-7D45E835B5F7}"/>
                </a:ext>
              </a:extLst>
            </p:cNvPr>
            <p:cNvSpPr txBox="1"/>
            <p:nvPr/>
          </p:nvSpPr>
          <p:spPr>
            <a:xfrm>
              <a:off x="5438573" y="2857500"/>
              <a:ext cx="3493851" cy="430887"/>
            </a:xfrm>
            <a:prstGeom prst="rect">
              <a:avLst/>
            </a:prstGeom>
            <a:noFill/>
          </p:spPr>
          <p:txBody>
            <a:bodyPr wrap="square" rtlCol="0">
              <a:spAutoFit/>
            </a:bodyPr>
            <a:lstStyle/>
            <a:p>
              <a:pPr algn="ctr"/>
              <a:r>
                <a:rPr lang="en-US" sz="2200" dirty="0"/>
                <a:t>woah what the heck is that</a:t>
              </a:r>
            </a:p>
          </p:txBody>
        </p:sp>
        <p:sp>
          <p:nvSpPr>
            <p:cNvPr id="9" name="Bent Arrow 8">
              <a:extLst>
                <a:ext uri="{FF2B5EF4-FFF2-40B4-BE49-F238E27FC236}">
                  <a16:creationId xmlns:a16="http://schemas.microsoft.com/office/drawing/2014/main" id="{30CE28C5-2485-8B46-8684-8A15A6209A48}"/>
                </a:ext>
              </a:extLst>
            </p:cNvPr>
            <p:cNvSpPr/>
            <p:nvPr/>
          </p:nvSpPr>
          <p:spPr>
            <a:xfrm rot="16200000">
              <a:off x="5044565" y="2707784"/>
              <a:ext cx="401549" cy="428620"/>
            </a:xfrm>
            <a:prstGeom prst="bentArrow">
              <a:avLst>
                <a:gd name="adj1" fmla="val 25000"/>
                <a:gd name="adj2" fmla="val 25000"/>
                <a:gd name="adj3" fmla="val 25000"/>
                <a:gd name="adj4" fmla="val 75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p:nvSpPr>
          <p:cNvPr id="11" name="TextBox 10">
            <a:extLst>
              <a:ext uri="{FF2B5EF4-FFF2-40B4-BE49-F238E27FC236}">
                <a16:creationId xmlns:a16="http://schemas.microsoft.com/office/drawing/2014/main" id="{F6C3A3A2-0576-E84F-A651-D19182EBB099}"/>
              </a:ext>
            </a:extLst>
          </p:cNvPr>
          <p:cNvSpPr txBox="1"/>
          <p:nvPr/>
        </p:nvSpPr>
        <p:spPr>
          <a:xfrm>
            <a:off x="1757464" y="4138488"/>
            <a:ext cx="5629072" cy="769441"/>
          </a:xfrm>
          <a:prstGeom prst="rect">
            <a:avLst/>
          </a:prstGeom>
          <a:noFill/>
        </p:spPr>
        <p:txBody>
          <a:bodyPr wrap="square" rtlCol="0">
            <a:spAutoFit/>
          </a:bodyPr>
          <a:lstStyle/>
          <a:p>
            <a:pPr algn="ctr"/>
            <a:r>
              <a:rPr lang="en-US" sz="2200" dirty="0"/>
              <a:t>it feels a little </a:t>
            </a:r>
            <a:r>
              <a:rPr lang="en-US" sz="2200" dirty="0" err="1"/>
              <a:t>kludgey</a:t>
            </a:r>
            <a:r>
              <a:rPr lang="en-US" sz="2200" dirty="0"/>
              <a:t>, but sometimes lookaheads are just what you need.</a:t>
            </a:r>
          </a:p>
        </p:txBody>
      </p:sp>
      <p:sp>
        <p:nvSpPr>
          <p:cNvPr id="12" name="TextBox 11">
            <a:extLst>
              <a:ext uri="{FF2B5EF4-FFF2-40B4-BE49-F238E27FC236}">
                <a16:creationId xmlns:a16="http://schemas.microsoft.com/office/drawing/2014/main" id="{8E71C82E-30F5-9E44-923D-F0FAB3ACF98A}"/>
              </a:ext>
            </a:extLst>
          </p:cNvPr>
          <p:cNvSpPr txBox="1"/>
          <p:nvPr/>
        </p:nvSpPr>
        <p:spPr>
          <a:xfrm>
            <a:off x="1757464" y="5004255"/>
            <a:ext cx="5629072" cy="430887"/>
          </a:xfrm>
          <a:prstGeom prst="rect">
            <a:avLst/>
          </a:prstGeom>
          <a:noFill/>
        </p:spPr>
        <p:txBody>
          <a:bodyPr wrap="square" rtlCol="0">
            <a:spAutoFit/>
          </a:bodyPr>
          <a:lstStyle/>
          <a:p>
            <a:pPr algn="ctr"/>
            <a:r>
              <a:rPr lang="en-US" sz="2200" dirty="0"/>
              <a:t>just… </a:t>
            </a:r>
            <a:r>
              <a:rPr lang="en-US" sz="2200" b="1" dirty="0">
                <a:solidFill>
                  <a:srgbClr val="FF0000"/>
                </a:solidFill>
              </a:rPr>
              <a:t>don’t use them too much.</a:t>
            </a:r>
          </a:p>
        </p:txBody>
      </p:sp>
    </p:spTree>
    <p:extLst>
      <p:ext uri="{BB962C8B-B14F-4D97-AF65-F5344CB8AC3E}">
        <p14:creationId xmlns:p14="http://schemas.microsoft.com/office/powerpoint/2010/main" val="39737551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p:bldP spid="7" grpId="0"/>
      <p:bldP spid="11"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D52F4-3DB0-A944-B4A1-D584C671DDF8}"/>
              </a:ext>
            </a:extLst>
          </p:cNvPr>
          <p:cNvSpPr>
            <a:spLocks noGrp="1"/>
          </p:cNvSpPr>
          <p:nvPr>
            <p:ph type="title"/>
          </p:nvPr>
        </p:nvSpPr>
        <p:spPr/>
        <p:txBody>
          <a:bodyPr/>
          <a:lstStyle/>
          <a:p>
            <a:r>
              <a:rPr lang="en-US" dirty="0"/>
              <a:t>Wrapping it up and putting a bow on top</a:t>
            </a:r>
          </a:p>
        </p:txBody>
      </p:sp>
      <p:sp>
        <p:nvSpPr>
          <p:cNvPr id="3" name="Content Placeholder 2">
            <a:extLst>
              <a:ext uri="{FF2B5EF4-FFF2-40B4-BE49-F238E27FC236}">
                <a16:creationId xmlns:a16="http://schemas.microsoft.com/office/drawing/2014/main" id="{53A3E053-1C9E-C741-9797-5E5E846A6FCF}"/>
              </a:ext>
            </a:extLst>
          </p:cNvPr>
          <p:cNvSpPr>
            <a:spLocks noGrp="1"/>
          </p:cNvSpPr>
          <p:nvPr>
            <p:ph idx="1"/>
          </p:nvPr>
        </p:nvSpPr>
        <p:spPr>
          <a:xfrm>
            <a:off x="152400" y="495301"/>
            <a:ext cx="8991600" cy="495301"/>
          </a:xfrm>
        </p:spPr>
        <p:txBody>
          <a:bodyPr/>
          <a:lstStyle/>
          <a:p>
            <a:r>
              <a:rPr lang="en-US" dirty="0"/>
              <a:t>once we have a rule for each kind of token, we can do this:</a:t>
            </a:r>
          </a:p>
        </p:txBody>
      </p:sp>
      <p:sp>
        <p:nvSpPr>
          <p:cNvPr id="4" name="Slide Number Placeholder 3">
            <a:extLst>
              <a:ext uri="{FF2B5EF4-FFF2-40B4-BE49-F238E27FC236}">
                <a16:creationId xmlns:a16="http://schemas.microsoft.com/office/drawing/2014/main" id="{A96B4E2D-4A19-6946-BE33-C59D7653413D}"/>
              </a:ext>
            </a:extLst>
          </p:cNvPr>
          <p:cNvSpPr>
            <a:spLocks noGrp="1"/>
          </p:cNvSpPr>
          <p:nvPr>
            <p:ph type="sldNum" sz="quarter" idx="12"/>
          </p:nvPr>
        </p:nvSpPr>
        <p:spPr/>
        <p:txBody>
          <a:bodyPr/>
          <a:lstStyle/>
          <a:p>
            <a:fld id="{3552B95B-556F-44BD-91A5-D80C1B9E2BB3}" type="slidenum">
              <a:rPr lang="en-US" smtClean="0"/>
              <a:pPr/>
              <a:t>22</a:t>
            </a:fld>
            <a:endParaRPr lang="en-US"/>
          </a:p>
        </p:txBody>
      </p:sp>
      <p:sp>
        <p:nvSpPr>
          <p:cNvPr id="5" name="TextBox 4">
            <a:extLst>
              <a:ext uri="{FF2B5EF4-FFF2-40B4-BE49-F238E27FC236}">
                <a16:creationId xmlns:a16="http://schemas.microsoft.com/office/drawing/2014/main" id="{56323A1C-63A7-5B40-B2F3-EE6934781D37}"/>
              </a:ext>
            </a:extLst>
          </p:cNvPr>
          <p:cNvSpPr txBox="1"/>
          <p:nvPr/>
        </p:nvSpPr>
        <p:spPr>
          <a:xfrm>
            <a:off x="342900" y="876300"/>
            <a:ext cx="8458200" cy="830997"/>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Token:   Symbol | Keyword | Id | </a:t>
            </a:r>
            <a:r>
              <a:rPr lang="en-US" sz="2400" b="1" dirty="0" err="1">
                <a:latin typeface="Consolas" panose="020B0609020204030204" pitchFamily="49" charset="0"/>
                <a:cs typeface="Consolas" panose="020B0609020204030204" pitchFamily="49" charset="0"/>
              </a:rPr>
              <a:t>IntLit</a:t>
            </a:r>
            <a:r>
              <a:rPr lang="en-US" sz="2400" b="1" dirty="0">
                <a:latin typeface="Consolas" panose="020B0609020204030204" pitchFamily="49" charset="0"/>
                <a:cs typeface="Consolas" panose="020B0609020204030204" pitchFamily="49" charset="0"/>
              </a:rPr>
              <a:t> | </a:t>
            </a:r>
            <a:r>
              <a:rPr lang="en-US" sz="2400" b="1" dirty="0" err="1">
                <a:latin typeface="Consolas" panose="020B0609020204030204" pitchFamily="49" charset="0"/>
                <a:cs typeface="Consolas" panose="020B0609020204030204" pitchFamily="49" charset="0"/>
              </a:rPr>
              <a:t>StrLit</a:t>
            </a:r>
            <a:endParaRPr lang="en-US" sz="2400" b="1" dirty="0">
              <a:latin typeface="Consolas" panose="020B0609020204030204" pitchFamily="49" charset="0"/>
              <a:cs typeface="Consolas" panose="020B0609020204030204" pitchFamily="49" charset="0"/>
            </a:endParaRPr>
          </a:p>
          <a:p>
            <a:r>
              <a:rPr lang="en-US" sz="2400" b="1" dirty="0">
                <a:latin typeface="Consolas" panose="020B0609020204030204" pitchFamily="49" charset="0"/>
                <a:cs typeface="Consolas" panose="020B0609020204030204" pitchFamily="49" charset="0"/>
              </a:rPr>
              <a:t>Program: (Whitespace? Token)* Whitespace? </a:t>
            </a:r>
            <a:r>
              <a:rPr lang="en-US" sz="2400" b="1" dirty="0" err="1">
                <a:latin typeface="Consolas" panose="020B0609020204030204" pitchFamily="49" charset="0"/>
                <a:cs typeface="Consolas" panose="020B0609020204030204" pitchFamily="49" charset="0"/>
              </a:rPr>
              <a:t>Eof</a:t>
            </a:r>
            <a:endParaRPr lang="en-US" sz="2400" i="1"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090FC7CA-D659-8E40-904F-DF70FF5FB7F2}"/>
              </a:ext>
            </a:extLst>
          </p:cNvPr>
          <p:cNvSpPr txBox="1"/>
          <p:nvPr/>
        </p:nvSpPr>
        <p:spPr>
          <a:xfrm>
            <a:off x="190500" y="1729449"/>
            <a:ext cx="8763000" cy="430887"/>
          </a:xfrm>
          <a:prstGeom prst="rect">
            <a:avLst/>
          </a:prstGeom>
          <a:noFill/>
        </p:spPr>
        <p:txBody>
          <a:bodyPr wrap="square" rtlCol="0">
            <a:spAutoFit/>
          </a:bodyPr>
          <a:lstStyle/>
          <a:p>
            <a:pPr algn="ctr"/>
            <a:r>
              <a:rPr lang="en-US" sz="2200" dirty="0"/>
              <a:t>here, </a:t>
            </a:r>
            <a:r>
              <a:rPr lang="en-US" sz="2200" b="1" dirty="0"/>
              <a:t>Program</a:t>
            </a:r>
            <a:r>
              <a:rPr lang="en-US" sz="2200" dirty="0"/>
              <a:t> is a special rule: it's our </a:t>
            </a:r>
            <a:r>
              <a:rPr lang="en-US" sz="2200" b="1" dirty="0"/>
              <a:t>top-level </a:t>
            </a:r>
            <a:r>
              <a:rPr lang="en-US" sz="2200" dirty="0"/>
              <a:t>or </a:t>
            </a:r>
            <a:r>
              <a:rPr lang="en-US" sz="2200" b="1" dirty="0"/>
              <a:t>start</a:t>
            </a:r>
            <a:r>
              <a:rPr lang="en-US" sz="2200" dirty="0"/>
              <a:t> rule. </a:t>
            </a:r>
          </a:p>
        </p:txBody>
      </p:sp>
      <p:sp>
        <p:nvSpPr>
          <p:cNvPr id="8" name="TextBox 7">
            <a:extLst>
              <a:ext uri="{FF2B5EF4-FFF2-40B4-BE49-F238E27FC236}">
                <a16:creationId xmlns:a16="http://schemas.microsoft.com/office/drawing/2014/main" id="{26BA0648-7E5C-0D4A-9775-BB12567F47E2}"/>
              </a:ext>
            </a:extLst>
          </p:cNvPr>
          <p:cNvSpPr txBox="1"/>
          <p:nvPr/>
        </p:nvSpPr>
        <p:spPr>
          <a:xfrm>
            <a:off x="1181100" y="2263758"/>
            <a:ext cx="6781800" cy="769441"/>
          </a:xfrm>
          <a:prstGeom prst="rect">
            <a:avLst/>
          </a:prstGeom>
          <a:noFill/>
        </p:spPr>
        <p:txBody>
          <a:bodyPr wrap="square" rtlCol="0">
            <a:spAutoFit/>
          </a:bodyPr>
          <a:lstStyle/>
          <a:p>
            <a:pPr algn="ctr"/>
            <a:r>
              <a:rPr lang="en-US" sz="2200" dirty="0"/>
              <a:t>if we want to translate this grammar into code that lexes, it's where we start – it's the outermost loop. </a:t>
            </a:r>
          </a:p>
        </p:txBody>
      </p:sp>
      <p:sp>
        <p:nvSpPr>
          <p:cNvPr id="9" name="TextBox 8">
            <a:extLst>
              <a:ext uri="{FF2B5EF4-FFF2-40B4-BE49-F238E27FC236}">
                <a16:creationId xmlns:a16="http://schemas.microsoft.com/office/drawing/2014/main" id="{DEE9E47D-375E-D64B-8654-CE5A9A27D503}"/>
              </a:ext>
            </a:extLst>
          </p:cNvPr>
          <p:cNvSpPr txBox="1"/>
          <p:nvPr/>
        </p:nvSpPr>
        <p:spPr>
          <a:xfrm>
            <a:off x="152400" y="3300104"/>
            <a:ext cx="6324600" cy="769441"/>
          </a:xfrm>
          <a:prstGeom prst="rect">
            <a:avLst/>
          </a:prstGeom>
          <a:noFill/>
        </p:spPr>
        <p:txBody>
          <a:bodyPr wrap="square" rtlCol="0">
            <a:spAutoFit/>
          </a:bodyPr>
          <a:lstStyle/>
          <a:p>
            <a:pPr algn="ctr"/>
            <a:r>
              <a:rPr lang="en-US" sz="2200" dirty="0"/>
              <a:t>but wait. if we spent all this time writing the lexical rules in a formalized, rigorous way…</a:t>
            </a:r>
          </a:p>
        </p:txBody>
      </p:sp>
      <p:sp>
        <p:nvSpPr>
          <p:cNvPr id="10" name="TextBox 9">
            <a:extLst>
              <a:ext uri="{FF2B5EF4-FFF2-40B4-BE49-F238E27FC236}">
                <a16:creationId xmlns:a16="http://schemas.microsoft.com/office/drawing/2014/main" id="{3D5C04B6-C8C1-A249-AE86-97B4356CC5AC}"/>
              </a:ext>
            </a:extLst>
          </p:cNvPr>
          <p:cNvSpPr txBox="1"/>
          <p:nvPr/>
        </p:nvSpPr>
        <p:spPr>
          <a:xfrm>
            <a:off x="3124200" y="4341227"/>
            <a:ext cx="5562600" cy="769441"/>
          </a:xfrm>
          <a:prstGeom prst="rect">
            <a:avLst/>
          </a:prstGeom>
          <a:noFill/>
        </p:spPr>
        <p:txBody>
          <a:bodyPr wrap="square" rtlCol="0">
            <a:spAutoFit/>
          </a:bodyPr>
          <a:lstStyle/>
          <a:p>
            <a:pPr algn="ctr"/>
            <a:r>
              <a:rPr lang="en-US" sz="2200" dirty="0"/>
              <a:t>couldn't we just have a program </a:t>
            </a:r>
            <a:r>
              <a:rPr lang="en-US" sz="2200" b="1" dirty="0"/>
              <a:t>compile the grammar </a:t>
            </a:r>
            <a:r>
              <a:rPr lang="en-US" sz="2200" b="1" i="1" dirty="0"/>
              <a:t>itself</a:t>
            </a:r>
            <a:r>
              <a:rPr lang="en-US" sz="2200" b="1" dirty="0"/>
              <a:t> into a lexer? </a:t>
            </a:r>
            <a:endParaRPr lang="en-US" sz="2200" dirty="0"/>
          </a:p>
        </p:txBody>
      </p:sp>
    </p:spTree>
    <p:extLst>
      <p:ext uri="{BB962C8B-B14F-4D97-AF65-F5344CB8AC3E}">
        <p14:creationId xmlns:p14="http://schemas.microsoft.com/office/powerpoint/2010/main" val="266191712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5"/>
      <p:bldP spid="6" grpId="0"/>
      <p:bldP spid="8" grpId="0"/>
      <p:bldP spid="9"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954C7-8B72-244D-8F27-4C14ABFD1A60}"/>
              </a:ext>
            </a:extLst>
          </p:cNvPr>
          <p:cNvSpPr>
            <a:spLocks noGrp="1"/>
          </p:cNvSpPr>
          <p:nvPr>
            <p:ph type="title"/>
          </p:nvPr>
        </p:nvSpPr>
        <p:spPr/>
        <p:txBody>
          <a:bodyPr/>
          <a:lstStyle/>
          <a:p>
            <a:r>
              <a:rPr lang="en-US" dirty="0"/>
              <a:t>COMPILER COMPILERS 🤯</a:t>
            </a:r>
          </a:p>
        </p:txBody>
      </p:sp>
      <p:sp>
        <p:nvSpPr>
          <p:cNvPr id="3" name="Content Placeholder 2">
            <a:extLst>
              <a:ext uri="{FF2B5EF4-FFF2-40B4-BE49-F238E27FC236}">
                <a16:creationId xmlns:a16="http://schemas.microsoft.com/office/drawing/2014/main" id="{2B6578BD-7AA7-BC43-B457-5D736AC85266}"/>
              </a:ext>
            </a:extLst>
          </p:cNvPr>
          <p:cNvSpPr>
            <a:spLocks noGrp="1"/>
          </p:cNvSpPr>
          <p:nvPr>
            <p:ph idx="1"/>
          </p:nvPr>
        </p:nvSpPr>
        <p:spPr/>
        <p:txBody>
          <a:bodyPr/>
          <a:lstStyle/>
          <a:p>
            <a:r>
              <a:rPr lang="en-US" b="1" dirty="0"/>
              <a:t>yes, this is A Thing.</a:t>
            </a:r>
          </a:p>
          <a:p>
            <a:r>
              <a:rPr lang="en-US" dirty="0"/>
              <a:t>there are </a:t>
            </a:r>
            <a:r>
              <a:rPr lang="en-US" i="1" dirty="0"/>
              <a:t>many</a:t>
            </a:r>
            <a:r>
              <a:rPr lang="en-US" dirty="0"/>
              <a:t> tools which will take some kind of metalanguage as the input, and </a:t>
            </a:r>
            <a:r>
              <a:rPr lang="en-US" b="1" dirty="0"/>
              <a:t>produce a lexer program as an output.</a:t>
            </a:r>
          </a:p>
          <a:p>
            <a:pPr lvl="1"/>
            <a:r>
              <a:rPr lang="en-US" sz="1400" dirty="0"/>
              <a:t>(or a parser, but we haven't gotten to those yet)</a:t>
            </a:r>
          </a:p>
          <a:p>
            <a:r>
              <a:rPr lang="en-US" dirty="0"/>
              <a:t>however…</a:t>
            </a:r>
          </a:p>
          <a:p>
            <a:pPr lvl="1"/>
            <a:r>
              <a:rPr lang="en-US" dirty="0"/>
              <a:t>most are tightly tied to the language whose code they output.</a:t>
            </a:r>
          </a:p>
          <a:p>
            <a:pPr lvl="1"/>
            <a:r>
              <a:rPr lang="en-US" dirty="0"/>
              <a:t>they're really complex, to be as flexible as possible.</a:t>
            </a:r>
          </a:p>
          <a:p>
            <a:pPr lvl="1"/>
            <a:r>
              <a:rPr lang="en-US" dirty="0"/>
              <a:t>…but, it can be awkward to fit your grammars into their rules.</a:t>
            </a:r>
          </a:p>
          <a:p>
            <a:pPr lvl="1"/>
            <a:r>
              <a:rPr lang="en-US" dirty="0"/>
              <a:t>they can give really confusing/terrible error messages on invalid lexer input.</a:t>
            </a:r>
          </a:p>
          <a:p>
            <a:r>
              <a:rPr lang="en-US" dirty="0"/>
              <a:t>and honestly, writing your own lexer is </a:t>
            </a:r>
            <a:r>
              <a:rPr lang="en-US" i="1" dirty="0"/>
              <a:t>not that complicated.</a:t>
            </a:r>
            <a:endParaRPr lang="en-US" dirty="0"/>
          </a:p>
          <a:p>
            <a:pPr lvl="1"/>
            <a:r>
              <a:rPr lang="en-US" dirty="0"/>
              <a:t>and, </a:t>
            </a:r>
            <a:r>
              <a:rPr lang="en-US" dirty="0" err="1"/>
              <a:t>yanno</a:t>
            </a:r>
            <a:r>
              <a:rPr lang="en-US" dirty="0"/>
              <a:t>, it's a compilers course, so you have to do it. (:</a:t>
            </a:r>
          </a:p>
        </p:txBody>
      </p:sp>
      <p:sp>
        <p:nvSpPr>
          <p:cNvPr id="4" name="Slide Number Placeholder 3">
            <a:extLst>
              <a:ext uri="{FF2B5EF4-FFF2-40B4-BE49-F238E27FC236}">
                <a16:creationId xmlns:a16="http://schemas.microsoft.com/office/drawing/2014/main" id="{DE811FAE-4AC1-6E44-9EBC-346DD814B095}"/>
              </a:ext>
            </a:extLst>
          </p:cNvPr>
          <p:cNvSpPr>
            <a:spLocks noGrp="1"/>
          </p:cNvSpPr>
          <p:nvPr>
            <p:ph type="sldNum" sz="quarter" idx="12"/>
          </p:nvPr>
        </p:nvSpPr>
        <p:spPr/>
        <p:txBody>
          <a:bodyPr/>
          <a:lstStyle/>
          <a:p>
            <a:fld id="{3552B95B-556F-44BD-91A5-D80C1B9E2BB3}" type="slidenum">
              <a:rPr lang="en-US" smtClean="0"/>
              <a:pPr/>
              <a:t>23</a:t>
            </a:fld>
            <a:endParaRPr lang="en-US"/>
          </a:p>
        </p:txBody>
      </p:sp>
    </p:spTree>
    <p:extLst>
      <p:ext uri="{BB962C8B-B14F-4D97-AF65-F5344CB8AC3E}">
        <p14:creationId xmlns:p14="http://schemas.microsoft.com/office/powerpoint/2010/main" val="20494246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A0496-4154-7246-8172-01DC1201085E}"/>
              </a:ext>
            </a:extLst>
          </p:cNvPr>
          <p:cNvSpPr>
            <a:spLocks noGrp="1"/>
          </p:cNvSpPr>
          <p:nvPr>
            <p:ph type="ctrTitle"/>
          </p:nvPr>
        </p:nvSpPr>
        <p:spPr/>
        <p:txBody>
          <a:bodyPr/>
          <a:lstStyle/>
          <a:p>
            <a:r>
              <a:rPr lang="en-US" dirty="0"/>
              <a:t>Dealing with Ambiguity</a:t>
            </a:r>
          </a:p>
        </p:txBody>
      </p:sp>
      <p:sp>
        <p:nvSpPr>
          <p:cNvPr id="3" name="Slide Number Placeholder 2">
            <a:extLst>
              <a:ext uri="{FF2B5EF4-FFF2-40B4-BE49-F238E27FC236}">
                <a16:creationId xmlns:a16="http://schemas.microsoft.com/office/drawing/2014/main" id="{13D12E16-0708-C243-A93F-5066E8EB79ED}"/>
              </a:ext>
            </a:extLst>
          </p:cNvPr>
          <p:cNvSpPr>
            <a:spLocks noGrp="1"/>
          </p:cNvSpPr>
          <p:nvPr>
            <p:ph type="sldNum" sz="quarter" idx="12"/>
          </p:nvPr>
        </p:nvSpPr>
        <p:spPr/>
        <p:txBody>
          <a:bodyPr/>
          <a:lstStyle/>
          <a:p>
            <a:fld id="{3552B95B-556F-44BD-91A5-D80C1B9E2BB3}" type="slidenum">
              <a:rPr lang="en-US" smtClean="0"/>
              <a:pPr/>
              <a:t>24</a:t>
            </a:fld>
            <a:endParaRPr lang="en-US"/>
          </a:p>
        </p:txBody>
      </p:sp>
    </p:spTree>
    <p:extLst>
      <p:ext uri="{BB962C8B-B14F-4D97-AF65-F5344CB8AC3E}">
        <p14:creationId xmlns:p14="http://schemas.microsoft.com/office/powerpoint/2010/main" val="346966346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FF8A9-BA08-DF45-A1E0-DB7001A26AC7}"/>
              </a:ext>
            </a:extLst>
          </p:cNvPr>
          <p:cNvSpPr>
            <a:spLocks noGrp="1"/>
          </p:cNvSpPr>
          <p:nvPr>
            <p:ph type="title"/>
          </p:nvPr>
        </p:nvSpPr>
        <p:spPr/>
        <p:txBody>
          <a:bodyPr/>
          <a:lstStyle/>
          <a:p>
            <a:r>
              <a:rPr lang="en-US" dirty="0"/>
              <a:t>Dealing with ambiguity</a:t>
            </a:r>
          </a:p>
        </p:txBody>
      </p:sp>
      <p:sp>
        <p:nvSpPr>
          <p:cNvPr id="3" name="Content Placeholder 2">
            <a:extLst>
              <a:ext uri="{FF2B5EF4-FFF2-40B4-BE49-F238E27FC236}">
                <a16:creationId xmlns:a16="http://schemas.microsoft.com/office/drawing/2014/main" id="{86C60056-9D92-4145-8AAF-7616E59CCD65}"/>
              </a:ext>
            </a:extLst>
          </p:cNvPr>
          <p:cNvSpPr>
            <a:spLocks noGrp="1"/>
          </p:cNvSpPr>
          <p:nvPr>
            <p:ph idx="1"/>
          </p:nvPr>
        </p:nvSpPr>
        <p:spPr>
          <a:xfrm>
            <a:off x="152400" y="495301"/>
            <a:ext cx="8991600" cy="838199"/>
          </a:xfrm>
        </p:spPr>
        <p:txBody>
          <a:bodyPr/>
          <a:lstStyle/>
          <a:p>
            <a:r>
              <a:rPr lang="en-US" b="1" dirty="0"/>
              <a:t>ambiguity </a:t>
            </a:r>
            <a:r>
              <a:rPr lang="en-US" dirty="0"/>
              <a:t>is when you have &gt; 1 possible "correct" </a:t>
            </a:r>
            <a:r>
              <a:rPr lang="en-US" dirty="0" err="1"/>
              <a:t>tokenizations</a:t>
            </a:r>
            <a:r>
              <a:rPr lang="en-US" dirty="0"/>
              <a:t>.</a:t>
            </a:r>
          </a:p>
          <a:p>
            <a:r>
              <a:rPr lang="en-US" dirty="0"/>
              <a:t>consider these snippets of Java.</a:t>
            </a:r>
          </a:p>
        </p:txBody>
      </p:sp>
      <p:sp>
        <p:nvSpPr>
          <p:cNvPr id="4" name="Slide Number Placeholder 3">
            <a:extLst>
              <a:ext uri="{FF2B5EF4-FFF2-40B4-BE49-F238E27FC236}">
                <a16:creationId xmlns:a16="http://schemas.microsoft.com/office/drawing/2014/main" id="{121FA9D3-EE3D-1E44-9B4C-B9CA59796C4D}"/>
              </a:ext>
            </a:extLst>
          </p:cNvPr>
          <p:cNvSpPr>
            <a:spLocks noGrp="1"/>
          </p:cNvSpPr>
          <p:nvPr>
            <p:ph type="sldNum" sz="quarter" idx="12"/>
          </p:nvPr>
        </p:nvSpPr>
        <p:spPr/>
        <p:txBody>
          <a:bodyPr/>
          <a:lstStyle/>
          <a:p>
            <a:fld id="{3552B95B-556F-44BD-91A5-D80C1B9E2BB3}" type="slidenum">
              <a:rPr lang="en-US" smtClean="0"/>
              <a:pPr/>
              <a:t>25</a:t>
            </a:fld>
            <a:endParaRPr lang="en-US"/>
          </a:p>
        </p:txBody>
      </p:sp>
      <p:sp>
        <p:nvSpPr>
          <p:cNvPr id="5" name="TextBox 4">
            <a:extLst>
              <a:ext uri="{FF2B5EF4-FFF2-40B4-BE49-F238E27FC236}">
                <a16:creationId xmlns:a16="http://schemas.microsoft.com/office/drawing/2014/main" id="{404A3621-C786-FE44-A118-97A8B296E6E0}"/>
              </a:ext>
            </a:extLst>
          </p:cNvPr>
          <p:cNvSpPr txBox="1"/>
          <p:nvPr/>
        </p:nvSpPr>
        <p:spPr>
          <a:xfrm>
            <a:off x="319238" y="3410070"/>
            <a:ext cx="3810000" cy="830997"/>
          </a:xfrm>
          <a:prstGeom prst="rect">
            <a:avLst/>
          </a:prstGeom>
          <a:noFill/>
        </p:spPr>
        <p:txBody>
          <a:bodyPr wrap="square" rtlCol="0">
            <a:spAutoFit/>
          </a:bodyPr>
          <a:lstStyle/>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y = x &gt;&gt; </a:t>
            </a:r>
            <a:r>
              <a:rPr lang="en-US" sz="2400" b="1" dirty="0">
                <a:solidFill>
                  <a:schemeClr val="accent3">
                    <a:lumMod val="75000"/>
                  </a:schemeClr>
                </a:solidFill>
                <a:latin typeface="Consolas" panose="020B0609020204030204" pitchFamily="49" charset="0"/>
                <a:cs typeface="Consolas" panose="020B0609020204030204" pitchFamily="49" charset="0"/>
              </a:rPr>
              <a:t>3</a:t>
            </a:r>
            <a:r>
              <a:rPr lang="en-US" sz="2400" b="1" dirty="0">
                <a:latin typeface="Consolas" panose="020B0609020204030204" pitchFamily="49" charset="0"/>
                <a:cs typeface="Consolas" panose="020B0609020204030204" pitchFamily="49" charset="0"/>
              </a:rPr>
              <a:t>;</a:t>
            </a:r>
          </a:p>
          <a:p>
            <a:r>
              <a:rPr lang="en-US" sz="2400" b="1" dirty="0">
                <a:latin typeface="Consolas" panose="020B0609020204030204" pitchFamily="49" charset="0"/>
                <a:cs typeface="Consolas" panose="020B0609020204030204" pitchFamily="49" charset="0"/>
              </a:rPr>
              <a:t>List&lt;List&lt;String&gt;&gt; l;</a:t>
            </a:r>
            <a:endParaRPr lang="en-US" sz="2400"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DAF09417-5C81-4540-A347-E1B915E5EB87}"/>
              </a:ext>
            </a:extLst>
          </p:cNvPr>
          <p:cNvSpPr txBox="1"/>
          <p:nvPr/>
        </p:nvSpPr>
        <p:spPr>
          <a:xfrm>
            <a:off x="304800" y="1374519"/>
            <a:ext cx="1928260" cy="461665"/>
          </a:xfrm>
          <a:prstGeom prst="rect">
            <a:avLst/>
          </a:prstGeom>
          <a:noFill/>
        </p:spPr>
        <p:txBody>
          <a:bodyPr wrap="square" rtlCol="0">
            <a:spAutoFit/>
          </a:bodyPr>
          <a:lstStyle/>
          <a:p>
            <a:r>
              <a:rPr lang="en-US" sz="2400" b="1" dirty="0">
                <a:solidFill>
                  <a:srgbClr val="FF0000"/>
                </a:solidFill>
                <a:latin typeface="Consolas" panose="020B0609020204030204" pitchFamily="49" charset="0"/>
                <a:cs typeface="Consolas" panose="020B0609020204030204" pitchFamily="49" charset="0"/>
              </a:rPr>
              <a:t>if</a:t>
            </a:r>
            <a:r>
              <a:rPr lang="en-US" sz="2400" b="1" dirty="0">
                <a:latin typeface="Consolas" panose="020B0609020204030204" pitchFamily="49" charset="0"/>
                <a:cs typeface="Consolas" panose="020B0609020204030204" pitchFamily="49" charset="0"/>
              </a:rPr>
              <a:t>(x == </a:t>
            </a:r>
            <a:r>
              <a:rPr lang="en-US" sz="2400" b="1" dirty="0">
                <a:solidFill>
                  <a:schemeClr val="accent3">
                    <a:lumMod val="75000"/>
                  </a:schemeClr>
                </a:solidFill>
                <a:latin typeface="Consolas" panose="020B0609020204030204" pitchFamily="49" charset="0"/>
                <a:cs typeface="Consolas" panose="020B0609020204030204" pitchFamily="49" charset="0"/>
              </a:rPr>
              <a:t>3</a:t>
            </a:r>
            <a:r>
              <a:rPr lang="en-US" sz="2400" b="1" dirty="0">
                <a:latin typeface="Consolas" panose="020B0609020204030204" pitchFamily="49" charset="0"/>
                <a:cs typeface="Consolas" panose="020B0609020204030204" pitchFamily="49" charset="0"/>
              </a:rPr>
              <a:t>)</a:t>
            </a:r>
            <a:endParaRPr lang="en-US" sz="2400" dirty="0">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5B9BA567-4DEC-3746-8200-B04812BCE36F}"/>
              </a:ext>
            </a:extLst>
          </p:cNvPr>
          <p:cNvSpPr txBox="1"/>
          <p:nvPr/>
        </p:nvSpPr>
        <p:spPr>
          <a:xfrm>
            <a:off x="327258" y="2409558"/>
            <a:ext cx="1905801" cy="830997"/>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abc123</a:t>
            </a:r>
          </a:p>
          <a:p>
            <a:r>
              <a:rPr lang="en-US" sz="2400" b="1" dirty="0">
                <a:latin typeface="Consolas" panose="020B0609020204030204" pitchFamily="49" charset="0"/>
                <a:cs typeface="Consolas" panose="020B0609020204030204" pitchFamily="49" charset="0"/>
              </a:rPr>
              <a:t>123abc</a:t>
            </a:r>
            <a:endParaRPr lang="en-US" sz="2400" dirty="0">
              <a:latin typeface="Consolas" panose="020B0609020204030204" pitchFamily="49" charset="0"/>
              <a:cs typeface="Consolas" panose="020B0609020204030204" pitchFamily="49" charset="0"/>
            </a:endParaRPr>
          </a:p>
        </p:txBody>
      </p:sp>
      <p:sp>
        <p:nvSpPr>
          <p:cNvPr id="8" name="Rounded Rectangle 7">
            <a:extLst>
              <a:ext uri="{FF2B5EF4-FFF2-40B4-BE49-F238E27FC236}">
                <a16:creationId xmlns:a16="http://schemas.microsoft.com/office/drawing/2014/main" id="{82297A68-115A-834A-B9E5-27E2D98B27B5}"/>
              </a:ext>
            </a:extLst>
          </p:cNvPr>
          <p:cNvSpPr/>
          <p:nvPr/>
        </p:nvSpPr>
        <p:spPr>
          <a:xfrm>
            <a:off x="1995638" y="3410070"/>
            <a:ext cx="492493" cy="47135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79F80548-3271-AC45-BC65-29C26D8DDD27}"/>
              </a:ext>
            </a:extLst>
          </p:cNvPr>
          <p:cNvSpPr/>
          <p:nvPr/>
        </p:nvSpPr>
        <p:spPr>
          <a:xfrm>
            <a:off x="3081688" y="3774226"/>
            <a:ext cx="388219" cy="47135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CB7032E5-5A75-3C43-A6BC-D4569EC10051}"/>
              </a:ext>
            </a:extLst>
          </p:cNvPr>
          <p:cNvSpPr/>
          <p:nvPr/>
        </p:nvSpPr>
        <p:spPr>
          <a:xfrm>
            <a:off x="1161448" y="1380020"/>
            <a:ext cx="492493" cy="47135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86E56A5-8267-F744-8800-D6219C1AD92D}"/>
              </a:ext>
            </a:extLst>
          </p:cNvPr>
          <p:cNvSpPr txBox="1"/>
          <p:nvPr/>
        </p:nvSpPr>
        <p:spPr>
          <a:xfrm>
            <a:off x="4063465" y="3389505"/>
            <a:ext cx="5018774" cy="430887"/>
          </a:xfrm>
          <a:prstGeom prst="rect">
            <a:avLst/>
          </a:prstGeom>
          <a:noFill/>
        </p:spPr>
        <p:txBody>
          <a:bodyPr wrap="square" rtlCol="0">
            <a:spAutoFit/>
          </a:bodyPr>
          <a:lstStyle/>
          <a:p>
            <a:r>
              <a:rPr lang="en-US" sz="2200" dirty="0"/>
              <a:t>on this line, </a:t>
            </a:r>
            <a:r>
              <a:rPr lang="en-US" sz="2200" b="1" dirty="0"/>
              <a:t>&gt;&gt;</a:t>
            </a:r>
            <a:r>
              <a:rPr lang="en-US" sz="2200" dirty="0"/>
              <a:t> is a right shift…</a:t>
            </a:r>
            <a:endParaRPr lang="en-US" sz="2200" b="1" dirty="0"/>
          </a:p>
        </p:txBody>
      </p:sp>
      <p:sp>
        <p:nvSpPr>
          <p:cNvPr id="14" name="TextBox 13">
            <a:extLst>
              <a:ext uri="{FF2B5EF4-FFF2-40B4-BE49-F238E27FC236}">
                <a16:creationId xmlns:a16="http://schemas.microsoft.com/office/drawing/2014/main" id="{F7176A93-2D48-F444-84C2-0FFFCDFCE7C2}"/>
              </a:ext>
            </a:extLst>
          </p:cNvPr>
          <p:cNvSpPr txBox="1"/>
          <p:nvPr/>
        </p:nvSpPr>
        <p:spPr>
          <a:xfrm>
            <a:off x="4061059" y="3812435"/>
            <a:ext cx="5018774" cy="430887"/>
          </a:xfrm>
          <a:prstGeom prst="rect">
            <a:avLst/>
          </a:prstGeom>
          <a:noFill/>
        </p:spPr>
        <p:txBody>
          <a:bodyPr wrap="square" rtlCol="0">
            <a:spAutoFit/>
          </a:bodyPr>
          <a:lstStyle/>
          <a:p>
            <a:r>
              <a:rPr lang="en-US" sz="2200" dirty="0"/>
              <a:t>but here, it's two right angle brackets?</a:t>
            </a:r>
            <a:endParaRPr lang="en-US" sz="2200" b="1" dirty="0"/>
          </a:p>
        </p:txBody>
      </p:sp>
      <p:sp>
        <p:nvSpPr>
          <p:cNvPr id="15" name="TextBox 14">
            <a:extLst>
              <a:ext uri="{FF2B5EF4-FFF2-40B4-BE49-F238E27FC236}">
                <a16:creationId xmlns:a16="http://schemas.microsoft.com/office/drawing/2014/main" id="{93046DAF-21AE-8F49-B127-CDC163A66D44}"/>
              </a:ext>
            </a:extLst>
          </p:cNvPr>
          <p:cNvSpPr txBox="1"/>
          <p:nvPr/>
        </p:nvSpPr>
        <p:spPr>
          <a:xfrm>
            <a:off x="2233060" y="1405297"/>
            <a:ext cx="5749491" cy="430887"/>
          </a:xfrm>
          <a:prstGeom prst="rect">
            <a:avLst/>
          </a:prstGeom>
          <a:noFill/>
        </p:spPr>
        <p:txBody>
          <a:bodyPr wrap="square" rtlCol="0">
            <a:spAutoFit/>
          </a:bodyPr>
          <a:lstStyle/>
          <a:p>
            <a:r>
              <a:rPr lang="en-US" sz="2200" dirty="0"/>
              <a:t>is this </a:t>
            </a:r>
            <a:r>
              <a:rPr lang="en-US" sz="2200" b="1" dirty="0">
                <a:latin typeface="Consolas" panose="020B0609020204030204" pitchFamily="49" charset="0"/>
                <a:cs typeface="Consolas" panose="020B0609020204030204" pitchFamily="49" charset="0"/>
              </a:rPr>
              <a:t>[==]</a:t>
            </a:r>
            <a:r>
              <a:rPr lang="en-US" sz="2200" dirty="0"/>
              <a:t> or </a:t>
            </a:r>
            <a:r>
              <a:rPr lang="en-US" sz="2200" b="1" dirty="0">
                <a:latin typeface="Consolas" panose="020B0609020204030204" pitchFamily="49" charset="0"/>
                <a:cs typeface="Consolas" panose="020B0609020204030204" pitchFamily="49" charset="0"/>
              </a:rPr>
              <a:t>[=, =]</a:t>
            </a:r>
            <a:r>
              <a:rPr lang="en-US" sz="2200" dirty="0"/>
              <a:t>?</a:t>
            </a:r>
            <a:endParaRPr lang="en-US" sz="2200" b="1" dirty="0"/>
          </a:p>
        </p:txBody>
      </p:sp>
      <p:sp>
        <p:nvSpPr>
          <p:cNvPr id="16" name="TextBox 15">
            <a:extLst>
              <a:ext uri="{FF2B5EF4-FFF2-40B4-BE49-F238E27FC236}">
                <a16:creationId xmlns:a16="http://schemas.microsoft.com/office/drawing/2014/main" id="{C81EBA77-1486-EE41-BDFF-AEB292D867AF}"/>
              </a:ext>
            </a:extLst>
          </p:cNvPr>
          <p:cNvSpPr txBox="1"/>
          <p:nvPr/>
        </p:nvSpPr>
        <p:spPr>
          <a:xfrm>
            <a:off x="2233060" y="2384394"/>
            <a:ext cx="7273089" cy="430887"/>
          </a:xfrm>
          <a:prstGeom prst="rect">
            <a:avLst/>
          </a:prstGeom>
          <a:noFill/>
        </p:spPr>
        <p:txBody>
          <a:bodyPr wrap="square" rtlCol="0">
            <a:spAutoFit/>
          </a:bodyPr>
          <a:lstStyle/>
          <a:p>
            <a:r>
              <a:rPr lang="en-US" sz="2200" dirty="0"/>
              <a:t>is this </a:t>
            </a:r>
            <a:r>
              <a:rPr lang="en-US" sz="2200" b="1" dirty="0">
                <a:latin typeface="Consolas" panose="020B0609020204030204" pitchFamily="49" charset="0"/>
                <a:cs typeface="Consolas" panose="020B0609020204030204" pitchFamily="49" charset="0"/>
              </a:rPr>
              <a:t>[abc123]</a:t>
            </a:r>
            <a:r>
              <a:rPr lang="en-US" sz="2200" dirty="0"/>
              <a:t> or </a:t>
            </a:r>
            <a:r>
              <a:rPr lang="en-US" sz="2200" b="1" dirty="0">
                <a:latin typeface="Consolas" panose="020B0609020204030204" pitchFamily="49" charset="0"/>
                <a:cs typeface="Consolas" panose="020B0609020204030204" pitchFamily="49" charset="0"/>
              </a:rPr>
              <a:t>[</a:t>
            </a:r>
            <a:r>
              <a:rPr lang="en-US" sz="2200" b="1" dirty="0" err="1">
                <a:latin typeface="Consolas" panose="020B0609020204030204" pitchFamily="49" charset="0"/>
                <a:cs typeface="Consolas" panose="020B0609020204030204" pitchFamily="49" charset="0"/>
              </a:rPr>
              <a:t>abc</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123</a:t>
            </a:r>
            <a:r>
              <a:rPr lang="en-US" sz="2200" b="1" dirty="0">
                <a:latin typeface="Consolas" panose="020B0609020204030204" pitchFamily="49" charset="0"/>
                <a:cs typeface="Consolas" panose="020B0609020204030204" pitchFamily="49" charset="0"/>
              </a:rPr>
              <a:t>]</a:t>
            </a:r>
            <a:r>
              <a:rPr lang="en-US" sz="2200" dirty="0"/>
              <a:t> or </a:t>
            </a:r>
            <a:r>
              <a:rPr lang="en-US" sz="2200" b="1" dirty="0">
                <a:latin typeface="Consolas" panose="020B0609020204030204" pitchFamily="49" charset="0"/>
                <a:cs typeface="Consolas" panose="020B0609020204030204" pitchFamily="49" charset="0"/>
              </a:rPr>
              <a:t>[ab, c123]</a:t>
            </a:r>
            <a:r>
              <a:rPr lang="en-US" sz="2200" dirty="0"/>
              <a:t> or…?</a:t>
            </a:r>
            <a:endParaRPr lang="en-US" sz="2200" b="1" dirty="0"/>
          </a:p>
        </p:txBody>
      </p:sp>
      <p:sp>
        <p:nvSpPr>
          <p:cNvPr id="17" name="TextBox 16">
            <a:extLst>
              <a:ext uri="{FF2B5EF4-FFF2-40B4-BE49-F238E27FC236}">
                <a16:creationId xmlns:a16="http://schemas.microsoft.com/office/drawing/2014/main" id="{1135909B-4B3B-8449-8F8F-B9516BE86D4D}"/>
              </a:ext>
            </a:extLst>
          </p:cNvPr>
          <p:cNvSpPr txBox="1"/>
          <p:nvPr/>
        </p:nvSpPr>
        <p:spPr>
          <a:xfrm>
            <a:off x="2233060" y="2784504"/>
            <a:ext cx="6956659" cy="430887"/>
          </a:xfrm>
          <a:prstGeom prst="rect">
            <a:avLst/>
          </a:prstGeom>
          <a:noFill/>
        </p:spPr>
        <p:txBody>
          <a:bodyPr wrap="square" rtlCol="0">
            <a:spAutoFit/>
          </a:bodyPr>
          <a:lstStyle/>
          <a:p>
            <a:r>
              <a:rPr lang="en-US" sz="2200" dirty="0"/>
              <a:t>why do we think </a:t>
            </a:r>
            <a:r>
              <a:rPr lang="en-US" sz="2200" i="1" dirty="0"/>
              <a:t>this</a:t>
            </a:r>
            <a:r>
              <a:rPr lang="en-US" sz="2200" dirty="0"/>
              <a:t> is an error when the above is not?</a:t>
            </a:r>
            <a:endParaRPr lang="en-US" sz="2200" b="1" dirty="0"/>
          </a:p>
        </p:txBody>
      </p:sp>
      <p:sp>
        <p:nvSpPr>
          <p:cNvPr id="18" name="TextBox 17">
            <a:extLst>
              <a:ext uri="{FF2B5EF4-FFF2-40B4-BE49-F238E27FC236}">
                <a16:creationId xmlns:a16="http://schemas.microsoft.com/office/drawing/2014/main" id="{E40C598D-FA98-A54A-B011-A44404F741E5}"/>
              </a:ext>
            </a:extLst>
          </p:cNvPr>
          <p:cNvSpPr txBox="1"/>
          <p:nvPr/>
        </p:nvSpPr>
        <p:spPr>
          <a:xfrm>
            <a:off x="609600" y="4688076"/>
            <a:ext cx="8077200" cy="430887"/>
          </a:xfrm>
          <a:prstGeom prst="rect">
            <a:avLst/>
          </a:prstGeom>
          <a:noFill/>
        </p:spPr>
        <p:txBody>
          <a:bodyPr wrap="square" rtlCol="0">
            <a:spAutoFit/>
          </a:bodyPr>
          <a:lstStyle/>
          <a:p>
            <a:pPr algn="ctr"/>
            <a:r>
              <a:rPr lang="en-US" sz="2200" dirty="0"/>
              <a:t>there are three ways I can think of to resolve ambiguity.</a:t>
            </a:r>
            <a:endParaRPr lang="en-US" sz="2200" b="1" dirty="0"/>
          </a:p>
        </p:txBody>
      </p:sp>
      <p:sp>
        <p:nvSpPr>
          <p:cNvPr id="19" name="TextBox 18">
            <a:extLst>
              <a:ext uri="{FF2B5EF4-FFF2-40B4-BE49-F238E27FC236}">
                <a16:creationId xmlns:a16="http://schemas.microsoft.com/office/drawing/2014/main" id="{62852A6F-CD26-694A-B63B-E59E3881C7EA}"/>
              </a:ext>
            </a:extLst>
          </p:cNvPr>
          <p:cNvSpPr txBox="1"/>
          <p:nvPr/>
        </p:nvSpPr>
        <p:spPr>
          <a:xfrm>
            <a:off x="304800" y="1910033"/>
            <a:ext cx="1928260" cy="461665"/>
          </a:xfrm>
          <a:prstGeom prst="rect">
            <a:avLst/>
          </a:prstGeom>
          <a:noFill/>
        </p:spPr>
        <p:txBody>
          <a:bodyPr wrap="square" rtlCol="0">
            <a:spAutoFit/>
          </a:bodyPr>
          <a:lstStyle/>
          <a:p>
            <a:r>
              <a:rPr lang="en-US" sz="2400" b="1" dirty="0">
                <a:solidFill>
                  <a:schemeClr val="accent3">
                    <a:lumMod val="75000"/>
                  </a:schemeClr>
                </a:solidFill>
                <a:latin typeface="Consolas" panose="020B0609020204030204" pitchFamily="49" charset="0"/>
                <a:cs typeface="Consolas" panose="020B0609020204030204" pitchFamily="49" charset="0"/>
              </a:rPr>
              <a:t>3.4</a:t>
            </a:r>
            <a:endParaRPr lang="en-US" sz="2400" dirty="0">
              <a:solidFill>
                <a:schemeClr val="accent3">
                  <a:lumMod val="75000"/>
                </a:schemeClr>
              </a:solidFill>
              <a:latin typeface="Consolas" panose="020B0609020204030204" pitchFamily="49" charset="0"/>
              <a:cs typeface="Consolas" panose="020B0609020204030204" pitchFamily="49" charset="0"/>
            </a:endParaRPr>
          </a:p>
        </p:txBody>
      </p:sp>
      <p:sp>
        <p:nvSpPr>
          <p:cNvPr id="20" name="TextBox 19">
            <a:extLst>
              <a:ext uri="{FF2B5EF4-FFF2-40B4-BE49-F238E27FC236}">
                <a16:creationId xmlns:a16="http://schemas.microsoft.com/office/drawing/2014/main" id="{09ED046C-121F-444C-9873-27924CD116F7}"/>
              </a:ext>
            </a:extLst>
          </p:cNvPr>
          <p:cNvSpPr txBox="1"/>
          <p:nvPr/>
        </p:nvSpPr>
        <p:spPr>
          <a:xfrm>
            <a:off x="2233060" y="1904633"/>
            <a:ext cx="6261636" cy="430887"/>
          </a:xfrm>
          <a:prstGeom prst="rect">
            <a:avLst/>
          </a:prstGeom>
          <a:noFill/>
        </p:spPr>
        <p:txBody>
          <a:bodyPr wrap="square" rtlCol="0">
            <a:spAutoFit/>
          </a:bodyPr>
          <a:lstStyle/>
          <a:p>
            <a:r>
              <a:rPr lang="en-US" sz="2200" dirty="0"/>
              <a:t>is this </a:t>
            </a:r>
            <a:r>
              <a:rPr lang="en-US" sz="2200" b="1" dirty="0">
                <a:latin typeface="Consolas" panose="020B0609020204030204" pitchFamily="49" charset="0"/>
                <a:cs typeface="Consolas" panose="020B0609020204030204" pitchFamily="49" charset="0"/>
              </a:rPr>
              <a:t>[</a:t>
            </a:r>
            <a:r>
              <a:rPr lang="en-US" sz="2200" b="1" dirty="0">
                <a:solidFill>
                  <a:schemeClr val="accent3">
                    <a:lumMod val="75000"/>
                  </a:schemeClr>
                </a:solidFill>
                <a:latin typeface="Consolas" panose="020B0609020204030204" pitchFamily="49" charset="0"/>
                <a:cs typeface="Consolas" panose="020B0609020204030204" pitchFamily="49" charset="0"/>
              </a:rPr>
              <a:t>3.4</a:t>
            </a:r>
            <a:r>
              <a:rPr lang="en-US" sz="2200" b="1" dirty="0">
                <a:latin typeface="Consolas" panose="020B0609020204030204" pitchFamily="49" charset="0"/>
                <a:cs typeface="Consolas" panose="020B0609020204030204" pitchFamily="49" charset="0"/>
              </a:rPr>
              <a:t>]</a:t>
            </a:r>
            <a:r>
              <a:rPr lang="en-US" sz="2200" dirty="0"/>
              <a:t> or </a:t>
            </a:r>
            <a:r>
              <a:rPr lang="en-US" sz="2200" b="1" dirty="0">
                <a:latin typeface="Consolas" panose="020B0609020204030204" pitchFamily="49" charset="0"/>
                <a:cs typeface="Consolas" panose="020B0609020204030204" pitchFamily="49" charset="0"/>
              </a:rPr>
              <a:t>[</a:t>
            </a:r>
            <a:r>
              <a:rPr lang="en-US" sz="2200" b="1" dirty="0">
                <a:solidFill>
                  <a:schemeClr val="accent3">
                    <a:lumMod val="75000"/>
                  </a:schemeClr>
                </a:solidFill>
                <a:latin typeface="Consolas" panose="020B0609020204030204" pitchFamily="49" charset="0"/>
                <a:cs typeface="Consolas" panose="020B0609020204030204" pitchFamily="49" charset="0"/>
              </a:rPr>
              <a:t>3.</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4</a:t>
            </a:r>
            <a:r>
              <a:rPr lang="en-US" sz="2200" b="1" dirty="0">
                <a:latin typeface="Consolas" panose="020B0609020204030204" pitchFamily="49" charset="0"/>
                <a:cs typeface="Consolas" panose="020B0609020204030204" pitchFamily="49" charset="0"/>
              </a:rPr>
              <a:t>]</a:t>
            </a:r>
            <a:r>
              <a:rPr lang="en-US" sz="2200" dirty="0"/>
              <a:t>?</a:t>
            </a:r>
            <a:endParaRPr lang="en-US" sz="2200" b="1" dirty="0"/>
          </a:p>
        </p:txBody>
      </p:sp>
    </p:spTree>
    <p:extLst>
      <p:ext uri="{BB962C8B-B14F-4D97-AF65-F5344CB8AC3E}">
        <p14:creationId xmlns:p14="http://schemas.microsoft.com/office/powerpoint/2010/main" val="41483321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animBg="1"/>
      <p:bldP spid="11" grpId="0" animBg="1"/>
      <p:bldP spid="13" grpId="0"/>
      <p:bldP spid="14" grpId="0"/>
      <p:bldP spid="15" grpId="0"/>
      <p:bldP spid="16" grpId="0"/>
      <p:bldP spid="17" grpId="0"/>
      <p:bldP spid="18" grpId="0"/>
      <p:bldP spid="19" grpId="0"/>
      <p:bldP spid="2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9F0F9-A433-6F4B-B011-77769BC588BA}"/>
              </a:ext>
            </a:extLst>
          </p:cNvPr>
          <p:cNvSpPr>
            <a:spLocks noGrp="1"/>
          </p:cNvSpPr>
          <p:nvPr>
            <p:ph type="title"/>
          </p:nvPr>
        </p:nvSpPr>
        <p:spPr/>
        <p:txBody>
          <a:bodyPr/>
          <a:lstStyle/>
          <a:p>
            <a:r>
              <a:rPr lang="en-US" dirty="0"/>
              <a:t>Approach 1: Maximal Munch</a:t>
            </a:r>
          </a:p>
        </p:txBody>
      </p:sp>
      <p:sp>
        <p:nvSpPr>
          <p:cNvPr id="3" name="Content Placeholder 2">
            <a:extLst>
              <a:ext uri="{FF2B5EF4-FFF2-40B4-BE49-F238E27FC236}">
                <a16:creationId xmlns:a16="http://schemas.microsoft.com/office/drawing/2014/main" id="{C280EB2E-BFED-BD44-BD45-EABD7071C174}"/>
              </a:ext>
            </a:extLst>
          </p:cNvPr>
          <p:cNvSpPr>
            <a:spLocks noGrp="1"/>
          </p:cNvSpPr>
          <p:nvPr>
            <p:ph idx="1"/>
          </p:nvPr>
        </p:nvSpPr>
        <p:spPr>
          <a:xfrm>
            <a:off x="152400" y="495302"/>
            <a:ext cx="8991600" cy="879218"/>
          </a:xfrm>
        </p:spPr>
        <p:txBody>
          <a:bodyPr/>
          <a:lstStyle/>
          <a:p>
            <a:r>
              <a:rPr lang="en-US" b="1" dirty="0"/>
              <a:t>maximal munch</a:t>
            </a:r>
            <a:r>
              <a:rPr lang="en-US" dirty="0"/>
              <a:t> is a strategy that says: </a:t>
            </a:r>
            <a:r>
              <a:rPr lang="en-US" b="1" dirty="0"/>
              <a:t>always try to make the biggest token possible, </a:t>
            </a:r>
            <a:r>
              <a:rPr lang="en-US" dirty="0"/>
              <a:t>going left-to-right.</a:t>
            </a:r>
            <a:endParaRPr lang="en-US" b="1" dirty="0"/>
          </a:p>
        </p:txBody>
      </p:sp>
      <p:sp>
        <p:nvSpPr>
          <p:cNvPr id="4" name="Slide Number Placeholder 3">
            <a:extLst>
              <a:ext uri="{FF2B5EF4-FFF2-40B4-BE49-F238E27FC236}">
                <a16:creationId xmlns:a16="http://schemas.microsoft.com/office/drawing/2014/main" id="{96D992A1-DF76-6A46-9DC1-1ECF9A1CD7B3}"/>
              </a:ext>
            </a:extLst>
          </p:cNvPr>
          <p:cNvSpPr>
            <a:spLocks noGrp="1"/>
          </p:cNvSpPr>
          <p:nvPr>
            <p:ph type="sldNum" sz="quarter" idx="12"/>
          </p:nvPr>
        </p:nvSpPr>
        <p:spPr/>
        <p:txBody>
          <a:bodyPr/>
          <a:lstStyle/>
          <a:p>
            <a:fld id="{3552B95B-556F-44BD-91A5-D80C1B9E2BB3}" type="slidenum">
              <a:rPr lang="en-US" smtClean="0"/>
              <a:pPr/>
              <a:t>26</a:t>
            </a:fld>
            <a:endParaRPr lang="en-US"/>
          </a:p>
        </p:txBody>
      </p:sp>
      <p:sp>
        <p:nvSpPr>
          <p:cNvPr id="8" name="TextBox 7">
            <a:extLst>
              <a:ext uri="{FF2B5EF4-FFF2-40B4-BE49-F238E27FC236}">
                <a16:creationId xmlns:a16="http://schemas.microsoft.com/office/drawing/2014/main" id="{0DFF6CA6-17EA-7C48-BF37-695D5185B1EA}"/>
              </a:ext>
            </a:extLst>
          </p:cNvPr>
          <p:cNvSpPr txBox="1"/>
          <p:nvPr/>
        </p:nvSpPr>
        <p:spPr>
          <a:xfrm>
            <a:off x="319238" y="3926993"/>
            <a:ext cx="3810000" cy="830997"/>
          </a:xfrm>
          <a:prstGeom prst="rect">
            <a:avLst/>
          </a:prstGeom>
          <a:noFill/>
        </p:spPr>
        <p:txBody>
          <a:bodyPr wrap="square" rtlCol="0">
            <a:spAutoFit/>
          </a:bodyPr>
          <a:lstStyle/>
          <a:p>
            <a:r>
              <a:rPr lang="en-US" sz="2400" b="1" dirty="0">
                <a:solidFill>
                  <a:srgbClr val="FF0000"/>
                </a:solidFill>
                <a:latin typeface="Consolas" panose="020B0609020204030204" pitchFamily="49" charset="0"/>
                <a:cs typeface="Consolas" panose="020B0609020204030204" pitchFamily="49" charset="0"/>
              </a:rPr>
              <a:t>int</a:t>
            </a:r>
            <a:r>
              <a:rPr lang="en-US" sz="2400" b="1" dirty="0">
                <a:latin typeface="Consolas" panose="020B0609020204030204" pitchFamily="49" charset="0"/>
                <a:cs typeface="Consolas" panose="020B0609020204030204" pitchFamily="49" charset="0"/>
              </a:rPr>
              <a:t> y = x &gt;&gt; </a:t>
            </a:r>
            <a:r>
              <a:rPr lang="en-US" sz="2400" b="1" dirty="0">
                <a:solidFill>
                  <a:schemeClr val="accent3">
                    <a:lumMod val="75000"/>
                  </a:schemeClr>
                </a:solidFill>
                <a:latin typeface="Consolas" panose="020B0609020204030204" pitchFamily="49" charset="0"/>
                <a:cs typeface="Consolas" panose="020B0609020204030204" pitchFamily="49" charset="0"/>
              </a:rPr>
              <a:t>3</a:t>
            </a:r>
            <a:r>
              <a:rPr lang="en-US" sz="2400" b="1" dirty="0">
                <a:latin typeface="Consolas" panose="020B0609020204030204" pitchFamily="49" charset="0"/>
                <a:cs typeface="Consolas" panose="020B0609020204030204" pitchFamily="49" charset="0"/>
              </a:rPr>
              <a:t>;</a:t>
            </a:r>
          </a:p>
          <a:p>
            <a:r>
              <a:rPr lang="en-US" sz="2400" b="1" dirty="0">
                <a:latin typeface="Consolas" panose="020B0609020204030204" pitchFamily="49" charset="0"/>
                <a:cs typeface="Consolas" panose="020B0609020204030204" pitchFamily="49" charset="0"/>
              </a:rPr>
              <a:t>List&lt;List&lt;String&gt;&gt; l;</a:t>
            </a:r>
            <a:endParaRPr lang="en-US" sz="2400" dirty="0">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9B875D49-051C-8A44-B2C9-A1401301F460}"/>
              </a:ext>
            </a:extLst>
          </p:cNvPr>
          <p:cNvSpPr txBox="1"/>
          <p:nvPr/>
        </p:nvSpPr>
        <p:spPr>
          <a:xfrm>
            <a:off x="304800" y="1374519"/>
            <a:ext cx="1928260" cy="461665"/>
          </a:xfrm>
          <a:prstGeom prst="rect">
            <a:avLst/>
          </a:prstGeom>
          <a:noFill/>
        </p:spPr>
        <p:txBody>
          <a:bodyPr wrap="square" rtlCol="0">
            <a:spAutoFit/>
          </a:bodyPr>
          <a:lstStyle/>
          <a:p>
            <a:r>
              <a:rPr lang="en-US" sz="2400" b="1" dirty="0">
                <a:solidFill>
                  <a:srgbClr val="FF0000"/>
                </a:solidFill>
                <a:latin typeface="Consolas" panose="020B0609020204030204" pitchFamily="49" charset="0"/>
                <a:cs typeface="Consolas" panose="020B0609020204030204" pitchFamily="49" charset="0"/>
              </a:rPr>
              <a:t>if</a:t>
            </a:r>
            <a:r>
              <a:rPr lang="en-US" sz="2400" b="1" dirty="0">
                <a:latin typeface="Consolas" panose="020B0609020204030204" pitchFamily="49" charset="0"/>
                <a:cs typeface="Consolas" panose="020B0609020204030204" pitchFamily="49" charset="0"/>
              </a:rPr>
              <a:t>(x == </a:t>
            </a:r>
            <a:r>
              <a:rPr lang="en-US" sz="2400" b="1" dirty="0">
                <a:solidFill>
                  <a:schemeClr val="accent3">
                    <a:lumMod val="75000"/>
                  </a:schemeClr>
                </a:solidFill>
                <a:latin typeface="Consolas" panose="020B0609020204030204" pitchFamily="49" charset="0"/>
                <a:cs typeface="Consolas" panose="020B0609020204030204" pitchFamily="49" charset="0"/>
              </a:rPr>
              <a:t>3</a:t>
            </a:r>
            <a:r>
              <a:rPr lang="en-US" sz="2400" b="1" dirty="0">
                <a:latin typeface="Consolas" panose="020B0609020204030204" pitchFamily="49" charset="0"/>
                <a:cs typeface="Consolas" panose="020B0609020204030204" pitchFamily="49" charset="0"/>
              </a:rPr>
              <a:t>)</a:t>
            </a:r>
            <a:endParaRPr lang="en-US" sz="2400" dirty="0">
              <a:latin typeface="Consolas" panose="020B0609020204030204" pitchFamily="49" charset="0"/>
              <a:cs typeface="Consolas" panose="020B0609020204030204" pitchFamily="49" charset="0"/>
            </a:endParaRPr>
          </a:p>
        </p:txBody>
      </p:sp>
      <p:sp>
        <p:nvSpPr>
          <p:cNvPr id="10" name="TextBox 9">
            <a:extLst>
              <a:ext uri="{FF2B5EF4-FFF2-40B4-BE49-F238E27FC236}">
                <a16:creationId xmlns:a16="http://schemas.microsoft.com/office/drawing/2014/main" id="{8BD973BB-10EF-C343-9BCF-92011EF483D3}"/>
              </a:ext>
            </a:extLst>
          </p:cNvPr>
          <p:cNvSpPr txBox="1"/>
          <p:nvPr/>
        </p:nvSpPr>
        <p:spPr>
          <a:xfrm>
            <a:off x="327258" y="2409558"/>
            <a:ext cx="1905801" cy="830997"/>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abc123</a:t>
            </a:r>
          </a:p>
          <a:p>
            <a:r>
              <a:rPr lang="en-US" sz="2400" b="1" dirty="0">
                <a:latin typeface="Consolas" panose="020B0609020204030204" pitchFamily="49" charset="0"/>
                <a:cs typeface="Consolas" panose="020B0609020204030204" pitchFamily="49" charset="0"/>
              </a:rPr>
              <a:t>123abc</a:t>
            </a:r>
            <a:endParaRPr lang="en-US" sz="2400" dirty="0">
              <a:latin typeface="Consolas" panose="020B0609020204030204" pitchFamily="49" charset="0"/>
              <a:cs typeface="Consolas" panose="020B0609020204030204" pitchFamily="49" charset="0"/>
            </a:endParaRPr>
          </a:p>
        </p:txBody>
      </p:sp>
      <p:sp>
        <p:nvSpPr>
          <p:cNvPr id="12" name="Rounded Rectangle 11">
            <a:extLst>
              <a:ext uri="{FF2B5EF4-FFF2-40B4-BE49-F238E27FC236}">
                <a16:creationId xmlns:a16="http://schemas.microsoft.com/office/drawing/2014/main" id="{B695BF23-86AB-924F-B238-F0EF2FB1BF3B}"/>
              </a:ext>
            </a:extLst>
          </p:cNvPr>
          <p:cNvSpPr/>
          <p:nvPr/>
        </p:nvSpPr>
        <p:spPr>
          <a:xfrm>
            <a:off x="3081688" y="4291149"/>
            <a:ext cx="388219" cy="471351"/>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A7FF8834-6813-4D47-825D-87AC42F89DF3}"/>
              </a:ext>
            </a:extLst>
          </p:cNvPr>
          <p:cNvSpPr txBox="1"/>
          <p:nvPr/>
        </p:nvSpPr>
        <p:spPr>
          <a:xfrm>
            <a:off x="4061059" y="4329358"/>
            <a:ext cx="5018774" cy="430887"/>
          </a:xfrm>
          <a:prstGeom prst="rect">
            <a:avLst/>
          </a:prstGeom>
          <a:noFill/>
        </p:spPr>
        <p:txBody>
          <a:bodyPr wrap="square" rtlCol="0">
            <a:spAutoFit/>
          </a:bodyPr>
          <a:lstStyle/>
          <a:p>
            <a:r>
              <a:rPr lang="en-US" sz="2200" dirty="0"/>
              <a:t>but this still presents an issue…</a:t>
            </a:r>
            <a:endParaRPr lang="en-US" sz="2200" b="1" dirty="0"/>
          </a:p>
        </p:txBody>
      </p:sp>
      <p:sp>
        <p:nvSpPr>
          <p:cNvPr id="16" name="TextBox 15">
            <a:extLst>
              <a:ext uri="{FF2B5EF4-FFF2-40B4-BE49-F238E27FC236}">
                <a16:creationId xmlns:a16="http://schemas.microsoft.com/office/drawing/2014/main" id="{95F64230-C372-9649-A7D7-8F9D33C48D4B}"/>
              </a:ext>
            </a:extLst>
          </p:cNvPr>
          <p:cNvSpPr txBox="1"/>
          <p:nvPr/>
        </p:nvSpPr>
        <p:spPr>
          <a:xfrm>
            <a:off x="2233060" y="1405297"/>
            <a:ext cx="5749491" cy="430887"/>
          </a:xfrm>
          <a:prstGeom prst="rect">
            <a:avLst/>
          </a:prstGeom>
          <a:noFill/>
        </p:spPr>
        <p:txBody>
          <a:bodyPr wrap="square" rtlCol="0">
            <a:spAutoFit/>
          </a:bodyPr>
          <a:lstStyle/>
          <a:p>
            <a:r>
              <a:rPr lang="en-US" sz="2200" dirty="0"/>
              <a:t>this </a:t>
            </a:r>
            <a:r>
              <a:rPr lang="en-US" sz="2200" i="1" dirty="0"/>
              <a:t>is</a:t>
            </a:r>
            <a:r>
              <a:rPr lang="en-US" sz="2200" dirty="0"/>
              <a:t> </a:t>
            </a:r>
            <a:r>
              <a:rPr lang="en-US" sz="2200" b="1" dirty="0">
                <a:latin typeface="Consolas" panose="020B0609020204030204" pitchFamily="49" charset="0"/>
                <a:cs typeface="Consolas" panose="020B0609020204030204" pitchFamily="49" charset="0"/>
              </a:rPr>
              <a:t>[==]</a:t>
            </a:r>
            <a:r>
              <a:rPr lang="en-US" sz="2200" dirty="0"/>
              <a:t>.</a:t>
            </a:r>
            <a:endParaRPr lang="en-US" sz="2200" b="1" dirty="0"/>
          </a:p>
        </p:txBody>
      </p:sp>
      <p:sp>
        <p:nvSpPr>
          <p:cNvPr id="17" name="TextBox 16">
            <a:extLst>
              <a:ext uri="{FF2B5EF4-FFF2-40B4-BE49-F238E27FC236}">
                <a16:creationId xmlns:a16="http://schemas.microsoft.com/office/drawing/2014/main" id="{572A070B-3323-4C46-BFB5-33272E499160}"/>
              </a:ext>
            </a:extLst>
          </p:cNvPr>
          <p:cNvSpPr txBox="1"/>
          <p:nvPr/>
        </p:nvSpPr>
        <p:spPr>
          <a:xfrm>
            <a:off x="2233060" y="2384394"/>
            <a:ext cx="7273089" cy="430887"/>
          </a:xfrm>
          <a:prstGeom prst="rect">
            <a:avLst/>
          </a:prstGeom>
          <a:noFill/>
        </p:spPr>
        <p:txBody>
          <a:bodyPr wrap="square" rtlCol="0">
            <a:spAutoFit/>
          </a:bodyPr>
          <a:lstStyle/>
          <a:p>
            <a:r>
              <a:rPr lang="en-US" sz="2200" dirty="0"/>
              <a:t>this </a:t>
            </a:r>
            <a:r>
              <a:rPr lang="en-US" sz="2200" i="1" dirty="0"/>
              <a:t>is</a:t>
            </a:r>
            <a:r>
              <a:rPr lang="en-US" sz="2200" dirty="0"/>
              <a:t> </a:t>
            </a:r>
            <a:r>
              <a:rPr lang="en-US" sz="2200" b="1" dirty="0">
                <a:latin typeface="Consolas" panose="020B0609020204030204" pitchFamily="49" charset="0"/>
                <a:cs typeface="Consolas" panose="020B0609020204030204" pitchFamily="49" charset="0"/>
              </a:rPr>
              <a:t>[abc123]</a:t>
            </a:r>
            <a:r>
              <a:rPr lang="en-US" sz="2200" dirty="0"/>
              <a:t>.</a:t>
            </a:r>
            <a:endParaRPr lang="en-US" sz="2200" b="1" dirty="0"/>
          </a:p>
        </p:txBody>
      </p:sp>
      <p:sp>
        <p:nvSpPr>
          <p:cNvPr id="18" name="TextBox 17">
            <a:extLst>
              <a:ext uri="{FF2B5EF4-FFF2-40B4-BE49-F238E27FC236}">
                <a16:creationId xmlns:a16="http://schemas.microsoft.com/office/drawing/2014/main" id="{6B366CBD-5817-A24A-B51D-3313C2F886AB}"/>
              </a:ext>
            </a:extLst>
          </p:cNvPr>
          <p:cNvSpPr txBox="1"/>
          <p:nvPr/>
        </p:nvSpPr>
        <p:spPr>
          <a:xfrm>
            <a:off x="2233060" y="2784504"/>
            <a:ext cx="6956659" cy="984885"/>
          </a:xfrm>
          <a:prstGeom prst="rect">
            <a:avLst/>
          </a:prstGeom>
          <a:noFill/>
        </p:spPr>
        <p:txBody>
          <a:bodyPr wrap="square" rtlCol="0">
            <a:spAutoFit/>
          </a:bodyPr>
          <a:lstStyle/>
          <a:p>
            <a:r>
              <a:rPr lang="en-US" sz="2200" dirty="0"/>
              <a:t>this is an </a:t>
            </a:r>
            <a:r>
              <a:rPr lang="en-US" sz="2200" dirty="0">
                <a:solidFill>
                  <a:srgbClr val="FF0000"/>
                </a:solidFill>
              </a:rPr>
              <a:t>error</a:t>
            </a:r>
            <a:r>
              <a:rPr lang="en-US" sz="2200" dirty="0"/>
              <a:t> because we </a:t>
            </a:r>
            <a:r>
              <a:rPr lang="en-US" sz="2200" b="1" dirty="0"/>
              <a:t>start</a:t>
            </a:r>
            <a:r>
              <a:rPr lang="en-US" sz="2200" dirty="0"/>
              <a:t> lexing a number, and then hit a non-numerical character.</a:t>
            </a:r>
          </a:p>
          <a:p>
            <a:r>
              <a:rPr lang="en-US" sz="1200" dirty="0"/>
              <a:t>although, it doesn't </a:t>
            </a:r>
            <a:r>
              <a:rPr lang="en-US" sz="1200" i="1" dirty="0"/>
              <a:t>have</a:t>
            </a:r>
            <a:r>
              <a:rPr lang="en-US" sz="1200" dirty="0"/>
              <a:t> to be; we could say "3x" is another way of writing "3 * x", couldn't we?</a:t>
            </a:r>
            <a:endParaRPr lang="en-US" sz="1100" dirty="0"/>
          </a:p>
        </p:txBody>
      </p:sp>
      <p:sp>
        <p:nvSpPr>
          <p:cNvPr id="19" name="TextBox 18">
            <a:extLst>
              <a:ext uri="{FF2B5EF4-FFF2-40B4-BE49-F238E27FC236}">
                <a16:creationId xmlns:a16="http://schemas.microsoft.com/office/drawing/2014/main" id="{610485BC-5AD1-9C49-A33C-F9FE32F25322}"/>
              </a:ext>
            </a:extLst>
          </p:cNvPr>
          <p:cNvSpPr txBox="1"/>
          <p:nvPr/>
        </p:nvSpPr>
        <p:spPr>
          <a:xfrm>
            <a:off x="304800" y="1910033"/>
            <a:ext cx="1928260" cy="461665"/>
          </a:xfrm>
          <a:prstGeom prst="rect">
            <a:avLst/>
          </a:prstGeom>
          <a:noFill/>
        </p:spPr>
        <p:txBody>
          <a:bodyPr wrap="square" rtlCol="0">
            <a:spAutoFit/>
          </a:bodyPr>
          <a:lstStyle/>
          <a:p>
            <a:r>
              <a:rPr lang="en-US" sz="2400" b="1" dirty="0">
                <a:solidFill>
                  <a:schemeClr val="accent3">
                    <a:lumMod val="75000"/>
                  </a:schemeClr>
                </a:solidFill>
                <a:latin typeface="Consolas" panose="020B0609020204030204" pitchFamily="49" charset="0"/>
                <a:cs typeface="Consolas" panose="020B0609020204030204" pitchFamily="49" charset="0"/>
              </a:rPr>
              <a:t>3.4</a:t>
            </a:r>
            <a:endParaRPr lang="en-US" sz="2400" dirty="0">
              <a:solidFill>
                <a:schemeClr val="accent3">
                  <a:lumMod val="75000"/>
                </a:schemeClr>
              </a:solidFill>
              <a:latin typeface="Consolas" panose="020B0609020204030204" pitchFamily="49" charset="0"/>
              <a:cs typeface="Consolas" panose="020B0609020204030204" pitchFamily="49" charset="0"/>
            </a:endParaRPr>
          </a:p>
        </p:txBody>
      </p:sp>
      <p:sp>
        <p:nvSpPr>
          <p:cNvPr id="20" name="TextBox 19">
            <a:extLst>
              <a:ext uri="{FF2B5EF4-FFF2-40B4-BE49-F238E27FC236}">
                <a16:creationId xmlns:a16="http://schemas.microsoft.com/office/drawing/2014/main" id="{DD445506-2BE1-0648-A105-2209CB986ED6}"/>
              </a:ext>
            </a:extLst>
          </p:cNvPr>
          <p:cNvSpPr txBox="1"/>
          <p:nvPr/>
        </p:nvSpPr>
        <p:spPr>
          <a:xfrm>
            <a:off x="2233060" y="1904633"/>
            <a:ext cx="6261636" cy="430887"/>
          </a:xfrm>
          <a:prstGeom prst="rect">
            <a:avLst/>
          </a:prstGeom>
          <a:noFill/>
        </p:spPr>
        <p:txBody>
          <a:bodyPr wrap="square" rtlCol="0">
            <a:spAutoFit/>
          </a:bodyPr>
          <a:lstStyle/>
          <a:p>
            <a:r>
              <a:rPr lang="en-US" sz="2200" dirty="0"/>
              <a:t>this </a:t>
            </a:r>
            <a:r>
              <a:rPr lang="en-US" sz="2200" i="1" dirty="0"/>
              <a:t>is</a:t>
            </a:r>
            <a:r>
              <a:rPr lang="en-US" sz="2200" dirty="0"/>
              <a:t> </a:t>
            </a:r>
            <a:r>
              <a:rPr lang="en-US" sz="2200" b="1" dirty="0">
                <a:latin typeface="Consolas" panose="020B0609020204030204" pitchFamily="49" charset="0"/>
                <a:cs typeface="Consolas" panose="020B0609020204030204" pitchFamily="49" charset="0"/>
              </a:rPr>
              <a:t>[</a:t>
            </a:r>
            <a:r>
              <a:rPr lang="en-US" sz="2200" b="1" dirty="0">
                <a:solidFill>
                  <a:schemeClr val="accent3">
                    <a:lumMod val="75000"/>
                  </a:schemeClr>
                </a:solidFill>
                <a:latin typeface="Consolas" panose="020B0609020204030204" pitchFamily="49" charset="0"/>
                <a:cs typeface="Consolas" panose="020B0609020204030204" pitchFamily="49" charset="0"/>
              </a:rPr>
              <a:t>3.4</a:t>
            </a:r>
            <a:r>
              <a:rPr lang="en-US" sz="2200" b="1" dirty="0">
                <a:latin typeface="Consolas" panose="020B0609020204030204" pitchFamily="49" charset="0"/>
                <a:cs typeface="Consolas" panose="020B0609020204030204" pitchFamily="49" charset="0"/>
              </a:rPr>
              <a:t>]</a:t>
            </a:r>
            <a:r>
              <a:rPr lang="en-US" sz="2200" dirty="0"/>
              <a:t>.</a:t>
            </a:r>
            <a:endParaRPr lang="en-US" sz="2200" b="1" dirty="0"/>
          </a:p>
        </p:txBody>
      </p:sp>
    </p:spTree>
    <p:extLst>
      <p:ext uri="{BB962C8B-B14F-4D97-AF65-F5344CB8AC3E}">
        <p14:creationId xmlns:p14="http://schemas.microsoft.com/office/powerpoint/2010/main" val="39858022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2" grpId="0" animBg="1"/>
      <p:bldP spid="15" grpId="0"/>
      <p:bldP spid="16" grpId="0"/>
      <p:bldP spid="17" grpId="0"/>
      <p:bldP spid="18" grpId="0"/>
      <p:bldP spid="19" grpId="0"/>
      <p:bldP spid="2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0B327-490F-1C4B-A9DA-D2727CE10A94}"/>
              </a:ext>
            </a:extLst>
          </p:cNvPr>
          <p:cNvSpPr>
            <a:spLocks noGrp="1"/>
          </p:cNvSpPr>
          <p:nvPr>
            <p:ph type="title"/>
          </p:nvPr>
        </p:nvSpPr>
        <p:spPr/>
        <p:txBody>
          <a:bodyPr/>
          <a:lstStyle/>
          <a:p>
            <a:r>
              <a:rPr lang="en-US" dirty="0"/>
              <a:t>Approach 2: Deal with it later!</a:t>
            </a:r>
          </a:p>
        </p:txBody>
      </p:sp>
      <p:sp>
        <p:nvSpPr>
          <p:cNvPr id="3" name="Content Placeholder 2">
            <a:extLst>
              <a:ext uri="{FF2B5EF4-FFF2-40B4-BE49-F238E27FC236}">
                <a16:creationId xmlns:a16="http://schemas.microsoft.com/office/drawing/2014/main" id="{899ABA37-9BD2-844F-86FA-C34564525F83}"/>
              </a:ext>
            </a:extLst>
          </p:cNvPr>
          <p:cNvSpPr>
            <a:spLocks noGrp="1"/>
          </p:cNvSpPr>
          <p:nvPr>
            <p:ph idx="1"/>
          </p:nvPr>
        </p:nvSpPr>
        <p:spPr>
          <a:xfrm>
            <a:off x="152400" y="495301"/>
            <a:ext cx="8991600" cy="769441"/>
          </a:xfrm>
        </p:spPr>
        <p:txBody>
          <a:bodyPr/>
          <a:lstStyle/>
          <a:p>
            <a:r>
              <a:rPr lang="en-US" dirty="0"/>
              <a:t>we can have the parser (the next step) </a:t>
            </a:r>
            <a:r>
              <a:rPr lang="en-US" b="1" dirty="0"/>
              <a:t>disambiguate</a:t>
            </a:r>
            <a:r>
              <a:rPr lang="en-US" dirty="0"/>
              <a:t> things that would be </a:t>
            </a:r>
            <a:r>
              <a:rPr lang="en-US" b="1" dirty="0"/>
              <a:t>impossible to detect</a:t>
            </a:r>
            <a:r>
              <a:rPr lang="en-US" dirty="0"/>
              <a:t> in the lexer.</a:t>
            </a:r>
          </a:p>
        </p:txBody>
      </p:sp>
      <p:sp>
        <p:nvSpPr>
          <p:cNvPr id="4" name="Slide Number Placeholder 3">
            <a:extLst>
              <a:ext uri="{FF2B5EF4-FFF2-40B4-BE49-F238E27FC236}">
                <a16:creationId xmlns:a16="http://schemas.microsoft.com/office/drawing/2014/main" id="{92B4BE11-AFB7-FA4B-AFEB-04163C4EC270}"/>
              </a:ext>
            </a:extLst>
          </p:cNvPr>
          <p:cNvSpPr>
            <a:spLocks noGrp="1"/>
          </p:cNvSpPr>
          <p:nvPr>
            <p:ph type="sldNum" sz="quarter" idx="12"/>
          </p:nvPr>
        </p:nvSpPr>
        <p:spPr/>
        <p:txBody>
          <a:bodyPr/>
          <a:lstStyle/>
          <a:p>
            <a:fld id="{3552B95B-556F-44BD-91A5-D80C1B9E2BB3}" type="slidenum">
              <a:rPr lang="en-US" smtClean="0"/>
              <a:pPr/>
              <a:t>27</a:t>
            </a:fld>
            <a:endParaRPr lang="en-US"/>
          </a:p>
        </p:txBody>
      </p:sp>
      <p:sp>
        <p:nvSpPr>
          <p:cNvPr id="5" name="TextBox 4">
            <a:extLst>
              <a:ext uri="{FF2B5EF4-FFF2-40B4-BE49-F238E27FC236}">
                <a16:creationId xmlns:a16="http://schemas.microsoft.com/office/drawing/2014/main" id="{4DFB90BA-098E-2648-B621-BED1B6918792}"/>
              </a:ext>
            </a:extLst>
          </p:cNvPr>
          <p:cNvSpPr txBox="1"/>
          <p:nvPr/>
        </p:nvSpPr>
        <p:spPr>
          <a:xfrm>
            <a:off x="2667000" y="2306927"/>
            <a:ext cx="3810000" cy="461665"/>
          </a:xfrm>
          <a:prstGeom prst="rect">
            <a:avLst/>
          </a:prstGeom>
          <a:noFill/>
        </p:spPr>
        <p:txBody>
          <a:bodyPr wrap="square" rtlCol="0">
            <a:spAutoFit/>
          </a:bodyPr>
          <a:lstStyle/>
          <a:p>
            <a:r>
              <a:rPr lang="en-US" sz="2400" b="1" dirty="0">
                <a:latin typeface="Consolas" panose="020B0609020204030204" pitchFamily="49" charset="0"/>
                <a:cs typeface="Consolas" panose="020B0609020204030204" pitchFamily="49" charset="0"/>
              </a:rPr>
              <a:t>List&lt;List&lt;String&gt;&gt; l;</a:t>
            </a:r>
            <a:endParaRPr lang="en-US" sz="2400"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9B4E8F72-B7A3-1B4B-B68A-0F7770FEBDF2}"/>
              </a:ext>
            </a:extLst>
          </p:cNvPr>
          <p:cNvSpPr txBox="1"/>
          <p:nvPr/>
        </p:nvSpPr>
        <p:spPr>
          <a:xfrm>
            <a:off x="607060" y="2927290"/>
            <a:ext cx="7929880" cy="769441"/>
          </a:xfrm>
          <a:prstGeom prst="rect">
            <a:avLst/>
          </a:prstGeom>
          <a:noFill/>
        </p:spPr>
        <p:txBody>
          <a:bodyPr wrap="square" rtlCol="0">
            <a:spAutoFit/>
          </a:bodyPr>
          <a:lstStyle/>
          <a:p>
            <a:pPr algn="ctr"/>
            <a:r>
              <a:rPr lang="en-US" sz="2200" b="1" dirty="0"/>
              <a:t>the lexer cannot know that &gt;&gt; is a pair of closing brackets</a:t>
            </a:r>
            <a:r>
              <a:rPr lang="en-US" sz="2200" dirty="0"/>
              <a:t> without knowing that there are two unpaired open brackets.</a:t>
            </a:r>
            <a:endParaRPr lang="en-US" sz="2200" b="1" dirty="0"/>
          </a:p>
        </p:txBody>
      </p:sp>
      <p:sp>
        <p:nvSpPr>
          <p:cNvPr id="7" name="TextBox 6">
            <a:extLst>
              <a:ext uri="{FF2B5EF4-FFF2-40B4-BE49-F238E27FC236}">
                <a16:creationId xmlns:a16="http://schemas.microsoft.com/office/drawing/2014/main" id="{AF7C9335-401A-3348-B0B3-75CCA82C5EDC}"/>
              </a:ext>
            </a:extLst>
          </p:cNvPr>
          <p:cNvSpPr txBox="1"/>
          <p:nvPr/>
        </p:nvSpPr>
        <p:spPr>
          <a:xfrm>
            <a:off x="1295400" y="1385781"/>
            <a:ext cx="6553200" cy="769441"/>
          </a:xfrm>
          <a:prstGeom prst="rect">
            <a:avLst/>
          </a:prstGeom>
          <a:noFill/>
        </p:spPr>
        <p:txBody>
          <a:bodyPr wrap="square" rtlCol="0">
            <a:spAutoFit/>
          </a:bodyPr>
          <a:lstStyle/>
          <a:p>
            <a:pPr algn="ctr"/>
            <a:r>
              <a:rPr lang="en-US" sz="2200" dirty="0" err="1"/>
              <a:t>lexers</a:t>
            </a:r>
            <a:r>
              <a:rPr lang="en-US" sz="2200" dirty="0"/>
              <a:t> are usually specified as </a:t>
            </a:r>
            <a:r>
              <a:rPr lang="en-US" sz="2200" i="1" dirty="0"/>
              <a:t>regular languages</a:t>
            </a:r>
            <a:r>
              <a:rPr lang="en-US" sz="2200" dirty="0"/>
              <a:t>, </a:t>
            </a:r>
            <a:r>
              <a:rPr lang="en-US" sz="2200" dirty="0">
                <a:solidFill>
                  <a:srgbClr val="FF0000"/>
                </a:solidFill>
              </a:rPr>
              <a:t>which </a:t>
            </a:r>
            <a:r>
              <a:rPr lang="en-US" sz="2200" b="1" dirty="0">
                <a:solidFill>
                  <a:srgbClr val="FF0000"/>
                </a:solidFill>
              </a:rPr>
              <a:t>cannot detect arbitrarily nested brackets.</a:t>
            </a:r>
            <a:endParaRPr lang="en-US" sz="2200" dirty="0">
              <a:solidFill>
                <a:srgbClr val="FF0000"/>
              </a:solidFill>
            </a:endParaRPr>
          </a:p>
        </p:txBody>
      </p:sp>
      <p:sp>
        <p:nvSpPr>
          <p:cNvPr id="8" name="TextBox 7">
            <a:extLst>
              <a:ext uri="{FF2B5EF4-FFF2-40B4-BE49-F238E27FC236}">
                <a16:creationId xmlns:a16="http://schemas.microsoft.com/office/drawing/2014/main" id="{AF9284DB-83B8-4944-8D07-C8BFC6688EAC}"/>
              </a:ext>
            </a:extLst>
          </p:cNvPr>
          <p:cNvSpPr txBox="1"/>
          <p:nvPr/>
        </p:nvSpPr>
        <p:spPr>
          <a:xfrm>
            <a:off x="228600" y="3817770"/>
            <a:ext cx="8686800" cy="769441"/>
          </a:xfrm>
          <a:prstGeom prst="rect">
            <a:avLst/>
          </a:prstGeom>
          <a:noFill/>
        </p:spPr>
        <p:txBody>
          <a:bodyPr wrap="square" rtlCol="0">
            <a:spAutoFit/>
          </a:bodyPr>
          <a:lstStyle/>
          <a:p>
            <a:pPr algn="ctr"/>
            <a:r>
              <a:rPr lang="en-US" sz="2200" dirty="0"/>
              <a:t>so, we have the </a:t>
            </a:r>
            <a:r>
              <a:rPr lang="en-US" sz="2200" i="1" dirty="0"/>
              <a:t>parser</a:t>
            </a:r>
            <a:r>
              <a:rPr lang="en-US" sz="2200" dirty="0"/>
              <a:t> say "oh, I currently have two open brackets; this </a:t>
            </a:r>
            <a:r>
              <a:rPr lang="en-US" sz="2200" b="1" dirty="0"/>
              <a:t>&gt;&gt;</a:t>
            </a:r>
            <a:r>
              <a:rPr lang="en-US" sz="2200" dirty="0"/>
              <a:t> must be a pair of closing brackets and not a right-shift."</a:t>
            </a:r>
          </a:p>
        </p:txBody>
      </p:sp>
      <p:sp>
        <p:nvSpPr>
          <p:cNvPr id="9" name="TextBox 8">
            <a:extLst>
              <a:ext uri="{FF2B5EF4-FFF2-40B4-BE49-F238E27FC236}">
                <a16:creationId xmlns:a16="http://schemas.microsoft.com/office/drawing/2014/main" id="{2ADB909B-271A-7D40-888E-10547813C3AB}"/>
              </a:ext>
            </a:extLst>
          </p:cNvPr>
          <p:cNvSpPr txBox="1"/>
          <p:nvPr/>
        </p:nvSpPr>
        <p:spPr>
          <a:xfrm>
            <a:off x="505460" y="4726642"/>
            <a:ext cx="8285480" cy="430887"/>
          </a:xfrm>
          <a:prstGeom prst="rect">
            <a:avLst/>
          </a:prstGeom>
          <a:noFill/>
        </p:spPr>
        <p:txBody>
          <a:bodyPr wrap="square" rtlCol="0">
            <a:spAutoFit/>
          </a:bodyPr>
          <a:lstStyle/>
          <a:p>
            <a:pPr algn="ctr"/>
            <a:r>
              <a:rPr lang="en-US" sz="2200" dirty="0"/>
              <a:t>but </a:t>
            </a:r>
            <a:r>
              <a:rPr lang="en-US" sz="2200" i="1" dirty="0"/>
              <a:t>why bother making things harder for ourselves?</a:t>
            </a:r>
          </a:p>
        </p:txBody>
      </p:sp>
    </p:spTree>
    <p:extLst>
      <p:ext uri="{BB962C8B-B14F-4D97-AF65-F5344CB8AC3E}">
        <p14:creationId xmlns:p14="http://schemas.microsoft.com/office/powerpoint/2010/main" val="40204972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33488-0442-2F42-BA7B-C81EF867EEEF}"/>
              </a:ext>
            </a:extLst>
          </p:cNvPr>
          <p:cNvSpPr>
            <a:spLocks noGrp="1"/>
          </p:cNvSpPr>
          <p:nvPr>
            <p:ph type="title"/>
          </p:nvPr>
        </p:nvSpPr>
        <p:spPr/>
        <p:txBody>
          <a:bodyPr/>
          <a:lstStyle/>
          <a:p>
            <a:r>
              <a:rPr lang="en-US" dirty="0"/>
              <a:t>Approach 3: "Doctor, it hurts when I do this"</a:t>
            </a:r>
          </a:p>
        </p:txBody>
      </p:sp>
      <p:sp>
        <p:nvSpPr>
          <p:cNvPr id="3" name="Content Placeholder 2">
            <a:extLst>
              <a:ext uri="{FF2B5EF4-FFF2-40B4-BE49-F238E27FC236}">
                <a16:creationId xmlns:a16="http://schemas.microsoft.com/office/drawing/2014/main" id="{EE7A731D-116D-B244-8B04-6CB314FE907E}"/>
              </a:ext>
            </a:extLst>
          </p:cNvPr>
          <p:cNvSpPr>
            <a:spLocks noGrp="1"/>
          </p:cNvSpPr>
          <p:nvPr>
            <p:ph idx="1"/>
          </p:nvPr>
        </p:nvSpPr>
        <p:spPr>
          <a:xfrm>
            <a:off x="152400" y="495301"/>
            <a:ext cx="8991600" cy="495301"/>
          </a:xfrm>
        </p:spPr>
        <p:txBody>
          <a:bodyPr/>
          <a:lstStyle/>
          <a:p>
            <a:r>
              <a:rPr lang="en-US" dirty="0"/>
              <a:t>we could just </a:t>
            </a:r>
            <a:r>
              <a:rPr lang="en-US" b="1" dirty="0"/>
              <a:t>define our rules so they're unambiguous.</a:t>
            </a:r>
          </a:p>
        </p:txBody>
      </p:sp>
      <p:sp>
        <p:nvSpPr>
          <p:cNvPr id="4" name="Slide Number Placeholder 3">
            <a:extLst>
              <a:ext uri="{FF2B5EF4-FFF2-40B4-BE49-F238E27FC236}">
                <a16:creationId xmlns:a16="http://schemas.microsoft.com/office/drawing/2014/main" id="{9A9C1037-B7AE-7A49-9DA5-319F69FCFE2D}"/>
              </a:ext>
            </a:extLst>
          </p:cNvPr>
          <p:cNvSpPr>
            <a:spLocks noGrp="1"/>
          </p:cNvSpPr>
          <p:nvPr>
            <p:ph type="sldNum" sz="quarter" idx="12"/>
          </p:nvPr>
        </p:nvSpPr>
        <p:spPr/>
        <p:txBody>
          <a:bodyPr/>
          <a:lstStyle/>
          <a:p>
            <a:fld id="{3552B95B-556F-44BD-91A5-D80C1B9E2BB3}" type="slidenum">
              <a:rPr lang="en-US" smtClean="0"/>
              <a:pPr/>
              <a:t>28</a:t>
            </a:fld>
            <a:endParaRPr lang="en-US"/>
          </a:p>
        </p:txBody>
      </p:sp>
      <p:sp>
        <p:nvSpPr>
          <p:cNvPr id="5" name="TextBox 4">
            <a:extLst>
              <a:ext uri="{FF2B5EF4-FFF2-40B4-BE49-F238E27FC236}">
                <a16:creationId xmlns:a16="http://schemas.microsoft.com/office/drawing/2014/main" id="{CF51171A-F8AD-F34B-9E4D-FF73CCBE2ACB}"/>
              </a:ext>
            </a:extLst>
          </p:cNvPr>
          <p:cNvSpPr txBox="1"/>
          <p:nvPr/>
        </p:nvSpPr>
        <p:spPr>
          <a:xfrm>
            <a:off x="304800" y="1202512"/>
            <a:ext cx="3810000" cy="430887"/>
          </a:xfrm>
          <a:prstGeom prst="rect">
            <a:avLst/>
          </a:prstGeom>
          <a:noFill/>
        </p:spPr>
        <p:txBody>
          <a:bodyPr wrap="square" rtlCol="0">
            <a:spAutoFit/>
          </a:bodyPr>
          <a:lstStyle/>
          <a:p>
            <a:r>
              <a:rPr lang="en-US" sz="2200" b="1" dirty="0">
                <a:latin typeface="Consolas" panose="020B0609020204030204" pitchFamily="49" charset="0"/>
                <a:cs typeface="Consolas" panose="020B0609020204030204" pitchFamily="49" charset="0"/>
              </a:rPr>
              <a:t>List</a:t>
            </a:r>
            <a:r>
              <a:rPr lang="en-US" sz="2200" b="1" dirty="0">
                <a:solidFill>
                  <a:srgbClr val="00B050"/>
                </a:solidFill>
                <a:latin typeface="Consolas" panose="020B0609020204030204" pitchFamily="49" charset="0"/>
                <a:cs typeface="Consolas" panose="020B0609020204030204" pitchFamily="49" charset="0"/>
              </a:rPr>
              <a:t>!(</a:t>
            </a:r>
            <a:r>
              <a:rPr lang="en-US" sz="2200" b="1" dirty="0">
                <a:latin typeface="Consolas" panose="020B0609020204030204" pitchFamily="49" charset="0"/>
                <a:cs typeface="Consolas" panose="020B0609020204030204" pitchFamily="49" charset="0"/>
              </a:rPr>
              <a:t>List</a:t>
            </a:r>
            <a:r>
              <a:rPr lang="en-US" sz="2200" b="1" dirty="0">
                <a:solidFill>
                  <a:srgbClr val="00B050"/>
                </a:solidFill>
                <a:latin typeface="Consolas" panose="020B0609020204030204" pitchFamily="49" charset="0"/>
                <a:cs typeface="Consolas" panose="020B0609020204030204" pitchFamily="49" charset="0"/>
              </a:rPr>
              <a:t>!(</a:t>
            </a:r>
            <a:r>
              <a:rPr lang="en-US" sz="2200" b="1" dirty="0">
                <a:latin typeface="Consolas" panose="020B0609020204030204" pitchFamily="49" charset="0"/>
                <a:cs typeface="Consolas" panose="020B0609020204030204" pitchFamily="49" charset="0"/>
              </a:rPr>
              <a:t>String</a:t>
            </a:r>
            <a:r>
              <a:rPr lang="en-US" sz="2200" b="1" dirty="0">
                <a:solidFill>
                  <a:srgbClr val="00B050"/>
                </a:solidFill>
                <a:latin typeface="Consolas" panose="020B0609020204030204" pitchFamily="49" charset="0"/>
                <a:cs typeface="Consolas" panose="020B0609020204030204" pitchFamily="49" charset="0"/>
              </a:rPr>
              <a:t>))</a:t>
            </a:r>
            <a:r>
              <a:rPr lang="en-US" sz="2200" b="1" dirty="0">
                <a:latin typeface="Consolas" panose="020B0609020204030204" pitchFamily="49" charset="0"/>
                <a:cs typeface="Consolas" panose="020B0609020204030204" pitchFamily="49" charset="0"/>
              </a:rPr>
              <a:t> l;</a:t>
            </a:r>
            <a:endParaRPr lang="en-US" sz="2200"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431B2252-9959-9542-BAA3-B6D2C2371234}"/>
              </a:ext>
            </a:extLst>
          </p:cNvPr>
          <p:cNvSpPr txBox="1"/>
          <p:nvPr/>
        </p:nvSpPr>
        <p:spPr>
          <a:xfrm>
            <a:off x="304800" y="2616999"/>
            <a:ext cx="3810000" cy="769441"/>
          </a:xfrm>
          <a:prstGeom prst="rect">
            <a:avLst/>
          </a:prstGeom>
          <a:noFill/>
        </p:spPr>
        <p:txBody>
          <a:bodyPr wrap="square" rtlCol="0">
            <a:spAutoFit/>
          </a:bodyPr>
          <a:lstStyle/>
          <a:p>
            <a:r>
              <a:rPr lang="en-US" sz="2200" b="1" dirty="0">
                <a:latin typeface="Consolas" panose="020B0609020204030204" pitchFamily="49" charset="0"/>
                <a:cs typeface="Consolas" panose="020B0609020204030204" pitchFamily="49" charset="0"/>
              </a:rPr>
              <a:t>l :: List List String</a:t>
            </a:r>
          </a:p>
          <a:p>
            <a:r>
              <a:rPr lang="en-US" sz="2200" b="1" dirty="0">
                <a:latin typeface="Consolas" panose="020B0609020204030204" pitchFamily="49" charset="0"/>
                <a:cs typeface="Consolas" panose="020B0609020204030204" pitchFamily="49" charset="0"/>
              </a:rPr>
              <a:t>m :: List </a:t>
            </a:r>
            <a:r>
              <a:rPr lang="en-US" sz="2200" b="1" dirty="0">
                <a:solidFill>
                  <a:srgbClr val="00B050"/>
                </a:solidFill>
                <a:latin typeface="Consolas" panose="020B0609020204030204" pitchFamily="49" charset="0"/>
                <a:cs typeface="Consolas" panose="020B0609020204030204" pitchFamily="49" charset="0"/>
              </a:rPr>
              <a:t>(</a:t>
            </a:r>
            <a:r>
              <a:rPr lang="en-US" sz="2200" b="1" dirty="0">
                <a:latin typeface="Consolas" panose="020B0609020204030204" pitchFamily="49" charset="0"/>
                <a:cs typeface="Consolas" panose="020B0609020204030204" pitchFamily="49" charset="0"/>
              </a:rPr>
              <a:t>List String</a:t>
            </a:r>
            <a:r>
              <a:rPr lang="en-US" sz="2200" b="1" dirty="0">
                <a:solidFill>
                  <a:srgbClr val="00B050"/>
                </a:solidFill>
                <a:latin typeface="Consolas" panose="020B0609020204030204" pitchFamily="49" charset="0"/>
                <a:cs typeface="Consolas" panose="020B0609020204030204" pitchFamily="49" charset="0"/>
              </a:rPr>
              <a:t>)</a:t>
            </a:r>
            <a:endParaRPr lang="en-US" sz="2200" dirty="0">
              <a:solidFill>
                <a:srgbClr val="00B050"/>
              </a:solidFill>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474F5D8D-58B0-434E-A435-2A97A7E05F71}"/>
              </a:ext>
            </a:extLst>
          </p:cNvPr>
          <p:cNvSpPr txBox="1"/>
          <p:nvPr/>
        </p:nvSpPr>
        <p:spPr>
          <a:xfrm>
            <a:off x="4114800" y="1028700"/>
            <a:ext cx="4648200" cy="769441"/>
          </a:xfrm>
          <a:prstGeom prst="rect">
            <a:avLst/>
          </a:prstGeom>
          <a:noFill/>
        </p:spPr>
        <p:txBody>
          <a:bodyPr wrap="square" rtlCol="0">
            <a:spAutoFit/>
          </a:bodyPr>
          <a:lstStyle/>
          <a:p>
            <a:r>
              <a:rPr lang="en-US" sz="2200" dirty="0"/>
              <a:t>in the </a:t>
            </a:r>
            <a:r>
              <a:rPr lang="en-US" sz="2200" b="1" dirty="0"/>
              <a:t>D language,</a:t>
            </a:r>
            <a:r>
              <a:rPr lang="en-US" sz="2200" dirty="0"/>
              <a:t> templates (generics) use </a:t>
            </a:r>
            <a:r>
              <a:rPr lang="en-US" sz="2200" dirty="0" err="1"/>
              <a:t>parens</a:t>
            </a:r>
            <a:r>
              <a:rPr lang="en-US" sz="2200" dirty="0"/>
              <a:t> instead.</a:t>
            </a:r>
          </a:p>
        </p:txBody>
      </p:sp>
      <p:sp>
        <p:nvSpPr>
          <p:cNvPr id="9" name="TextBox 8">
            <a:extLst>
              <a:ext uri="{FF2B5EF4-FFF2-40B4-BE49-F238E27FC236}">
                <a16:creationId xmlns:a16="http://schemas.microsoft.com/office/drawing/2014/main" id="{50AF7721-46BB-524C-866F-18D2B87F33EC}"/>
              </a:ext>
            </a:extLst>
          </p:cNvPr>
          <p:cNvSpPr txBox="1"/>
          <p:nvPr/>
        </p:nvSpPr>
        <p:spPr>
          <a:xfrm>
            <a:off x="4114800" y="2621459"/>
            <a:ext cx="4648200" cy="769441"/>
          </a:xfrm>
          <a:prstGeom prst="rect">
            <a:avLst/>
          </a:prstGeom>
          <a:noFill/>
        </p:spPr>
        <p:txBody>
          <a:bodyPr wrap="square" rtlCol="0">
            <a:spAutoFit/>
          </a:bodyPr>
          <a:lstStyle/>
          <a:p>
            <a:r>
              <a:rPr lang="en-US" sz="2200" dirty="0"/>
              <a:t>in </a:t>
            </a:r>
            <a:r>
              <a:rPr lang="en-US" sz="2200" b="1" dirty="0"/>
              <a:t>Haskell,</a:t>
            </a:r>
            <a:r>
              <a:rPr lang="en-US" sz="2200" dirty="0"/>
              <a:t> generics don't </a:t>
            </a:r>
            <a:r>
              <a:rPr lang="en-US" sz="2200" i="1" dirty="0"/>
              <a:t>require</a:t>
            </a:r>
            <a:r>
              <a:rPr lang="en-US" sz="2200" dirty="0"/>
              <a:t> any symbols, but </a:t>
            </a:r>
            <a:r>
              <a:rPr lang="en-US" sz="2200" i="1" dirty="0"/>
              <a:t>can</a:t>
            </a:r>
            <a:r>
              <a:rPr lang="en-US" sz="2200" dirty="0"/>
              <a:t> use </a:t>
            </a:r>
            <a:r>
              <a:rPr lang="en-US" sz="2200" dirty="0" err="1"/>
              <a:t>parens</a:t>
            </a:r>
            <a:r>
              <a:rPr lang="en-US" sz="2200" dirty="0"/>
              <a:t>.</a:t>
            </a:r>
          </a:p>
        </p:txBody>
      </p:sp>
      <p:sp>
        <p:nvSpPr>
          <p:cNvPr id="10" name="TextBox 9">
            <a:extLst>
              <a:ext uri="{FF2B5EF4-FFF2-40B4-BE49-F238E27FC236}">
                <a16:creationId xmlns:a16="http://schemas.microsoft.com/office/drawing/2014/main" id="{D658EE7B-7EED-5E47-8AC3-303B168C4B2E}"/>
              </a:ext>
            </a:extLst>
          </p:cNvPr>
          <p:cNvSpPr txBox="1"/>
          <p:nvPr/>
        </p:nvSpPr>
        <p:spPr>
          <a:xfrm>
            <a:off x="335280" y="1971953"/>
            <a:ext cx="8382000" cy="430887"/>
          </a:xfrm>
          <a:prstGeom prst="rect">
            <a:avLst/>
          </a:prstGeom>
          <a:noFill/>
        </p:spPr>
        <p:txBody>
          <a:bodyPr wrap="square" rtlCol="0">
            <a:spAutoFit/>
          </a:bodyPr>
          <a:lstStyle/>
          <a:p>
            <a:pPr algn="ctr"/>
            <a:r>
              <a:rPr lang="en-US" sz="2200" dirty="0"/>
              <a:t>the parser then knows </a:t>
            </a:r>
            <a:r>
              <a:rPr lang="en-US" sz="2200" b="1" dirty="0"/>
              <a:t>!(</a:t>
            </a:r>
            <a:r>
              <a:rPr lang="en-US" sz="2200" dirty="0"/>
              <a:t> is a "template open </a:t>
            </a:r>
            <a:r>
              <a:rPr lang="en-US" sz="2200" dirty="0" err="1"/>
              <a:t>paren</a:t>
            </a:r>
            <a:r>
              <a:rPr lang="en-US" sz="2200" dirty="0"/>
              <a:t>".</a:t>
            </a:r>
          </a:p>
        </p:txBody>
      </p:sp>
      <p:sp>
        <p:nvSpPr>
          <p:cNvPr id="11" name="TextBox 10">
            <a:extLst>
              <a:ext uri="{FF2B5EF4-FFF2-40B4-BE49-F238E27FC236}">
                <a16:creationId xmlns:a16="http://schemas.microsoft.com/office/drawing/2014/main" id="{7B77FB3B-7281-DE47-803C-EF991695C9B3}"/>
              </a:ext>
            </a:extLst>
          </p:cNvPr>
          <p:cNvSpPr txBox="1"/>
          <p:nvPr/>
        </p:nvSpPr>
        <p:spPr>
          <a:xfrm>
            <a:off x="1524000" y="3938271"/>
            <a:ext cx="2626360" cy="430887"/>
          </a:xfrm>
          <a:prstGeom prst="rect">
            <a:avLst/>
          </a:prstGeom>
          <a:noFill/>
        </p:spPr>
        <p:txBody>
          <a:bodyPr wrap="square" rtlCol="0">
            <a:spAutoFit/>
          </a:bodyPr>
          <a:lstStyle/>
          <a:p>
            <a:r>
              <a:rPr lang="en-US" sz="2200" b="1" dirty="0">
                <a:latin typeface="Consolas" panose="020B0609020204030204" pitchFamily="49" charset="0"/>
                <a:cs typeface="Consolas" panose="020B0609020204030204" pitchFamily="49" charset="0"/>
              </a:rPr>
              <a:t>x </a:t>
            </a:r>
            <a:r>
              <a:rPr lang="en-US" sz="2200" b="1" dirty="0" err="1">
                <a:solidFill>
                  <a:srgbClr val="FF0000"/>
                </a:solidFill>
                <a:latin typeface="Consolas" panose="020B0609020204030204" pitchFamily="49" charset="0"/>
                <a:cs typeface="Consolas" panose="020B0609020204030204" pitchFamily="49" charset="0"/>
              </a:rPr>
              <a:t>shr</a:t>
            </a:r>
            <a:r>
              <a:rPr lang="en-US" sz="2200" b="1" dirty="0">
                <a:latin typeface="Consolas" panose="020B0609020204030204" pitchFamily="49" charset="0"/>
                <a:cs typeface="Consolas" panose="020B0609020204030204" pitchFamily="49" charset="0"/>
              </a:rPr>
              <a:t> </a:t>
            </a:r>
            <a:r>
              <a:rPr lang="en-US" sz="2200" b="1" dirty="0">
                <a:solidFill>
                  <a:schemeClr val="accent3">
                    <a:lumMod val="75000"/>
                  </a:schemeClr>
                </a:solidFill>
                <a:latin typeface="Consolas" panose="020B0609020204030204" pitchFamily="49" charset="0"/>
                <a:cs typeface="Consolas" panose="020B0609020204030204" pitchFamily="49" charset="0"/>
              </a:rPr>
              <a:t>3</a:t>
            </a:r>
            <a:endParaRPr lang="en-US" sz="2200" dirty="0">
              <a:solidFill>
                <a:schemeClr val="accent3">
                  <a:lumMod val="75000"/>
                </a:schemeClr>
              </a:solidFill>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00BE4361-CC96-FD41-BB7B-61EB91856D3C}"/>
              </a:ext>
            </a:extLst>
          </p:cNvPr>
          <p:cNvSpPr txBox="1"/>
          <p:nvPr/>
        </p:nvSpPr>
        <p:spPr>
          <a:xfrm>
            <a:off x="4150360" y="3764459"/>
            <a:ext cx="4648200" cy="769441"/>
          </a:xfrm>
          <a:prstGeom prst="rect">
            <a:avLst/>
          </a:prstGeom>
          <a:noFill/>
        </p:spPr>
        <p:txBody>
          <a:bodyPr wrap="square" rtlCol="0">
            <a:spAutoFit/>
          </a:bodyPr>
          <a:lstStyle/>
          <a:p>
            <a:r>
              <a:rPr lang="en-US" sz="2200" i="1" dirty="0"/>
              <a:t>or, </a:t>
            </a:r>
            <a:r>
              <a:rPr lang="en-US" sz="2200" dirty="0"/>
              <a:t>we could redefine right shift to use some spelling other than &gt;&gt;.</a:t>
            </a:r>
          </a:p>
        </p:txBody>
      </p:sp>
    </p:spTree>
    <p:extLst>
      <p:ext uri="{BB962C8B-B14F-4D97-AF65-F5344CB8AC3E}">
        <p14:creationId xmlns:p14="http://schemas.microsoft.com/office/powerpoint/2010/main" val="23179583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0" grpId="0"/>
      <p:bldP spid="11"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54860-94A5-E043-9FA9-0AE89A0A4FB4}"/>
              </a:ext>
            </a:extLst>
          </p:cNvPr>
          <p:cNvSpPr>
            <a:spLocks noGrp="1"/>
          </p:cNvSpPr>
          <p:nvPr>
            <p:ph type="title"/>
          </p:nvPr>
        </p:nvSpPr>
        <p:spPr/>
        <p:txBody>
          <a:bodyPr/>
          <a:lstStyle/>
          <a:p>
            <a:r>
              <a:rPr lang="en-US" dirty="0"/>
              <a:t>Really bad cases of ambiguity</a:t>
            </a:r>
          </a:p>
        </p:txBody>
      </p:sp>
      <p:sp>
        <p:nvSpPr>
          <p:cNvPr id="3" name="Content Placeholder 2">
            <a:extLst>
              <a:ext uri="{FF2B5EF4-FFF2-40B4-BE49-F238E27FC236}">
                <a16:creationId xmlns:a16="http://schemas.microsoft.com/office/drawing/2014/main" id="{E8B0162E-6154-0844-8DA1-582BE437D22C}"/>
              </a:ext>
            </a:extLst>
          </p:cNvPr>
          <p:cNvSpPr>
            <a:spLocks noGrp="1"/>
          </p:cNvSpPr>
          <p:nvPr>
            <p:ph idx="1"/>
          </p:nvPr>
        </p:nvSpPr>
        <p:spPr>
          <a:xfrm>
            <a:off x="152400" y="495301"/>
            <a:ext cx="8991600" cy="495301"/>
          </a:xfrm>
        </p:spPr>
        <p:txBody>
          <a:bodyPr/>
          <a:lstStyle/>
          <a:p>
            <a:r>
              <a:rPr lang="en-US" dirty="0"/>
              <a:t>if you aren't careful, you can end up with nasty situations.</a:t>
            </a:r>
          </a:p>
        </p:txBody>
      </p:sp>
      <p:sp>
        <p:nvSpPr>
          <p:cNvPr id="4" name="Slide Number Placeholder 3">
            <a:extLst>
              <a:ext uri="{FF2B5EF4-FFF2-40B4-BE49-F238E27FC236}">
                <a16:creationId xmlns:a16="http://schemas.microsoft.com/office/drawing/2014/main" id="{7B294106-953F-E842-BD59-486FCD170512}"/>
              </a:ext>
            </a:extLst>
          </p:cNvPr>
          <p:cNvSpPr>
            <a:spLocks noGrp="1"/>
          </p:cNvSpPr>
          <p:nvPr>
            <p:ph type="sldNum" sz="quarter" idx="12"/>
          </p:nvPr>
        </p:nvSpPr>
        <p:spPr/>
        <p:txBody>
          <a:bodyPr/>
          <a:lstStyle/>
          <a:p>
            <a:fld id="{3552B95B-556F-44BD-91A5-D80C1B9E2BB3}" type="slidenum">
              <a:rPr lang="en-US" smtClean="0"/>
              <a:pPr/>
              <a:t>29</a:t>
            </a:fld>
            <a:endParaRPr lang="en-US"/>
          </a:p>
        </p:txBody>
      </p:sp>
      <p:grpSp>
        <p:nvGrpSpPr>
          <p:cNvPr id="15" name="Group 14">
            <a:extLst>
              <a:ext uri="{FF2B5EF4-FFF2-40B4-BE49-F238E27FC236}">
                <a16:creationId xmlns:a16="http://schemas.microsoft.com/office/drawing/2014/main" id="{267A5CD7-0947-4D4F-9724-F6C016E35EE2}"/>
              </a:ext>
            </a:extLst>
          </p:cNvPr>
          <p:cNvGrpSpPr/>
          <p:nvPr/>
        </p:nvGrpSpPr>
        <p:grpSpPr>
          <a:xfrm>
            <a:off x="1543050" y="990602"/>
            <a:ext cx="5467350" cy="996950"/>
            <a:chOff x="1543050" y="990602"/>
            <a:chExt cx="5467350" cy="996950"/>
          </a:xfrm>
        </p:grpSpPr>
        <p:sp>
          <p:nvSpPr>
            <p:cNvPr id="5" name="Rectangle 4">
              <a:extLst>
                <a:ext uri="{FF2B5EF4-FFF2-40B4-BE49-F238E27FC236}">
                  <a16:creationId xmlns:a16="http://schemas.microsoft.com/office/drawing/2014/main" id="{6A369FF5-8A76-EF49-A2BF-48139882909F}"/>
                </a:ext>
              </a:extLst>
            </p:cNvPr>
            <p:cNvSpPr/>
            <p:nvPr/>
          </p:nvSpPr>
          <p:spPr>
            <a:xfrm>
              <a:off x="2057400" y="990602"/>
              <a:ext cx="1188721" cy="990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Lexer</a:t>
              </a:r>
            </a:p>
          </p:txBody>
        </p:sp>
        <p:sp>
          <p:nvSpPr>
            <p:cNvPr id="6" name="Right Arrow 5">
              <a:extLst>
                <a:ext uri="{FF2B5EF4-FFF2-40B4-BE49-F238E27FC236}">
                  <a16:creationId xmlns:a16="http://schemas.microsoft.com/office/drawing/2014/main" id="{4D8C8F23-5A4B-7E4F-AF3D-82E26FA5F115}"/>
                </a:ext>
              </a:extLst>
            </p:cNvPr>
            <p:cNvSpPr/>
            <p:nvPr/>
          </p:nvSpPr>
          <p:spPr>
            <a:xfrm>
              <a:off x="1543050" y="1285847"/>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a:extLst>
                <a:ext uri="{FF2B5EF4-FFF2-40B4-BE49-F238E27FC236}">
                  <a16:creationId xmlns:a16="http://schemas.microsoft.com/office/drawing/2014/main" id="{02BEB504-E948-C340-A7C8-F53956C7AC6B}"/>
                </a:ext>
              </a:extLst>
            </p:cNvPr>
            <p:cNvSpPr/>
            <p:nvPr/>
          </p:nvSpPr>
          <p:spPr>
            <a:xfrm>
              <a:off x="3246121" y="1285847"/>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7C60FE6-30FD-9F44-9BDA-63EC8E5B77A4}"/>
                </a:ext>
              </a:extLst>
            </p:cNvPr>
            <p:cNvSpPr/>
            <p:nvPr/>
          </p:nvSpPr>
          <p:spPr>
            <a:xfrm>
              <a:off x="3760471" y="990602"/>
              <a:ext cx="1188721" cy="990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Parser</a:t>
              </a:r>
            </a:p>
          </p:txBody>
        </p:sp>
        <p:sp>
          <p:nvSpPr>
            <p:cNvPr id="9" name="Right Arrow 8">
              <a:extLst>
                <a:ext uri="{FF2B5EF4-FFF2-40B4-BE49-F238E27FC236}">
                  <a16:creationId xmlns:a16="http://schemas.microsoft.com/office/drawing/2014/main" id="{51FAF727-950F-D54E-BFAF-D98F6771D66A}"/>
                </a:ext>
              </a:extLst>
            </p:cNvPr>
            <p:cNvSpPr/>
            <p:nvPr/>
          </p:nvSpPr>
          <p:spPr>
            <a:xfrm>
              <a:off x="4949192" y="1285847"/>
              <a:ext cx="514350" cy="400110"/>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AE411C7-3EF8-9049-A4B8-7C78C630EC31}"/>
                </a:ext>
              </a:extLst>
            </p:cNvPr>
            <p:cNvSpPr/>
            <p:nvPr/>
          </p:nvSpPr>
          <p:spPr>
            <a:xfrm>
              <a:off x="5463542" y="990602"/>
              <a:ext cx="1546858" cy="990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Semantic Analyzer</a:t>
              </a:r>
            </a:p>
          </p:txBody>
        </p:sp>
        <p:cxnSp>
          <p:nvCxnSpPr>
            <p:cNvPr id="13" name="Curved Connector 12">
              <a:extLst>
                <a:ext uri="{FF2B5EF4-FFF2-40B4-BE49-F238E27FC236}">
                  <a16:creationId xmlns:a16="http://schemas.microsoft.com/office/drawing/2014/main" id="{CF1CF7AB-3921-674E-BA69-142E0DBC436B}"/>
                </a:ext>
              </a:extLst>
            </p:cNvPr>
            <p:cNvCxnSpPr>
              <a:stCxn id="10" idx="2"/>
              <a:endCxn id="5" idx="2"/>
            </p:cNvCxnSpPr>
            <p:nvPr/>
          </p:nvCxnSpPr>
          <p:spPr>
            <a:xfrm rot="5400000">
              <a:off x="4444366" y="188597"/>
              <a:ext cx="12700" cy="3585210"/>
            </a:xfrm>
            <a:prstGeom prst="curvedConnector3">
              <a:avLst>
                <a:gd name="adj1" fmla="val 4097874"/>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6" name="TextBox 15">
            <a:extLst>
              <a:ext uri="{FF2B5EF4-FFF2-40B4-BE49-F238E27FC236}">
                <a16:creationId xmlns:a16="http://schemas.microsoft.com/office/drawing/2014/main" id="{F5ADE5E5-C451-F94E-ACB3-19712242E3D1}"/>
              </a:ext>
            </a:extLst>
          </p:cNvPr>
          <p:cNvSpPr txBox="1"/>
          <p:nvPr/>
        </p:nvSpPr>
        <p:spPr>
          <a:xfrm>
            <a:off x="477520" y="2670207"/>
            <a:ext cx="8188960" cy="769441"/>
          </a:xfrm>
          <a:prstGeom prst="rect">
            <a:avLst/>
          </a:prstGeom>
          <a:noFill/>
        </p:spPr>
        <p:txBody>
          <a:bodyPr wrap="square" rtlCol="0">
            <a:spAutoFit/>
          </a:bodyPr>
          <a:lstStyle/>
          <a:p>
            <a:pPr algn="ctr"/>
            <a:r>
              <a:rPr lang="en-US" sz="2200" dirty="0"/>
              <a:t>C and C++ have this situation, where </a:t>
            </a:r>
            <a:r>
              <a:rPr lang="en-US" sz="2200" b="1" dirty="0"/>
              <a:t>you cannot correctly lex the source code until you've done (some) semantic analysis.</a:t>
            </a:r>
            <a:endParaRPr lang="en-US" sz="2200" dirty="0"/>
          </a:p>
        </p:txBody>
      </p:sp>
      <p:sp>
        <p:nvSpPr>
          <p:cNvPr id="17" name="TextBox 16">
            <a:extLst>
              <a:ext uri="{FF2B5EF4-FFF2-40B4-BE49-F238E27FC236}">
                <a16:creationId xmlns:a16="http://schemas.microsoft.com/office/drawing/2014/main" id="{A525450D-3314-C04B-9649-32E82FBEABB3}"/>
              </a:ext>
            </a:extLst>
          </p:cNvPr>
          <p:cNvSpPr txBox="1"/>
          <p:nvPr/>
        </p:nvSpPr>
        <p:spPr>
          <a:xfrm>
            <a:off x="1610360" y="3543300"/>
            <a:ext cx="5923280" cy="769441"/>
          </a:xfrm>
          <a:prstGeom prst="rect">
            <a:avLst/>
          </a:prstGeom>
          <a:noFill/>
        </p:spPr>
        <p:txBody>
          <a:bodyPr wrap="square" rtlCol="0">
            <a:spAutoFit/>
          </a:bodyPr>
          <a:lstStyle/>
          <a:p>
            <a:pPr algn="ctr"/>
            <a:r>
              <a:rPr lang="en-US" sz="2200" dirty="0"/>
              <a:t>this sucks! it makes the compiler slower, harder to write, and harder to reason about.</a:t>
            </a:r>
          </a:p>
        </p:txBody>
      </p:sp>
      <p:sp>
        <p:nvSpPr>
          <p:cNvPr id="19" name="TextBox 18">
            <a:extLst>
              <a:ext uri="{FF2B5EF4-FFF2-40B4-BE49-F238E27FC236}">
                <a16:creationId xmlns:a16="http://schemas.microsoft.com/office/drawing/2014/main" id="{9A4B0538-325D-9249-BC44-D50ED19C66ED}"/>
              </a:ext>
            </a:extLst>
          </p:cNvPr>
          <p:cNvSpPr txBox="1"/>
          <p:nvPr/>
        </p:nvSpPr>
        <p:spPr>
          <a:xfrm>
            <a:off x="1524000" y="4473118"/>
            <a:ext cx="6096000" cy="769441"/>
          </a:xfrm>
          <a:prstGeom prst="rect">
            <a:avLst/>
          </a:prstGeom>
          <a:noFill/>
        </p:spPr>
        <p:txBody>
          <a:bodyPr wrap="square" rtlCol="0">
            <a:spAutoFit/>
          </a:bodyPr>
          <a:lstStyle/>
          <a:p>
            <a:pPr algn="ctr"/>
            <a:r>
              <a:rPr lang="en-US" sz="2200" dirty="0"/>
              <a:t>fortunately, we have the hindsight of decades of language design and can avoid this stuff :)</a:t>
            </a:r>
          </a:p>
        </p:txBody>
      </p:sp>
    </p:spTree>
    <p:extLst>
      <p:ext uri="{BB962C8B-B14F-4D97-AF65-F5344CB8AC3E}">
        <p14:creationId xmlns:p14="http://schemas.microsoft.com/office/powerpoint/2010/main" val="25806823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1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72162-F0B5-064E-AD5A-23495AC6C1AF}"/>
              </a:ext>
            </a:extLst>
          </p:cNvPr>
          <p:cNvSpPr>
            <a:spLocks noGrp="1"/>
          </p:cNvSpPr>
          <p:nvPr>
            <p:ph type="title"/>
          </p:nvPr>
        </p:nvSpPr>
        <p:spPr/>
        <p:txBody>
          <a:bodyPr/>
          <a:lstStyle/>
          <a:p>
            <a:r>
              <a:rPr lang="en-US" dirty="0"/>
              <a:t>The examples</a:t>
            </a:r>
          </a:p>
        </p:txBody>
      </p:sp>
      <p:sp>
        <p:nvSpPr>
          <p:cNvPr id="3" name="Content Placeholder 2">
            <a:extLst>
              <a:ext uri="{FF2B5EF4-FFF2-40B4-BE49-F238E27FC236}">
                <a16:creationId xmlns:a16="http://schemas.microsoft.com/office/drawing/2014/main" id="{F500CF08-CD51-184F-9ABA-ADA241912CDC}"/>
              </a:ext>
            </a:extLst>
          </p:cNvPr>
          <p:cNvSpPr>
            <a:spLocks noGrp="1"/>
          </p:cNvSpPr>
          <p:nvPr>
            <p:ph idx="1"/>
          </p:nvPr>
        </p:nvSpPr>
        <p:spPr/>
        <p:txBody>
          <a:bodyPr/>
          <a:lstStyle/>
          <a:p>
            <a:r>
              <a:rPr lang="en-US" dirty="0"/>
              <a:t>first, there’s an example showing how Rust’s </a:t>
            </a:r>
            <a:r>
              <a:rPr lang="en-US" b="1" dirty="0">
                <a:solidFill>
                  <a:srgbClr val="FF0000"/>
                </a:solidFill>
                <a:latin typeface="Consolas" panose="020B0609020204030204" pitchFamily="49" charset="0"/>
                <a:cs typeface="Consolas" panose="020B0609020204030204" pitchFamily="49" charset="0"/>
              </a:rPr>
              <a:t>match</a:t>
            </a:r>
            <a:r>
              <a:rPr lang="en-US" b="1" dirty="0"/>
              <a:t> </a:t>
            </a:r>
            <a:r>
              <a:rPr lang="en-US" dirty="0"/>
              <a:t>statement works, called </a:t>
            </a:r>
            <a:r>
              <a:rPr lang="en-US" b="1" dirty="0" err="1"/>
              <a:t>rust_match</a:t>
            </a:r>
            <a:r>
              <a:rPr lang="en-US" b="1" dirty="0"/>
              <a:t>. </a:t>
            </a:r>
            <a:endParaRPr lang="en-US" dirty="0"/>
          </a:p>
          <a:p>
            <a:r>
              <a:rPr lang="en-US" dirty="0"/>
              <a:t>there's a small example, </a:t>
            </a:r>
            <a:r>
              <a:rPr lang="en-US" b="1" dirty="0" err="1"/>
              <a:t>lexing_toy</a:t>
            </a:r>
            <a:r>
              <a:rPr lang="en-US" b="1" dirty="0"/>
              <a:t>, </a:t>
            </a:r>
            <a:r>
              <a:rPr lang="en-US" dirty="0"/>
              <a:t>that shows how simple it can be to make a lexer.</a:t>
            </a:r>
          </a:p>
          <a:p>
            <a:pPr lvl="1"/>
            <a:r>
              <a:rPr lang="en-US" dirty="0"/>
              <a:t>it only has a few kinds of tokens, and is written in a different style from the project, cause I don’t wanna give too much away (:</a:t>
            </a:r>
          </a:p>
          <a:p>
            <a:pPr lvl="1"/>
            <a:r>
              <a:rPr lang="en-US" dirty="0"/>
              <a:t>but it shows the general “shape” of a </a:t>
            </a:r>
            <a:r>
              <a:rPr lang="en-US" dirty="0" err="1"/>
              <a:t>lexing</a:t>
            </a:r>
            <a:r>
              <a:rPr lang="en-US" dirty="0"/>
              <a:t> algorithm.</a:t>
            </a:r>
          </a:p>
        </p:txBody>
      </p:sp>
      <p:sp>
        <p:nvSpPr>
          <p:cNvPr id="4" name="Slide Number Placeholder 3">
            <a:extLst>
              <a:ext uri="{FF2B5EF4-FFF2-40B4-BE49-F238E27FC236}">
                <a16:creationId xmlns:a16="http://schemas.microsoft.com/office/drawing/2014/main" id="{F45BC385-D399-1D41-85CB-35C84021E748}"/>
              </a:ext>
            </a:extLst>
          </p:cNvPr>
          <p:cNvSpPr>
            <a:spLocks noGrp="1"/>
          </p:cNvSpPr>
          <p:nvPr>
            <p:ph type="sldNum" sz="quarter" idx="12"/>
          </p:nvPr>
        </p:nvSpPr>
        <p:spPr/>
        <p:txBody>
          <a:bodyPr/>
          <a:lstStyle/>
          <a:p>
            <a:fld id="{3552B95B-556F-44BD-91A5-D80C1B9E2BB3}" type="slidenum">
              <a:rPr lang="en-US" smtClean="0"/>
              <a:pPr/>
              <a:t>30</a:t>
            </a:fld>
            <a:endParaRPr lang="en-US"/>
          </a:p>
        </p:txBody>
      </p:sp>
    </p:spTree>
    <p:extLst>
      <p:ext uri="{BB962C8B-B14F-4D97-AF65-F5344CB8AC3E}">
        <p14:creationId xmlns:p14="http://schemas.microsoft.com/office/powerpoint/2010/main" val="2648877372"/>
      </p:ext>
    </p:extLst>
  </p:cSld>
  <p:clrMapOvr>
    <a:masterClrMapping/>
  </p:clrMapOvr>
  <p:transition/>
</p:sld>
</file>

<file path=ppt/theme/theme1.xml><?xml version="1.0" encoding="utf-8"?>
<a:theme xmlns:a="http://schemas.openxmlformats.org/drawingml/2006/main" name="02 - C - Basics">
  <a:themeElements>
    <a:clrScheme name="Custom 2">
      <a:dk1>
        <a:srgbClr val="000000"/>
      </a:dk1>
      <a:lt1>
        <a:srgbClr val="FFFFFF"/>
      </a:lt1>
      <a:dk2>
        <a:srgbClr val="3B481E"/>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2">
      <a:majorFont>
        <a:latin typeface="Segoe WP Semibold"/>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lides_fall_2017" id="{93D034CE-FEB5-4D4D-96F7-6B7F8A5EB99A}" vid="{194AE869-5029-ED49-81EA-C574BDDBE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01 - Welcome and Review</Template>
  <TotalTime>23278</TotalTime>
  <Words>3558</Words>
  <Application>Microsoft Macintosh PowerPoint</Application>
  <PresentationFormat>On-screen Show (16:10)</PresentationFormat>
  <Paragraphs>453</Paragraphs>
  <Slides>30</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Consolas</vt:lpstr>
      <vt:lpstr>Courier New</vt:lpstr>
      <vt:lpstr>Segoe UI</vt:lpstr>
      <vt:lpstr>Segoe WP Semibold</vt:lpstr>
      <vt:lpstr>Trebuchet MS</vt:lpstr>
      <vt:lpstr>Wingdings</vt:lpstr>
      <vt:lpstr>02 - C - Basics</vt:lpstr>
      <vt:lpstr>Lexing and Grammars</vt:lpstr>
      <vt:lpstr>Class Announcements</vt:lpstr>
      <vt:lpstr>Lexing</vt:lpstr>
      <vt:lpstr>What is it?</vt:lpstr>
      <vt:lpstr>Tokens, and… not-tokens</vt:lpstr>
      <vt:lpstr>Not-so-whitespace</vt:lpstr>
      <vt:lpstr>Where are we?</vt:lpstr>
      <vt:lpstr>Lexing from Intuition</vt:lpstr>
      <vt:lpstr>Getting a feel for it</vt:lpstr>
      <vt:lpstr>Common classes of tokens</vt:lpstr>
      <vt:lpstr>A first attempt</vt:lpstr>
      <vt:lpstr>We keep running into each other</vt:lpstr>
      <vt:lpstr>uHH</vt:lpstr>
      <vt:lpstr>Grammars</vt:lpstr>
      <vt:lpstr>Languages and alphabets</vt:lpstr>
      <vt:lpstr>Grammars</vt:lpstr>
      <vt:lpstr>A language for specifying languages</vt:lpstr>
      <vt:lpstr>Lexing a programming language</vt:lpstr>
      <vt:lpstr>Getting more complex</vt:lpstr>
      <vt:lpstr>Literals!</vt:lpstr>
      <vt:lpstr>Uh oh, whitespace.</vt:lpstr>
      <vt:lpstr>Wrapping it up and putting a bow on top</vt:lpstr>
      <vt:lpstr>COMPILER COMPILERS 🤯</vt:lpstr>
      <vt:lpstr>Dealing with Ambiguity</vt:lpstr>
      <vt:lpstr>Dealing with ambiguity</vt:lpstr>
      <vt:lpstr>Approach 1: Maximal Munch</vt:lpstr>
      <vt:lpstr>Approach 2: Deal with it later!</vt:lpstr>
      <vt:lpstr>Approach 3: "Doctor, it hurts when I do this"</vt:lpstr>
      <vt:lpstr>Really bad cases of ambiguity</vt:lpstr>
      <vt:lpstr>The 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Intro to Computer Architecture!</dc:title>
  <dc:creator>me</dc:creator>
  <cp:lastModifiedBy>Billingsley, Jarrett F</cp:lastModifiedBy>
  <cp:revision>538</cp:revision>
  <dcterms:created xsi:type="dcterms:W3CDTF">2017-01-05T04:29:56Z</dcterms:created>
  <dcterms:modified xsi:type="dcterms:W3CDTF">2022-05-22T21:08:27Z</dcterms:modified>
</cp:coreProperties>
</file>