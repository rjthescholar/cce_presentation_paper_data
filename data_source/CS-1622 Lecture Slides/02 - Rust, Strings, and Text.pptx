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30"/>
  </p:notesMasterIdLst>
  <p:sldIdLst>
    <p:sldId id="256" r:id="rId2"/>
    <p:sldId id="519" r:id="rId3"/>
    <p:sldId id="543" r:id="rId4"/>
    <p:sldId id="544" r:id="rId5"/>
    <p:sldId id="547" r:id="rId6"/>
    <p:sldId id="548" r:id="rId7"/>
    <p:sldId id="533" r:id="rId8"/>
    <p:sldId id="534" r:id="rId9"/>
    <p:sldId id="535" r:id="rId10"/>
    <p:sldId id="536" r:id="rId11"/>
    <p:sldId id="545" r:id="rId12"/>
    <p:sldId id="549" r:id="rId13"/>
    <p:sldId id="546" r:id="rId14"/>
    <p:sldId id="550" r:id="rId15"/>
    <p:sldId id="551" r:id="rId16"/>
    <p:sldId id="552" r:id="rId17"/>
    <p:sldId id="553" r:id="rId18"/>
    <p:sldId id="540" r:id="rId19"/>
    <p:sldId id="541" r:id="rId20"/>
    <p:sldId id="460" r:id="rId21"/>
    <p:sldId id="520" r:id="rId22"/>
    <p:sldId id="521" r:id="rId23"/>
    <p:sldId id="522" r:id="rId24"/>
    <p:sldId id="523" r:id="rId25"/>
    <p:sldId id="524" r:id="rId26"/>
    <p:sldId id="525" r:id="rId27"/>
    <p:sldId id="542" r:id="rId28"/>
    <p:sldId id="526" r:id="rId29"/>
  </p:sldIdLst>
  <p:sldSz cx="9144000" cy="5715000" type="screen16x10"/>
  <p:notesSz cx="6858000" cy="9144000"/>
  <p:defaultTextStyle>
    <a:defPPr>
      <a:defRPr lang="en-US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12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200"/>
    <a:srgbClr val="FF5200"/>
    <a:srgbClr val="FF5C00"/>
    <a:srgbClr val="592A04"/>
    <a:srgbClr val="8DB000"/>
    <a:srgbClr val="FCECD6"/>
    <a:srgbClr val="FCF9C5"/>
    <a:srgbClr val="8BD5F4"/>
    <a:srgbClr val="FA0AB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92" autoAdjust="0"/>
    <p:restoredTop sz="90704" autoAdjust="0"/>
  </p:normalViewPr>
  <p:slideViewPr>
    <p:cSldViewPr>
      <p:cViewPr varScale="1">
        <p:scale>
          <a:sx n="134" d="100"/>
          <a:sy n="134" d="100"/>
        </p:scale>
        <p:origin x="1160" y="176"/>
      </p:cViewPr>
      <p:guideLst>
        <p:guide orient="horz" pos="1800"/>
        <p:guide pos="12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093253-51AE-4C40-AB6B-AA3A7DF4D210}" type="datetimeFigureOut">
              <a:rPr lang="en-US" smtClean="0"/>
              <a:pPr/>
              <a:t>5/17/22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9729AB-B77D-48AE-AA10-D1BD2B4D03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305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you scream </a:t>
            </a:r>
            <a:r>
              <a:rPr lang="en-US" dirty="0" err="1"/>
              <a:t>vec</a:t>
            </a:r>
            <a:r>
              <a:rPr lang="en-US" dirty="0"/>
              <a:t> for the same reason you scream </a:t>
            </a:r>
            <a:r>
              <a:rPr lang="en-US" dirty="0" err="1"/>
              <a:t>println</a:t>
            </a:r>
            <a:r>
              <a:rPr lang="en-US" dirty="0"/>
              <a:t>: it's a macro.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5692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- 0 .. 10 in mathematical notation would be [0, 10); 1 ..= 10 would be [1, 10]. </a:t>
            </a:r>
          </a:p>
          <a:p>
            <a:r>
              <a:rPr lang="en-US" dirty="0"/>
              <a:t>- you </a:t>
            </a:r>
            <a:r>
              <a:rPr lang="en-US" i="1" dirty="0"/>
              <a:t>can</a:t>
            </a:r>
            <a:r>
              <a:rPr lang="en-US" i="0" dirty="0"/>
              <a:t> write "for </a:t>
            </a:r>
            <a:r>
              <a:rPr lang="en-US" i="0" dirty="0" err="1"/>
              <a:t>val</a:t>
            </a:r>
            <a:r>
              <a:rPr lang="en-US" i="0" dirty="0"/>
              <a:t> in v", but that has slightly different semantics from "for </a:t>
            </a:r>
            <a:r>
              <a:rPr lang="en-US" i="0" dirty="0" err="1"/>
              <a:t>val</a:t>
            </a:r>
            <a:r>
              <a:rPr lang="en-US" i="0" dirty="0"/>
              <a:t> in </a:t>
            </a:r>
            <a:r>
              <a:rPr lang="en-US" i="0" dirty="0" err="1"/>
              <a:t>v.iter</a:t>
            </a:r>
            <a:r>
              <a:rPr lang="en-US" i="0" dirty="0"/>
              <a:t>()"</a:t>
            </a:r>
          </a:p>
          <a:p>
            <a:r>
              <a:rPr lang="en-US" i="0" dirty="0"/>
              <a:t>	- "for </a:t>
            </a:r>
            <a:r>
              <a:rPr lang="en-US" i="0" dirty="0" err="1"/>
              <a:t>val</a:t>
            </a:r>
            <a:r>
              <a:rPr lang="en-US" i="0" dirty="0"/>
              <a:t> in v" instead does "for </a:t>
            </a:r>
            <a:r>
              <a:rPr lang="en-US" i="0" dirty="0" err="1"/>
              <a:t>val</a:t>
            </a:r>
            <a:r>
              <a:rPr lang="en-US" i="0" dirty="0"/>
              <a:t> in </a:t>
            </a:r>
            <a:r>
              <a:rPr lang="en-US" i="0" dirty="0" err="1"/>
              <a:t>v.into_iter</a:t>
            </a:r>
            <a:r>
              <a:rPr lang="en-US" i="0" dirty="0"/>
              <a:t>()", which </a:t>
            </a:r>
            <a:r>
              <a:rPr lang="en-US" i="1" dirty="0"/>
              <a:t>consumes</a:t>
            </a:r>
            <a:r>
              <a:rPr lang="en-US" i="0" dirty="0"/>
              <a:t> the vector</a:t>
            </a:r>
          </a:p>
          <a:p>
            <a:r>
              <a:rPr lang="en-US" i="0" dirty="0"/>
              <a:t>	- meaning you can't use v after the loop!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894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anonymous functions come up </a:t>
            </a:r>
            <a:r>
              <a:rPr lang="en-US" i="1" dirty="0"/>
              <a:t>a lot</a:t>
            </a:r>
            <a:r>
              <a:rPr lang="en-US" i="0" dirty="0"/>
              <a:t> with idiomatic Rust code, especially in the context of iterators, Options, and Results.</a:t>
            </a:r>
          </a:p>
          <a:p>
            <a:pPr marL="171450" indent="-171450">
              <a:buFontTx/>
              <a:buChar char="-"/>
            </a:pPr>
            <a:r>
              <a:rPr lang="en-US" i="0" dirty="0"/>
              <a:t>in the syntax “|x| x * 2”, “|x|” is the list of arguments, and “x * 2” is what it returns.</a:t>
            </a:r>
          </a:p>
          <a:p>
            <a:pPr marL="528066" lvl="1" indent="-171450">
              <a:buFontTx/>
              <a:buChar char="-"/>
            </a:pPr>
            <a:r>
              <a:rPr lang="en-US" i="0" dirty="0"/>
              <a:t>it’s like “</a:t>
            </a:r>
            <a:r>
              <a:rPr lang="en-US" i="0" dirty="0" err="1"/>
              <a:t>fn</a:t>
            </a:r>
            <a:r>
              <a:rPr lang="en-US" i="0" dirty="0"/>
              <a:t> anonymous(x: i32) { return x * 2; }” but with way less typing.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2702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product types are called that cause the set of values they can hold is a product of the sets of all their members.</a:t>
            </a:r>
          </a:p>
          <a:p>
            <a:r>
              <a:rPr lang="en-US" dirty="0"/>
              <a:t>	- if an int can hold one of 2^32 values, then two </a:t>
            </a:r>
            <a:r>
              <a:rPr lang="en-US" dirty="0" err="1"/>
              <a:t>ints</a:t>
            </a:r>
            <a:r>
              <a:rPr lang="en-US" dirty="0"/>
              <a:t> can hold one of 2^32 * 2^32 values.</a:t>
            </a:r>
          </a:p>
          <a:p>
            <a:r>
              <a:rPr lang="en-US" dirty="0"/>
              <a:t>- really, each primitive type is a built-in sum type of all possible values they can hold, since they're all finitely sized.</a:t>
            </a:r>
          </a:p>
          <a:p>
            <a:r>
              <a:rPr lang="en-US" dirty="0"/>
              <a:t>	- Java's subtype relationship is a kind of sum type, where a base class variable can point to any subclass instance.</a:t>
            </a:r>
          </a:p>
          <a:p>
            <a:r>
              <a:rPr lang="en-US" dirty="0"/>
              <a:t>	- C unions are a kind of "custom sum type," but they're unsafe and prone to bugs.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7882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in Java, </a:t>
            </a:r>
            <a:r>
              <a:rPr lang="en-US" i="1" dirty="0"/>
              <a:t>everything </a:t>
            </a:r>
            <a:r>
              <a:rPr lang="en-US" i="0" dirty="0"/>
              <a:t>happens in the context of the OOP class system.</a:t>
            </a:r>
          </a:p>
          <a:p>
            <a:r>
              <a:rPr lang="en-US" i="0" dirty="0"/>
              <a:t>- Rust instead gives you several smaller tools and lets you combine them together in complex and flexible ways.</a:t>
            </a:r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2863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0458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if you’ve used python, this “writing self in method signatures” will feel very familiar to you…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7923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you can see that </a:t>
            </a:r>
            <a:r>
              <a:rPr lang="en-US" dirty="0" err="1"/>
              <a:t>impl</a:t>
            </a:r>
            <a:r>
              <a:rPr lang="en-US" dirty="0"/>
              <a:t> works on </a:t>
            </a:r>
            <a:r>
              <a:rPr lang="en-US" dirty="0" err="1"/>
              <a:t>enums</a:t>
            </a:r>
            <a:r>
              <a:rPr lang="en-US" dirty="0"/>
              <a:t> just like on structs. actually </a:t>
            </a:r>
            <a:r>
              <a:rPr lang="en-US" dirty="0" err="1"/>
              <a:t>impl</a:t>
            </a:r>
            <a:r>
              <a:rPr lang="en-US" dirty="0"/>
              <a:t> works on ANY type!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0195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if-let looks a little weird, but it's analogous to Java's </a:t>
            </a:r>
            <a:r>
              <a:rPr lang="en-US" dirty="0" err="1"/>
              <a:t>instanceof</a:t>
            </a:r>
            <a:r>
              <a:rPr lang="en-US" dirty="0"/>
              <a:t>.</a:t>
            </a:r>
          </a:p>
          <a:p>
            <a:r>
              <a:rPr lang="en-US" dirty="0"/>
              <a:t>- match is like switch-case, but there is no </a:t>
            </a:r>
            <a:r>
              <a:rPr lang="en-US" dirty="0" err="1"/>
              <a:t>fallthrough</a:t>
            </a:r>
            <a:r>
              <a:rPr lang="en-US" dirty="0"/>
              <a:t>, no breaks, and it has more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0634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idea of null CAN be useful, which is why Option exists! but in most cases, null isn't required or desired.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5640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if you're an American and you've never learned another writing system, you'd probably never even know there was anything wrong with this.</a:t>
            </a:r>
          </a:p>
          <a:p>
            <a:r>
              <a:rPr lang="en-US" dirty="0"/>
              <a:t>- ASCII is a 7-bit character encoding, so you can only go up to 127. but there are a lot more characters and symbols than that…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4712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6403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 or rather, </a:t>
            </a:r>
            <a:r>
              <a:rPr lang="en-US" i="1" dirty="0"/>
              <a:t>should</a:t>
            </a:r>
            <a:r>
              <a:rPr lang="en-US" dirty="0"/>
              <a:t> use. cause there are still many places/computers/programs that don't. and it causes a lot of problems.</a:t>
            </a:r>
          </a:p>
          <a:p>
            <a:r>
              <a:rPr lang="en-US" dirty="0"/>
              <a:t>- there are </a:t>
            </a:r>
            <a:r>
              <a:rPr lang="en-US" b="1" dirty="0"/>
              <a:t>lots</a:t>
            </a:r>
            <a:r>
              <a:rPr lang="en-US" dirty="0"/>
              <a:t> of combining marks, and you can stack several on a single glyph. (this is how that glitched meme text works.)</a:t>
            </a:r>
          </a:p>
          <a:p>
            <a:r>
              <a:rPr lang="en-US" dirty="0"/>
              <a:t>- codepoints are written as </a:t>
            </a:r>
            <a:r>
              <a:rPr lang="en-US" dirty="0" err="1"/>
              <a:t>U+xxxx</a:t>
            </a:r>
            <a:r>
              <a:rPr lang="en-US" dirty="0"/>
              <a:t>, where </a:t>
            </a:r>
            <a:r>
              <a:rPr lang="en-US" dirty="0" err="1"/>
              <a:t>xxxx</a:t>
            </a:r>
            <a:r>
              <a:rPr lang="en-US" dirty="0"/>
              <a:t> are 4 hex digits. (There are codepoints with &gt; 4 digits, but they're uncommon.)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6234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space-time tradeoffs in action here.</a:t>
            </a:r>
          </a:p>
          <a:p>
            <a:r>
              <a:rPr lang="en-US" dirty="0"/>
              <a:t>	- UTF-16 and UTF-8 use multiple code units (bytes or shorts) to encode some characters.</a:t>
            </a:r>
          </a:p>
          <a:p>
            <a:r>
              <a:rPr lang="en-US" dirty="0"/>
              <a:t>	- UTF-32 is just 1:1 code units to codepoints, but you're wasting </a:t>
            </a:r>
            <a:r>
              <a:rPr lang="en-US" i="1" dirty="0"/>
              <a:t>at least </a:t>
            </a:r>
            <a:r>
              <a:rPr lang="en-US" dirty="0"/>
              <a:t>11 bits of space on each codepoint.</a:t>
            </a:r>
          </a:p>
          <a:p>
            <a:r>
              <a:rPr lang="en-US" dirty="0"/>
              <a:t>	- also, UTF-16 and UTF-32 have endianness, meaning sending them across networks is not easy.</a:t>
            </a:r>
          </a:p>
          <a:p>
            <a:r>
              <a:rPr lang="en-US" dirty="0"/>
              <a:t>- UTF-16 is a sad story, because when Unicode was new, it only went up to 16 bits, so UTF-16 was perfect.</a:t>
            </a:r>
          </a:p>
          <a:p>
            <a:r>
              <a:rPr lang="en-US" dirty="0"/>
              <a:t>	- but then they expanded the code space to 21 bits, so UTF-16 is a weird in-between… not as easy as UTF-32, and not as compact and cross-platform as UTF-8…</a:t>
            </a:r>
          </a:p>
          <a:p>
            <a:r>
              <a:rPr lang="en-US" dirty="0"/>
              <a:t>	- but things like Java and Windows already adopted UTF-16 by the time the Unicode consortium did that…</a:t>
            </a:r>
          </a:p>
          <a:p>
            <a:r>
              <a:rPr lang="en-US" dirty="0"/>
              <a:t>	- so we've got weird legacy UTF-16 stuff hanging around all over</a:t>
            </a:r>
          </a:p>
          <a:p>
            <a:r>
              <a:rPr lang="en-US" dirty="0"/>
              <a:t>- UTF-8 has no endianness issues, so almost every website uses it.</a:t>
            </a:r>
          </a:p>
          <a:p>
            <a:r>
              <a:rPr lang="en-US" dirty="0"/>
              <a:t>	- it's also the smallest for most languages, so it saves memory and storage space, at the cost of speed.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6288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each of these lengths and indices are useful in some cases and not others.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957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dirty="0" err="1"/>
              <a:t>toUpper</a:t>
            </a:r>
            <a:r>
              <a:rPr lang="en-US" dirty="0"/>
              <a:t>/</a:t>
            </a:r>
            <a:r>
              <a:rPr lang="en-US" dirty="0" err="1"/>
              <a:t>toLower</a:t>
            </a:r>
            <a:r>
              <a:rPr lang="en-US" dirty="0"/>
              <a:t> make no sense in languages that have no letter case, and the rules for upper/lowercasing can be pretty complicated in the languages that do have it</a:t>
            </a:r>
          </a:p>
          <a:p>
            <a:r>
              <a:rPr lang="en-US" dirty="0"/>
              <a:t>- </a:t>
            </a:r>
            <a:r>
              <a:rPr lang="en-US" dirty="0" err="1"/>
              <a:t>toUpper</a:t>
            </a:r>
            <a:r>
              <a:rPr lang="en-US" dirty="0"/>
              <a:t>/</a:t>
            </a:r>
            <a:r>
              <a:rPr lang="en-US" dirty="0" err="1"/>
              <a:t>toLower</a:t>
            </a:r>
            <a:r>
              <a:rPr lang="en-US" dirty="0"/>
              <a:t> are further complicated by </a:t>
            </a:r>
            <a:r>
              <a:rPr lang="en-US" i="1" dirty="0"/>
              <a:t>one</a:t>
            </a:r>
            <a:r>
              <a:rPr lang="en-US" i="0" dirty="0"/>
              <a:t> character in </a:t>
            </a:r>
            <a:r>
              <a:rPr lang="en-US" i="1" dirty="0"/>
              <a:t>one</a:t>
            </a:r>
            <a:r>
              <a:rPr lang="en-US" i="0" dirty="0"/>
              <a:t> language (Turkish) because there, the presence or absence of a dot on an i changes the letter. That is, I is "uppercase </a:t>
            </a:r>
            <a:r>
              <a:rPr lang="en-US" i="0" dirty="0" err="1"/>
              <a:t>dotless</a:t>
            </a:r>
            <a:r>
              <a:rPr lang="en-US" i="0" dirty="0"/>
              <a:t> I" and i is "lowercase dotted i" and they are not interchangeable</a:t>
            </a:r>
          </a:p>
          <a:p>
            <a:r>
              <a:rPr lang="en-US" i="0" dirty="0"/>
              <a:t>	- so you have to </a:t>
            </a:r>
            <a:r>
              <a:rPr lang="en-US" i="1" dirty="0"/>
              <a:t>know</a:t>
            </a:r>
            <a:r>
              <a:rPr lang="en-US" i="0" dirty="0"/>
              <a:t> whether you're upper/lowercasing "Turkish" or "not-Turkish".</a:t>
            </a:r>
          </a:p>
          <a:p>
            <a:r>
              <a:rPr lang="en-US" i="0" dirty="0"/>
              <a:t>	- a sad/wild ride: https://</a:t>
            </a:r>
            <a:r>
              <a:rPr lang="en-US" i="0" dirty="0" err="1"/>
              <a:t>gizmodo.com</a:t>
            </a:r>
            <a:r>
              <a:rPr lang="en-US" i="0" dirty="0"/>
              <a:t>/a-cellphones-missing-dot-kills-two-people-puts-three-m-382026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8397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as far as I know, the endianness of the String </a:t>
            </a:r>
            <a:r>
              <a:rPr lang="en-US" i="1" dirty="0"/>
              <a:t>in memory</a:t>
            </a:r>
            <a:r>
              <a:rPr lang="en-US" dirty="0"/>
              <a:t> is "the endianness of the CPU you're running the program on".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9990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canonicalization is like, in math, when you reduce fractions. 10/5 and 1/2 are the same value, but 1/2 is the "canonical" form.</a:t>
            </a:r>
          </a:p>
          <a:p>
            <a:r>
              <a:rPr lang="en-US" dirty="0"/>
              <a:t>	- in Unicode, it means e.g. turning "e followed by combining acute" into "e with acute", or ordering combining marks in certain ways, so that you are guaranteed that two strings that </a:t>
            </a:r>
            <a:r>
              <a:rPr lang="en-US" i="1" dirty="0"/>
              <a:t>look the same </a:t>
            </a:r>
            <a:r>
              <a:rPr lang="en-US" dirty="0"/>
              <a:t>to the user </a:t>
            </a:r>
            <a:r>
              <a:rPr lang="en-US" i="1" dirty="0"/>
              <a:t>behave the same </a:t>
            </a:r>
            <a:r>
              <a:rPr lang="en-US" i="0" dirty="0"/>
              <a:t>in </a:t>
            </a:r>
            <a:r>
              <a:rPr lang="en-US" dirty="0"/>
              <a:t>your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837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202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14501"/>
            <a:ext cx="7772400" cy="1225021"/>
          </a:xfrm>
        </p:spPr>
        <p:txBody>
          <a:bodyPr anchor="b">
            <a:noAutofit/>
          </a:bodyPr>
          <a:lstStyle>
            <a:lvl1pPr algn="l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177645"/>
            <a:ext cx="7772400" cy="1460500"/>
          </a:xfrm>
          <a:noFill/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11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CS447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3162300"/>
            <a:ext cx="9144000" cy="18288"/>
          </a:xfrm>
          <a:prstGeom prst="rect">
            <a:avLst/>
          </a:prstGeom>
          <a:solidFill>
            <a:srgbClr val="5639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20" dirty="0"/>
          </a:p>
        </p:txBody>
      </p:sp>
    </p:spTree>
    <p:extLst/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991600" cy="495300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4801659"/>
          </a:xfrm>
        </p:spPr>
        <p:txBody>
          <a:bodyPr>
            <a:normAutofit/>
          </a:bodyPr>
          <a:lstStyle>
            <a:lvl1pPr marL="257175" indent="-257175">
              <a:buSzPct val="100000"/>
              <a:buFont typeface="Trebuchet MS" pitchFamily="34" charset="0"/>
              <a:buChar char="●"/>
              <a:defRPr sz="2200"/>
            </a:lvl1pPr>
            <a:lvl2pPr marL="515780" indent="-257175">
              <a:defRPr sz="2200"/>
            </a:lvl2pPr>
            <a:lvl3pPr marL="772955" indent="-250032">
              <a:tabLst/>
              <a:defRPr sz="2200" b="0"/>
            </a:lvl3pPr>
            <a:lvl4pPr marL="1031558" indent="-257175">
              <a:tabLst/>
              <a:defRPr sz="2200" b="0"/>
            </a:lvl4pPr>
            <a:lvl5pPr marL="1285875" indent="-254318">
              <a:defRPr sz="2200" b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r>
              <a:rPr lang="cs-CZ"/>
              <a:t>CS447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/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5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>
  <p:cSld name="Title and Content (no ani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991600" cy="495300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4801659"/>
          </a:xfrm>
        </p:spPr>
        <p:txBody>
          <a:bodyPr>
            <a:normAutofit/>
          </a:bodyPr>
          <a:lstStyle>
            <a:lvl1pPr marL="257175" indent="-257175">
              <a:buSzPct val="100000"/>
              <a:buFont typeface="Trebuchet MS" pitchFamily="34" charset="0"/>
              <a:buChar char="●"/>
              <a:defRPr sz="2200"/>
            </a:lvl1pPr>
            <a:lvl2pPr marL="515780" indent="-257175">
              <a:defRPr sz="2200"/>
            </a:lvl2pPr>
            <a:lvl3pPr marL="772955" indent="-250032">
              <a:tabLst/>
              <a:defRPr sz="2200" b="0"/>
            </a:lvl3pPr>
            <a:lvl4pPr marL="1031558" indent="-257175">
              <a:tabLst/>
              <a:defRPr sz="2200" b="0"/>
            </a:lvl4pPr>
            <a:lvl5pPr marL="1285875" indent="-254318">
              <a:defRPr sz="2200" b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r>
              <a:rPr lang="cs-CZ"/>
              <a:t>CS447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/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202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14501"/>
            <a:ext cx="7772400" cy="1225021"/>
          </a:xfrm>
        </p:spPr>
        <p:txBody>
          <a:bodyPr anchor="b">
            <a:noAutofit/>
          </a:bodyPr>
          <a:lstStyle>
            <a:lvl1pPr algn="l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CS447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3162300"/>
            <a:ext cx="9144000" cy="18288"/>
          </a:xfrm>
          <a:prstGeom prst="rect">
            <a:avLst/>
          </a:prstGeom>
          <a:solidFill>
            <a:srgbClr val="5639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20" dirty="0"/>
          </a:p>
        </p:txBody>
      </p:sp>
    </p:spTree>
    <p:extLst/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33501"/>
            <a:ext cx="4038600" cy="3771636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33501"/>
            <a:ext cx="4038600" cy="3771636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CS447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/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6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279261"/>
            <a:ext cx="4041775" cy="533136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812396"/>
            <a:ext cx="4041775" cy="3292740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CS447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/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CS447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/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CS447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/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27541"/>
            <a:ext cx="3008313" cy="968376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27544"/>
            <a:ext cx="5111750" cy="4877594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195919"/>
            <a:ext cx="3008313" cy="3909219"/>
          </a:xfrm>
        </p:spPr>
        <p:txBody>
          <a:bodyPr/>
          <a:lstStyle>
            <a:lvl1pPr marL="0" indent="0">
              <a:buNone/>
              <a:defRPr sz="126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CS447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/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472783"/>
            <a:ext cx="5486400" cy="670719"/>
          </a:xfrm>
        </p:spPr>
        <p:txBody>
          <a:bodyPr/>
          <a:lstStyle>
            <a:lvl1pPr marL="0" indent="0">
              <a:buNone/>
              <a:defRPr sz="126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CS447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/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CS447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/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867"/>
            <a:ext cx="2057400" cy="487627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867"/>
            <a:ext cx="6019800" cy="48762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CS447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/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5600700"/>
            <a:ext cx="9144000" cy="114300"/>
          </a:xfrm>
          <a:prstGeom prst="rect">
            <a:avLst/>
          </a:prstGeom>
          <a:solidFill>
            <a:srgbClr val="5639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20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495300"/>
          </a:xfrm>
          <a:prstGeom prst="rect">
            <a:avLst/>
          </a:prstGeom>
          <a:solidFill>
            <a:srgbClr val="5639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2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0"/>
            <a:ext cx="8991600" cy="4953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495301"/>
            <a:ext cx="8991600" cy="4801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5296960"/>
            <a:ext cx="12192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cs-CZ"/>
              <a:t>CS447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58200" y="5296960"/>
            <a:ext cx="6858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35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transition/>
  <p:hf hdr="0" ftr="0" dt="0"/>
  <p:txStyles>
    <p:titleStyle>
      <a:lvl1pPr algn="l" defTabSz="822960" rtl="0" eaLnBrk="1" latinLnBrk="0" hangingPunct="1">
        <a:spcBef>
          <a:spcPct val="0"/>
        </a:spcBef>
        <a:buNone/>
        <a:defRPr sz="2800" b="1" kern="1200">
          <a:solidFill>
            <a:schemeClr val="bg1"/>
          </a:solidFill>
          <a:latin typeface="+mj-lt"/>
          <a:ea typeface="GulimChe" pitchFamily="49" charset="-127"/>
          <a:cs typeface="MoolBoran" pitchFamily="34" charset="0"/>
        </a:defRPr>
      </a:lvl1pPr>
    </p:titleStyle>
    <p:bodyStyle>
      <a:lvl1pPr marL="204312" indent="-204312" algn="l" defTabSz="822960" rtl="0" eaLnBrk="1" latinLnBrk="0" hangingPunct="1">
        <a:spcBef>
          <a:spcPts val="0"/>
        </a:spcBef>
        <a:buSzPct val="150000"/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5767" indent="-207170" algn="l" defTabSz="822960" rtl="0" eaLnBrk="1" latinLnBrk="0" hangingPunct="1">
        <a:spcBef>
          <a:spcPts val="0"/>
        </a:spcBef>
        <a:buFont typeface="Courier New" pitchFamily="49" charset="0"/>
        <a:buChar char="o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620078" indent="-205740" algn="l" defTabSz="822960" rtl="0" eaLnBrk="1" latinLnBrk="0" hangingPunct="1">
        <a:spcBef>
          <a:spcPts val="0"/>
        </a:spcBef>
        <a:buFont typeface="Wingdings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821532" indent="-205740" algn="l" defTabSz="822960" rtl="0" eaLnBrk="1" latinLnBrk="0" hangingPunct="1">
        <a:spcBef>
          <a:spcPts val="0"/>
        </a:spcBef>
        <a:buFont typeface="Arial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205740" algn="l" defTabSz="822960" rtl="0" eaLnBrk="1" latinLnBrk="0" hangingPunct="1">
        <a:spcBef>
          <a:spcPts val="0"/>
        </a:spcBef>
        <a:buFont typeface="Arial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Rust, Strings, and Text</a:t>
            </a:r>
            <a:endParaRPr lang="en-US"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CS/COE 1622</a:t>
            </a:r>
          </a:p>
          <a:p>
            <a:r>
              <a:rPr lang="en-US" dirty="0"/>
              <a:t>Jarrett Billingsley</a:t>
            </a:r>
          </a:p>
        </p:txBody>
      </p:sp>
    </p:spTree>
    <p:extLst>
      <p:ext uri="{BB962C8B-B14F-4D97-AF65-F5344CB8AC3E}">
        <p14:creationId xmlns:p14="http://schemas.microsoft.com/office/powerpoint/2010/main" val="361208656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017CE-A372-C744-8763-80C56E421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EBBF7-1C6E-294A-B5C4-174BB20AA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I'm assuming, for this lecture, that you really did follow along with chapters 1-3 of the Rust book</a:t>
            </a:r>
          </a:p>
          <a:p>
            <a:r>
              <a:rPr lang="en-US" dirty="0"/>
              <a:t>also, if you didn’t see the announcement yesterday…</a:t>
            </a:r>
          </a:p>
          <a:p>
            <a:pPr lvl="1"/>
            <a:r>
              <a:rPr lang="en-US" dirty="0"/>
              <a:t>go look :^)</a:t>
            </a:r>
          </a:p>
          <a:p>
            <a:r>
              <a:rPr lang="en-US" dirty="0"/>
              <a:t>the examples from today are in the examples repo</a:t>
            </a:r>
          </a:p>
          <a:p>
            <a:pPr lvl="1"/>
            <a:r>
              <a:rPr lang="en-US" dirty="0"/>
              <a:t>see the materials page!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CC32BD-B01F-C646-91E9-D5AAEE75A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974401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B85F4-983E-A942-94EF-F55EFE175F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Vectors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E5A6FD-AB9A-E74A-99DC-FC8087CE1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48252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427EB-2538-DE42-A360-B514F992B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9A420-4DC4-2842-A188-DCE340A27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495301"/>
          </a:xfrm>
        </p:spPr>
        <p:txBody>
          <a:bodyPr/>
          <a:lstStyle/>
          <a:p>
            <a:r>
              <a:rPr lang="en-US" dirty="0"/>
              <a:t>Rust's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Vec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&lt;T&gt;</a:t>
            </a:r>
            <a:r>
              <a:rPr lang="en-US" b="1" dirty="0"/>
              <a:t> </a:t>
            </a:r>
            <a:r>
              <a:rPr lang="en-US" dirty="0"/>
              <a:t>can work like a Java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T[]</a:t>
            </a:r>
            <a:r>
              <a:rPr lang="en-US" dirty="0"/>
              <a:t> or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ArrayList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&lt;T&gt;.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D762F7-68EC-F14C-876D-C1DA6343A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7982F8-CC13-754F-8B28-5468F4A1E4B5}"/>
              </a:ext>
            </a:extLst>
          </p:cNvPr>
          <p:cNvSpPr txBox="1"/>
          <p:nvPr/>
        </p:nvSpPr>
        <p:spPr>
          <a:xfrm>
            <a:off x="533400" y="1028700"/>
            <a:ext cx="5410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 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v =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vec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![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08759B-C2FE-FD4A-A7A4-21AE852E6C56}"/>
              </a:ext>
            </a:extLst>
          </p:cNvPr>
          <p:cNvSpPr txBox="1"/>
          <p:nvPr/>
        </p:nvSpPr>
        <p:spPr>
          <a:xfrm>
            <a:off x="1054608" y="1466299"/>
            <a:ext cx="64129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this creates a new, </a:t>
            </a:r>
            <a:r>
              <a:rPr lang="en-US" sz="2200" i="1" dirty="0"/>
              <a:t>immutable</a:t>
            </a:r>
            <a:r>
              <a:rPr lang="en-US" sz="2200" dirty="0"/>
              <a:t> (unchangeable) </a:t>
            </a:r>
            <a:r>
              <a:rPr lang="en-US" sz="2200" dirty="0" err="1"/>
              <a:t>Vec</a:t>
            </a:r>
            <a:r>
              <a:rPr lang="en-US" sz="2200" dirty="0"/>
              <a:t>.</a:t>
            </a:r>
            <a:endParaRPr lang="en-US" sz="2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E68114-D359-3F42-99C1-E5BA92BFE328}"/>
              </a:ext>
            </a:extLst>
          </p:cNvPr>
          <p:cNvSpPr txBox="1"/>
          <p:nvPr/>
        </p:nvSpPr>
        <p:spPr>
          <a:xfrm>
            <a:off x="533400" y="1935284"/>
            <a:ext cx="5410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 </a:t>
            </a:r>
            <a:r>
              <a:rPr lang="en-US" sz="2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mut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v =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vec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![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3A4A89-93F9-5244-98D5-3DC6A2B44929}"/>
              </a:ext>
            </a:extLst>
          </p:cNvPr>
          <p:cNvSpPr txBox="1"/>
          <p:nvPr/>
        </p:nvSpPr>
        <p:spPr>
          <a:xfrm>
            <a:off x="1054608" y="2372883"/>
            <a:ext cx="64129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this one can be modified, appended, etc.</a:t>
            </a:r>
            <a:endParaRPr lang="en-US" sz="2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4F2B34-8C83-8948-A219-246942380F22}"/>
              </a:ext>
            </a:extLst>
          </p:cNvPr>
          <p:cNvSpPr txBox="1"/>
          <p:nvPr/>
        </p:nvSpPr>
        <p:spPr>
          <a:xfrm>
            <a:off x="173736" y="2895083"/>
            <a:ext cx="744626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for the most part, they work like Java arrays/</a:t>
            </a:r>
            <a:r>
              <a:rPr lang="en-US" sz="2200" dirty="0" err="1"/>
              <a:t>ArrayLists</a:t>
            </a:r>
            <a:r>
              <a:rPr lang="en-US" sz="2200" dirty="0"/>
              <a:t>:</a:t>
            </a:r>
            <a:endParaRPr lang="en-US" sz="22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2A794C-2E1C-A744-A07B-3BF8C070B6CB}"/>
              </a:ext>
            </a:extLst>
          </p:cNvPr>
          <p:cNvSpPr txBox="1"/>
          <p:nvPr/>
        </p:nvSpPr>
        <p:spPr>
          <a:xfrm>
            <a:off x="533400" y="3432998"/>
            <a:ext cx="5410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 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x = v[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];    </a:t>
            </a:r>
            <a:r>
              <a:rPr lang="en-US" sz="2200" i="1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indexing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01AB5A-20D6-6F43-B94D-7168E16B3A09}"/>
              </a:ext>
            </a:extLst>
          </p:cNvPr>
          <p:cNvSpPr txBox="1"/>
          <p:nvPr/>
        </p:nvSpPr>
        <p:spPr>
          <a:xfrm>
            <a:off x="533400" y="3863885"/>
            <a:ext cx="5410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 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l =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v.len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(); </a:t>
            </a:r>
            <a:r>
              <a:rPr lang="en-US" sz="2200" i="1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length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483586-496D-2443-BF50-88C2543415B4}"/>
              </a:ext>
            </a:extLst>
          </p:cNvPr>
          <p:cNvSpPr txBox="1"/>
          <p:nvPr/>
        </p:nvSpPr>
        <p:spPr>
          <a:xfrm>
            <a:off x="533400" y="4300224"/>
            <a:ext cx="64129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v.push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);       </a:t>
            </a:r>
            <a:r>
              <a:rPr lang="en-US" sz="2200" i="1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appends a 6</a:t>
            </a:r>
          </a:p>
        </p:txBody>
      </p:sp>
    </p:spTree>
    <p:extLst>
      <p:ext uri="{BB962C8B-B14F-4D97-AF65-F5344CB8AC3E}">
        <p14:creationId xmlns:p14="http://schemas.microsoft.com/office/powerpoint/2010/main" val="19497959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36BE9-D198-804E-BEDF-632D06874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5B821-D0AA-B54E-B1D6-ACBF30086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1142999"/>
          </a:xfrm>
        </p:spPr>
        <p:txBody>
          <a:bodyPr/>
          <a:lstStyle/>
          <a:p>
            <a:r>
              <a:rPr lang="en-US" dirty="0"/>
              <a:t>Rust has a system similar to Java's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Iterable</a:t>
            </a:r>
            <a:r>
              <a:rPr lang="en-US" dirty="0"/>
              <a:t>/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Iterator</a:t>
            </a:r>
            <a:r>
              <a:rPr lang="en-US" dirty="0"/>
              <a:t> interfaces.</a:t>
            </a:r>
          </a:p>
          <a:p>
            <a:pPr lvl="1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iter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dirty="0"/>
              <a:t> is like Java's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.iterator()</a:t>
            </a:r>
            <a:r>
              <a:rPr lang="en-US" dirty="0"/>
              <a:t> method.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en-US" b="1" dirty="0"/>
              <a:t> </a:t>
            </a:r>
            <a:r>
              <a:rPr lang="en-US" dirty="0"/>
              <a:t>loop iterates over iterators.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01BD2D-756A-5B4B-8E7D-6C76A91A7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84F990-84CE-A642-AF0B-FC034B4BCC76}"/>
              </a:ext>
            </a:extLst>
          </p:cNvPr>
          <p:cNvSpPr txBox="1"/>
          <p:nvPr/>
        </p:nvSpPr>
        <p:spPr>
          <a:xfrm>
            <a:off x="457200" y="1661160"/>
            <a:ext cx="83820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i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..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{}    </a:t>
            </a:r>
            <a:r>
              <a:rPr lang="en-US" sz="2200" i="1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i = 0, 1, 2, …, 8, 9</a:t>
            </a:r>
            <a:endParaRPr lang="en-US" sz="2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i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..=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{}   </a:t>
            </a:r>
            <a:r>
              <a:rPr lang="en-US" sz="2200" i="1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i = 1, 2, …, 9, 10</a:t>
            </a:r>
          </a:p>
          <a:p>
            <a:endParaRPr lang="en-US" sz="2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v =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vec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![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v.iter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() {} </a:t>
            </a:r>
            <a:r>
              <a:rPr lang="en-US" sz="2200" i="1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iterate over values in v</a:t>
            </a:r>
          </a:p>
          <a:p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&amp;v {}       </a:t>
            </a:r>
            <a:r>
              <a:rPr lang="en-US" sz="2200" i="1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same as above, but shorter</a:t>
            </a:r>
          </a:p>
          <a:p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(i,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v.iter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().enumerate() {}</a:t>
            </a:r>
            <a:endParaRPr lang="en-US" sz="2200" i="1" dirty="0">
              <a:solidFill>
                <a:schemeClr val="accent3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AE9144-B3B6-0D4C-AB2E-EBE46A2B7E4B}"/>
              </a:ext>
            </a:extLst>
          </p:cNvPr>
          <p:cNvSpPr txBox="1"/>
          <p:nvPr/>
        </p:nvSpPr>
        <p:spPr>
          <a:xfrm>
            <a:off x="685800" y="4305300"/>
            <a:ext cx="76260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the last one shows calling a method on an iterator object to get a new iterator – this one gives the index </a:t>
            </a:r>
            <a:r>
              <a:rPr lang="en-US" sz="2200" i="1" dirty="0"/>
              <a:t>and</a:t>
            </a:r>
            <a:r>
              <a:rPr lang="en-US" sz="2200" dirty="0"/>
              <a:t> value.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12313910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bldLvl="5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20732-2BC1-E84C-A8C9-C381C4D1C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Extremely Common Pattern: Mapping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59D2D-449C-2E43-84D5-FF555141C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1219199"/>
          </a:xfrm>
        </p:spPr>
        <p:txBody>
          <a:bodyPr/>
          <a:lstStyle/>
          <a:p>
            <a:r>
              <a:rPr lang="en-US" dirty="0"/>
              <a:t>you have an array A. </a:t>
            </a:r>
          </a:p>
          <a:p>
            <a:r>
              <a:rPr lang="en-US" dirty="0"/>
              <a:t>you want to perform some transformation on each item in A.</a:t>
            </a:r>
          </a:p>
          <a:p>
            <a:r>
              <a:rPr lang="en-US" dirty="0"/>
              <a:t>you want to put the results of those transformations into an array B.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4BE245-E671-114E-9793-FB6A9C247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36B9CE-CACE-A146-B8E6-5CE2CC0BDE38}"/>
              </a:ext>
            </a:extLst>
          </p:cNvPr>
          <p:cNvSpPr txBox="1"/>
          <p:nvPr/>
        </p:nvSpPr>
        <p:spPr>
          <a:xfrm>
            <a:off x="609600" y="1638300"/>
            <a:ext cx="7543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[] B =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A.length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()];</a:t>
            </a:r>
          </a:p>
          <a:p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i =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; i &lt;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A.length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(); i++) {</a:t>
            </a:r>
            <a:b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	B[i] = A[i] *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CCF84E-6856-054A-B1C2-01E108C6522C}"/>
              </a:ext>
            </a:extLst>
          </p:cNvPr>
          <p:cNvSpPr txBox="1"/>
          <p:nvPr/>
        </p:nvSpPr>
        <p:spPr>
          <a:xfrm>
            <a:off x="230124" y="3157947"/>
            <a:ext cx="74645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this operation is called </a:t>
            </a:r>
            <a:r>
              <a:rPr lang="en-US" sz="2200" b="1" dirty="0"/>
              <a:t>mapping,</a:t>
            </a:r>
            <a:r>
              <a:rPr lang="en-US" sz="2200" dirty="0"/>
              <a:t> and it's so, so common. in Rust, it looks like this:</a:t>
            </a:r>
            <a:endParaRPr lang="en-US" sz="22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EFAD44-3307-2D47-9836-9F4C9959DA9E}"/>
              </a:ext>
            </a:extLst>
          </p:cNvPr>
          <p:cNvSpPr txBox="1"/>
          <p:nvPr/>
        </p:nvSpPr>
        <p:spPr>
          <a:xfrm>
            <a:off x="609600" y="3924300"/>
            <a:ext cx="7543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B =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A.iter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().map(|x| x *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).collect();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C094D33-5688-334C-9E9F-C57E3F077257}"/>
              </a:ext>
            </a:extLst>
          </p:cNvPr>
          <p:cNvGrpSpPr/>
          <p:nvPr/>
        </p:nvGrpSpPr>
        <p:grpSpPr>
          <a:xfrm>
            <a:off x="2095500" y="4312109"/>
            <a:ext cx="5105400" cy="1032817"/>
            <a:chOff x="2095500" y="4312109"/>
            <a:chExt cx="5105400" cy="103281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9E32022-DFB3-2946-B245-6FCDD7C707DC}"/>
                </a:ext>
              </a:extLst>
            </p:cNvPr>
            <p:cNvSpPr txBox="1"/>
            <p:nvPr/>
          </p:nvSpPr>
          <p:spPr>
            <a:xfrm>
              <a:off x="2095500" y="4575485"/>
              <a:ext cx="51054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/>
                <a:t>this is a </a:t>
              </a:r>
              <a:r>
                <a:rPr lang="en-US" sz="2200" b="1" dirty="0"/>
                <a:t>function literal, </a:t>
              </a:r>
              <a:r>
                <a:rPr lang="en-US" sz="2200" dirty="0"/>
                <a:t>or </a:t>
              </a:r>
              <a:r>
                <a:rPr lang="en-US" sz="2200" b="1" dirty="0"/>
                <a:t>anonymous function, </a:t>
              </a:r>
              <a:r>
                <a:rPr lang="en-US" sz="2200" dirty="0"/>
                <a:t>or </a:t>
              </a:r>
              <a:r>
                <a:rPr lang="en-US" sz="2200" b="1" dirty="0"/>
                <a:t>"lambda."</a:t>
              </a:r>
            </a:p>
          </p:txBody>
        </p:sp>
        <p:sp>
          <p:nvSpPr>
            <p:cNvPr id="9" name="Left Brace 8">
              <a:extLst>
                <a:ext uri="{FF2B5EF4-FFF2-40B4-BE49-F238E27FC236}">
                  <a16:creationId xmlns:a16="http://schemas.microsoft.com/office/drawing/2014/main" id="{91CB0C58-DAF5-8F4C-868F-407B5427E5F2}"/>
                </a:ext>
              </a:extLst>
            </p:cNvPr>
            <p:cNvSpPr/>
            <p:nvPr/>
          </p:nvSpPr>
          <p:spPr>
            <a:xfrm rot="16200000">
              <a:off x="4516513" y="3757997"/>
              <a:ext cx="263377" cy="1371601"/>
            </a:xfrm>
            <a:prstGeom prst="leftBrace">
              <a:avLst>
                <a:gd name="adj1" fmla="val 38333"/>
                <a:gd name="adj2" fmla="val 50000"/>
              </a:avLst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821153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D4312-F575-FD4C-92B1-33CFC44F46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Algebraic Data Types</a:t>
            </a:r>
            <a:br>
              <a:rPr lang="en-US" dirty="0"/>
            </a:br>
            <a:r>
              <a:rPr lang="en-US" dirty="0"/>
              <a:t>and Structs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6CFD043-A857-4D41-9035-96925D514C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time check: ≤ 35 min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6B427E-9C7F-2143-8541-47828FFDB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91907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95146-1F57-EE4F-A11A-D8B264EB0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the same as ADTs (</a:t>
            </a:r>
            <a:r>
              <a:rPr lang="en-US" i="1" dirty="0"/>
              <a:t>abstract</a:t>
            </a:r>
            <a:r>
              <a:rPr lang="en-US" dirty="0"/>
              <a:t> data types)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FCBA3-D62F-9D40-9DAE-BE3B68684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838199"/>
          </a:xfrm>
        </p:spPr>
        <p:txBody>
          <a:bodyPr/>
          <a:lstStyle/>
          <a:p>
            <a:r>
              <a:rPr lang="en-US" b="1" dirty="0"/>
              <a:t>primitive </a:t>
            </a:r>
            <a:r>
              <a:rPr lang="en-US" dirty="0"/>
              <a:t>types contain a single value, e.g.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i32</a:t>
            </a:r>
            <a:r>
              <a:rPr lang="en-US" b="1" dirty="0"/>
              <a:t>,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f32</a:t>
            </a:r>
            <a:r>
              <a:rPr lang="en-US" b="1" dirty="0"/>
              <a:t>,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en-US" b="1" dirty="0"/>
              <a:t>,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en-US" b="1" dirty="0"/>
              <a:t>…</a:t>
            </a:r>
          </a:p>
          <a:p>
            <a:r>
              <a:rPr lang="en-US" b="1" dirty="0"/>
              <a:t>algebraic </a:t>
            </a:r>
            <a:r>
              <a:rPr lang="en-US" dirty="0"/>
              <a:t>types let us </a:t>
            </a:r>
            <a:r>
              <a:rPr lang="en-US" b="1" dirty="0"/>
              <a:t>combine </a:t>
            </a:r>
            <a:r>
              <a:rPr lang="en-US" dirty="0"/>
              <a:t>types into larger ones.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5FFB2-A17D-AC48-AB45-435AEB697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72F622-7140-2845-ADF1-C308DD6B9D5F}"/>
              </a:ext>
            </a:extLst>
          </p:cNvPr>
          <p:cNvSpPr txBox="1"/>
          <p:nvPr/>
        </p:nvSpPr>
        <p:spPr>
          <a:xfrm>
            <a:off x="723900" y="1333500"/>
            <a:ext cx="3124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Product Types </a:t>
            </a:r>
            <a:r>
              <a:rPr lang="en-US" sz="2200" dirty="0"/>
              <a:t>bundle values "side-by-side".</a:t>
            </a:r>
            <a:endParaRPr lang="en-US" sz="2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A391F6-970E-5B4A-B938-23114D281FA9}"/>
              </a:ext>
            </a:extLst>
          </p:cNvPr>
          <p:cNvSpPr txBox="1"/>
          <p:nvPr/>
        </p:nvSpPr>
        <p:spPr>
          <a:xfrm>
            <a:off x="4572000" y="1333499"/>
            <a:ext cx="3962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Sum Types </a:t>
            </a:r>
            <a:r>
              <a:rPr lang="en-US" sz="2200" dirty="0"/>
              <a:t>hold one of several </a:t>
            </a:r>
            <a:r>
              <a:rPr lang="en-US" sz="2200" i="1" dirty="0"/>
              <a:t>choices</a:t>
            </a:r>
            <a:r>
              <a:rPr lang="en-US" sz="2200" dirty="0"/>
              <a:t> or </a:t>
            </a:r>
            <a:r>
              <a:rPr lang="en-US" sz="2200" b="1" dirty="0"/>
              <a:t>variants.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11E046-B0F2-A14F-996D-29894F0F11C9}"/>
              </a:ext>
            </a:extLst>
          </p:cNvPr>
          <p:cNvSpPr txBox="1"/>
          <p:nvPr/>
        </p:nvSpPr>
        <p:spPr>
          <a:xfrm>
            <a:off x="1108710" y="2217865"/>
            <a:ext cx="235458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Point {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x;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y;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529061-C851-EE45-ABFB-58F6311EDBC2}"/>
              </a:ext>
            </a:extLst>
          </p:cNvPr>
          <p:cNvSpPr txBox="1"/>
          <p:nvPr/>
        </p:nvSpPr>
        <p:spPr>
          <a:xfrm>
            <a:off x="723900" y="3664415"/>
            <a:ext cx="31242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Java classes are product types. each Point can hold any </a:t>
            </a:r>
            <a:r>
              <a:rPr lang="en-US" sz="2200" i="1" dirty="0"/>
              <a:t>combination</a:t>
            </a:r>
            <a:r>
              <a:rPr lang="en-US" sz="2200" dirty="0"/>
              <a:t> of two integers.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0B2193-B9D2-3047-B938-0735462E99DC}"/>
              </a:ext>
            </a:extLst>
          </p:cNvPr>
          <p:cNvSpPr txBox="1"/>
          <p:nvPr/>
        </p:nvSpPr>
        <p:spPr>
          <a:xfrm>
            <a:off x="5375910" y="2215055"/>
            <a:ext cx="235458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boolean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b;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b =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b =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2200" i="1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that's it.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1AACA6-845B-8340-80BD-A69A04B67C73}"/>
              </a:ext>
            </a:extLst>
          </p:cNvPr>
          <p:cNvSpPr txBox="1"/>
          <p:nvPr/>
        </p:nvSpPr>
        <p:spPr>
          <a:xfrm>
            <a:off x="4800600" y="3664415"/>
            <a:ext cx="35052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Java's </a:t>
            </a:r>
            <a:r>
              <a:rPr lang="en-US" sz="2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boolean</a:t>
            </a:r>
            <a:r>
              <a:rPr lang="en-US" sz="2200" dirty="0"/>
              <a:t> can </a:t>
            </a:r>
            <a:r>
              <a:rPr lang="en-US" sz="2200" b="1" dirty="0"/>
              <a:t>only</a:t>
            </a:r>
            <a:r>
              <a:rPr lang="en-US" sz="2200" dirty="0"/>
              <a:t> be one of two possibilities, but that's </a:t>
            </a:r>
            <a:r>
              <a:rPr lang="en-US" sz="2200" i="1" dirty="0"/>
              <a:t>built into the language </a:t>
            </a:r>
            <a:r>
              <a:rPr lang="en-US" sz="2200" dirty="0"/>
              <a:t>for you.</a:t>
            </a:r>
          </a:p>
        </p:txBody>
      </p:sp>
    </p:spTree>
    <p:extLst>
      <p:ext uri="{BB962C8B-B14F-4D97-AF65-F5344CB8AC3E}">
        <p14:creationId xmlns:p14="http://schemas.microsoft.com/office/powerpoint/2010/main" val="302046961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74341-B13E-A547-88E6-92B843E30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Rust's product types: Structs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F2343-503F-C248-BC9E-FC46CB4C9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609599"/>
          </a:xfrm>
        </p:spPr>
        <p:txBody>
          <a:bodyPr>
            <a:normAutofit/>
          </a:bodyPr>
          <a:lstStyle/>
          <a:p>
            <a:r>
              <a:rPr lang="en-US" b="1" dirty="0"/>
              <a:t>structs </a:t>
            </a:r>
            <a:r>
              <a:rPr lang="en-US" dirty="0"/>
              <a:t>are the main kind. </a:t>
            </a:r>
            <a:r>
              <a:rPr lang="en-US" sz="1400" dirty="0"/>
              <a:t>(there are also "tuples.")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94CA23-E682-9245-8E59-9E5819799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15703D-FFFB-B040-BA30-E8E85A8F4855}"/>
              </a:ext>
            </a:extLst>
          </p:cNvPr>
          <p:cNvSpPr txBox="1"/>
          <p:nvPr/>
        </p:nvSpPr>
        <p:spPr>
          <a:xfrm>
            <a:off x="533400" y="1007944"/>
            <a:ext cx="235458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Point {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x: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i32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y: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i32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469988-19AE-E94A-9209-ED1EB16E592B}"/>
              </a:ext>
            </a:extLst>
          </p:cNvPr>
          <p:cNvSpPr txBox="1"/>
          <p:nvPr/>
        </p:nvSpPr>
        <p:spPr>
          <a:xfrm>
            <a:off x="2971800" y="1012773"/>
            <a:ext cx="406298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they're like Java classes, but no </a:t>
            </a:r>
            <a:r>
              <a:rPr lang="en-US" sz="2200" b="1" dirty="0"/>
              <a:t>inheritance,</a:t>
            </a:r>
            <a:r>
              <a:rPr lang="en-US" sz="2200" dirty="0"/>
              <a:t> no </a:t>
            </a:r>
            <a:r>
              <a:rPr lang="en-US" sz="2200" b="1" dirty="0"/>
              <a:t>interfaces, </a:t>
            </a:r>
            <a:r>
              <a:rPr lang="en-US" sz="2200" dirty="0"/>
              <a:t>no </a:t>
            </a:r>
            <a:r>
              <a:rPr lang="en-US" sz="2200" b="1" dirty="0"/>
              <a:t>methods,</a:t>
            </a:r>
            <a:r>
              <a:rPr lang="en-US" sz="2200" dirty="0"/>
              <a:t> just </a:t>
            </a:r>
            <a:r>
              <a:rPr lang="en-US" sz="2200" b="1" dirty="0"/>
              <a:t>fields.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FEF3AF-4B39-A54F-9BCD-4917B7E80236}"/>
              </a:ext>
            </a:extLst>
          </p:cNvPr>
          <p:cNvSpPr txBox="1"/>
          <p:nvPr/>
        </p:nvSpPr>
        <p:spPr>
          <a:xfrm>
            <a:off x="533400" y="2628900"/>
            <a:ext cx="5410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 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p = Point { x: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, y: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};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10F3F8-0ED8-4644-86D6-8A34F60ED8E6}"/>
              </a:ext>
            </a:extLst>
          </p:cNvPr>
          <p:cNvSpPr txBox="1"/>
          <p:nvPr/>
        </p:nvSpPr>
        <p:spPr>
          <a:xfrm>
            <a:off x="1054608" y="3066499"/>
            <a:ext cx="71871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you construct a struct by listing the values for each field.</a:t>
            </a:r>
            <a:endParaRPr lang="en-US" sz="2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BAA88E-FE10-7E4D-B424-EECCE31A7E50}"/>
              </a:ext>
            </a:extLst>
          </p:cNvPr>
          <p:cNvSpPr txBox="1"/>
          <p:nvPr/>
        </p:nvSpPr>
        <p:spPr>
          <a:xfrm>
            <a:off x="1054608" y="4043423"/>
            <a:ext cx="71871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and you access fields with </a:t>
            </a:r>
            <a:r>
              <a:rPr lang="en-US" sz="2200" b="1" dirty="0"/>
              <a:t>. </a:t>
            </a:r>
            <a:r>
              <a:rPr lang="en-US" sz="2200" dirty="0"/>
              <a:t>just like in Java, C, etc.</a:t>
            </a:r>
            <a:endParaRPr lang="en-US" sz="22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AA81E1-E224-2D4A-BD1D-69E6F7E316A5}"/>
              </a:ext>
            </a:extLst>
          </p:cNvPr>
          <p:cNvSpPr txBox="1"/>
          <p:nvPr/>
        </p:nvSpPr>
        <p:spPr>
          <a:xfrm>
            <a:off x="533400" y="3542647"/>
            <a:ext cx="5410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!(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"{}, {}"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p.x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p.y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5231EF-9A1B-7140-9822-A2D9CE296692}"/>
              </a:ext>
            </a:extLst>
          </p:cNvPr>
          <p:cNvSpPr txBox="1"/>
          <p:nvPr/>
        </p:nvSpPr>
        <p:spPr>
          <a:xfrm>
            <a:off x="304800" y="4675045"/>
            <a:ext cx="83179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other than privacy (put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</a:t>
            </a:r>
            <a:r>
              <a:rPr lang="en-US" sz="2200" dirty="0"/>
              <a:t> on a field to make it public), </a:t>
            </a:r>
            <a:r>
              <a:rPr lang="en-US" sz="2200" i="1" dirty="0"/>
              <a:t>that's it. </a:t>
            </a:r>
            <a:endParaRPr lang="en-US" sz="2200" b="1" i="1" dirty="0"/>
          </a:p>
        </p:txBody>
      </p:sp>
    </p:spTree>
    <p:extLst>
      <p:ext uri="{BB962C8B-B14F-4D97-AF65-F5344CB8AC3E}">
        <p14:creationId xmlns:p14="http://schemas.microsoft.com/office/powerpoint/2010/main" val="22363124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3" grpId="0"/>
      <p:bldP spid="14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47D66-C371-2F4D-BAF0-FC08236DE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"Constructors" and "methods"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1026C-264E-8244-9EDB-A04A5DBF7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838199"/>
          </a:xfrm>
        </p:spPr>
        <p:txBody>
          <a:bodyPr/>
          <a:lstStyle/>
          <a:p>
            <a:r>
              <a:rPr lang="en-US" dirty="0"/>
              <a:t>Rust </a:t>
            </a:r>
            <a:r>
              <a:rPr lang="en-US" b="1" dirty="0"/>
              <a:t>does not have classes</a:t>
            </a:r>
            <a:r>
              <a:rPr lang="en-US" dirty="0"/>
              <a:t> and is </a:t>
            </a:r>
            <a:r>
              <a:rPr lang="en-US" b="1" dirty="0"/>
              <a:t>not</a:t>
            </a:r>
            <a:r>
              <a:rPr lang="en-US" dirty="0"/>
              <a:t> an OOP language.</a:t>
            </a:r>
          </a:p>
          <a:p>
            <a:r>
              <a:rPr lang="en-US" dirty="0"/>
              <a:t>but it does let us add methods to </a:t>
            </a:r>
            <a:r>
              <a:rPr lang="en-US" b="1" dirty="0"/>
              <a:t>any </a:t>
            </a:r>
            <a:r>
              <a:rPr lang="en-US" dirty="0"/>
              <a:t>type, with </a:t>
            </a:r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impl</a:t>
            </a:r>
            <a:r>
              <a:rPr lang="en-US" b="1" dirty="0"/>
              <a:t>.</a:t>
            </a:r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69C03B-2366-034D-B04D-403355CE4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9F7174-D114-4844-AB49-5C2DB83104EE}"/>
              </a:ext>
            </a:extLst>
          </p:cNvPr>
          <p:cNvSpPr txBox="1"/>
          <p:nvPr/>
        </p:nvSpPr>
        <p:spPr>
          <a:xfrm>
            <a:off x="228600" y="1333500"/>
            <a:ext cx="57912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impl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Point {</a:t>
            </a:r>
          </a:p>
          <a:p>
            <a:endParaRPr lang="en-US" sz="2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B0B938-845E-FA43-A34A-7833641158F8}"/>
              </a:ext>
            </a:extLst>
          </p:cNvPr>
          <p:cNvSpPr txBox="1"/>
          <p:nvPr/>
        </p:nvSpPr>
        <p:spPr>
          <a:xfrm>
            <a:off x="533400" y="1762691"/>
            <a:ext cx="5791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fn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new(x: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i32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, y: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i32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) -&gt; Point {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Point { x, y }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EE2608-E6B5-BE41-BDF9-6A3D4F4D3398}"/>
              </a:ext>
            </a:extLst>
          </p:cNvPr>
          <p:cNvSpPr txBox="1"/>
          <p:nvPr/>
        </p:nvSpPr>
        <p:spPr>
          <a:xfrm>
            <a:off x="533400" y="2955517"/>
            <a:ext cx="5791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fn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flip_x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) -&gt; Point {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Point { x: -</a:t>
            </a:r>
            <a:r>
              <a:rPr lang="en-US" sz="2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.x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, y: </a:t>
            </a:r>
            <a:r>
              <a:rPr lang="en-US" sz="2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.y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}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75A993-B861-1A43-A73B-E9CD5FC640F8}"/>
              </a:ext>
            </a:extLst>
          </p:cNvPr>
          <p:cNvSpPr txBox="1"/>
          <p:nvPr/>
        </p:nvSpPr>
        <p:spPr>
          <a:xfrm>
            <a:off x="5987716" y="1497072"/>
            <a:ext cx="292768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a Rust convention is to have a </a:t>
            </a:r>
            <a:r>
              <a:rPr lang="en-US" sz="2200" b="1" dirty="0"/>
              <a:t>constructor</a:t>
            </a:r>
            <a:r>
              <a:rPr lang="en-US" sz="2200" dirty="0"/>
              <a:t> function named 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sz="2200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A0559F-912A-4A47-8C91-2531A1D53FF3}"/>
              </a:ext>
            </a:extLst>
          </p:cNvPr>
          <p:cNvSpPr txBox="1"/>
          <p:nvPr/>
        </p:nvSpPr>
        <p:spPr>
          <a:xfrm>
            <a:off x="5987716" y="2851003"/>
            <a:ext cx="292768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methods </a:t>
            </a:r>
            <a:r>
              <a:rPr lang="en-US" sz="2200" dirty="0"/>
              <a:t>are made by writing 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&amp;self</a:t>
            </a:r>
            <a:r>
              <a:rPr lang="en-US" sz="2200" dirty="0"/>
              <a:t> as the first argument.</a:t>
            </a:r>
            <a:endParaRPr lang="en-US" sz="2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3F7754-A12A-F74D-9DBD-C3B77D1FFC1F}"/>
              </a:ext>
            </a:extLst>
          </p:cNvPr>
          <p:cNvSpPr txBox="1"/>
          <p:nvPr/>
        </p:nvSpPr>
        <p:spPr>
          <a:xfrm>
            <a:off x="2133600" y="4172930"/>
            <a:ext cx="4411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now we can access these as 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Point::new()</a:t>
            </a:r>
            <a:r>
              <a:rPr lang="en-US" sz="2200" dirty="0"/>
              <a:t> and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p.flip_x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514353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10" grpId="0"/>
      <p:bldP spid="12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AE504-A56C-7448-B962-DD6820DEE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side note - :: vs 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C201B-ED24-3E4C-A9AA-69B4BFF33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Java, you use </a:t>
            </a:r>
            <a:r>
              <a:rPr lang="en-US" b="1" dirty="0"/>
              <a:t>.</a:t>
            </a:r>
            <a:r>
              <a:rPr lang="en-US" dirty="0"/>
              <a:t> to access all "things inside other things".</a:t>
            </a:r>
          </a:p>
          <a:p>
            <a:pPr lvl="1"/>
            <a:r>
              <a:rPr lang="en-US" dirty="0"/>
              <a:t>e.g.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java.util.Arrays</a:t>
            </a:r>
            <a:r>
              <a:rPr lang="en-US" b="1" dirty="0"/>
              <a:t>,</a:t>
            </a:r>
            <a:r>
              <a:rPr lang="en-US" dirty="0"/>
              <a:t>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Integer.parseInt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endParaRPr lang="en-US" dirty="0"/>
          </a:p>
          <a:p>
            <a:r>
              <a:rPr lang="en-US" dirty="0"/>
              <a:t>in Rust, the </a:t>
            </a:r>
            <a:r>
              <a:rPr lang="en-US" b="1" dirty="0"/>
              <a:t>.</a:t>
            </a:r>
            <a:r>
              <a:rPr lang="en-US" dirty="0"/>
              <a:t> operator is only used </a:t>
            </a:r>
            <a:r>
              <a:rPr lang="en-US" b="1" dirty="0"/>
              <a:t>on objects.</a:t>
            </a:r>
          </a:p>
          <a:p>
            <a:pPr lvl="1"/>
            <a:r>
              <a:rPr lang="en-US" dirty="0"/>
              <a:t>when you see </a:t>
            </a:r>
            <a:r>
              <a:rPr lang="en-US" b="1" dirty="0"/>
              <a:t>.</a:t>
            </a:r>
            <a:r>
              <a:rPr lang="en-US" dirty="0"/>
              <a:t> it always means "get a field from a struct" or "call a method on some value."</a:t>
            </a:r>
          </a:p>
          <a:p>
            <a:r>
              <a:rPr lang="en-US" dirty="0"/>
              <a:t>for anything else, you use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</a:p>
          <a:p>
            <a:pPr lvl="1"/>
            <a:r>
              <a:rPr lang="en-US" dirty="0"/>
              <a:t>e.g.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cmp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::Ordering</a:t>
            </a:r>
            <a:r>
              <a:rPr lang="en-US" b="1" dirty="0"/>
              <a:t>,</a:t>
            </a:r>
            <a:r>
              <a:rPr lang="en-US" dirty="0"/>
              <a:t>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Point::new()</a:t>
            </a:r>
          </a:p>
          <a:p>
            <a:pPr lvl="1"/>
            <a:r>
              <a:rPr lang="en-US" dirty="0"/>
              <a:t>I like to think of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US" dirty="0"/>
              <a:t> as being like the (back)slashes in file paths</a:t>
            </a:r>
          </a:p>
          <a:p>
            <a:pPr lvl="2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:\Windows\system32</a:t>
            </a:r>
          </a:p>
          <a:p>
            <a:pPr lvl="2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/bin/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sh</a:t>
            </a:r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8473C0-15E6-044E-922A-C98A9216B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16396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DFC139D-9548-9740-8454-4094739142E3}"/>
              </a:ext>
            </a:extLst>
          </p:cNvPr>
          <p:cNvSpPr txBox="1"/>
          <p:nvPr/>
        </p:nvSpPr>
        <p:spPr>
          <a:xfrm>
            <a:off x="350520" y="876300"/>
            <a:ext cx="5791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impl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MyStruct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A6114B-29E6-3042-BD6E-B7D1A995D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Flavors of 'self'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984EF-9E93-BD49-8754-1668F5E44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2"/>
            <a:ext cx="8991600" cy="495300"/>
          </a:xfrm>
        </p:spPr>
        <p:txBody>
          <a:bodyPr/>
          <a:lstStyle/>
          <a:p>
            <a:r>
              <a:rPr lang="en-US" dirty="0"/>
              <a:t>inside an </a:t>
            </a:r>
            <a:r>
              <a:rPr lang="en-US" b="1" dirty="0" err="1"/>
              <a:t>impl</a:t>
            </a:r>
            <a:r>
              <a:rPr lang="en-US" dirty="0"/>
              <a:t> there are a few kinds of functions: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1ACFEF-FA64-764A-B12C-F8F2D4C94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B4BDD6-4F40-544A-BB83-ED3AF5AC3F88}"/>
              </a:ext>
            </a:extLst>
          </p:cNvPr>
          <p:cNvSpPr txBox="1"/>
          <p:nvPr/>
        </p:nvSpPr>
        <p:spPr>
          <a:xfrm>
            <a:off x="731520" y="1272229"/>
            <a:ext cx="5410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fn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new() -&gt;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MyStruct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66A193-C1C8-5747-AC9E-62D472FDA0AE}"/>
              </a:ext>
            </a:extLst>
          </p:cNvPr>
          <p:cNvSpPr txBox="1"/>
          <p:nvPr/>
        </p:nvSpPr>
        <p:spPr>
          <a:xfrm>
            <a:off x="1054608" y="1688185"/>
            <a:ext cx="75559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with </a:t>
            </a:r>
            <a:r>
              <a:rPr lang="en-US" sz="2200" b="1" dirty="0"/>
              <a:t>no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sz="2200" dirty="0"/>
              <a:t> argument, it's an </a:t>
            </a:r>
            <a:r>
              <a:rPr lang="en-US" sz="2200" b="1" dirty="0"/>
              <a:t>associated function.</a:t>
            </a:r>
            <a:r>
              <a:rPr lang="en-US" sz="2200" dirty="0"/>
              <a:t> constructors are the most common example.</a:t>
            </a:r>
            <a:endParaRPr lang="en-US" sz="2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524E36-6CCB-8945-85EF-B7CC9E7F5780}"/>
              </a:ext>
            </a:extLst>
          </p:cNvPr>
          <p:cNvSpPr txBox="1"/>
          <p:nvPr/>
        </p:nvSpPr>
        <p:spPr>
          <a:xfrm>
            <a:off x="731520" y="2510303"/>
            <a:ext cx="5410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fn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method(&amp;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7F031E-73B9-DE4F-AE1C-2A69CD062ED4}"/>
              </a:ext>
            </a:extLst>
          </p:cNvPr>
          <p:cNvSpPr txBox="1"/>
          <p:nvPr/>
        </p:nvSpPr>
        <p:spPr>
          <a:xfrm>
            <a:off x="1054608" y="2926259"/>
            <a:ext cx="75559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with a 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&amp;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sz="2200" dirty="0"/>
              <a:t>, it's a </a:t>
            </a:r>
            <a:r>
              <a:rPr lang="en-US" sz="2200" b="1" dirty="0"/>
              <a:t>method, </a:t>
            </a:r>
            <a:r>
              <a:rPr lang="en-US" sz="2200" dirty="0"/>
              <a:t>but cannot change any fields in the object it's called on.</a:t>
            </a:r>
            <a:endParaRPr lang="en-US" sz="2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320B49-BB85-C44F-A667-79FD0AB3AA12}"/>
              </a:ext>
            </a:extLst>
          </p:cNvPr>
          <p:cNvSpPr txBox="1"/>
          <p:nvPr/>
        </p:nvSpPr>
        <p:spPr>
          <a:xfrm>
            <a:off x="731520" y="3805703"/>
            <a:ext cx="5410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fn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mutator(&amp;</a:t>
            </a:r>
            <a:r>
              <a:rPr lang="en-US" sz="2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mut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self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7EF7D8-C9AE-F24B-98DD-EAC2190183D8}"/>
              </a:ext>
            </a:extLst>
          </p:cNvPr>
          <p:cNvSpPr txBox="1"/>
          <p:nvPr/>
        </p:nvSpPr>
        <p:spPr>
          <a:xfrm>
            <a:off x="1054608" y="4221659"/>
            <a:ext cx="75559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with a 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&amp;</a:t>
            </a:r>
            <a:r>
              <a:rPr lang="en-US" sz="2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mut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self</a:t>
            </a:r>
            <a:r>
              <a:rPr lang="en-US" sz="2200" dirty="0"/>
              <a:t>, it's a method that </a:t>
            </a:r>
            <a:r>
              <a:rPr lang="en-US" sz="2200" i="1" dirty="0"/>
              <a:t>can</a:t>
            </a:r>
            <a:r>
              <a:rPr lang="en-US" sz="2200" dirty="0"/>
              <a:t> change the object, but can only be called on </a:t>
            </a:r>
            <a:r>
              <a:rPr lang="en-US" sz="2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mut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/>
              <a:t>variables.</a:t>
            </a:r>
          </a:p>
        </p:txBody>
      </p:sp>
    </p:spTree>
    <p:extLst>
      <p:ext uri="{BB962C8B-B14F-4D97-AF65-F5344CB8AC3E}">
        <p14:creationId xmlns:p14="http://schemas.microsoft.com/office/powerpoint/2010/main" val="7710626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/>
      <p:bldP spid="6" grpId="0"/>
      <p:bldP spid="8" grpId="0"/>
      <p:bldP spid="9" grpId="0"/>
      <p:bldP spid="10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D4312-F575-FD4C-92B1-33CFC44F46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Sum Types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76D35DD-F0F2-9140-825A-D220088F5C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400" dirty="0"/>
              <a:t>time check: ≤ 65 min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6B427E-9C7F-2143-8541-47828FFDB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904733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7576B-E4F9-6B4B-95F5-68E0DC48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motivating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21125-21EC-9440-9D37-FE09EBFDA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508003"/>
          </a:xfrm>
        </p:spPr>
        <p:txBody>
          <a:bodyPr/>
          <a:lstStyle/>
          <a:p>
            <a:r>
              <a:rPr lang="en-US" dirty="0"/>
              <a:t>the classic Animal class hierarchy might look like this in Java: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553AD8-587E-9247-ADD3-0BE9A4E66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C53C2A-2479-0D4F-998E-291D1A3F564B}"/>
              </a:ext>
            </a:extLst>
          </p:cNvPr>
          <p:cNvSpPr txBox="1"/>
          <p:nvPr/>
        </p:nvSpPr>
        <p:spPr>
          <a:xfrm>
            <a:off x="304800" y="1104900"/>
            <a:ext cx="57912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abstract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Animal {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abstract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speak();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Cat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extends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Animal {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speak() {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"meow!"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); }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Dog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extends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Animal {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speak() {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"woof!"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); }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Camel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extends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Animal {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speak() {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ghhghhg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!"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); }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B03055-08D5-8945-BDF9-FEEF277D0B7D}"/>
              </a:ext>
            </a:extLst>
          </p:cNvPr>
          <p:cNvSpPr txBox="1"/>
          <p:nvPr/>
        </p:nvSpPr>
        <p:spPr>
          <a:xfrm>
            <a:off x="5524500" y="1104900"/>
            <a:ext cx="33147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an </a:t>
            </a:r>
            <a:r>
              <a:rPr lang="en-US" sz="2200" b="1" dirty="0"/>
              <a:t>Animal</a:t>
            </a:r>
            <a:r>
              <a:rPr lang="en-US" sz="2200" dirty="0"/>
              <a:t> variable would be able to hold an instance of any of these.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55FD39-48DD-2F41-B119-BC81FD3678B2}"/>
              </a:ext>
            </a:extLst>
          </p:cNvPr>
          <p:cNvSpPr txBox="1"/>
          <p:nvPr/>
        </p:nvSpPr>
        <p:spPr>
          <a:xfrm>
            <a:off x="5715000" y="2426857"/>
            <a:ext cx="33147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common</a:t>
            </a:r>
            <a:r>
              <a:rPr lang="en-US" sz="2200" dirty="0"/>
              <a:t> fields and methods go in </a:t>
            </a:r>
            <a:r>
              <a:rPr lang="en-US" sz="2200" b="1" dirty="0"/>
              <a:t>Animal; unique</a:t>
            </a:r>
            <a:r>
              <a:rPr lang="en-US" sz="2200" dirty="0"/>
              <a:t> things go in the subclasses.</a:t>
            </a:r>
          </a:p>
        </p:txBody>
      </p:sp>
    </p:spTree>
    <p:extLst>
      <p:ext uri="{BB962C8B-B14F-4D97-AF65-F5344CB8AC3E}">
        <p14:creationId xmlns:p14="http://schemas.microsoft.com/office/powerpoint/2010/main" val="34565463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6D97A-7F91-4543-BF03-436CBEFC7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equivalent (?) Rust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1C295-A583-C444-AAFB-5606F78FA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534731"/>
          </a:xfrm>
        </p:spPr>
        <p:txBody>
          <a:bodyPr/>
          <a:lstStyle/>
          <a:p>
            <a:r>
              <a:rPr lang="en-US" dirty="0"/>
              <a:t>when you want to have a </a:t>
            </a:r>
            <a:r>
              <a:rPr lang="en-US" b="1" dirty="0"/>
              <a:t>choice </a:t>
            </a:r>
            <a:r>
              <a:rPr lang="en-US" dirty="0"/>
              <a:t>of types, you use an </a:t>
            </a:r>
            <a:r>
              <a:rPr lang="en-US" b="1" dirty="0" err="1"/>
              <a:t>enum</a:t>
            </a:r>
            <a:r>
              <a:rPr lang="en-US" b="1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EBC735-6595-7648-B8DB-D73CCCB55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1506BF-F823-2045-9C9A-D5C9B92DC783}"/>
              </a:ext>
            </a:extLst>
          </p:cNvPr>
          <p:cNvSpPr txBox="1"/>
          <p:nvPr/>
        </p:nvSpPr>
        <p:spPr>
          <a:xfrm>
            <a:off x="304800" y="1030032"/>
            <a:ext cx="52578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enum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Animal {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Cat, Dog, Camel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sz="20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impl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Animal {</a:t>
            </a:r>
            <a:b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fn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speak(&amp;self) {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Animal::*;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match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self {</a:t>
            </a:r>
            <a:b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    Cat   =&gt;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!(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"meow!"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    Dog   =&gt;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!(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"woof!"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    Camel =&gt;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!(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ghhghhg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!"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C8DBC8-6ECD-654E-9635-86CEA31C5823}"/>
              </a:ext>
            </a:extLst>
          </p:cNvPr>
          <p:cNvSpPr txBox="1"/>
          <p:nvPr/>
        </p:nvSpPr>
        <p:spPr>
          <a:xfrm>
            <a:off x="2945892" y="1164310"/>
            <a:ext cx="49149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what's happening here is not </a:t>
            </a:r>
            <a:r>
              <a:rPr lang="en-US" sz="2200" i="1" dirty="0"/>
              <a:t>really</a:t>
            </a:r>
            <a:r>
              <a:rPr lang="en-US" sz="2200" dirty="0"/>
              <a:t> like the Java code, though.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EE8E3C-A874-864C-9A6D-E21B4CFE059C}"/>
              </a:ext>
            </a:extLst>
          </p:cNvPr>
          <p:cNvSpPr txBox="1"/>
          <p:nvPr/>
        </p:nvSpPr>
        <p:spPr>
          <a:xfrm>
            <a:off x="3512820" y="2154642"/>
            <a:ext cx="536295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it's much more like a </a:t>
            </a:r>
            <a:r>
              <a:rPr lang="en-US" sz="2200" b="1" dirty="0" err="1"/>
              <a:t>boolean</a:t>
            </a:r>
            <a:r>
              <a:rPr lang="en-US" sz="2200" b="1" dirty="0"/>
              <a:t>: </a:t>
            </a:r>
            <a:r>
              <a:rPr lang="en-US" sz="2200" dirty="0"/>
              <a:t>a </a:t>
            </a:r>
            <a:r>
              <a:rPr lang="en-US" sz="2200" b="1" dirty="0"/>
              <a:t>fixed set </a:t>
            </a:r>
            <a:r>
              <a:rPr lang="en-US" sz="2200" dirty="0"/>
              <a:t>of possible values, and an </a:t>
            </a:r>
            <a:r>
              <a:rPr lang="en-US" sz="2200" b="1" dirty="0"/>
              <a:t>Animal</a:t>
            </a:r>
            <a:r>
              <a:rPr lang="en-US" sz="2200" dirty="0"/>
              <a:t> variable can only take on those values.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195251-9C5B-184B-B1C7-ED56F206E14B}"/>
              </a:ext>
            </a:extLst>
          </p:cNvPr>
          <p:cNvSpPr txBox="1"/>
          <p:nvPr/>
        </p:nvSpPr>
        <p:spPr>
          <a:xfrm>
            <a:off x="5791200" y="3472861"/>
            <a:ext cx="32004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but unlike Java, </a:t>
            </a:r>
            <a:r>
              <a:rPr lang="en-US" sz="2200" i="1" dirty="0"/>
              <a:t>we get to define our own types like this </a:t>
            </a:r>
            <a:r>
              <a:rPr lang="en-US" sz="2200" dirty="0"/>
              <a:t>in Rust.</a:t>
            </a:r>
          </a:p>
        </p:txBody>
      </p:sp>
    </p:spTree>
    <p:extLst>
      <p:ext uri="{BB962C8B-B14F-4D97-AF65-F5344CB8AC3E}">
        <p14:creationId xmlns:p14="http://schemas.microsoft.com/office/powerpoint/2010/main" val="15319846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DD7A0-7CC9-524A-9A39-AC58498B1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0"/>
            <a:ext cx="8991600" cy="495300"/>
          </a:xfrm>
        </p:spPr>
        <p:txBody>
          <a:bodyPr/>
          <a:lstStyle/>
          <a:p>
            <a:r>
              <a:rPr lang="en-US" dirty="0"/>
              <a:t>Commonalities and differences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2CF06-830A-B047-B95F-08385DCED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838199"/>
          </a:xfrm>
        </p:spPr>
        <p:txBody>
          <a:bodyPr/>
          <a:lstStyle/>
          <a:p>
            <a:r>
              <a:rPr lang="en-US" dirty="0"/>
              <a:t>in OOP, we can reuse code/fields by putting them in the base class…</a:t>
            </a:r>
          </a:p>
          <a:p>
            <a:pPr lvl="1"/>
            <a:r>
              <a:rPr lang="en-US" dirty="0"/>
              <a:t>and we can specialize code/fields in the subclasses.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55E7E-A62A-EB46-8ACF-40B2B3758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82397C-0007-634A-83C0-DEECECD95211}"/>
              </a:ext>
            </a:extLst>
          </p:cNvPr>
          <p:cNvSpPr txBox="1"/>
          <p:nvPr/>
        </p:nvSpPr>
        <p:spPr>
          <a:xfrm>
            <a:off x="381000" y="1386839"/>
            <a:ext cx="6324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abstract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Animal {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weight;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Animal(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w) { weight = w; }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printWeight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() {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(weight); }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Cat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extends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Animal {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String pattern;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Cat(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w, String p) { 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super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(w); pattern = p;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printPattern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() {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(pattern); }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704786-18A1-B346-981D-B1B84AAC4163}"/>
              </a:ext>
            </a:extLst>
          </p:cNvPr>
          <p:cNvSpPr txBox="1"/>
          <p:nvPr/>
        </p:nvSpPr>
        <p:spPr>
          <a:xfrm>
            <a:off x="5105400" y="3086100"/>
            <a:ext cx="3810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here, </a:t>
            </a:r>
            <a:r>
              <a:rPr lang="en-US" sz="2200" b="1" dirty="0"/>
              <a:t>weight </a:t>
            </a:r>
            <a:r>
              <a:rPr lang="en-US" sz="2200" dirty="0"/>
              <a:t>is common to all </a:t>
            </a:r>
            <a:r>
              <a:rPr lang="en-US" sz="2200" b="1" dirty="0"/>
              <a:t>Animals</a:t>
            </a:r>
            <a:r>
              <a:rPr lang="en-US" sz="2200" dirty="0"/>
              <a:t>, but </a:t>
            </a:r>
            <a:r>
              <a:rPr lang="en-US" sz="2200" b="1" dirty="0"/>
              <a:t>pattern</a:t>
            </a:r>
            <a:r>
              <a:rPr lang="en-US" sz="2200" dirty="0"/>
              <a:t> is unique to </a:t>
            </a:r>
            <a:r>
              <a:rPr lang="en-US" sz="2200" b="1" dirty="0"/>
              <a:t>Cats.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2919263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CC50-FEB3-B54C-92DB-EB89E8CC2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0"/>
            <a:ext cx="9220200" cy="495300"/>
          </a:xfrm>
        </p:spPr>
        <p:txBody>
          <a:bodyPr/>
          <a:lstStyle/>
          <a:p>
            <a:r>
              <a:rPr lang="en-US" dirty="0"/>
              <a:t>When a struct and an </a:t>
            </a:r>
            <a:r>
              <a:rPr lang="en-US" dirty="0" err="1"/>
              <a:t>enum</a:t>
            </a:r>
            <a:r>
              <a:rPr lang="en-US" dirty="0"/>
              <a:t> love each other very much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8C735-3AE8-474D-80B3-31A471011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609599"/>
          </a:xfrm>
        </p:spPr>
        <p:txBody>
          <a:bodyPr/>
          <a:lstStyle/>
          <a:p>
            <a:r>
              <a:rPr lang="en-US" dirty="0"/>
              <a:t>in Rust, this can be represented with this pattern that has no name: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85ED44-FCAE-544B-B186-B56C4EF78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EFEFBC-BAC9-BA4B-BB0A-857D8EB92813}"/>
              </a:ext>
            </a:extLst>
          </p:cNvPr>
          <p:cNvSpPr txBox="1"/>
          <p:nvPr/>
        </p:nvSpPr>
        <p:spPr>
          <a:xfrm>
            <a:off x="304800" y="1028506"/>
            <a:ext cx="42672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Animal {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weight: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f32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kind:  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AnimalKind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sz="2000" b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enum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AnimalKind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Cat   { pattern: String },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Dog   { loudness: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i32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}, 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Camel {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num_humps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i32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},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AAC281-15B6-A74A-83A6-4745E54F39B5}"/>
              </a:ext>
            </a:extLst>
          </p:cNvPr>
          <p:cNvSpPr txBox="1"/>
          <p:nvPr/>
        </p:nvSpPr>
        <p:spPr>
          <a:xfrm>
            <a:off x="3581400" y="1049988"/>
            <a:ext cx="4419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common fields appear in this </a:t>
            </a:r>
            <a:r>
              <a:rPr lang="en-US" sz="2200" b="1" dirty="0"/>
              <a:t>Animal</a:t>
            </a:r>
            <a:r>
              <a:rPr lang="en-US" sz="2200" dirty="0"/>
              <a:t> struct. but it also has a </a:t>
            </a:r>
            <a:r>
              <a:rPr lang="en-US" sz="2200" b="1" dirty="0"/>
              <a:t>kind</a:t>
            </a:r>
            <a:r>
              <a:rPr lang="en-US" sz="2200" dirty="0"/>
              <a:t> field which is an </a:t>
            </a:r>
            <a:r>
              <a:rPr lang="en-US" sz="2200" dirty="0" err="1"/>
              <a:t>enum</a:t>
            </a:r>
            <a:r>
              <a:rPr lang="en-US" sz="220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F6369C-BAB9-D64D-8CE0-759F4B67F546}"/>
              </a:ext>
            </a:extLst>
          </p:cNvPr>
          <p:cNvSpPr txBox="1"/>
          <p:nvPr/>
        </p:nvSpPr>
        <p:spPr>
          <a:xfrm>
            <a:off x="4383024" y="2816209"/>
            <a:ext cx="36941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unique fields appear in the </a:t>
            </a:r>
            <a:r>
              <a:rPr lang="en-US" sz="2200" b="1" dirty="0" err="1"/>
              <a:t>enum</a:t>
            </a:r>
            <a:r>
              <a:rPr lang="en-US" sz="2200" dirty="0"/>
              <a:t> variants.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B48AA1-D6DB-9F44-A057-9BE2672B14C9}"/>
              </a:ext>
            </a:extLst>
          </p:cNvPr>
          <p:cNvSpPr txBox="1"/>
          <p:nvPr/>
        </p:nvSpPr>
        <p:spPr>
          <a:xfrm>
            <a:off x="1046988" y="4159238"/>
            <a:ext cx="72024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this pattern is going to show up </a:t>
            </a:r>
            <a:r>
              <a:rPr lang="en-US" sz="2200" i="1" dirty="0"/>
              <a:t>over and over!</a:t>
            </a:r>
            <a:endParaRPr lang="en-US" sz="2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3FEF36-53A6-AE45-B3C3-DBF689C0AFB0}"/>
              </a:ext>
            </a:extLst>
          </p:cNvPr>
          <p:cNvSpPr txBox="1"/>
          <p:nvPr/>
        </p:nvSpPr>
        <p:spPr>
          <a:xfrm>
            <a:off x="1319784" y="4613220"/>
            <a:ext cx="66568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it definitely looks different than the Java code, but the same concepts are coming into play.</a:t>
            </a:r>
          </a:p>
        </p:txBody>
      </p:sp>
    </p:spTree>
    <p:extLst>
      <p:ext uri="{BB962C8B-B14F-4D97-AF65-F5344CB8AC3E}">
        <p14:creationId xmlns:p14="http://schemas.microsoft.com/office/powerpoint/2010/main" val="31074028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835B4-227B-324B-8CD9-55628059F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Looking inside </a:t>
            </a:r>
            <a:r>
              <a:rPr lang="en-US" dirty="0" err="1"/>
              <a:t>enums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49980-2111-184E-9B5D-1E0AA7C1E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2"/>
            <a:ext cx="8991600" cy="495300"/>
          </a:xfrm>
        </p:spPr>
        <p:txBody>
          <a:bodyPr/>
          <a:lstStyle/>
          <a:p>
            <a:r>
              <a:rPr lang="en-US" dirty="0"/>
              <a:t>there are two ways to see what's inside the </a:t>
            </a:r>
            <a:r>
              <a:rPr lang="en-US" dirty="0" err="1"/>
              <a:t>enum</a:t>
            </a:r>
            <a:r>
              <a:rPr lang="en-US" dirty="0"/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5B8054-01CD-444E-9029-2D2D9B4AC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C4EC5E-170A-4441-8B7F-C55D7089EE20}"/>
              </a:ext>
            </a:extLst>
          </p:cNvPr>
          <p:cNvSpPr txBox="1"/>
          <p:nvPr/>
        </p:nvSpPr>
        <p:spPr>
          <a:xfrm>
            <a:off x="457200" y="1104900"/>
            <a:ext cx="81534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"if k is an </a:t>
            </a:r>
            <a:r>
              <a:rPr lang="en-US" sz="2200" i="1" dirty="0" err="1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AnimalKind</a:t>
            </a:r>
            <a:r>
              <a:rPr lang="en-US" sz="2200" i="1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::Cat,</a:t>
            </a:r>
          </a:p>
          <a:p>
            <a:r>
              <a:rPr lang="en-US" sz="2200" i="1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extract its data and assign it to 'pattern'."</a:t>
            </a:r>
          </a:p>
          <a:p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let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AnimalKind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::Cat { pattern } = &amp;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self.kind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!(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"cat with pattern: '{}'"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, pattern);</a:t>
            </a:r>
            <a:b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366A54-CA36-8844-AC1A-37B7993C69B6}"/>
              </a:ext>
            </a:extLst>
          </p:cNvPr>
          <p:cNvSpPr txBox="1"/>
          <p:nvPr/>
        </p:nvSpPr>
        <p:spPr>
          <a:xfrm>
            <a:off x="457200" y="3205996"/>
            <a:ext cx="76962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match &amp;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self.kind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AnimalKind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::Cat{..} =&gt;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!(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"meow!"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AnimalKind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::Dog{..} =&gt;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!(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"woof!"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_                   =&gt;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!(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"???"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8DB79D-06EC-DA41-9F54-5A56F13EA688}"/>
              </a:ext>
            </a:extLst>
          </p:cNvPr>
          <p:cNvSpPr txBox="1"/>
          <p:nvPr/>
        </p:nvSpPr>
        <p:spPr>
          <a:xfrm>
            <a:off x="3429000" y="3205996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i="1" dirty="0">
                <a:solidFill>
                  <a:srgbClr val="00B050"/>
                </a:solidFill>
              </a:rPr>
              <a:t>.. means "throw away" or "I don't care"</a:t>
            </a:r>
          </a:p>
        </p:txBody>
      </p:sp>
    </p:spTree>
    <p:extLst>
      <p:ext uri="{BB962C8B-B14F-4D97-AF65-F5344CB8AC3E}">
        <p14:creationId xmlns:p14="http://schemas.microsoft.com/office/powerpoint/2010/main" val="12061309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uiExpand="1" build="p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B33AD-A0F2-C840-A210-B47789A3C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NullPointerException</a:t>
            </a:r>
            <a:r>
              <a:rPr lang="en-US" dirty="0"/>
              <a:t>? Never heard of 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7AC36-F252-8944-9E8C-07078B860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1219199"/>
          </a:xfrm>
        </p:spPr>
        <p:txBody>
          <a:bodyPr/>
          <a:lstStyle/>
          <a:p>
            <a:r>
              <a:rPr lang="en-US" b="1" dirty="0"/>
              <a:t>there is no such thing as null in Rust! 🎉 🎉 🎉 🎉</a:t>
            </a:r>
          </a:p>
          <a:p>
            <a:r>
              <a:rPr lang="en-US" dirty="0"/>
              <a:t>well, there's something </a:t>
            </a:r>
            <a:r>
              <a:rPr lang="en-US" i="1" dirty="0"/>
              <a:t>like</a:t>
            </a:r>
            <a:r>
              <a:rPr lang="en-US" dirty="0"/>
              <a:t> it, but </a:t>
            </a:r>
            <a:r>
              <a:rPr lang="en-US" b="1" dirty="0"/>
              <a:t>it's opt-in, not forced on you.</a:t>
            </a:r>
          </a:p>
          <a:p>
            <a:r>
              <a:rPr lang="en-US" dirty="0"/>
              <a:t>it's an </a:t>
            </a:r>
            <a:r>
              <a:rPr lang="en-US" dirty="0" err="1"/>
              <a:t>enum</a:t>
            </a:r>
            <a:r>
              <a:rPr lang="en-US" dirty="0"/>
              <a:t> called </a:t>
            </a:r>
            <a:r>
              <a:rPr lang="en-US" b="1" dirty="0"/>
              <a:t>Option.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70F8A-CAFC-6E46-82BF-26273D0CF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3F6656-EC63-9F45-8F3A-E0D7784E8A46}"/>
              </a:ext>
            </a:extLst>
          </p:cNvPr>
          <p:cNvSpPr txBox="1"/>
          <p:nvPr/>
        </p:nvSpPr>
        <p:spPr>
          <a:xfrm>
            <a:off x="723900" y="1711693"/>
            <a:ext cx="76962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nullable_ints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Vec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22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Option&lt;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i32</a:t>
            </a:r>
            <a:r>
              <a:rPr lang="en-US" sz="22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&gt; =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vec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![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Some(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), Some(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45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), None, Some(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) ];</a:t>
            </a:r>
          </a:p>
          <a:p>
            <a:endParaRPr lang="en-US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i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nullable_ints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Some(v) = i {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!(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"{}"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, v); }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4D3D64-CCFF-E745-8B68-A191F0D30D04}"/>
              </a:ext>
            </a:extLst>
          </p:cNvPr>
          <p:cNvSpPr txBox="1"/>
          <p:nvPr/>
        </p:nvSpPr>
        <p:spPr>
          <a:xfrm>
            <a:off x="836072" y="3924300"/>
            <a:ext cx="74718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Option</a:t>
            </a:r>
            <a:r>
              <a:rPr lang="en-US" sz="2200" dirty="0"/>
              <a:t> is so widely used that it's built into the compiler. you don't have to write </a:t>
            </a:r>
            <a:r>
              <a:rPr lang="en-US" sz="2200" b="1" dirty="0"/>
              <a:t>Option::None</a:t>
            </a:r>
            <a:r>
              <a:rPr lang="en-US" sz="2200" dirty="0"/>
              <a:t>, for instance.</a:t>
            </a:r>
          </a:p>
        </p:txBody>
      </p:sp>
    </p:spTree>
    <p:extLst>
      <p:ext uri="{BB962C8B-B14F-4D97-AF65-F5344CB8AC3E}">
        <p14:creationId xmlns:p14="http://schemas.microsoft.com/office/powerpoint/2010/main" val="30077619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Strings and Unicode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6BBC9B-3F58-6941-97D0-7A5D3F5925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en-US" sz="1400" dirty="0">
                <a:solidFill>
                  <a:srgbClr val="FFFFFF"/>
                </a:solidFill>
              </a:rPr>
              <a:t>time check: ≤ 90 min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2214E-5433-B944-9EC2-2EADBD1B5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Soooo</a:t>
            </a:r>
            <a:r>
              <a:rPr lang="en-US" dirty="0"/>
              <a:t> easy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9A14A-F349-8541-A862-E437C03E8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914399"/>
          </a:xfrm>
        </p:spPr>
        <p:txBody>
          <a:bodyPr/>
          <a:lstStyle/>
          <a:p>
            <a:r>
              <a:rPr lang="en-US" b="1" dirty="0"/>
              <a:t>lexing </a:t>
            </a:r>
            <a:r>
              <a:rPr lang="en-US" dirty="0"/>
              <a:t>is the process of splitting the source text into </a:t>
            </a:r>
            <a:r>
              <a:rPr lang="en-US" b="1" dirty="0"/>
              <a:t>tokens.</a:t>
            </a:r>
          </a:p>
          <a:p>
            <a:r>
              <a:rPr lang="en-US" dirty="0"/>
              <a:t>that means we'll have to deal with </a:t>
            </a:r>
            <a:r>
              <a:rPr lang="en-US" b="1" dirty="0"/>
              <a:t>strings </a:t>
            </a:r>
            <a:r>
              <a:rPr lang="en-US" dirty="0"/>
              <a:t>as the input to our </a:t>
            </a:r>
            <a:r>
              <a:rPr lang="en-US" dirty="0" err="1"/>
              <a:t>lexer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12F57-0909-3A4D-A22D-809C54C6F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21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0F71E4E-D182-D649-819C-1842C5158E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0352967"/>
              </p:ext>
            </p:extLst>
          </p:nvPr>
        </p:nvGraphicFramePr>
        <p:xfrm>
          <a:off x="1104900" y="2047216"/>
          <a:ext cx="6934200" cy="1141316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693420">
                  <a:extLst>
                    <a:ext uri="{9D8B030D-6E8A-4147-A177-3AD203B41FA5}">
                      <a16:colId xmlns:a16="http://schemas.microsoft.com/office/drawing/2014/main" val="2254280591"/>
                    </a:ext>
                  </a:extLst>
                </a:gridCol>
                <a:gridCol w="693420">
                  <a:extLst>
                    <a:ext uri="{9D8B030D-6E8A-4147-A177-3AD203B41FA5}">
                      <a16:colId xmlns:a16="http://schemas.microsoft.com/office/drawing/2014/main" val="3942838798"/>
                    </a:ext>
                  </a:extLst>
                </a:gridCol>
                <a:gridCol w="693420">
                  <a:extLst>
                    <a:ext uri="{9D8B030D-6E8A-4147-A177-3AD203B41FA5}">
                      <a16:colId xmlns:a16="http://schemas.microsoft.com/office/drawing/2014/main" val="1157917479"/>
                    </a:ext>
                  </a:extLst>
                </a:gridCol>
                <a:gridCol w="693420">
                  <a:extLst>
                    <a:ext uri="{9D8B030D-6E8A-4147-A177-3AD203B41FA5}">
                      <a16:colId xmlns:a16="http://schemas.microsoft.com/office/drawing/2014/main" val="3900024971"/>
                    </a:ext>
                  </a:extLst>
                </a:gridCol>
                <a:gridCol w="693420">
                  <a:extLst>
                    <a:ext uri="{9D8B030D-6E8A-4147-A177-3AD203B41FA5}">
                      <a16:colId xmlns:a16="http://schemas.microsoft.com/office/drawing/2014/main" val="1541414160"/>
                    </a:ext>
                  </a:extLst>
                </a:gridCol>
                <a:gridCol w="693420">
                  <a:extLst>
                    <a:ext uri="{9D8B030D-6E8A-4147-A177-3AD203B41FA5}">
                      <a16:colId xmlns:a16="http://schemas.microsoft.com/office/drawing/2014/main" val="1603295819"/>
                    </a:ext>
                  </a:extLst>
                </a:gridCol>
                <a:gridCol w="693420">
                  <a:extLst>
                    <a:ext uri="{9D8B030D-6E8A-4147-A177-3AD203B41FA5}">
                      <a16:colId xmlns:a16="http://schemas.microsoft.com/office/drawing/2014/main" val="2513762032"/>
                    </a:ext>
                  </a:extLst>
                </a:gridCol>
                <a:gridCol w="693420">
                  <a:extLst>
                    <a:ext uri="{9D8B030D-6E8A-4147-A177-3AD203B41FA5}">
                      <a16:colId xmlns:a16="http://schemas.microsoft.com/office/drawing/2014/main" val="1209277931"/>
                    </a:ext>
                  </a:extLst>
                </a:gridCol>
                <a:gridCol w="693420">
                  <a:extLst>
                    <a:ext uri="{9D8B030D-6E8A-4147-A177-3AD203B41FA5}">
                      <a16:colId xmlns:a16="http://schemas.microsoft.com/office/drawing/2014/main" val="3708762169"/>
                    </a:ext>
                  </a:extLst>
                </a:gridCol>
                <a:gridCol w="693420">
                  <a:extLst>
                    <a:ext uri="{9D8B030D-6E8A-4147-A177-3AD203B41FA5}">
                      <a16:colId xmlns:a16="http://schemas.microsoft.com/office/drawing/2014/main" val="98778051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109078" marR="109078" marT="54539" marB="5453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109078" marR="109078" marT="54539" marB="5453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L="109078" marR="109078" marT="54539" marB="5453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marL="109078" marR="109078" marT="54539" marB="5453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marL="109078" marR="109078" marT="54539" marB="5453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marL="109078" marR="109078" marT="54539" marB="5453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</a:p>
                  </a:txBody>
                  <a:tcPr marL="109078" marR="109078" marT="54539" marB="5453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</a:t>
                      </a:r>
                    </a:p>
                  </a:txBody>
                  <a:tcPr marL="109078" marR="109078" marT="54539" marB="5453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</a:t>
                      </a:r>
                    </a:p>
                  </a:txBody>
                  <a:tcPr marL="109078" marR="109078" marT="54539" marB="5453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9</a:t>
                      </a:r>
                    </a:p>
                  </a:txBody>
                  <a:tcPr marL="109078" marR="109078" marT="54539" marB="54539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9440470"/>
                  </a:ext>
                </a:extLst>
              </a:tr>
              <a:tr h="665828">
                <a:tc>
                  <a:txBody>
                    <a:bodyPr/>
                    <a:lstStyle/>
                    <a:p>
                      <a:pPr algn="ctr"/>
                      <a:r>
                        <a:rPr lang="en-US" sz="33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h</a:t>
                      </a:r>
                    </a:p>
                  </a:txBody>
                  <a:tcPr marL="109078" marR="109078" marT="54539" marB="54539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3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</a:t>
                      </a:r>
                    </a:p>
                  </a:txBody>
                  <a:tcPr marL="109078" marR="109078" marT="54539" marB="54539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3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</a:t>
                      </a:r>
                    </a:p>
                  </a:txBody>
                  <a:tcPr marL="109078" marR="109078" marT="54539" marB="54539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3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</a:t>
                      </a:r>
                    </a:p>
                  </a:txBody>
                  <a:tcPr marL="109078" marR="109078" marT="54539" marB="54539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3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</a:t>
                      </a:r>
                    </a:p>
                  </a:txBody>
                  <a:tcPr marL="109078" marR="109078" marT="54539" marB="54539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3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!</a:t>
                      </a:r>
                    </a:p>
                  </a:txBody>
                  <a:tcPr marL="109078" marR="109078" marT="54539" marB="54539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3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\n</a:t>
                      </a:r>
                    </a:p>
                  </a:txBody>
                  <a:tcPr marL="109078" marR="109078" marT="54539" marB="54539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3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:</a:t>
                      </a:r>
                    </a:p>
                  </a:txBody>
                  <a:tcPr marL="109078" marR="109078" marT="54539" marB="54539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3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</a:t>
                      </a:r>
                    </a:p>
                  </a:txBody>
                  <a:tcPr marL="109078" marR="109078" marT="54539" marB="54539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3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\n</a:t>
                      </a:r>
                    </a:p>
                  </a:txBody>
                  <a:tcPr marL="109078" marR="109078" marT="54539" marB="54539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2608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AD2C7AF-3CB9-0D49-A981-E861D18B27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582349"/>
              </p:ext>
            </p:extLst>
          </p:nvPr>
        </p:nvGraphicFramePr>
        <p:xfrm>
          <a:off x="1104905" y="3224175"/>
          <a:ext cx="6934190" cy="665827"/>
        </p:xfrm>
        <a:graphic>
          <a:graphicData uri="http://schemas.openxmlformats.org/drawingml/2006/table">
            <a:tbl>
              <a:tblPr bandRow="1">
                <a:tableStyleId>{93296810-A885-4BE3-A3E7-6D5BEEA58F35}</a:tableStyleId>
              </a:tblPr>
              <a:tblGrid>
                <a:gridCol w="693419">
                  <a:extLst>
                    <a:ext uri="{9D8B030D-6E8A-4147-A177-3AD203B41FA5}">
                      <a16:colId xmlns:a16="http://schemas.microsoft.com/office/drawing/2014/main" val="2254280591"/>
                    </a:ext>
                  </a:extLst>
                </a:gridCol>
                <a:gridCol w="693419">
                  <a:extLst>
                    <a:ext uri="{9D8B030D-6E8A-4147-A177-3AD203B41FA5}">
                      <a16:colId xmlns:a16="http://schemas.microsoft.com/office/drawing/2014/main" val="3942838798"/>
                    </a:ext>
                  </a:extLst>
                </a:gridCol>
                <a:gridCol w="693419">
                  <a:extLst>
                    <a:ext uri="{9D8B030D-6E8A-4147-A177-3AD203B41FA5}">
                      <a16:colId xmlns:a16="http://schemas.microsoft.com/office/drawing/2014/main" val="1157917479"/>
                    </a:ext>
                  </a:extLst>
                </a:gridCol>
                <a:gridCol w="693419">
                  <a:extLst>
                    <a:ext uri="{9D8B030D-6E8A-4147-A177-3AD203B41FA5}">
                      <a16:colId xmlns:a16="http://schemas.microsoft.com/office/drawing/2014/main" val="3900024971"/>
                    </a:ext>
                  </a:extLst>
                </a:gridCol>
                <a:gridCol w="693419">
                  <a:extLst>
                    <a:ext uri="{9D8B030D-6E8A-4147-A177-3AD203B41FA5}">
                      <a16:colId xmlns:a16="http://schemas.microsoft.com/office/drawing/2014/main" val="1541414160"/>
                    </a:ext>
                  </a:extLst>
                </a:gridCol>
                <a:gridCol w="693419">
                  <a:extLst>
                    <a:ext uri="{9D8B030D-6E8A-4147-A177-3AD203B41FA5}">
                      <a16:colId xmlns:a16="http://schemas.microsoft.com/office/drawing/2014/main" val="1603295819"/>
                    </a:ext>
                  </a:extLst>
                </a:gridCol>
                <a:gridCol w="693419">
                  <a:extLst>
                    <a:ext uri="{9D8B030D-6E8A-4147-A177-3AD203B41FA5}">
                      <a16:colId xmlns:a16="http://schemas.microsoft.com/office/drawing/2014/main" val="2513762032"/>
                    </a:ext>
                  </a:extLst>
                </a:gridCol>
                <a:gridCol w="693419">
                  <a:extLst>
                    <a:ext uri="{9D8B030D-6E8A-4147-A177-3AD203B41FA5}">
                      <a16:colId xmlns:a16="http://schemas.microsoft.com/office/drawing/2014/main" val="1209277931"/>
                    </a:ext>
                  </a:extLst>
                </a:gridCol>
                <a:gridCol w="693419">
                  <a:extLst>
                    <a:ext uri="{9D8B030D-6E8A-4147-A177-3AD203B41FA5}">
                      <a16:colId xmlns:a16="http://schemas.microsoft.com/office/drawing/2014/main" val="3708762169"/>
                    </a:ext>
                  </a:extLst>
                </a:gridCol>
                <a:gridCol w="693419">
                  <a:extLst>
                    <a:ext uri="{9D8B030D-6E8A-4147-A177-3AD203B41FA5}">
                      <a16:colId xmlns:a16="http://schemas.microsoft.com/office/drawing/2014/main" val="987780512"/>
                    </a:ext>
                  </a:extLst>
                </a:gridCol>
              </a:tblGrid>
              <a:tr h="665827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104</a:t>
                      </a:r>
                    </a:p>
                  </a:txBody>
                  <a:tcPr marL="109078" marR="109078" marT="54539" marB="54539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101</a:t>
                      </a:r>
                    </a:p>
                  </a:txBody>
                  <a:tcPr marL="109078" marR="109078" marT="54539" marB="54539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108</a:t>
                      </a:r>
                    </a:p>
                  </a:txBody>
                  <a:tcPr marL="109078" marR="109078" marT="54539" marB="54539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108</a:t>
                      </a:r>
                    </a:p>
                  </a:txBody>
                  <a:tcPr marL="109078" marR="109078" marT="54539" marB="54539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111</a:t>
                      </a:r>
                    </a:p>
                  </a:txBody>
                  <a:tcPr marL="109078" marR="109078" marT="54539" marB="54539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33</a:t>
                      </a:r>
                    </a:p>
                  </a:txBody>
                  <a:tcPr marL="109078" marR="109078" marT="54539" marB="54539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</a:p>
                  </a:txBody>
                  <a:tcPr marL="109078" marR="109078" marT="54539" marB="54539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58</a:t>
                      </a:r>
                    </a:p>
                  </a:txBody>
                  <a:tcPr marL="109078" marR="109078" marT="54539" marB="54539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41</a:t>
                      </a:r>
                    </a:p>
                  </a:txBody>
                  <a:tcPr marL="109078" marR="109078" marT="54539" marB="54539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</a:p>
                  </a:txBody>
                  <a:tcPr marL="109078" marR="109078" marT="54539" marB="54539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26080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5F9327B-06FF-384F-9F2D-747F223E7A28}"/>
              </a:ext>
            </a:extLst>
          </p:cNvPr>
          <p:cNvSpPr txBox="1"/>
          <p:nvPr/>
        </p:nvSpPr>
        <p:spPr>
          <a:xfrm>
            <a:off x="1181095" y="1277775"/>
            <a:ext cx="67818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if you're a native English speaker, you're probably used to thinking of strings as working like this: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950A70-899F-DB43-B335-2D8F2BF195B6}"/>
              </a:ext>
            </a:extLst>
          </p:cNvPr>
          <p:cNvSpPr txBox="1"/>
          <p:nvPr/>
        </p:nvSpPr>
        <p:spPr>
          <a:xfrm>
            <a:off x="1181095" y="4052504"/>
            <a:ext cx="67818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a string is an </a:t>
            </a:r>
            <a:r>
              <a:rPr lang="en-US" sz="2200" b="1" dirty="0"/>
              <a:t>array of characters</a:t>
            </a:r>
            <a:r>
              <a:rPr lang="en-US" sz="2200" dirty="0"/>
              <a:t>, where each character is encoded as a small integer. easy, right?</a:t>
            </a:r>
          </a:p>
        </p:txBody>
      </p:sp>
    </p:spTree>
    <p:extLst>
      <p:ext uri="{BB962C8B-B14F-4D97-AF65-F5344CB8AC3E}">
        <p14:creationId xmlns:p14="http://schemas.microsoft.com/office/powerpoint/2010/main" val="15856428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F6B3F-7453-FC43-BC23-3269F5602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Those dang human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EFF95-5023-4140-91EA-DD95ADC42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2"/>
            <a:ext cx="8991600" cy="838198"/>
          </a:xfrm>
        </p:spPr>
        <p:txBody>
          <a:bodyPr/>
          <a:lstStyle/>
          <a:p>
            <a:r>
              <a:rPr lang="en-US" dirty="0"/>
              <a:t>the reality is: </a:t>
            </a:r>
            <a:r>
              <a:rPr lang="en-US" b="1" dirty="0"/>
              <a:t>it's way more complicated than that.</a:t>
            </a:r>
          </a:p>
          <a:p>
            <a:r>
              <a:rPr lang="en-US" dirty="0"/>
              <a:t>see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StringWeirdness.java</a:t>
            </a:r>
            <a:r>
              <a:rPr lang="en-US" dirty="0"/>
              <a:t> for some… string weirdness.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023D29-C273-1D4B-BAE8-9385AB124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BBA4AB-2FAC-344C-AC9C-7A4C8F856BF5}"/>
              </a:ext>
            </a:extLst>
          </p:cNvPr>
          <p:cNvSpPr txBox="1"/>
          <p:nvPr/>
        </p:nvSpPr>
        <p:spPr>
          <a:xfrm>
            <a:off x="1485900" y="1333500"/>
            <a:ext cx="63246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String s = 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22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tést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String t = 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22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tést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s.length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());  </a:t>
            </a:r>
            <a:r>
              <a:rPr lang="en-US" sz="2200" i="1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4</a:t>
            </a:r>
          </a:p>
          <a:p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s.charAt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)); </a:t>
            </a:r>
            <a:r>
              <a:rPr lang="en-US" sz="2200" i="1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US" sz="2200" i="1" dirty="0" err="1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é</a:t>
            </a:r>
            <a:endParaRPr lang="en-US" sz="2200" i="1" dirty="0">
              <a:solidFill>
                <a:schemeClr val="accent3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t.length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());  </a:t>
            </a:r>
            <a:r>
              <a:rPr lang="en-US" sz="2200" i="1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5??</a:t>
            </a:r>
          </a:p>
          <a:p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t.charAt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));</a:t>
            </a:r>
            <a:r>
              <a:rPr lang="en-US" sz="2200" b="1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i="1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e??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2D5CAC-0A5B-8542-82E1-E37544959C3B}"/>
              </a:ext>
            </a:extLst>
          </p:cNvPr>
          <p:cNvSpPr txBox="1"/>
          <p:nvPr/>
        </p:nvSpPr>
        <p:spPr>
          <a:xfrm>
            <a:off x="1181095" y="4079912"/>
            <a:ext cx="67818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welcome to the wonderful world of Unicode!!!</a:t>
            </a:r>
          </a:p>
        </p:txBody>
      </p:sp>
    </p:spTree>
    <p:extLst>
      <p:ext uri="{BB962C8B-B14F-4D97-AF65-F5344CB8AC3E}">
        <p14:creationId xmlns:p14="http://schemas.microsoft.com/office/powerpoint/2010/main" val="20957790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9CA6D-3351-7C40-976C-89D8B41D1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79B87-55C2-884A-91CB-A725E19DC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1523999"/>
          </a:xfrm>
        </p:spPr>
        <p:txBody>
          <a:bodyPr/>
          <a:lstStyle/>
          <a:p>
            <a:r>
              <a:rPr lang="en-US" b="1" dirty="0"/>
              <a:t>Unicode</a:t>
            </a:r>
            <a:r>
              <a:rPr lang="en-US" dirty="0"/>
              <a:t> is The String Encoding that the whole world* uses now.</a:t>
            </a:r>
          </a:p>
          <a:p>
            <a:r>
              <a:rPr lang="en-US" dirty="0"/>
              <a:t>it attempts to map </a:t>
            </a:r>
            <a:r>
              <a:rPr lang="en-US" i="1" dirty="0"/>
              <a:t>every written character in every human language </a:t>
            </a:r>
            <a:r>
              <a:rPr lang="en-US" dirty="0"/>
              <a:t>to a number, its </a:t>
            </a:r>
            <a:r>
              <a:rPr lang="en-US" b="1" dirty="0"/>
              <a:t>codepoint.</a:t>
            </a:r>
          </a:p>
          <a:p>
            <a:r>
              <a:rPr lang="en-US" dirty="0"/>
              <a:t>but it's more complicated than that, because human writing systems.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EDC045-97B4-2E4E-B063-FC293D2FA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9F492-7E33-1E44-9EA5-FADA67807C55}"/>
              </a:ext>
            </a:extLst>
          </p:cNvPr>
          <p:cNvSpPr txBox="1"/>
          <p:nvPr/>
        </p:nvSpPr>
        <p:spPr>
          <a:xfrm>
            <a:off x="609600" y="1866900"/>
            <a:ext cx="1219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600" b="1" dirty="0" err="1">
                <a:solidFill>
                  <a:schemeClr val="accent6">
                    <a:lumMod val="75000"/>
                  </a:schemeClr>
                </a:solidFill>
                <a:cs typeface="Consolas" panose="020B0609020204030204" pitchFamily="49" charset="0"/>
              </a:rPr>
              <a:t>é</a:t>
            </a:r>
            <a:endParaRPr lang="en-US" sz="6600" i="1" dirty="0">
              <a:solidFill>
                <a:schemeClr val="accent6">
                  <a:lumMod val="75000"/>
                </a:schemeClr>
              </a:solidFill>
              <a:cs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C1571D-8462-4543-BD1D-CF8F11B0DA8A}"/>
              </a:ext>
            </a:extLst>
          </p:cNvPr>
          <p:cNvSpPr txBox="1"/>
          <p:nvPr/>
        </p:nvSpPr>
        <p:spPr>
          <a:xfrm>
            <a:off x="609600" y="2644669"/>
            <a:ext cx="1219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600" b="1" dirty="0">
                <a:solidFill>
                  <a:schemeClr val="accent6">
                    <a:lumMod val="75000"/>
                  </a:schemeClr>
                </a:solidFill>
                <a:cs typeface="Consolas" panose="020B0609020204030204" pitchFamily="49" charset="0"/>
              </a:rPr>
              <a:t>é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6213DB-EBF0-4B4A-8E91-FADB94709F83}"/>
              </a:ext>
            </a:extLst>
          </p:cNvPr>
          <p:cNvSpPr txBox="1"/>
          <p:nvPr/>
        </p:nvSpPr>
        <p:spPr>
          <a:xfrm>
            <a:off x="1981200" y="2005399"/>
            <a:ext cx="3733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Consolas" panose="020B0609020204030204" pitchFamily="49" charset="0"/>
                <a:cs typeface="Consolas" panose="020B0609020204030204" pitchFamily="49" charset="0"/>
              </a:rPr>
              <a:t>= [</a:t>
            </a:r>
            <a:r>
              <a:rPr lang="en-US" sz="48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U+00E9</a:t>
            </a:r>
            <a:r>
              <a:rPr lang="en-US" sz="4800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endParaRPr lang="en-US" sz="4800" i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0D9480-CC6F-6D47-A225-B63E57400E49}"/>
              </a:ext>
            </a:extLst>
          </p:cNvPr>
          <p:cNvSpPr txBox="1"/>
          <p:nvPr/>
        </p:nvSpPr>
        <p:spPr>
          <a:xfrm>
            <a:off x="1981198" y="2779446"/>
            <a:ext cx="67056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Consolas" panose="020B0609020204030204" pitchFamily="49" charset="0"/>
                <a:cs typeface="Consolas" panose="020B0609020204030204" pitchFamily="49" charset="0"/>
              </a:rPr>
              <a:t>= [</a:t>
            </a:r>
            <a:r>
              <a:rPr lang="en-US" sz="48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U+0065</a:t>
            </a:r>
            <a:r>
              <a:rPr lang="en-US" sz="48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48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U+0301</a:t>
            </a:r>
            <a:r>
              <a:rPr lang="en-US" sz="4800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endParaRPr lang="en-US" sz="4800" i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508D38-C7FD-8E46-B9ED-431EA4AB2841}"/>
              </a:ext>
            </a:extLst>
          </p:cNvPr>
          <p:cNvSpPr txBox="1"/>
          <p:nvPr/>
        </p:nvSpPr>
        <p:spPr>
          <a:xfrm>
            <a:off x="3902643" y="3425904"/>
            <a:ext cx="1219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chemeClr val="accent6">
                    <a:lumMod val="75000"/>
                  </a:schemeClr>
                </a:solidFill>
                <a:cs typeface="Consolas" panose="020B0609020204030204" pitchFamily="49" charset="0"/>
              </a:rPr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958109-E137-3A4A-B3C4-A0C343FAB7A0}"/>
              </a:ext>
            </a:extLst>
          </p:cNvPr>
          <p:cNvSpPr txBox="1"/>
          <p:nvPr/>
        </p:nvSpPr>
        <p:spPr>
          <a:xfrm>
            <a:off x="4936559" y="3425904"/>
            <a:ext cx="1219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cs typeface="Consolas" panose="020B0609020204030204" pitchFamily="49" charset="0"/>
              </a:rPr>
              <a:t>+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345216D-EE55-A145-A90F-3951182BCA6F}"/>
              </a:ext>
            </a:extLst>
          </p:cNvPr>
          <p:cNvGrpSpPr/>
          <p:nvPr/>
        </p:nvGrpSpPr>
        <p:grpSpPr>
          <a:xfrm>
            <a:off x="5867400" y="3348131"/>
            <a:ext cx="1219200" cy="1107996"/>
            <a:chOff x="6172202" y="3883104"/>
            <a:chExt cx="1219200" cy="1107996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17631E7-5EAB-2C42-849C-955198CC825F}"/>
                </a:ext>
              </a:extLst>
            </p:cNvPr>
            <p:cNvSpPr txBox="1"/>
            <p:nvPr/>
          </p:nvSpPr>
          <p:spPr>
            <a:xfrm>
              <a:off x="6172202" y="3883104"/>
              <a:ext cx="121920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solidFill>
                    <a:schemeClr val="accent6">
                      <a:lumMod val="75000"/>
                    </a:schemeClr>
                  </a:solidFill>
                  <a:cs typeface="Consolas" panose="020B0609020204030204" pitchFamily="49" charset="0"/>
                </a:rPr>
                <a:t>´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B40B89D-F3FE-8642-863D-82E8DDCC15AF}"/>
                </a:ext>
              </a:extLst>
            </p:cNvPr>
            <p:cNvSpPr/>
            <p:nvPr/>
          </p:nvSpPr>
          <p:spPr>
            <a:xfrm>
              <a:off x="6553203" y="4379927"/>
              <a:ext cx="533400" cy="533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E0AA205-6260-874C-91C4-B902B9D3BF70}"/>
              </a:ext>
            </a:extLst>
          </p:cNvPr>
          <p:cNvSpPr txBox="1"/>
          <p:nvPr/>
        </p:nvSpPr>
        <p:spPr>
          <a:xfrm>
            <a:off x="4353833" y="4480054"/>
            <a:ext cx="411479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this is a </a:t>
            </a:r>
            <a:r>
              <a:rPr lang="en-US" sz="2200" b="1" dirty="0"/>
              <a:t>combining mark: </a:t>
            </a:r>
            <a:r>
              <a:rPr lang="en-US" sz="2200" dirty="0"/>
              <a:t>it </a:t>
            </a:r>
            <a:r>
              <a:rPr lang="en-US" sz="2200" b="1" dirty="0"/>
              <a:t>modifies</a:t>
            </a:r>
            <a:r>
              <a:rPr lang="en-US" sz="2200" dirty="0"/>
              <a:t> the previous glyph.</a:t>
            </a:r>
          </a:p>
        </p:txBody>
      </p:sp>
    </p:spTree>
    <p:extLst>
      <p:ext uri="{BB962C8B-B14F-4D97-AF65-F5344CB8AC3E}">
        <p14:creationId xmlns:p14="http://schemas.microsoft.com/office/powerpoint/2010/main" val="15734401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1" grpId="0"/>
      <p:bldP spid="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F5F0D-C4CB-8B48-B4DE-DB8E261BF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UTF-8? UTF-16? UTF-32? BE? 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37FF0-80C9-CE4C-BE11-98D7D1D97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1398235"/>
          </a:xfrm>
        </p:spPr>
        <p:txBody>
          <a:bodyPr/>
          <a:lstStyle/>
          <a:p>
            <a:r>
              <a:rPr lang="en-US" dirty="0"/>
              <a:t>each codepoint is </a:t>
            </a:r>
            <a:r>
              <a:rPr lang="en-US" i="1" dirty="0"/>
              <a:t>conceptually</a:t>
            </a:r>
            <a:r>
              <a:rPr lang="en-US" dirty="0"/>
              <a:t> a </a:t>
            </a:r>
            <a:r>
              <a:rPr lang="en-US" b="1" dirty="0"/>
              <a:t>21-bit number.</a:t>
            </a:r>
          </a:p>
          <a:p>
            <a:r>
              <a:rPr lang="en-US" dirty="0"/>
              <a:t>Unicode text is </a:t>
            </a:r>
            <a:r>
              <a:rPr lang="en-US" b="1" dirty="0"/>
              <a:t>encoded </a:t>
            </a:r>
            <a:r>
              <a:rPr lang="en-US" dirty="0"/>
              <a:t>into one of a few </a:t>
            </a:r>
            <a:r>
              <a:rPr lang="en-US" b="1" dirty="0"/>
              <a:t>transformation formats.</a:t>
            </a:r>
          </a:p>
          <a:p>
            <a:r>
              <a:rPr lang="en-US" dirty="0"/>
              <a:t>the encodings of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U+0074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U+00E9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U+0073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U+0074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en-US" dirty="0"/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392D7A-CB6C-3249-B5E9-C0421E298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24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D1173F6-6002-9B4C-830C-C15815BE60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3225066"/>
              </p:ext>
            </p:extLst>
          </p:nvPr>
        </p:nvGraphicFramePr>
        <p:xfrm>
          <a:off x="4038600" y="1891512"/>
          <a:ext cx="4952992" cy="306823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309562">
                  <a:extLst>
                    <a:ext uri="{9D8B030D-6E8A-4147-A177-3AD203B41FA5}">
                      <a16:colId xmlns:a16="http://schemas.microsoft.com/office/drawing/2014/main" val="2254280591"/>
                    </a:ext>
                  </a:extLst>
                </a:gridCol>
                <a:gridCol w="309562">
                  <a:extLst>
                    <a:ext uri="{9D8B030D-6E8A-4147-A177-3AD203B41FA5}">
                      <a16:colId xmlns:a16="http://schemas.microsoft.com/office/drawing/2014/main" val="3942838798"/>
                    </a:ext>
                  </a:extLst>
                </a:gridCol>
                <a:gridCol w="309562">
                  <a:extLst>
                    <a:ext uri="{9D8B030D-6E8A-4147-A177-3AD203B41FA5}">
                      <a16:colId xmlns:a16="http://schemas.microsoft.com/office/drawing/2014/main" val="1157917479"/>
                    </a:ext>
                  </a:extLst>
                </a:gridCol>
                <a:gridCol w="309562">
                  <a:extLst>
                    <a:ext uri="{9D8B030D-6E8A-4147-A177-3AD203B41FA5}">
                      <a16:colId xmlns:a16="http://schemas.microsoft.com/office/drawing/2014/main" val="3900024971"/>
                    </a:ext>
                  </a:extLst>
                </a:gridCol>
                <a:gridCol w="309562">
                  <a:extLst>
                    <a:ext uri="{9D8B030D-6E8A-4147-A177-3AD203B41FA5}">
                      <a16:colId xmlns:a16="http://schemas.microsoft.com/office/drawing/2014/main" val="1541414160"/>
                    </a:ext>
                  </a:extLst>
                </a:gridCol>
                <a:gridCol w="309562">
                  <a:extLst>
                    <a:ext uri="{9D8B030D-6E8A-4147-A177-3AD203B41FA5}">
                      <a16:colId xmlns:a16="http://schemas.microsoft.com/office/drawing/2014/main" val="1603295819"/>
                    </a:ext>
                  </a:extLst>
                </a:gridCol>
                <a:gridCol w="309562">
                  <a:extLst>
                    <a:ext uri="{9D8B030D-6E8A-4147-A177-3AD203B41FA5}">
                      <a16:colId xmlns:a16="http://schemas.microsoft.com/office/drawing/2014/main" val="2513762032"/>
                    </a:ext>
                  </a:extLst>
                </a:gridCol>
                <a:gridCol w="309562">
                  <a:extLst>
                    <a:ext uri="{9D8B030D-6E8A-4147-A177-3AD203B41FA5}">
                      <a16:colId xmlns:a16="http://schemas.microsoft.com/office/drawing/2014/main" val="1209277931"/>
                    </a:ext>
                  </a:extLst>
                </a:gridCol>
                <a:gridCol w="309562">
                  <a:extLst>
                    <a:ext uri="{9D8B030D-6E8A-4147-A177-3AD203B41FA5}">
                      <a16:colId xmlns:a16="http://schemas.microsoft.com/office/drawing/2014/main" val="3708762169"/>
                    </a:ext>
                  </a:extLst>
                </a:gridCol>
                <a:gridCol w="309562">
                  <a:extLst>
                    <a:ext uri="{9D8B030D-6E8A-4147-A177-3AD203B41FA5}">
                      <a16:colId xmlns:a16="http://schemas.microsoft.com/office/drawing/2014/main" val="987780512"/>
                    </a:ext>
                  </a:extLst>
                </a:gridCol>
                <a:gridCol w="309562">
                  <a:extLst>
                    <a:ext uri="{9D8B030D-6E8A-4147-A177-3AD203B41FA5}">
                      <a16:colId xmlns:a16="http://schemas.microsoft.com/office/drawing/2014/main" val="2430833329"/>
                    </a:ext>
                  </a:extLst>
                </a:gridCol>
                <a:gridCol w="309562">
                  <a:extLst>
                    <a:ext uri="{9D8B030D-6E8A-4147-A177-3AD203B41FA5}">
                      <a16:colId xmlns:a16="http://schemas.microsoft.com/office/drawing/2014/main" val="1909495268"/>
                    </a:ext>
                  </a:extLst>
                </a:gridCol>
                <a:gridCol w="309562">
                  <a:extLst>
                    <a:ext uri="{9D8B030D-6E8A-4147-A177-3AD203B41FA5}">
                      <a16:colId xmlns:a16="http://schemas.microsoft.com/office/drawing/2014/main" val="2108453370"/>
                    </a:ext>
                  </a:extLst>
                </a:gridCol>
                <a:gridCol w="309562">
                  <a:extLst>
                    <a:ext uri="{9D8B030D-6E8A-4147-A177-3AD203B41FA5}">
                      <a16:colId xmlns:a16="http://schemas.microsoft.com/office/drawing/2014/main" val="1000962159"/>
                    </a:ext>
                  </a:extLst>
                </a:gridCol>
                <a:gridCol w="309562">
                  <a:extLst>
                    <a:ext uri="{9D8B030D-6E8A-4147-A177-3AD203B41FA5}">
                      <a16:colId xmlns:a16="http://schemas.microsoft.com/office/drawing/2014/main" val="3348496247"/>
                    </a:ext>
                  </a:extLst>
                </a:gridCol>
                <a:gridCol w="309562">
                  <a:extLst>
                    <a:ext uri="{9D8B030D-6E8A-4147-A177-3AD203B41FA5}">
                      <a16:colId xmlns:a16="http://schemas.microsoft.com/office/drawing/2014/main" val="3571170847"/>
                    </a:ext>
                  </a:extLst>
                </a:gridCol>
              </a:tblGrid>
              <a:tr h="306823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74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e9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73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74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2608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C462AA3-1295-CE47-9782-13AC6C0E88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3015767"/>
              </p:ext>
            </p:extLst>
          </p:nvPr>
        </p:nvGraphicFramePr>
        <p:xfrm>
          <a:off x="4038600" y="2247900"/>
          <a:ext cx="4952992" cy="306823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309562">
                  <a:extLst>
                    <a:ext uri="{9D8B030D-6E8A-4147-A177-3AD203B41FA5}">
                      <a16:colId xmlns:a16="http://schemas.microsoft.com/office/drawing/2014/main" val="2254280591"/>
                    </a:ext>
                  </a:extLst>
                </a:gridCol>
                <a:gridCol w="309562">
                  <a:extLst>
                    <a:ext uri="{9D8B030D-6E8A-4147-A177-3AD203B41FA5}">
                      <a16:colId xmlns:a16="http://schemas.microsoft.com/office/drawing/2014/main" val="3942838798"/>
                    </a:ext>
                  </a:extLst>
                </a:gridCol>
                <a:gridCol w="309562">
                  <a:extLst>
                    <a:ext uri="{9D8B030D-6E8A-4147-A177-3AD203B41FA5}">
                      <a16:colId xmlns:a16="http://schemas.microsoft.com/office/drawing/2014/main" val="1157917479"/>
                    </a:ext>
                  </a:extLst>
                </a:gridCol>
                <a:gridCol w="309562">
                  <a:extLst>
                    <a:ext uri="{9D8B030D-6E8A-4147-A177-3AD203B41FA5}">
                      <a16:colId xmlns:a16="http://schemas.microsoft.com/office/drawing/2014/main" val="3900024971"/>
                    </a:ext>
                  </a:extLst>
                </a:gridCol>
                <a:gridCol w="309562">
                  <a:extLst>
                    <a:ext uri="{9D8B030D-6E8A-4147-A177-3AD203B41FA5}">
                      <a16:colId xmlns:a16="http://schemas.microsoft.com/office/drawing/2014/main" val="1541414160"/>
                    </a:ext>
                  </a:extLst>
                </a:gridCol>
                <a:gridCol w="309562">
                  <a:extLst>
                    <a:ext uri="{9D8B030D-6E8A-4147-A177-3AD203B41FA5}">
                      <a16:colId xmlns:a16="http://schemas.microsoft.com/office/drawing/2014/main" val="1603295819"/>
                    </a:ext>
                  </a:extLst>
                </a:gridCol>
                <a:gridCol w="309562">
                  <a:extLst>
                    <a:ext uri="{9D8B030D-6E8A-4147-A177-3AD203B41FA5}">
                      <a16:colId xmlns:a16="http://schemas.microsoft.com/office/drawing/2014/main" val="2513762032"/>
                    </a:ext>
                  </a:extLst>
                </a:gridCol>
                <a:gridCol w="309562">
                  <a:extLst>
                    <a:ext uri="{9D8B030D-6E8A-4147-A177-3AD203B41FA5}">
                      <a16:colId xmlns:a16="http://schemas.microsoft.com/office/drawing/2014/main" val="1209277931"/>
                    </a:ext>
                  </a:extLst>
                </a:gridCol>
                <a:gridCol w="309562">
                  <a:extLst>
                    <a:ext uri="{9D8B030D-6E8A-4147-A177-3AD203B41FA5}">
                      <a16:colId xmlns:a16="http://schemas.microsoft.com/office/drawing/2014/main" val="3708762169"/>
                    </a:ext>
                  </a:extLst>
                </a:gridCol>
                <a:gridCol w="309562">
                  <a:extLst>
                    <a:ext uri="{9D8B030D-6E8A-4147-A177-3AD203B41FA5}">
                      <a16:colId xmlns:a16="http://schemas.microsoft.com/office/drawing/2014/main" val="987780512"/>
                    </a:ext>
                  </a:extLst>
                </a:gridCol>
                <a:gridCol w="309562">
                  <a:extLst>
                    <a:ext uri="{9D8B030D-6E8A-4147-A177-3AD203B41FA5}">
                      <a16:colId xmlns:a16="http://schemas.microsoft.com/office/drawing/2014/main" val="2430833329"/>
                    </a:ext>
                  </a:extLst>
                </a:gridCol>
                <a:gridCol w="309562">
                  <a:extLst>
                    <a:ext uri="{9D8B030D-6E8A-4147-A177-3AD203B41FA5}">
                      <a16:colId xmlns:a16="http://schemas.microsoft.com/office/drawing/2014/main" val="1909495268"/>
                    </a:ext>
                  </a:extLst>
                </a:gridCol>
                <a:gridCol w="309562">
                  <a:extLst>
                    <a:ext uri="{9D8B030D-6E8A-4147-A177-3AD203B41FA5}">
                      <a16:colId xmlns:a16="http://schemas.microsoft.com/office/drawing/2014/main" val="2108453370"/>
                    </a:ext>
                  </a:extLst>
                </a:gridCol>
                <a:gridCol w="309562">
                  <a:extLst>
                    <a:ext uri="{9D8B030D-6E8A-4147-A177-3AD203B41FA5}">
                      <a16:colId xmlns:a16="http://schemas.microsoft.com/office/drawing/2014/main" val="1000962159"/>
                    </a:ext>
                  </a:extLst>
                </a:gridCol>
                <a:gridCol w="309562">
                  <a:extLst>
                    <a:ext uri="{9D8B030D-6E8A-4147-A177-3AD203B41FA5}">
                      <a16:colId xmlns:a16="http://schemas.microsoft.com/office/drawing/2014/main" val="3348496247"/>
                    </a:ext>
                  </a:extLst>
                </a:gridCol>
                <a:gridCol w="309562">
                  <a:extLst>
                    <a:ext uri="{9D8B030D-6E8A-4147-A177-3AD203B41FA5}">
                      <a16:colId xmlns:a16="http://schemas.microsoft.com/office/drawing/2014/main" val="3571170847"/>
                    </a:ext>
                  </a:extLst>
                </a:gridCol>
              </a:tblGrid>
              <a:tr h="306823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74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e9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73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74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2608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CDD2816-23EB-2546-A8BE-482DB52B60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388510"/>
              </p:ext>
            </p:extLst>
          </p:nvPr>
        </p:nvGraphicFramePr>
        <p:xfrm>
          <a:off x="5086352" y="2781300"/>
          <a:ext cx="3905248" cy="483836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488156">
                  <a:extLst>
                    <a:ext uri="{9D8B030D-6E8A-4147-A177-3AD203B41FA5}">
                      <a16:colId xmlns:a16="http://schemas.microsoft.com/office/drawing/2014/main" val="2254280591"/>
                    </a:ext>
                  </a:extLst>
                </a:gridCol>
                <a:gridCol w="488156">
                  <a:extLst>
                    <a:ext uri="{9D8B030D-6E8A-4147-A177-3AD203B41FA5}">
                      <a16:colId xmlns:a16="http://schemas.microsoft.com/office/drawing/2014/main" val="3942838798"/>
                    </a:ext>
                  </a:extLst>
                </a:gridCol>
                <a:gridCol w="488156">
                  <a:extLst>
                    <a:ext uri="{9D8B030D-6E8A-4147-A177-3AD203B41FA5}">
                      <a16:colId xmlns:a16="http://schemas.microsoft.com/office/drawing/2014/main" val="1541414160"/>
                    </a:ext>
                  </a:extLst>
                </a:gridCol>
                <a:gridCol w="488156">
                  <a:extLst>
                    <a:ext uri="{9D8B030D-6E8A-4147-A177-3AD203B41FA5}">
                      <a16:colId xmlns:a16="http://schemas.microsoft.com/office/drawing/2014/main" val="1603295819"/>
                    </a:ext>
                  </a:extLst>
                </a:gridCol>
                <a:gridCol w="488156">
                  <a:extLst>
                    <a:ext uri="{9D8B030D-6E8A-4147-A177-3AD203B41FA5}">
                      <a16:colId xmlns:a16="http://schemas.microsoft.com/office/drawing/2014/main" val="3708762169"/>
                    </a:ext>
                  </a:extLst>
                </a:gridCol>
                <a:gridCol w="488156">
                  <a:extLst>
                    <a:ext uri="{9D8B030D-6E8A-4147-A177-3AD203B41FA5}">
                      <a16:colId xmlns:a16="http://schemas.microsoft.com/office/drawing/2014/main" val="987780512"/>
                    </a:ext>
                  </a:extLst>
                </a:gridCol>
                <a:gridCol w="488156">
                  <a:extLst>
                    <a:ext uri="{9D8B030D-6E8A-4147-A177-3AD203B41FA5}">
                      <a16:colId xmlns:a16="http://schemas.microsoft.com/office/drawing/2014/main" val="2108453370"/>
                    </a:ext>
                  </a:extLst>
                </a:gridCol>
                <a:gridCol w="488156">
                  <a:extLst>
                    <a:ext uri="{9D8B030D-6E8A-4147-A177-3AD203B41FA5}">
                      <a16:colId xmlns:a16="http://schemas.microsoft.com/office/drawing/2014/main" val="1000962159"/>
                    </a:ext>
                  </a:extLst>
                </a:gridCol>
              </a:tblGrid>
              <a:tr h="483836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74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e9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73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74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2608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9744103-1A6A-074F-B78C-0E36BCA303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6300437"/>
              </p:ext>
            </p:extLst>
          </p:nvPr>
        </p:nvGraphicFramePr>
        <p:xfrm>
          <a:off x="5086352" y="3338318"/>
          <a:ext cx="3905248" cy="483836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488156">
                  <a:extLst>
                    <a:ext uri="{9D8B030D-6E8A-4147-A177-3AD203B41FA5}">
                      <a16:colId xmlns:a16="http://schemas.microsoft.com/office/drawing/2014/main" val="1157917479"/>
                    </a:ext>
                  </a:extLst>
                </a:gridCol>
                <a:gridCol w="488156">
                  <a:extLst>
                    <a:ext uri="{9D8B030D-6E8A-4147-A177-3AD203B41FA5}">
                      <a16:colId xmlns:a16="http://schemas.microsoft.com/office/drawing/2014/main" val="3900024971"/>
                    </a:ext>
                  </a:extLst>
                </a:gridCol>
                <a:gridCol w="488156">
                  <a:extLst>
                    <a:ext uri="{9D8B030D-6E8A-4147-A177-3AD203B41FA5}">
                      <a16:colId xmlns:a16="http://schemas.microsoft.com/office/drawing/2014/main" val="2513762032"/>
                    </a:ext>
                  </a:extLst>
                </a:gridCol>
                <a:gridCol w="488156">
                  <a:extLst>
                    <a:ext uri="{9D8B030D-6E8A-4147-A177-3AD203B41FA5}">
                      <a16:colId xmlns:a16="http://schemas.microsoft.com/office/drawing/2014/main" val="1209277931"/>
                    </a:ext>
                  </a:extLst>
                </a:gridCol>
                <a:gridCol w="488156">
                  <a:extLst>
                    <a:ext uri="{9D8B030D-6E8A-4147-A177-3AD203B41FA5}">
                      <a16:colId xmlns:a16="http://schemas.microsoft.com/office/drawing/2014/main" val="2430833329"/>
                    </a:ext>
                  </a:extLst>
                </a:gridCol>
                <a:gridCol w="488156">
                  <a:extLst>
                    <a:ext uri="{9D8B030D-6E8A-4147-A177-3AD203B41FA5}">
                      <a16:colId xmlns:a16="http://schemas.microsoft.com/office/drawing/2014/main" val="1909495268"/>
                    </a:ext>
                  </a:extLst>
                </a:gridCol>
                <a:gridCol w="488156">
                  <a:extLst>
                    <a:ext uri="{9D8B030D-6E8A-4147-A177-3AD203B41FA5}">
                      <a16:colId xmlns:a16="http://schemas.microsoft.com/office/drawing/2014/main" val="3348496247"/>
                    </a:ext>
                  </a:extLst>
                </a:gridCol>
                <a:gridCol w="488156">
                  <a:extLst>
                    <a:ext uri="{9D8B030D-6E8A-4147-A177-3AD203B41FA5}">
                      <a16:colId xmlns:a16="http://schemas.microsoft.com/office/drawing/2014/main" val="3571170847"/>
                    </a:ext>
                  </a:extLst>
                </a:gridCol>
              </a:tblGrid>
              <a:tr h="483836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74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e9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73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74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2608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CD45828-9C79-CA4E-BADF-2B75B71381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135067"/>
              </p:ext>
            </p:extLst>
          </p:nvPr>
        </p:nvGraphicFramePr>
        <p:xfrm>
          <a:off x="5147577" y="4001559"/>
          <a:ext cx="3844015" cy="761999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768803">
                  <a:extLst>
                    <a:ext uri="{9D8B030D-6E8A-4147-A177-3AD203B41FA5}">
                      <a16:colId xmlns:a16="http://schemas.microsoft.com/office/drawing/2014/main" val="1157917479"/>
                    </a:ext>
                  </a:extLst>
                </a:gridCol>
                <a:gridCol w="768803">
                  <a:extLst>
                    <a:ext uri="{9D8B030D-6E8A-4147-A177-3AD203B41FA5}">
                      <a16:colId xmlns:a16="http://schemas.microsoft.com/office/drawing/2014/main" val="3900024971"/>
                    </a:ext>
                  </a:extLst>
                </a:gridCol>
                <a:gridCol w="768803">
                  <a:extLst>
                    <a:ext uri="{9D8B030D-6E8A-4147-A177-3AD203B41FA5}">
                      <a16:colId xmlns:a16="http://schemas.microsoft.com/office/drawing/2014/main" val="2513762032"/>
                    </a:ext>
                  </a:extLst>
                </a:gridCol>
                <a:gridCol w="768803">
                  <a:extLst>
                    <a:ext uri="{9D8B030D-6E8A-4147-A177-3AD203B41FA5}">
                      <a16:colId xmlns:a16="http://schemas.microsoft.com/office/drawing/2014/main" val="1209277931"/>
                    </a:ext>
                  </a:extLst>
                </a:gridCol>
                <a:gridCol w="768803">
                  <a:extLst>
                    <a:ext uri="{9D8B030D-6E8A-4147-A177-3AD203B41FA5}">
                      <a16:colId xmlns:a16="http://schemas.microsoft.com/office/drawing/2014/main" val="2430833329"/>
                    </a:ext>
                  </a:extLst>
                </a:gridCol>
              </a:tblGrid>
              <a:tr h="761999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74</a:t>
                      </a:r>
                    </a:p>
                  </a:txBody>
                  <a:tcPr marL="0" marR="0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c3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a9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73</a:t>
                      </a:r>
                    </a:p>
                  </a:txBody>
                  <a:tcPr marL="0" marR="0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74</a:t>
                      </a:r>
                    </a:p>
                  </a:txBody>
                  <a:tcPr marL="0" marR="0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26080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8870BA3-1B5F-B94D-8351-B60AC1F869B3}"/>
              </a:ext>
            </a:extLst>
          </p:cNvPr>
          <p:cNvSpPr txBox="1"/>
          <p:nvPr/>
        </p:nvSpPr>
        <p:spPr>
          <a:xfrm>
            <a:off x="228600" y="1604998"/>
            <a:ext cx="32004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200" b="1" dirty="0"/>
              <a:t>UTF-32:</a:t>
            </a:r>
            <a:r>
              <a:rPr lang="en-US" sz="2200" dirty="0"/>
              <a:t> each codepoint is a </a:t>
            </a:r>
            <a:r>
              <a:rPr lang="en-US" sz="2200" b="1" dirty="0"/>
              <a:t>32-bit int.</a:t>
            </a:r>
            <a:r>
              <a:rPr lang="en-US" sz="2200" dirty="0"/>
              <a:t> simple, but wastes space.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228AAE-3860-8F4C-86A5-8C3A8A1F9AED}"/>
              </a:ext>
            </a:extLst>
          </p:cNvPr>
          <p:cNvSpPr txBox="1"/>
          <p:nvPr/>
        </p:nvSpPr>
        <p:spPr>
          <a:xfrm>
            <a:off x="3546909" y="1856973"/>
            <a:ext cx="491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LE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EF961D-66DF-484F-A0B5-850F5B79B415}"/>
              </a:ext>
            </a:extLst>
          </p:cNvPr>
          <p:cNvSpPr txBox="1"/>
          <p:nvPr/>
        </p:nvSpPr>
        <p:spPr>
          <a:xfrm>
            <a:off x="3546909" y="2216645"/>
            <a:ext cx="491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BE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00EA0B-45B8-3C47-8F54-FF81731F2186}"/>
              </a:ext>
            </a:extLst>
          </p:cNvPr>
          <p:cNvSpPr txBox="1"/>
          <p:nvPr/>
        </p:nvSpPr>
        <p:spPr>
          <a:xfrm>
            <a:off x="4594661" y="2838552"/>
            <a:ext cx="491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LE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F5D881-558D-C642-9F81-970DA53FBC17}"/>
              </a:ext>
            </a:extLst>
          </p:cNvPr>
          <p:cNvSpPr txBox="1"/>
          <p:nvPr/>
        </p:nvSpPr>
        <p:spPr>
          <a:xfrm>
            <a:off x="4594661" y="3392185"/>
            <a:ext cx="491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BE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3174B3-0F5B-984D-A81A-0EDD4F9C8BC1}"/>
              </a:ext>
            </a:extLst>
          </p:cNvPr>
          <p:cNvSpPr txBox="1"/>
          <p:nvPr/>
        </p:nvSpPr>
        <p:spPr>
          <a:xfrm>
            <a:off x="-76200" y="2781300"/>
            <a:ext cx="42728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200" b="1" dirty="0"/>
              <a:t>UTF-16:</a:t>
            </a:r>
            <a:r>
              <a:rPr lang="en-US" sz="2200" dirty="0"/>
              <a:t> each is a 16-bit int… </a:t>
            </a:r>
            <a:r>
              <a:rPr lang="en-US" sz="2200" b="1" dirty="0"/>
              <a:t>unless</a:t>
            </a:r>
            <a:r>
              <a:rPr lang="en-US" sz="2200" dirty="0"/>
              <a:t> it's in a certain range, in which case it's </a:t>
            </a:r>
            <a:r>
              <a:rPr lang="en-US" sz="2200" i="1" dirty="0"/>
              <a:t>two</a:t>
            </a:r>
            <a:r>
              <a:rPr lang="en-US" sz="2200" dirty="0"/>
              <a:t> 16-bit </a:t>
            </a:r>
            <a:r>
              <a:rPr lang="en-US" sz="2200" dirty="0" err="1"/>
              <a:t>ints</a:t>
            </a:r>
            <a:r>
              <a:rPr lang="en-US" sz="2200" dirty="0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E2EF3E-E2E3-1146-A7E8-33B35E125B5A}"/>
              </a:ext>
            </a:extLst>
          </p:cNvPr>
          <p:cNvSpPr txBox="1"/>
          <p:nvPr/>
        </p:nvSpPr>
        <p:spPr>
          <a:xfrm>
            <a:off x="152400" y="3980963"/>
            <a:ext cx="46506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200" b="1" dirty="0"/>
              <a:t>UTF-8:</a:t>
            </a:r>
            <a:r>
              <a:rPr lang="en-US" sz="2200" dirty="0"/>
              <a:t> ASCII characters are </a:t>
            </a:r>
            <a:r>
              <a:rPr lang="en-US" sz="2200" b="1" dirty="0"/>
              <a:t>1 byte</a:t>
            </a:r>
            <a:r>
              <a:rPr lang="en-US" sz="2200" dirty="0"/>
              <a:t>; all others are 2, 3, or 4 bytes long.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30C077-C3D8-A041-AD49-B14B4F69661B}"/>
              </a:ext>
            </a:extLst>
          </p:cNvPr>
          <p:cNvSpPr txBox="1"/>
          <p:nvPr/>
        </p:nvSpPr>
        <p:spPr>
          <a:xfrm>
            <a:off x="1447800" y="4894043"/>
            <a:ext cx="6096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UTF-8 </a:t>
            </a:r>
            <a:r>
              <a:rPr lang="en-US" sz="2200" dirty="0"/>
              <a:t>has become the dominant encoding. </a:t>
            </a:r>
          </a:p>
        </p:txBody>
      </p:sp>
    </p:spTree>
    <p:extLst>
      <p:ext uri="{BB962C8B-B14F-4D97-AF65-F5344CB8AC3E}">
        <p14:creationId xmlns:p14="http://schemas.microsoft.com/office/powerpoint/2010/main" val="970662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F5F0D-C4CB-8B48-B4DE-DB8E261BF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Such sights to show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37FF0-80C9-CE4C-BE11-98D7D1D97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1142999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Rust uses UTF-8 strings</a:t>
            </a:r>
            <a:r>
              <a:rPr lang="en-US" dirty="0"/>
              <a:t> (and so do many other languages).</a:t>
            </a:r>
          </a:p>
          <a:p>
            <a:r>
              <a:rPr lang="en-US" dirty="0"/>
              <a:t>Unicode and UTF-8 mean you have to </a:t>
            </a:r>
            <a:r>
              <a:rPr lang="en-US" b="1" dirty="0"/>
              <a:t>abandon many of your assumptions about how strings work.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392D7A-CB6C-3249-B5E9-C0421E298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25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F81B8E1-00C4-D44B-8B68-066B0A0009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5848260"/>
              </p:ext>
            </p:extLst>
          </p:nvPr>
        </p:nvGraphicFramePr>
        <p:xfrm>
          <a:off x="2573792" y="2156137"/>
          <a:ext cx="5427208" cy="668184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678401">
                  <a:extLst>
                    <a:ext uri="{9D8B030D-6E8A-4147-A177-3AD203B41FA5}">
                      <a16:colId xmlns:a16="http://schemas.microsoft.com/office/drawing/2014/main" val="1157917479"/>
                    </a:ext>
                  </a:extLst>
                </a:gridCol>
                <a:gridCol w="678401">
                  <a:extLst>
                    <a:ext uri="{9D8B030D-6E8A-4147-A177-3AD203B41FA5}">
                      <a16:colId xmlns:a16="http://schemas.microsoft.com/office/drawing/2014/main" val="3900024971"/>
                    </a:ext>
                  </a:extLst>
                </a:gridCol>
                <a:gridCol w="678401">
                  <a:extLst>
                    <a:ext uri="{9D8B030D-6E8A-4147-A177-3AD203B41FA5}">
                      <a16:colId xmlns:a16="http://schemas.microsoft.com/office/drawing/2014/main" val="2513762032"/>
                    </a:ext>
                  </a:extLst>
                </a:gridCol>
                <a:gridCol w="678401">
                  <a:extLst>
                    <a:ext uri="{9D8B030D-6E8A-4147-A177-3AD203B41FA5}">
                      <a16:colId xmlns:a16="http://schemas.microsoft.com/office/drawing/2014/main" val="1373029552"/>
                    </a:ext>
                  </a:extLst>
                </a:gridCol>
                <a:gridCol w="678401">
                  <a:extLst>
                    <a:ext uri="{9D8B030D-6E8A-4147-A177-3AD203B41FA5}">
                      <a16:colId xmlns:a16="http://schemas.microsoft.com/office/drawing/2014/main" val="2234045918"/>
                    </a:ext>
                  </a:extLst>
                </a:gridCol>
                <a:gridCol w="678401">
                  <a:extLst>
                    <a:ext uri="{9D8B030D-6E8A-4147-A177-3AD203B41FA5}">
                      <a16:colId xmlns:a16="http://schemas.microsoft.com/office/drawing/2014/main" val="3424552594"/>
                    </a:ext>
                  </a:extLst>
                </a:gridCol>
                <a:gridCol w="678401">
                  <a:extLst>
                    <a:ext uri="{9D8B030D-6E8A-4147-A177-3AD203B41FA5}">
                      <a16:colId xmlns:a16="http://schemas.microsoft.com/office/drawing/2014/main" val="1209277931"/>
                    </a:ext>
                  </a:extLst>
                </a:gridCol>
                <a:gridCol w="678401">
                  <a:extLst>
                    <a:ext uri="{9D8B030D-6E8A-4147-A177-3AD203B41FA5}">
                      <a16:colId xmlns:a16="http://schemas.microsoft.com/office/drawing/2014/main" val="2430833329"/>
                    </a:ext>
                  </a:extLst>
                </a:gridCol>
              </a:tblGrid>
              <a:tr h="668184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74</a:t>
                      </a:r>
                    </a:p>
                  </a:txBody>
                  <a:tcPr marL="0" marR="0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e3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81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82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cc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8a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73</a:t>
                      </a:r>
                    </a:p>
                  </a:txBody>
                  <a:tcPr marL="0" marR="0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74</a:t>
                      </a:r>
                    </a:p>
                  </a:txBody>
                  <a:tcPr marL="0" marR="0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26080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A681968-44CF-8841-9D2B-836B141EE4B9}"/>
              </a:ext>
            </a:extLst>
          </p:cNvPr>
          <p:cNvSpPr txBox="1"/>
          <p:nvPr/>
        </p:nvSpPr>
        <p:spPr>
          <a:xfrm>
            <a:off x="381000" y="2054670"/>
            <a:ext cx="20403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cs typeface="Consolas" panose="020B0609020204030204" pitchFamily="49" charset="0"/>
              </a:rPr>
              <a:t>t</a:t>
            </a:r>
            <a:r>
              <a:rPr lang="ja-JP" altLang="en-US" sz="5400" b="1">
                <a:cs typeface="Consolas" panose="020B0609020204030204" pitchFamily="49" charset="0"/>
              </a:rPr>
              <a:t>あ̊</a:t>
            </a:r>
            <a:r>
              <a:rPr lang="en-US" sz="5400" b="1" dirty="0" err="1">
                <a:cs typeface="Consolas" panose="020B0609020204030204" pitchFamily="49" charset="0"/>
              </a:rPr>
              <a:t>st</a:t>
            </a:r>
            <a:endParaRPr lang="en-US" sz="5400" i="1" dirty="0">
              <a:cs typeface="Consolas" panose="020B0609020204030204" pitchFamily="49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701AEFF-A082-D040-94F5-3A31B9DE4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998698"/>
              </p:ext>
            </p:extLst>
          </p:nvPr>
        </p:nvGraphicFramePr>
        <p:xfrm>
          <a:off x="2573792" y="2820030"/>
          <a:ext cx="6722608" cy="48768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687690">
                  <a:extLst>
                    <a:ext uri="{9D8B030D-6E8A-4147-A177-3AD203B41FA5}">
                      <a16:colId xmlns:a16="http://schemas.microsoft.com/office/drawing/2014/main" val="1157917479"/>
                    </a:ext>
                  </a:extLst>
                </a:gridCol>
                <a:gridCol w="687690">
                  <a:extLst>
                    <a:ext uri="{9D8B030D-6E8A-4147-A177-3AD203B41FA5}">
                      <a16:colId xmlns:a16="http://schemas.microsoft.com/office/drawing/2014/main" val="3900024971"/>
                    </a:ext>
                  </a:extLst>
                </a:gridCol>
                <a:gridCol w="687690">
                  <a:extLst>
                    <a:ext uri="{9D8B030D-6E8A-4147-A177-3AD203B41FA5}">
                      <a16:colId xmlns:a16="http://schemas.microsoft.com/office/drawing/2014/main" val="2513762032"/>
                    </a:ext>
                  </a:extLst>
                </a:gridCol>
                <a:gridCol w="687690">
                  <a:extLst>
                    <a:ext uri="{9D8B030D-6E8A-4147-A177-3AD203B41FA5}">
                      <a16:colId xmlns:a16="http://schemas.microsoft.com/office/drawing/2014/main" val="1373029552"/>
                    </a:ext>
                  </a:extLst>
                </a:gridCol>
                <a:gridCol w="687690">
                  <a:extLst>
                    <a:ext uri="{9D8B030D-6E8A-4147-A177-3AD203B41FA5}">
                      <a16:colId xmlns:a16="http://schemas.microsoft.com/office/drawing/2014/main" val="2234045918"/>
                    </a:ext>
                  </a:extLst>
                </a:gridCol>
                <a:gridCol w="687690">
                  <a:extLst>
                    <a:ext uri="{9D8B030D-6E8A-4147-A177-3AD203B41FA5}">
                      <a16:colId xmlns:a16="http://schemas.microsoft.com/office/drawing/2014/main" val="3424552594"/>
                    </a:ext>
                  </a:extLst>
                </a:gridCol>
                <a:gridCol w="687690">
                  <a:extLst>
                    <a:ext uri="{9D8B030D-6E8A-4147-A177-3AD203B41FA5}">
                      <a16:colId xmlns:a16="http://schemas.microsoft.com/office/drawing/2014/main" val="1209277931"/>
                    </a:ext>
                  </a:extLst>
                </a:gridCol>
                <a:gridCol w="687690">
                  <a:extLst>
                    <a:ext uri="{9D8B030D-6E8A-4147-A177-3AD203B41FA5}">
                      <a16:colId xmlns:a16="http://schemas.microsoft.com/office/drawing/2014/main" val="2430833329"/>
                    </a:ext>
                  </a:extLst>
                </a:gridCol>
                <a:gridCol w="1221088">
                  <a:extLst>
                    <a:ext uri="{9D8B030D-6E8A-4147-A177-3AD203B41FA5}">
                      <a16:colId xmlns:a16="http://schemas.microsoft.com/office/drawing/2014/main" val="3661475203"/>
                    </a:ext>
                  </a:extLst>
                </a:gridCol>
              </a:tblGrid>
              <a:tr h="481093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len</a:t>
                      </a:r>
                      <a:r>
                        <a:rPr lang="en-US" sz="24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=8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52608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8077EF1-0D1D-5541-9026-75844E6692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2161293"/>
              </p:ext>
            </p:extLst>
          </p:nvPr>
        </p:nvGraphicFramePr>
        <p:xfrm>
          <a:off x="2573792" y="3324554"/>
          <a:ext cx="6722608" cy="48768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687690">
                  <a:extLst>
                    <a:ext uri="{9D8B030D-6E8A-4147-A177-3AD203B41FA5}">
                      <a16:colId xmlns:a16="http://schemas.microsoft.com/office/drawing/2014/main" val="1157917479"/>
                    </a:ext>
                  </a:extLst>
                </a:gridCol>
                <a:gridCol w="687690">
                  <a:extLst>
                    <a:ext uri="{9D8B030D-6E8A-4147-A177-3AD203B41FA5}">
                      <a16:colId xmlns:a16="http://schemas.microsoft.com/office/drawing/2014/main" val="3900024971"/>
                    </a:ext>
                  </a:extLst>
                </a:gridCol>
                <a:gridCol w="687690">
                  <a:extLst>
                    <a:ext uri="{9D8B030D-6E8A-4147-A177-3AD203B41FA5}">
                      <a16:colId xmlns:a16="http://schemas.microsoft.com/office/drawing/2014/main" val="2513762032"/>
                    </a:ext>
                  </a:extLst>
                </a:gridCol>
                <a:gridCol w="687690">
                  <a:extLst>
                    <a:ext uri="{9D8B030D-6E8A-4147-A177-3AD203B41FA5}">
                      <a16:colId xmlns:a16="http://schemas.microsoft.com/office/drawing/2014/main" val="1373029552"/>
                    </a:ext>
                  </a:extLst>
                </a:gridCol>
                <a:gridCol w="687690">
                  <a:extLst>
                    <a:ext uri="{9D8B030D-6E8A-4147-A177-3AD203B41FA5}">
                      <a16:colId xmlns:a16="http://schemas.microsoft.com/office/drawing/2014/main" val="2234045918"/>
                    </a:ext>
                  </a:extLst>
                </a:gridCol>
                <a:gridCol w="687690">
                  <a:extLst>
                    <a:ext uri="{9D8B030D-6E8A-4147-A177-3AD203B41FA5}">
                      <a16:colId xmlns:a16="http://schemas.microsoft.com/office/drawing/2014/main" val="3424552594"/>
                    </a:ext>
                  </a:extLst>
                </a:gridCol>
                <a:gridCol w="687690">
                  <a:extLst>
                    <a:ext uri="{9D8B030D-6E8A-4147-A177-3AD203B41FA5}">
                      <a16:colId xmlns:a16="http://schemas.microsoft.com/office/drawing/2014/main" val="1209277931"/>
                    </a:ext>
                  </a:extLst>
                </a:gridCol>
                <a:gridCol w="687690">
                  <a:extLst>
                    <a:ext uri="{9D8B030D-6E8A-4147-A177-3AD203B41FA5}">
                      <a16:colId xmlns:a16="http://schemas.microsoft.com/office/drawing/2014/main" val="2430833329"/>
                    </a:ext>
                  </a:extLst>
                </a:gridCol>
                <a:gridCol w="1221088">
                  <a:extLst>
                    <a:ext uri="{9D8B030D-6E8A-4147-A177-3AD203B41FA5}">
                      <a16:colId xmlns:a16="http://schemas.microsoft.com/office/drawing/2014/main" val="2147739916"/>
                    </a:ext>
                  </a:extLst>
                </a:gridCol>
              </a:tblGrid>
              <a:tr h="481093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i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i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i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len</a:t>
                      </a:r>
                      <a:r>
                        <a:rPr lang="en-US" sz="24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=5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52608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F6DC717-EEDC-D74B-90BD-0F57DF07C7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2576186"/>
              </p:ext>
            </p:extLst>
          </p:nvPr>
        </p:nvGraphicFramePr>
        <p:xfrm>
          <a:off x="2573792" y="3829078"/>
          <a:ext cx="6722608" cy="48768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687690">
                  <a:extLst>
                    <a:ext uri="{9D8B030D-6E8A-4147-A177-3AD203B41FA5}">
                      <a16:colId xmlns:a16="http://schemas.microsoft.com/office/drawing/2014/main" val="1157917479"/>
                    </a:ext>
                  </a:extLst>
                </a:gridCol>
                <a:gridCol w="687690">
                  <a:extLst>
                    <a:ext uri="{9D8B030D-6E8A-4147-A177-3AD203B41FA5}">
                      <a16:colId xmlns:a16="http://schemas.microsoft.com/office/drawing/2014/main" val="3900024971"/>
                    </a:ext>
                  </a:extLst>
                </a:gridCol>
                <a:gridCol w="687690">
                  <a:extLst>
                    <a:ext uri="{9D8B030D-6E8A-4147-A177-3AD203B41FA5}">
                      <a16:colId xmlns:a16="http://schemas.microsoft.com/office/drawing/2014/main" val="2513762032"/>
                    </a:ext>
                  </a:extLst>
                </a:gridCol>
                <a:gridCol w="687690">
                  <a:extLst>
                    <a:ext uri="{9D8B030D-6E8A-4147-A177-3AD203B41FA5}">
                      <a16:colId xmlns:a16="http://schemas.microsoft.com/office/drawing/2014/main" val="1373029552"/>
                    </a:ext>
                  </a:extLst>
                </a:gridCol>
                <a:gridCol w="687690">
                  <a:extLst>
                    <a:ext uri="{9D8B030D-6E8A-4147-A177-3AD203B41FA5}">
                      <a16:colId xmlns:a16="http://schemas.microsoft.com/office/drawing/2014/main" val="2234045918"/>
                    </a:ext>
                  </a:extLst>
                </a:gridCol>
                <a:gridCol w="687690">
                  <a:extLst>
                    <a:ext uri="{9D8B030D-6E8A-4147-A177-3AD203B41FA5}">
                      <a16:colId xmlns:a16="http://schemas.microsoft.com/office/drawing/2014/main" val="3424552594"/>
                    </a:ext>
                  </a:extLst>
                </a:gridCol>
                <a:gridCol w="687690">
                  <a:extLst>
                    <a:ext uri="{9D8B030D-6E8A-4147-A177-3AD203B41FA5}">
                      <a16:colId xmlns:a16="http://schemas.microsoft.com/office/drawing/2014/main" val="1209277931"/>
                    </a:ext>
                  </a:extLst>
                </a:gridCol>
                <a:gridCol w="687690">
                  <a:extLst>
                    <a:ext uri="{9D8B030D-6E8A-4147-A177-3AD203B41FA5}">
                      <a16:colId xmlns:a16="http://schemas.microsoft.com/office/drawing/2014/main" val="2430833329"/>
                    </a:ext>
                  </a:extLst>
                </a:gridCol>
                <a:gridCol w="1221088">
                  <a:extLst>
                    <a:ext uri="{9D8B030D-6E8A-4147-A177-3AD203B41FA5}">
                      <a16:colId xmlns:a16="http://schemas.microsoft.com/office/drawing/2014/main" val="1019993459"/>
                    </a:ext>
                  </a:extLst>
                </a:gridCol>
              </a:tblGrid>
              <a:tr h="481093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i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i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i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i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len</a:t>
                      </a:r>
                      <a:r>
                        <a:rPr lang="en-US" sz="24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=4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526080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B0CC867-BFE8-AD48-A1AE-2F4D7460FF83}"/>
              </a:ext>
            </a:extLst>
          </p:cNvPr>
          <p:cNvSpPr txBox="1"/>
          <p:nvPr/>
        </p:nvSpPr>
        <p:spPr>
          <a:xfrm>
            <a:off x="1397988" y="1638300"/>
            <a:ext cx="67818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what is this string's </a:t>
            </a:r>
            <a:r>
              <a:rPr lang="en-US" sz="2200" b="1" dirty="0"/>
              <a:t>length?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A3C219-6D72-C743-A954-E1BCE69DF3EB}"/>
              </a:ext>
            </a:extLst>
          </p:cNvPr>
          <p:cNvSpPr txBox="1"/>
          <p:nvPr/>
        </p:nvSpPr>
        <p:spPr>
          <a:xfrm>
            <a:off x="381000" y="2850572"/>
            <a:ext cx="21927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200" dirty="0"/>
              <a:t>in bytes?</a:t>
            </a:r>
            <a:endParaRPr lang="en-US" sz="22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E59111-151C-4B4F-9EDC-B618D49A6043}"/>
              </a:ext>
            </a:extLst>
          </p:cNvPr>
          <p:cNvSpPr txBox="1"/>
          <p:nvPr/>
        </p:nvSpPr>
        <p:spPr>
          <a:xfrm>
            <a:off x="381000" y="3352704"/>
            <a:ext cx="21927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200" dirty="0"/>
              <a:t>in codepoints?</a:t>
            </a:r>
            <a:endParaRPr lang="en-US" sz="2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8BA0F0-B152-4D40-BF9D-C32D80E28592}"/>
              </a:ext>
            </a:extLst>
          </p:cNvPr>
          <p:cNvSpPr txBox="1"/>
          <p:nvPr/>
        </p:nvSpPr>
        <p:spPr>
          <a:xfrm>
            <a:off x="533400" y="3754553"/>
            <a:ext cx="20403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200" dirty="0"/>
              <a:t>in </a:t>
            </a:r>
            <a:r>
              <a:rPr lang="en-US" sz="2200" i="1" dirty="0"/>
              <a:t>"grapheme clusters?"</a:t>
            </a:r>
            <a:endParaRPr lang="en-US" sz="2200" b="1" i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8F227F-3F78-6949-80B5-771BEBA9280B}"/>
              </a:ext>
            </a:extLst>
          </p:cNvPr>
          <p:cNvSpPr txBox="1"/>
          <p:nvPr/>
        </p:nvSpPr>
        <p:spPr>
          <a:xfrm>
            <a:off x="330549" y="4647401"/>
            <a:ext cx="86353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also, because each codepoint is a </a:t>
            </a:r>
            <a:r>
              <a:rPr lang="en-US" sz="2200" b="1" dirty="0"/>
              <a:t>different number of bytes,</a:t>
            </a:r>
            <a:r>
              <a:rPr lang="en-US" sz="2200" dirty="0"/>
              <a:t> </a:t>
            </a:r>
            <a:r>
              <a:rPr lang="en-US" sz="2200" b="1" dirty="0">
                <a:solidFill>
                  <a:srgbClr val="FF0000"/>
                </a:solidFill>
              </a:rPr>
              <a:t>indexing by codepoints </a:t>
            </a:r>
            <a:r>
              <a:rPr lang="en-US" sz="2200" dirty="0">
                <a:solidFill>
                  <a:srgbClr val="FF0000"/>
                </a:solidFill>
              </a:rPr>
              <a:t>is </a:t>
            </a:r>
            <a:r>
              <a:rPr lang="en-US" sz="2200" b="1" dirty="0">
                <a:solidFill>
                  <a:srgbClr val="FF0000"/>
                </a:solidFill>
              </a:rPr>
              <a:t>not necessarily O(1)!</a:t>
            </a:r>
          </a:p>
        </p:txBody>
      </p:sp>
    </p:spTree>
    <p:extLst>
      <p:ext uri="{BB962C8B-B14F-4D97-AF65-F5344CB8AC3E}">
        <p14:creationId xmlns:p14="http://schemas.microsoft.com/office/powerpoint/2010/main" val="178519365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  <p:bldP spid="12" grpId="0"/>
      <p:bldP spid="13" grpId="0"/>
      <p:bldP spid="1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CB142-92C8-B441-AB73-7595597C5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Oh god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5FCE3-49EA-3544-89A9-8B51021F8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3276599"/>
          </a:xfrm>
        </p:spPr>
        <p:txBody>
          <a:bodyPr/>
          <a:lstStyle/>
          <a:p>
            <a:r>
              <a:rPr lang="en-US" dirty="0"/>
              <a:t>what about getting a </a:t>
            </a:r>
            <a:r>
              <a:rPr lang="en-US" b="1" dirty="0"/>
              <a:t>substring</a:t>
            </a:r>
            <a:r>
              <a:rPr lang="en-US" dirty="0"/>
              <a:t>?</a:t>
            </a:r>
          </a:p>
          <a:p>
            <a:r>
              <a:rPr lang="en-US" dirty="0"/>
              <a:t>what about </a:t>
            </a:r>
            <a:r>
              <a:rPr lang="en-US" b="1" dirty="0"/>
              <a:t>reversing</a:t>
            </a:r>
            <a:r>
              <a:rPr lang="en-US" dirty="0"/>
              <a:t> strings?</a:t>
            </a:r>
          </a:p>
          <a:p>
            <a:r>
              <a:rPr lang="en-US" dirty="0"/>
              <a:t>what about </a:t>
            </a:r>
            <a:r>
              <a:rPr lang="en-US" b="1" dirty="0" err="1"/>
              <a:t>toUpper</a:t>
            </a:r>
            <a:r>
              <a:rPr lang="en-US" b="1" dirty="0"/>
              <a:t>/</a:t>
            </a:r>
            <a:r>
              <a:rPr lang="en-US" b="1" dirty="0" err="1"/>
              <a:t>toLower</a:t>
            </a:r>
            <a:r>
              <a:rPr lang="en-US" dirty="0"/>
              <a:t>?</a:t>
            </a:r>
          </a:p>
          <a:p>
            <a:r>
              <a:rPr lang="en-US" dirty="0"/>
              <a:t>if we </a:t>
            </a:r>
            <a:r>
              <a:rPr lang="en-US" b="1" dirty="0"/>
              <a:t>loop over a string,</a:t>
            </a:r>
            <a:r>
              <a:rPr lang="en-US" dirty="0"/>
              <a:t> do we see bytes, codepoints, or clusters?</a:t>
            </a:r>
          </a:p>
          <a:p>
            <a:r>
              <a:rPr lang="en-US" dirty="0"/>
              <a:t>should the "e with acute" precomposed character </a:t>
            </a:r>
            <a:r>
              <a:rPr lang="en-US" b="1" dirty="0"/>
              <a:t>compare equal</a:t>
            </a:r>
            <a:r>
              <a:rPr lang="en-US" dirty="0"/>
              <a:t> to the "e followed by combining acute" character pair?</a:t>
            </a:r>
          </a:p>
          <a:p>
            <a:r>
              <a:rPr lang="en-US" dirty="0"/>
              <a:t>what about </a:t>
            </a:r>
            <a:r>
              <a:rPr lang="en-US" b="1" dirty="0"/>
              <a:t>collating</a:t>
            </a:r>
            <a:r>
              <a:rPr lang="en-US" dirty="0"/>
              <a:t> ("alphabetizing")?</a:t>
            </a:r>
          </a:p>
          <a:p>
            <a:r>
              <a:rPr lang="en-US" dirty="0"/>
              <a:t>what if there are </a:t>
            </a:r>
            <a:r>
              <a:rPr lang="en-US" b="1" dirty="0"/>
              <a:t>multiple combining marks</a:t>
            </a:r>
            <a:r>
              <a:rPr lang="en-US" dirty="0"/>
              <a:t> on a character? does the </a:t>
            </a:r>
            <a:r>
              <a:rPr lang="en-US" i="1" dirty="0"/>
              <a:t>order</a:t>
            </a:r>
            <a:r>
              <a:rPr lang="en-US" dirty="0"/>
              <a:t> of those marks affect its display or meaning?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B478D-8778-C741-B92C-3B87BB562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725479-4363-A34E-9EE5-6AC4EA0603B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713"/>
          <a:stretch/>
        </p:blipFill>
        <p:spPr>
          <a:xfrm>
            <a:off x="1143000" y="4284310"/>
            <a:ext cx="1473200" cy="9176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E55175-82E7-0049-A70B-F0F139421BA8}"/>
              </a:ext>
            </a:extLst>
          </p:cNvPr>
          <p:cNvSpPr txBox="1"/>
          <p:nvPr/>
        </p:nvSpPr>
        <p:spPr>
          <a:xfrm>
            <a:off x="2438400" y="4771032"/>
            <a:ext cx="457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it's not Unicode's fault, it's ours.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4087510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43988-DF51-864D-BBCB-1C030BCB8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Java?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1D0B1-4DA2-0643-9E78-77C6D3C3F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 adopted Unicode early! …maybe a little </a:t>
            </a:r>
            <a:r>
              <a:rPr lang="en-US" i="1" dirty="0"/>
              <a:t>too</a:t>
            </a:r>
            <a:r>
              <a:rPr lang="en-US" dirty="0"/>
              <a:t> early.</a:t>
            </a:r>
          </a:p>
          <a:p>
            <a:r>
              <a:rPr lang="en-US" dirty="0"/>
              <a:t>in Java,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en-US" dirty="0"/>
              <a:t> is </a:t>
            </a:r>
            <a:r>
              <a:rPr lang="en-US" b="1" dirty="0"/>
              <a:t>UTF-16</a:t>
            </a:r>
            <a:r>
              <a:rPr lang="en-US" dirty="0"/>
              <a:t>, and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en-US" dirty="0"/>
              <a:t> is </a:t>
            </a:r>
            <a:r>
              <a:rPr lang="en-US" b="1" dirty="0"/>
              <a:t>16 bits</a:t>
            </a:r>
            <a:r>
              <a:rPr lang="en-US" dirty="0"/>
              <a:t> (2 bytes).</a:t>
            </a:r>
          </a:p>
          <a:p>
            <a:pPr lvl="1"/>
            <a:r>
              <a:rPr lang="en-US" dirty="0"/>
              <a:t>at the time Java was created, </a:t>
            </a:r>
            <a:r>
              <a:rPr lang="en-US" i="1" dirty="0"/>
              <a:t>that's what Unicode was.</a:t>
            </a:r>
          </a:p>
          <a:p>
            <a:r>
              <a:rPr lang="en-US" b="1" dirty="0"/>
              <a:t>but Unicode was extended to 21 bits </a:t>
            </a:r>
            <a:r>
              <a:rPr lang="en-US" b="1" i="1" dirty="0"/>
              <a:t>after</a:t>
            </a:r>
            <a:r>
              <a:rPr lang="en-US" b="1" dirty="0"/>
              <a:t> Java adopted it. </a:t>
            </a:r>
            <a:r>
              <a:rPr lang="en-US" dirty="0"/>
              <a:t>so…</a:t>
            </a:r>
            <a:endParaRPr lang="en-US" b="1" dirty="0"/>
          </a:p>
          <a:p>
            <a:pPr lvl="1"/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charAt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b="1" i="1" dirty="0">
                <a:solidFill>
                  <a:srgbClr val="00B050"/>
                </a:solidFill>
              </a:rPr>
              <a:t>is</a:t>
            </a:r>
            <a:r>
              <a:rPr lang="en-US" b="1" dirty="0">
                <a:solidFill>
                  <a:srgbClr val="00B050"/>
                </a:solidFill>
              </a:rPr>
              <a:t> O(1), nice!</a:t>
            </a:r>
          </a:p>
          <a:p>
            <a:pPr lvl="1"/>
            <a:r>
              <a:rPr lang="en-US" dirty="0"/>
              <a:t>…but </a:t>
            </a:r>
            <a:r>
              <a:rPr lang="en-US" b="1" dirty="0">
                <a:solidFill>
                  <a:srgbClr val="FF0000"/>
                </a:solidFill>
              </a:rPr>
              <a:t>you might only get </a:t>
            </a:r>
            <a:r>
              <a:rPr lang="en-US" b="1" i="1" dirty="0">
                <a:solidFill>
                  <a:srgbClr val="FF0000"/>
                </a:solidFill>
              </a:rPr>
              <a:t>half a character??</a:t>
            </a:r>
          </a:p>
          <a:p>
            <a:r>
              <a:rPr lang="en-US" dirty="0"/>
              <a:t>see, codepoints above U+FFFF are encoded as </a:t>
            </a:r>
            <a:r>
              <a:rPr lang="en-US" i="1" dirty="0"/>
              <a:t>two</a:t>
            </a:r>
            <a:r>
              <a:rPr lang="en-US" dirty="0"/>
              <a:t> Java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en-US" dirty="0"/>
              <a:t>s</a:t>
            </a:r>
          </a:p>
          <a:p>
            <a:pPr lvl="1"/>
            <a:r>
              <a:rPr lang="en-US" dirty="0"/>
              <a:t>e.g. many emoji are in this range</a:t>
            </a:r>
          </a:p>
          <a:p>
            <a:r>
              <a:rPr lang="en-US" dirty="0">
                <a:sym typeface="Wingdings" pitchFamily="2" charset="2"/>
              </a:rPr>
              <a:t>so, "proper" codepoint indexing is </a:t>
            </a:r>
            <a:r>
              <a:rPr lang="en-US" b="1" dirty="0">
                <a:sym typeface="Wingdings" pitchFamily="2" charset="2"/>
              </a:rPr>
              <a:t>O(n)</a:t>
            </a:r>
            <a:r>
              <a:rPr lang="en-US" dirty="0">
                <a:sym typeface="Wingdings" pitchFamily="2" charset="2"/>
              </a:rPr>
              <a:t> in Java too</a:t>
            </a:r>
          </a:p>
          <a:p>
            <a:pPr lvl="1"/>
            <a:r>
              <a:rPr lang="en-US" dirty="0">
                <a:sym typeface="Wingdings" pitchFamily="2" charset="2"/>
              </a:rPr>
              <a:t>there is a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.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codePointAt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()</a:t>
            </a:r>
            <a:r>
              <a:rPr lang="en-US" dirty="0">
                <a:sym typeface="Wingdings" pitchFamily="2" charset="2"/>
              </a:rPr>
              <a:t> method to help, at least</a:t>
            </a:r>
          </a:p>
          <a:p>
            <a:pPr lvl="1"/>
            <a:r>
              <a:rPr lang="en-US" dirty="0">
                <a:sym typeface="Wingdings" pitchFamily="2" charset="2"/>
              </a:rPr>
              <a:t>and a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.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codePoints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()</a:t>
            </a:r>
            <a:r>
              <a:rPr lang="en-US" dirty="0">
                <a:sym typeface="Wingdings" pitchFamily="2" charset="2"/>
              </a:rPr>
              <a:t> iterator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2C8BAF-53EE-B04B-AE9C-7C1169667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715904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C0AB4-E1CF-5B47-AE25-23D1B23FA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Living in a post-ASCII world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0AB01-4723-FA4E-8A8E-8B0D741A8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do not assume: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pPr lvl="1"/>
            <a:r>
              <a:rPr lang="en-US" dirty="0"/>
              <a:t>…that your program will only be used by English speakers.</a:t>
            </a:r>
          </a:p>
          <a:p>
            <a:pPr lvl="1"/>
            <a:r>
              <a:rPr lang="en-US" dirty="0"/>
              <a:t>…that your program will only be fed ASCII text.</a:t>
            </a:r>
          </a:p>
          <a:p>
            <a:pPr lvl="1"/>
            <a:r>
              <a:rPr lang="en-US" dirty="0"/>
              <a:t>…that there is one definition of "string length."</a:t>
            </a:r>
          </a:p>
          <a:p>
            <a:pPr lvl="1"/>
            <a:r>
              <a:rPr lang="en-US" dirty="0"/>
              <a:t>…that string indexing/substring is a constant-time operation.</a:t>
            </a:r>
          </a:p>
          <a:p>
            <a:r>
              <a:rPr lang="en-US" b="1" dirty="0">
                <a:solidFill>
                  <a:srgbClr val="00B050"/>
                </a:solidFill>
              </a:rPr>
              <a:t>do:</a:t>
            </a:r>
          </a:p>
          <a:p>
            <a:pPr lvl="1"/>
            <a:r>
              <a:rPr lang="en-US" b="1" dirty="0"/>
              <a:t>trust</a:t>
            </a:r>
            <a:r>
              <a:rPr lang="en-US" dirty="0"/>
              <a:t> the people who do this stuff for a living.</a:t>
            </a:r>
          </a:p>
          <a:p>
            <a:pPr lvl="1"/>
            <a:r>
              <a:rPr lang="en-US" dirty="0"/>
              <a:t>read about how your programming language handles text.</a:t>
            </a:r>
          </a:p>
          <a:p>
            <a:pPr lvl="1"/>
            <a:r>
              <a:rPr lang="en-US" dirty="0"/>
              <a:t>write your text processing to be </a:t>
            </a:r>
            <a:r>
              <a:rPr lang="en-US" b="1" dirty="0"/>
              <a:t>language-agnostic.</a:t>
            </a:r>
          </a:p>
          <a:p>
            <a:pPr lvl="1"/>
            <a:r>
              <a:rPr lang="en-US" dirty="0"/>
              <a:t>prefer </a:t>
            </a:r>
            <a:r>
              <a:rPr lang="en-US" b="1" dirty="0"/>
              <a:t>iterating</a:t>
            </a:r>
            <a:r>
              <a:rPr lang="en-US" dirty="0"/>
              <a:t> over strings instead of </a:t>
            </a:r>
            <a:r>
              <a:rPr lang="en-US" b="1" dirty="0"/>
              <a:t>indexing</a:t>
            </a:r>
            <a:r>
              <a:rPr lang="en-US" dirty="0"/>
              <a:t> them, if possible.</a:t>
            </a:r>
          </a:p>
          <a:p>
            <a:pPr lvl="1"/>
            <a:r>
              <a:rPr lang="en-US" dirty="0"/>
              <a:t>look into </a:t>
            </a:r>
            <a:r>
              <a:rPr lang="en-US" b="1" dirty="0"/>
              <a:t>canonicalization</a:t>
            </a:r>
            <a:r>
              <a:rPr lang="en-US" dirty="0"/>
              <a:t> if you're dealing with thorny issues.</a:t>
            </a:r>
          </a:p>
          <a:p>
            <a:pPr lvl="1"/>
            <a:r>
              <a:rPr lang="en-US" dirty="0"/>
              <a:t>accept that some Rust string stuff looks weird/complicated for a </a:t>
            </a:r>
            <a:r>
              <a:rPr lang="en-US" i="1" dirty="0"/>
              <a:t>very good reason: </a:t>
            </a:r>
            <a:r>
              <a:rPr lang="en-US" b="1" dirty="0"/>
              <a:t>text is weird/complicated.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6C30EB-6695-B045-A18A-44406451C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72626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02 - C - Basics">
  <a:themeElements>
    <a:clrScheme name="Custom 2">
      <a:dk1>
        <a:srgbClr val="000000"/>
      </a:dk1>
      <a:lt1>
        <a:srgbClr val="FFFFFF"/>
      </a:lt1>
      <a:dk2>
        <a:srgbClr val="3B481E"/>
      </a:dk2>
      <a:lt2>
        <a:srgbClr val="FFFFFF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2">
      <a:majorFont>
        <a:latin typeface="Segoe WP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_fall_2017" id="{93D034CE-FEB5-4D4D-96F7-6B7F8A5EB99A}" vid="{194AE869-5029-ED49-81EA-C574BDDBE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01 - Welcome and Review</Template>
  <TotalTime>19788</TotalTime>
  <Words>3244</Words>
  <Application>Microsoft Macintosh PowerPoint</Application>
  <PresentationFormat>On-screen Show (16:10)</PresentationFormat>
  <Paragraphs>485</Paragraphs>
  <Slides>28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Arial</vt:lpstr>
      <vt:lpstr>Calibri</vt:lpstr>
      <vt:lpstr>Consolas</vt:lpstr>
      <vt:lpstr>Courier New</vt:lpstr>
      <vt:lpstr>Segoe UI</vt:lpstr>
      <vt:lpstr>Segoe WP Semibold</vt:lpstr>
      <vt:lpstr>Trebuchet MS</vt:lpstr>
      <vt:lpstr>Wingdings</vt:lpstr>
      <vt:lpstr>02 - C - Basics</vt:lpstr>
      <vt:lpstr>Rust, Strings, and Text</vt:lpstr>
      <vt:lpstr>Class Announcements</vt:lpstr>
      <vt:lpstr>Vectors</vt:lpstr>
      <vt:lpstr>Vectors!</vt:lpstr>
      <vt:lpstr>Iteration</vt:lpstr>
      <vt:lpstr>an Extremely Common Pattern: Mapping</vt:lpstr>
      <vt:lpstr>Algebraic Data Types and Structs</vt:lpstr>
      <vt:lpstr>Not the same as ADTs (abstract data types)</vt:lpstr>
      <vt:lpstr>Rust's product types: Structs</vt:lpstr>
      <vt:lpstr>"Constructors" and "methods"</vt:lpstr>
      <vt:lpstr>A side note - :: vs .</vt:lpstr>
      <vt:lpstr>Flavors of 'self'</vt:lpstr>
      <vt:lpstr>Sum Types</vt:lpstr>
      <vt:lpstr>A motivating example</vt:lpstr>
      <vt:lpstr>The equivalent (?) Rust</vt:lpstr>
      <vt:lpstr>Commonalities and differences</vt:lpstr>
      <vt:lpstr>When a struct and an enum love each other very much</vt:lpstr>
      <vt:lpstr>Looking inside enums</vt:lpstr>
      <vt:lpstr>NullPointerException? Never heard of it</vt:lpstr>
      <vt:lpstr>Strings and Unicode</vt:lpstr>
      <vt:lpstr>Soooo easy</vt:lpstr>
      <vt:lpstr>Those dang human languages</vt:lpstr>
      <vt:lpstr>Unicode</vt:lpstr>
      <vt:lpstr>UTF-8? UTF-16? UTF-32? BE? LE?</vt:lpstr>
      <vt:lpstr>Such sights to show you</vt:lpstr>
      <vt:lpstr>Oh god</vt:lpstr>
      <vt:lpstr>What about Java?</vt:lpstr>
      <vt:lpstr>Living in a post-ASCII world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Intro to Computer Architecture!</dc:title>
  <dc:creator>me</dc:creator>
  <cp:lastModifiedBy>Billingsley, Jarrett F</cp:lastModifiedBy>
  <cp:revision>456</cp:revision>
  <dcterms:created xsi:type="dcterms:W3CDTF">2017-01-05T04:29:56Z</dcterms:created>
  <dcterms:modified xsi:type="dcterms:W3CDTF">2022-05-17T20:37:37Z</dcterms:modified>
</cp:coreProperties>
</file>