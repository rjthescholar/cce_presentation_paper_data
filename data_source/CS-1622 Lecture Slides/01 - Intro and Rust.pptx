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37"/>
  </p:notesMasterIdLst>
  <p:sldIdLst>
    <p:sldId id="256" r:id="rId2"/>
    <p:sldId id="519" r:id="rId3"/>
    <p:sldId id="460" r:id="rId4"/>
    <p:sldId id="583" r:id="rId5"/>
    <p:sldId id="559" r:id="rId6"/>
    <p:sldId id="476" r:id="rId7"/>
    <p:sldId id="557" r:id="rId8"/>
    <p:sldId id="479" r:id="rId9"/>
    <p:sldId id="532" r:id="rId10"/>
    <p:sldId id="584" r:id="rId11"/>
    <p:sldId id="481" r:id="rId12"/>
    <p:sldId id="546" r:id="rId13"/>
    <p:sldId id="561" r:id="rId14"/>
    <p:sldId id="562" r:id="rId15"/>
    <p:sldId id="563" r:id="rId16"/>
    <p:sldId id="564" r:id="rId17"/>
    <p:sldId id="565" r:id="rId18"/>
    <p:sldId id="566" r:id="rId19"/>
    <p:sldId id="567" r:id="rId20"/>
    <p:sldId id="568" r:id="rId21"/>
    <p:sldId id="569" r:id="rId22"/>
    <p:sldId id="570" r:id="rId23"/>
    <p:sldId id="571" r:id="rId24"/>
    <p:sldId id="572" r:id="rId25"/>
    <p:sldId id="573" r:id="rId26"/>
    <p:sldId id="574" r:id="rId27"/>
    <p:sldId id="575" r:id="rId28"/>
    <p:sldId id="576" r:id="rId29"/>
    <p:sldId id="577" r:id="rId30"/>
    <p:sldId id="578" r:id="rId31"/>
    <p:sldId id="579" r:id="rId32"/>
    <p:sldId id="580" r:id="rId33"/>
    <p:sldId id="582" r:id="rId34"/>
    <p:sldId id="560" r:id="rId35"/>
    <p:sldId id="581" r:id="rId36"/>
  </p:sldIdLst>
  <p:sldSz cx="9144000" cy="5715000" type="screen16x10"/>
  <p:notesSz cx="6858000" cy="9144000"/>
  <p:defaultTextStyle>
    <a:defPPr>
      <a:defRPr lang="en-US"/>
    </a:defPPr>
    <a:lvl1pPr marL="0" algn="l" defTabSz="713232" rtl="0" eaLnBrk="1" latinLnBrk="0" hangingPunct="1">
      <a:defRPr sz="1404" kern="1200">
        <a:solidFill>
          <a:schemeClr val="tx1"/>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userDrawn="1">
          <p15:clr>
            <a:srgbClr val="A4A3A4"/>
          </p15:clr>
        </p15:guide>
        <p15:guide id="2" pos="12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D811"/>
    <a:srgbClr val="FF3200"/>
    <a:srgbClr val="FF5200"/>
    <a:srgbClr val="FF5C00"/>
    <a:srgbClr val="592A04"/>
    <a:srgbClr val="8DB000"/>
    <a:srgbClr val="FCECD6"/>
    <a:srgbClr val="FCF9C5"/>
    <a:srgbClr val="8BD5F4"/>
    <a:srgbClr val="FA0AB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92" autoAdjust="0"/>
    <p:restoredTop sz="89577" autoAdjust="0"/>
  </p:normalViewPr>
  <p:slideViewPr>
    <p:cSldViewPr>
      <p:cViewPr varScale="1">
        <p:scale>
          <a:sx n="132" d="100"/>
          <a:sy n="132" d="100"/>
        </p:scale>
        <p:origin x="1200" y="168"/>
      </p:cViewPr>
      <p:guideLst>
        <p:guide orient="horz" pos="1800"/>
        <p:guide pos="1296"/>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093253-51AE-4C40-AB6B-AA3A7DF4D210}" type="datetimeFigureOut">
              <a:rPr lang="en-US" smtClean="0"/>
              <a:pPr/>
              <a:t>5/14/22</a:t>
            </a:fld>
            <a:endParaRPr lang="en-US"/>
          </a:p>
        </p:txBody>
      </p:sp>
      <p:sp>
        <p:nvSpPr>
          <p:cNvPr id="4" name="Slide Image Placeholder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9729AB-B77D-48AE-AA10-D1BD2B4D03EA}" type="slidenum">
              <a:rPr lang="en-US" smtClean="0"/>
              <a:pPr/>
              <a:t>‹#›</a:t>
            </a:fld>
            <a:endParaRPr lang="en-US"/>
          </a:p>
        </p:txBody>
      </p:sp>
    </p:spTree>
    <p:extLst>
      <p:ext uri="{BB962C8B-B14F-4D97-AF65-F5344CB8AC3E}">
        <p14:creationId xmlns:p14="http://schemas.microsoft.com/office/powerpoint/2010/main" val="2560305392"/>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99729AB-B77D-48AE-AA10-D1BD2B4D03EA}"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713232" rtl="0" eaLnBrk="1" fontAlgn="auto" latinLnBrk="0" hangingPunct="1">
              <a:lnSpc>
                <a:spcPct val="100000"/>
              </a:lnSpc>
              <a:spcBef>
                <a:spcPts val="0"/>
              </a:spcBef>
              <a:spcAft>
                <a:spcPts val="0"/>
              </a:spcAft>
              <a:buClrTx/>
              <a:buSzTx/>
              <a:buFontTx/>
              <a:buNone/>
              <a:tabLst/>
              <a:defRPr/>
            </a:pPr>
            <a:r>
              <a:rPr lang="en-US" dirty="0"/>
              <a:t>- </a:t>
            </a:r>
            <a:r>
              <a:rPr lang="en-US" dirty="0" err="1"/>
              <a:t>yahaha</a:t>
            </a:r>
            <a:r>
              <a:rPr lang="en-US" dirty="0"/>
              <a:t>! you found me! I'm a slide note!</a:t>
            </a:r>
          </a:p>
          <a:p>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2</a:t>
            </a:fld>
            <a:endParaRPr lang="en-US"/>
          </a:p>
        </p:txBody>
      </p:sp>
    </p:spTree>
    <p:extLst>
      <p:ext uri="{BB962C8B-B14F-4D97-AF65-F5344CB8AC3E}">
        <p14:creationId xmlns:p14="http://schemas.microsoft.com/office/powerpoint/2010/main" val="17734953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99729AB-B77D-48AE-AA10-D1BD2B4D03EA}"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99729AB-B77D-48AE-AA10-D1BD2B4D03EA}" type="slidenum">
              <a:rPr lang="en-US" smtClean="0"/>
              <a:pPr/>
              <a:t>4</a:t>
            </a:fld>
            <a:endParaRPr lang="en-US"/>
          </a:p>
        </p:txBody>
      </p:sp>
    </p:spTree>
    <p:extLst>
      <p:ext uri="{BB962C8B-B14F-4D97-AF65-F5344CB8AC3E}">
        <p14:creationId xmlns:p14="http://schemas.microsoft.com/office/powerpoint/2010/main" val="41575170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713232" rtl="0" eaLnBrk="1" fontAlgn="auto" latinLnBrk="0" hangingPunct="1">
              <a:lnSpc>
                <a:spcPct val="100000"/>
              </a:lnSpc>
              <a:spcBef>
                <a:spcPts val="0"/>
              </a:spcBef>
              <a:spcAft>
                <a:spcPts val="0"/>
              </a:spcAft>
              <a:buClrTx/>
              <a:buSzTx/>
              <a:buFontTx/>
              <a:buNone/>
              <a:tabLst/>
              <a:defRPr/>
            </a:pPr>
            <a:r>
              <a:rPr lang="en-US" dirty="0"/>
              <a:t>- Rust book will definitely be useful to the vast majority of you, and it's free online</a:t>
            </a:r>
          </a:p>
          <a:p>
            <a:pPr marL="0" marR="0" lvl="0" indent="0" algn="l" defTabSz="713232" rtl="0" eaLnBrk="1" fontAlgn="auto" latinLnBrk="0" hangingPunct="1">
              <a:lnSpc>
                <a:spcPct val="100000"/>
              </a:lnSpc>
              <a:spcBef>
                <a:spcPts val="0"/>
              </a:spcBef>
              <a:spcAft>
                <a:spcPts val="0"/>
              </a:spcAft>
              <a:buClrTx/>
              <a:buSzTx/>
              <a:buFontTx/>
              <a:buNone/>
              <a:tabLst/>
              <a:defRPr/>
            </a:pPr>
            <a:r>
              <a:rPr lang="en-US" dirty="0"/>
              <a:t>	- also the first author (Steve </a:t>
            </a:r>
            <a:r>
              <a:rPr lang="en-US" dirty="0" err="1"/>
              <a:t>Klabnik</a:t>
            </a:r>
            <a:r>
              <a:rPr lang="en-US" dirty="0"/>
              <a:t>) is my FRIEND cause we were in </a:t>
            </a:r>
            <a:r>
              <a:rPr lang="en-US" dirty="0" err="1"/>
              <a:t>pitt</a:t>
            </a:r>
            <a:r>
              <a:rPr lang="en-US" dirty="0"/>
              <a:t> CS together so there</a:t>
            </a:r>
          </a:p>
          <a:p>
            <a:pPr marL="0" marR="0" lvl="0" indent="0" algn="l" defTabSz="713232" rtl="0" eaLnBrk="1" fontAlgn="auto" latinLnBrk="0" hangingPunct="1">
              <a:lnSpc>
                <a:spcPct val="100000"/>
              </a:lnSpc>
              <a:spcBef>
                <a:spcPts val="0"/>
              </a:spcBef>
              <a:spcAft>
                <a:spcPts val="0"/>
              </a:spcAft>
              <a:buClrTx/>
              <a:buSzTx/>
              <a:buFontTx/>
              <a:buNone/>
              <a:tabLst/>
              <a:defRPr/>
            </a:pPr>
            <a:r>
              <a:rPr lang="en-US" dirty="0"/>
              <a:t>- the </a:t>
            </a:r>
            <a:r>
              <a:rPr lang="en-US" dirty="0" err="1"/>
              <a:t>Thain</a:t>
            </a:r>
            <a:r>
              <a:rPr lang="en-US" dirty="0"/>
              <a:t> book is the standard text for this course but eh</a:t>
            </a:r>
          </a:p>
          <a:p>
            <a:pPr marL="0" marR="0" lvl="0" indent="0" algn="l" defTabSz="713232" rtl="0" eaLnBrk="1" fontAlgn="auto" latinLnBrk="0" hangingPunct="1">
              <a:lnSpc>
                <a:spcPct val="100000"/>
              </a:lnSpc>
              <a:spcBef>
                <a:spcPts val="0"/>
              </a:spcBef>
              <a:spcAft>
                <a:spcPts val="0"/>
              </a:spcAft>
              <a:buClrTx/>
              <a:buSzTx/>
              <a:buFontTx/>
              <a:buNone/>
              <a:tabLst/>
              <a:defRPr/>
            </a:pPr>
            <a:r>
              <a:rPr lang="en-US" dirty="0"/>
              <a:t>- TAPL is really good if you're interested in programming language and type theory</a:t>
            </a:r>
          </a:p>
        </p:txBody>
      </p:sp>
      <p:sp>
        <p:nvSpPr>
          <p:cNvPr id="4" name="Slide Number Placeholder 3"/>
          <p:cNvSpPr>
            <a:spLocks noGrp="1"/>
          </p:cNvSpPr>
          <p:nvPr>
            <p:ph type="sldNum" sz="quarter" idx="10"/>
          </p:nvPr>
        </p:nvSpPr>
        <p:spPr/>
        <p:txBody>
          <a:bodyPr/>
          <a:lstStyle/>
          <a:p>
            <a:fld id="{999729AB-B77D-48AE-AA10-D1BD2B4D03EA}" type="slidenum">
              <a:rPr lang="en-US" smtClean="0"/>
              <a:pPr/>
              <a:t>6</a:t>
            </a:fld>
            <a:endParaRPr lang="en-US"/>
          </a:p>
        </p:txBody>
      </p:sp>
    </p:spTree>
    <p:extLst>
      <p:ext uri="{BB962C8B-B14F-4D97-AF65-F5344CB8AC3E}">
        <p14:creationId xmlns:p14="http://schemas.microsoft.com/office/powerpoint/2010/main" val="986582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713232"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99729AB-B77D-48AE-AA10-D1BD2B4D03EA}" type="slidenum">
              <a:rPr lang="en-US" smtClean="0"/>
              <a:pPr/>
              <a:t>9</a:t>
            </a:fld>
            <a:endParaRPr lang="en-US"/>
          </a:p>
        </p:txBody>
      </p:sp>
    </p:spTree>
    <p:extLst>
      <p:ext uri="{BB962C8B-B14F-4D97-AF65-F5344CB8AC3E}">
        <p14:creationId xmlns:p14="http://schemas.microsoft.com/office/powerpoint/2010/main" val="15768456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it's so easy as an instructor to fall into the trap of explaining the How in tons of detail without giving any context.</a:t>
            </a:r>
          </a:p>
          <a:p>
            <a:r>
              <a:rPr lang="en-US" dirty="0"/>
              <a:t>- the "how" can have a million different answers. what's more important that you understand the ideas behind it.</a:t>
            </a:r>
          </a:p>
          <a:p>
            <a:endParaRPr lang="en-US" dirty="0"/>
          </a:p>
          <a:p>
            <a:pPr marL="0" marR="0" lvl="0" indent="0" algn="l" defTabSz="713232" rtl="0" eaLnBrk="1" fontAlgn="auto" latinLnBrk="0" hangingPunct="1">
              <a:lnSpc>
                <a:spcPct val="100000"/>
              </a:lnSpc>
              <a:spcBef>
                <a:spcPts val="0"/>
              </a:spcBef>
              <a:spcAft>
                <a:spcPts val="0"/>
              </a:spcAft>
              <a:buClrTx/>
              <a:buSzTx/>
              <a:buFontTx/>
              <a:buNone/>
              <a:tabLst/>
              <a:defRPr/>
            </a:pPr>
            <a:r>
              <a:rPr lang="en-US" dirty="0"/>
              <a:t>[diagram: "why" is more abstract than "what", and "what" is more abstract than "how".]</a:t>
            </a:r>
          </a:p>
        </p:txBody>
      </p:sp>
      <p:sp>
        <p:nvSpPr>
          <p:cNvPr id="4" name="Slide Number Placeholder 3"/>
          <p:cNvSpPr>
            <a:spLocks noGrp="1"/>
          </p:cNvSpPr>
          <p:nvPr>
            <p:ph type="sldNum" sz="quarter" idx="5"/>
          </p:nvPr>
        </p:nvSpPr>
        <p:spPr/>
        <p:txBody>
          <a:bodyPr/>
          <a:lstStyle/>
          <a:p>
            <a:fld id="{999729AB-B77D-48AE-AA10-D1BD2B4D03EA}" type="slidenum">
              <a:rPr lang="en-US" smtClean="0"/>
              <a:pPr/>
              <a:t>12</a:t>
            </a:fld>
            <a:endParaRPr lang="en-US"/>
          </a:p>
        </p:txBody>
      </p:sp>
    </p:spTree>
    <p:extLst>
      <p:ext uri="{BB962C8B-B14F-4D97-AF65-F5344CB8AC3E}">
        <p14:creationId xmlns:p14="http://schemas.microsoft.com/office/powerpoint/2010/main" val="30964154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brains are weird meat computers that work in strange ways and anything they produce reflects their haphazard organization</a:t>
            </a:r>
          </a:p>
          <a:p>
            <a:endParaRPr lang="en-US" dirty="0"/>
          </a:p>
          <a:p>
            <a:r>
              <a:rPr lang="en-US" dirty="0"/>
              <a:t>[images: human languages include spoken, written, braille, signed, symbolic (road signs), mathematical, logical etc.]</a:t>
            </a:r>
          </a:p>
        </p:txBody>
      </p:sp>
      <p:sp>
        <p:nvSpPr>
          <p:cNvPr id="4" name="Slide Number Placeholder 3"/>
          <p:cNvSpPr>
            <a:spLocks noGrp="1"/>
          </p:cNvSpPr>
          <p:nvPr>
            <p:ph type="sldNum" sz="quarter" idx="5"/>
          </p:nvPr>
        </p:nvSpPr>
        <p:spPr/>
        <p:txBody>
          <a:bodyPr/>
          <a:lstStyle/>
          <a:p>
            <a:fld id="{999729AB-B77D-48AE-AA10-D1BD2B4D03EA}" type="slidenum">
              <a:rPr lang="en-US" smtClean="0"/>
              <a:pPr/>
              <a:t>13</a:t>
            </a:fld>
            <a:endParaRPr lang="en-US"/>
          </a:p>
        </p:txBody>
      </p:sp>
    </p:spTree>
    <p:extLst>
      <p:ext uri="{BB962C8B-B14F-4D97-AF65-F5344CB8AC3E}">
        <p14:creationId xmlns:p14="http://schemas.microsoft.com/office/powerpoint/2010/main" val="34938086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all languages have common features (grammars, structure, meaningful "words" and so on) so many of the things we learn in this class will also apply, in part, to all of these languages.</a:t>
            </a:r>
          </a:p>
          <a:p>
            <a:endParaRPr lang="en-US" dirty="0"/>
          </a:p>
          <a:p>
            <a:r>
              <a:rPr lang="en-US" dirty="0"/>
              <a:t>[images: logos for programming languages, CSS, HTML, and some file types.]</a:t>
            </a:r>
          </a:p>
        </p:txBody>
      </p:sp>
      <p:sp>
        <p:nvSpPr>
          <p:cNvPr id="4" name="Slide Number Placeholder 3"/>
          <p:cNvSpPr>
            <a:spLocks noGrp="1"/>
          </p:cNvSpPr>
          <p:nvPr>
            <p:ph type="sldNum" sz="quarter" idx="5"/>
          </p:nvPr>
        </p:nvSpPr>
        <p:spPr/>
        <p:txBody>
          <a:bodyPr/>
          <a:lstStyle/>
          <a:p>
            <a:fld id="{999729AB-B77D-48AE-AA10-D1BD2B4D03EA}" type="slidenum">
              <a:rPr lang="en-US" smtClean="0"/>
              <a:pPr/>
              <a:t>14</a:t>
            </a:fld>
            <a:endParaRPr lang="en-US"/>
          </a:p>
        </p:txBody>
      </p:sp>
    </p:spTree>
    <p:extLst>
      <p:ext uri="{BB962C8B-B14F-4D97-AF65-F5344CB8AC3E}">
        <p14:creationId xmlns:p14="http://schemas.microsoft.com/office/powerpoint/2010/main" val="15812549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is some </a:t>
            </a:r>
            <a:r>
              <a:rPr lang="en-US" i="1" dirty="0"/>
              <a:t>heavy shit</a:t>
            </a:r>
            <a:r>
              <a:rPr lang="en-US" i="0" dirty="0"/>
              <a:t> and we're not going to get into it too much.</a:t>
            </a:r>
          </a:p>
          <a:p>
            <a:r>
              <a:rPr lang="en-US" i="0" dirty="0"/>
              <a:t>- but it </a:t>
            </a:r>
            <a:r>
              <a:rPr lang="en-US" i="1" dirty="0"/>
              <a:t>does</a:t>
            </a:r>
            <a:r>
              <a:rPr lang="en-US" i="0" dirty="0"/>
              <a:t> mean that there is a lot of important, useful knowledge that can be "ported" from the academic world into practical languages!</a:t>
            </a:r>
          </a:p>
          <a:p>
            <a:pPr marL="171450" indent="-171450">
              <a:buFontTx/>
              <a:buChar char="-"/>
            </a:pPr>
            <a:r>
              <a:rPr lang="en-US" i="0" dirty="0"/>
              <a:t>if you do graduate work with proofs, you'll probably be using a proof checker.</a:t>
            </a:r>
          </a:p>
          <a:p>
            <a:pPr marL="0" indent="0">
              <a:buFontTx/>
              <a:buNone/>
            </a:pPr>
            <a:endParaRPr lang="en-US" i="0" dirty="0"/>
          </a:p>
          <a:p>
            <a:pPr marL="0" indent="0">
              <a:buFontTx/>
              <a:buNone/>
            </a:pPr>
            <a:r>
              <a:rPr lang="en-US" i="0" dirty="0"/>
              <a:t>[image: a formal proof whose contents are unimportant, but it does show proof justifications on the steps.]</a:t>
            </a:r>
          </a:p>
        </p:txBody>
      </p:sp>
      <p:sp>
        <p:nvSpPr>
          <p:cNvPr id="4" name="Slide Number Placeholder 3"/>
          <p:cNvSpPr>
            <a:spLocks noGrp="1"/>
          </p:cNvSpPr>
          <p:nvPr>
            <p:ph type="sldNum" sz="quarter" idx="5"/>
          </p:nvPr>
        </p:nvSpPr>
        <p:spPr/>
        <p:txBody>
          <a:bodyPr/>
          <a:lstStyle/>
          <a:p>
            <a:fld id="{999729AB-B77D-48AE-AA10-D1BD2B4D03EA}" type="slidenum">
              <a:rPr lang="en-US" smtClean="0"/>
              <a:pPr/>
              <a:t>15</a:t>
            </a:fld>
            <a:endParaRPr lang="en-US"/>
          </a:p>
        </p:txBody>
      </p:sp>
    </p:spTree>
    <p:extLst>
      <p:ext uri="{BB962C8B-B14F-4D97-AF65-F5344CB8AC3E}">
        <p14:creationId xmlns:p14="http://schemas.microsoft.com/office/powerpoint/2010/main" val="40250490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those of you who were in my 447 will see many of those concepts I only briefly mentioned make a return in this course…</a:t>
            </a:r>
          </a:p>
          <a:p>
            <a:r>
              <a:rPr lang="en-US" dirty="0"/>
              <a:t>- why don't we go the other way? why not make CPUs more complex to execute HLLs more directly?</a:t>
            </a:r>
          </a:p>
          <a:p>
            <a:pPr marL="0" marR="0" lvl="0" indent="0" algn="l" defTabSz="713232" rtl="0" eaLnBrk="1" fontAlgn="auto" latinLnBrk="0" hangingPunct="1">
              <a:lnSpc>
                <a:spcPct val="100000"/>
              </a:lnSpc>
              <a:spcBef>
                <a:spcPts val="0"/>
              </a:spcBef>
              <a:spcAft>
                <a:spcPts val="0"/>
              </a:spcAft>
              <a:buClrTx/>
              <a:buSzTx/>
              <a:buFontTx/>
              <a:buNone/>
              <a:tabLst/>
              <a:defRPr/>
            </a:pPr>
            <a:r>
              <a:rPr lang="en-US" dirty="0"/>
              <a:t>	- they tried it! look at the </a:t>
            </a:r>
            <a:r>
              <a:rPr lang="en-US" dirty="0" err="1"/>
              <a:t>iAPX</a:t>
            </a:r>
            <a:r>
              <a:rPr lang="en-US" dirty="0"/>
              <a:t> 432 – an </a:t>
            </a:r>
            <a:r>
              <a:rPr lang="en-US" i="1" dirty="0"/>
              <a:t>object-oriented CPU – </a:t>
            </a:r>
            <a:r>
              <a:rPr lang="en-US" i="0" dirty="0"/>
              <a:t>but it failed miserably</a:t>
            </a:r>
          </a:p>
          <a:p>
            <a:r>
              <a:rPr lang="en-US" dirty="0"/>
              <a:t>	- CPUs are already complex, and there are many HLLs. it'd probably be impractical these days.</a:t>
            </a:r>
          </a:p>
        </p:txBody>
      </p:sp>
      <p:sp>
        <p:nvSpPr>
          <p:cNvPr id="4" name="Slide Number Placeholder 3"/>
          <p:cNvSpPr>
            <a:spLocks noGrp="1"/>
          </p:cNvSpPr>
          <p:nvPr>
            <p:ph type="sldNum" sz="quarter" idx="5"/>
          </p:nvPr>
        </p:nvSpPr>
        <p:spPr/>
        <p:txBody>
          <a:bodyPr/>
          <a:lstStyle/>
          <a:p>
            <a:fld id="{999729AB-B77D-48AE-AA10-D1BD2B4D03EA}" type="slidenum">
              <a:rPr lang="en-US" smtClean="0"/>
              <a:pPr/>
              <a:t>16</a:t>
            </a:fld>
            <a:endParaRPr lang="en-US"/>
          </a:p>
        </p:txBody>
      </p:sp>
    </p:spTree>
    <p:extLst>
      <p:ext uri="{BB962C8B-B14F-4D97-AF65-F5344CB8AC3E}">
        <p14:creationId xmlns:p14="http://schemas.microsoft.com/office/powerpoint/2010/main" val="29116161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 is read "is proportional to", so the slide title means "more abstraction means lower performance".</a:t>
            </a:r>
          </a:p>
          <a:p>
            <a:r>
              <a:rPr lang="en-US" dirty="0"/>
              <a:t>- historically, this performance tradeoff was significant enough to discourage use of compiled languages in all but academic contexts.</a:t>
            </a:r>
          </a:p>
          <a:p>
            <a:r>
              <a:rPr lang="en-US" dirty="0"/>
              <a:t>- but over time, compilers became much more sophisticated, closing the performance gap between hand-written and compiled code.</a:t>
            </a:r>
          </a:p>
          <a:p>
            <a:r>
              <a:rPr lang="en-US" dirty="0"/>
              <a:t>- computer architectures shifted design in such a way that compiled code could be even faster than what a human could write.</a:t>
            </a:r>
          </a:p>
          <a:p>
            <a:r>
              <a:rPr lang="en-US" dirty="0"/>
              <a:t>- and software has become so complex that writing most programs in assembly would be foolish!</a:t>
            </a:r>
          </a:p>
          <a:p>
            <a:r>
              <a:rPr lang="en-US" dirty="0"/>
              <a:t>* note: C's abstractions are a good fit for how we designed CPUs in the 1970s but is not actually that good for today's CPUs.</a:t>
            </a:r>
          </a:p>
          <a:p>
            <a:r>
              <a:rPr lang="en-US" dirty="0"/>
              <a:t>	- counterintuitively, some </a:t>
            </a:r>
            <a:r>
              <a:rPr lang="en-US" i="1" dirty="0"/>
              <a:t>more</a:t>
            </a:r>
            <a:r>
              <a:rPr lang="en-US" i="0" dirty="0"/>
              <a:t> abstract languages can get </a:t>
            </a:r>
            <a:r>
              <a:rPr lang="en-US" i="1" dirty="0"/>
              <a:t>better performance than C now.</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17</a:t>
            </a:fld>
            <a:endParaRPr lang="en-US"/>
          </a:p>
        </p:txBody>
      </p:sp>
    </p:spTree>
    <p:extLst>
      <p:ext uri="{BB962C8B-B14F-4D97-AF65-F5344CB8AC3E}">
        <p14:creationId xmlns:p14="http://schemas.microsoft.com/office/powerpoint/2010/main" val="38645601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if you wanna get theoretical, the compiler itself is a proof of the Turing-completeness of the source language by reduction onto a target language which is known to be Turing-complete. FUN.</a:t>
            </a:r>
          </a:p>
          <a:p>
            <a:r>
              <a:rPr lang="en-US" dirty="0"/>
              <a:t>- code is FUNGIBLE. that's a great word. </a:t>
            </a:r>
            <a:r>
              <a:rPr lang="en-US" i="1" dirty="0"/>
              <a:t>fungible. </a:t>
            </a:r>
            <a:r>
              <a:rPr lang="en-US" i="0" dirty="0"/>
              <a:t>"mutually interchangeable." you can take any piece of code, convert it to another language, and have it do the exact same thing. maybe not the same performance characteristics, but the same behaviors.</a:t>
            </a:r>
            <a:endParaRPr lang="en-US" dirty="0"/>
          </a:p>
          <a:p>
            <a:endParaRPr lang="en-US" dirty="0"/>
          </a:p>
          <a:p>
            <a:r>
              <a:rPr lang="en-US" dirty="0"/>
              <a:t>[diagram: </a:t>
            </a:r>
            <a:r>
              <a:rPr lang="en-US" dirty="0" err="1"/>
              <a:t>javac</a:t>
            </a:r>
            <a:r>
              <a:rPr lang="en-US" dirty="0"/>
              <a:t> compiles java code to JVM bytecode. </a:t>
            </a:r>
            <a:r>
              <a:rPr lang="en-US" dirty="0" err="1"/>
              <a:t>gcc</a:t>
            </a:r>
            <a:r>
              <a:rPr lang="en-US" dirty="0"/>
              <a:t> compiles C code to e.g. x86 machine code. a </a:t>
            </a:r>
            <a:r>
              <a:rPr lang="en-US" dirty="0" err="1"/>
              <a:t>transpiler</a:t>
            </a:r>
            <a:r>
              <a:rPr lang="en-US" dirty="0"/>
              <a:t> could convert Java to C or vice versa. the Java VM uses a </a:t>
            </a:r>
            <a:r>
              <a:rPr lang="en-US" dirty="0" err="1"/>
              <a:t>recompiler</a:t>
            </a:r>
            <a:r>
              <a:rPr lang="en-US" dirty="0"/>
              <a:t> to convert JVM bytecode to x86 machine code. and programs like </a:t>
            </a:r>
            <a:r>
              <a:rPr lang="en-US" dirty="0" err="1"/>
              <a:t>ghidra</a:t>
            </a:r>
            <a:r>
              <a:rPr lang="en-US" dirty="0"/>
              <a:t> and hex-rays can attempt to reconstruct C code from machine code.]</a:t>
            </a:r>
          </a:p>
        </p:txBody>
      </p:sp>
      <p:sp>
        <p:nvSpPr>
          <p:cNvPr id="4" name="Slide Number Placeholder 3"/>
          <p:cNvSpPr>
            <a:spLocks noGrp="1"/>
          </p:cNvSpPr>
          <p:nvPr>
            <p:ph type="sldNum" sz="quarter" idx="5"/>
          </p:nvPr>
        </p:nvSpPr>
        <p:spPr/>
        <p:txBody>
          <a:bodyPr/>
          <a:lstStyle/>
          <a:p>
            <a:fld id="{999729AB-B77D-48AE-AA10-D1BD2B4D03EA}" type="slidenum">
              <a:rPr lang="en-US" smtClean="0"/>
              <a:pPr/>
              <a:t>19</a:t>
            </a:fld>
            <a:endParaRPr lang="en-US"/>
          </a:p>
        </p:txBody>
      </p:sp>
    </p:spTree>
    <p:extLst>
      <p:ext uri="{BB962C8B-B14F-4D97-AF65-F5344CB8AC3E}">
        <p14:creationId xmlns:p14="http://schemas.microsoft.com/office/powerpoint/2010/main" val="24245323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AOT compilation gives you a self-contained executable that can just be plopped onto the CPU and it Just Works, but…</a:t>
            </a:r>
          </a:p>
          <a:p>
            <a:r>
              <a:rPr lang="en-US" dirty="0"/>
              <a:t>	- it's tied to exactly one version of one CPU architecture, and must be recompiled for each new target</a:t>
            </a:r>
          </a:p>
          <a:p>
            <a:r>
              <a:rPr lang="en-US" dirty="0"/>
              <a:t>- JIT compilation is kind of the opposite of those things – platform-independence, but more complex runtime</a:t>
            </a:r>
          </a:p>
          <a:p>
            <a:r>
              <a:rPr lang="en-US" dirty="0"/>
              <a:t>	- for practical reasons, JITed programs can run slower to start with, but then "pick up speed" over time.</a:t>
            </a:r>
          </a:p>
          <a:p>
            <a:r>
              <a:rPr lang="en-US" dirty="0"/>
              <a:t>- Like compiled/interpreted, these methodologies are not tied to the language. you can AOT-compile Java and you can JIT-compile C.</a:t>
            </a:r>
          </a:p>
          <a:p>
            <a:endParaRPr lang="en-US" dirty="0"/>
          </a:p>
          <a:p>
            <a:r>
              <a:rPr lang="en-US" dirty="0"/>
              <a:t>[diagram: C code is converted to an executable file, which can be fed (almost) directly into the CPU. Java code is converted to a class file, which is fed to the JVM (java command). the JVM can use an interpreter to run the bytecode, or JIT it to native code for the CPU.]</a:t>
            </a:r>
          </a:p>
        </p:txBody>
      </p:sp>
      <p:sp>
        <p:nvSpPr>
          <p:cNvPr id="4" name="Slide Number Placeholder 3"/>
          <p:cNvSpPr>
            <a:spLocks noGrp="1"/>
          </p:cNvSpPr>
          <p:nvPr>
            <p:ph type="sldNum" sz="quarter" idx="5"/>
          </p:nvPr>
        </p:nvSpPr>
        <p:spPr/>
        <p:txBody>
          <a:bodyPr/>
          <a:lstStyle/>
          <a:p>
            <a:fld id="{999729AB-B77D-48AE-AA10-D1BD2B4D03EA}" type="slidenum">
              <a:rPr lang="en-US" smtClean="0"/>
              <a:pPr/>
              <a:t>20</a:t>
            </a:fld>
            <a:endParaRPr lang="en-US"/>
          </a:p>
        </p:txBody>
      </p:sp>
    </p:spTree>
    <p:extLst>
      <p:ext uri="{BB962C8B-B14F-4D97-AF65-F5344CB8AC3E}">
        <p14:creationId xmlns:p14="http://schemas.microsoft.com/office/powerpoint/2010/main" val="25439292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roughly, the first half of the course is the frontend and the second half is the backend.</a:t>
            </a:r>
          </a:p>
          <a:p>
            <a:r>
              <a:rPr lang="en-US" dirty="0"/>
              <a:t>- using a third more abstract language than either the source or the target lets us </a:t>
            </a:r>
            <a:r>
              <a:rPr lang="en-US" i="1" dirty="0"/>
              <a:t>retarget</a:t>
            </a:r>
            <a:r>
              <a:rPr lang="en-US" i="0" dirty="0"/>
              <a:t> the compiler</a:t>
            </a:r>
          </a:p>
          <a:p>
            <a:r>
              <a:rPr lang="en-US" i="0" dirty="0"/>
              <a:t>	- in other words, use the same frontend with different backends to produce code for different architectures</a:t>
            </a:r>
          </a:p>
          <a:p>
            <a:r>
              <a:rPr lang="en-US" i="0" dirty="0"/>
              <a:t>- or we can use one backend and multiple frontends, to get high quality compilers for many languages</a:t>
            </a:r>
          </a:p>
          <a:p>
            <a:r>
              <a:rPr lang="en-US" i="0" dirty="0"/>
              <a:t>	- this is what LLVM is: a backend!</a:t>
            </a:r>
          </a:p>
          <a:p>
            <a:endParaRPr lang="en-US" i="0" dirty="0"/>
          </a:p>
          <a:p>
            <a:r>
              <a:rPr lang="en-US" i="0" dirty="0"/>
              <a:t>[diagram: the source code, </a:t>
            </a:r>
            <a:r>
              <a:rPr lang="en-US" i="0" dirty="0" err="1"/>
              <a:t>hello.c</a:t>
            </a:r>
            <a:r>
              <a:rPr lang="en-US" i="0" dirty="0"/>
              <a:t>, is fed to the frontend. the frontend produces some abstract, “correct” program representation. that representation is then fed to the backend, which produces the executable program, </a:t>
            </a:r>
            <a:r>
              <a:rPr lang="en-US" i="0" dirty="0" err="1"/>
              <a:t>hello.exe</a:t>
            </a:r>
            <a:r>
              <a:rPr lang="en-US" i="0" dirty="0"/>
              <a:t>.]</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21</a:t>
            </a:fld>
            <a:endParaRPr lang="en-US"/>
          </a:p>
        </p:txBody>
      </p:sp>
    </p:spTree>
    <p:extLst>
      <p:ext uri="{BB962C8B-B14F-4D97-AF65-F5344CB8AC3E}">
        <p14:creationId xmlns:p14="http://schemas.microsoft.com/office/powerpoint/2010/main" val="24227161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strictly speaking </a:t>
            </a:r>
            <a:r>
              <a:rPr lang="en-US" dirty="0" err="1"/>
              <a:t>lexing</a:t>
            </a:r>
            <a:r>
              <a:rPr lang="en-US" dirty="0"/>
              <a:t> isn't </a:t>
            </a:r>
            <a:r>
              <a:rPr lang="en-US" i="1" dirty="0"/>
              <a:t>required</a:t>
            </a:r>
            <a:r>
              <a:rPr lang="en-US" i="0" dirty="0"/>
              <a:t> but damn if it doesn't make parsing a lot easier.</a:t>
            </a:r>
          </a:p>
          <a:p>
            <a:pPr marL="171450" indent="-171450">
              <a:buFontTx/>
              <a:buChar char="-"/>
            </a:pPr>
            <a:endParaRPr lang="en-US" i="0" dirty="0"/>
          </a:p>
          <a:p>
            <a:pPr marL="0" indent="0">
              <a:buFontTx/>
              <a:buNone/>
            </a:pPr>
            <a:r>
              <a:rPr lang="en-US" i="0" dirty="0"/>
              <a:t>[diagram: the sentence “This is English.” this becomes four tokens: “this,” “is”, “English”, and a period. The program code “void main(){}” becomes 6 tokens: “void”, “main”, left-</a:t>
            </a:r>
            <a:r>
              <a:rPr lang="en-US" i="0" dirty="0" err="1"/>
              <a:t>paren</a:t>
            </a:r>
            <a:r>
              <a:rPr lang="en-US" i="0" dirty="0"/>
              <a:t>, right-</a:t>
            </a:r>
            <a:r>
              <a:rPr lang="en-US" i="0" dirty="0" err="1"/>
              <a:t>paren</a:t>
            </a:r>
            <a:r>
              <a:rPr lang="en-US" i="0" dirty="0"/>
              <a:t>, left-brace, and right-brace. then there is an example of a string literal with an open quote but no closing quote. Finally, the code “if&lt;class)++” looks like nonsense, but can be correctly tokenized as 5 tokens: “if”, less-than, “class”, right-</a:t>
            </a:r>
            <a:r>
              <a:rPr lang="en-US" i="0" dirty="0" err="1"/>
              <a:t>paren</a:t>
            </a:r>
            <a:r>
              <a:rPr lang="en-US" i="0" dirty="0"/>
              <a:t>, and increment.]</a:t>
            </a:r>
          </a:p>
        </p:txBody>
      </p:sp>
      <p:sp>
        <p:nvSpPr>
          <p:cNvPr id="4" name="Slide Number Placeholder 3"/>
          <p:cNvSpPr>
            <a:spLocks noGrp="1"/>
          </p:cNvSpPr>
          <p:nvPr>
            <p:ph type="sldNum" sz="quarter" idx="5"/>
          </p:nvPr>
        </p:nvSpPr>
        <p:spPr/>
        <p:txBody>
          <a:bodyPr/>
          <a:lstStyle/>
          <a:p>
            <a:fld id="{999729AB-B77D-48AE-AA10-D1BD2B4D03EA}" type="slidenum">
              <a:rPr lang="en-US" smtClean="0"/>
              <a:pPr/>
              <a:t>22</a:t>
            </a:fld>
            <a:endParaRPr lang="en-US"/>
          </a:p>
        </p:txBody>
      </p:sp>
    </p:spTree>
    <p:extLst>
      <p:ext uri="{BB962C8B-B14F-4D97-AF65-F5344CB8AC3E}">
        <p14:creationId xmlns:p14="http://schemas.microsoft.com/office/powerpoint/2010/main" val="9758286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AST can be a simple kind of IR, but in practice it's converted into other forms to do more advanced program transformations.</a:t>
            </a:r>
          </a:p>
          <a:p>
            <a:r>
              <a:rPr lang="en-US" dirty="0"/>
              <a:t>- I made this slide at bedtime when my cat Ozzie was staring at me, attempting to drill into my mind and make me go to bed</a:t>
            </a:r>
          </a:p>
          <a:p>
            <a:endParaRPr lang="en-US" dirty="0"/>
          </a:p>
          <a:p>
            <a:r>
              <a:rPr lang="en-US" dirty="0"/>
              <a:t>[diagrams: showing the hierarchical tree structure of both an </a:t>
            </a:r>
            <a:r>
              <a:rPr lang="en-US" dirty="0" err="1"/>
              <a:t>english</a:t>
            </a:r>
            <a:r>
              <a:rPr lang="en-US" dirty="0"/>
              <a:t> language sentence and a programming language statement. </a:t>
            </a:r>
          </a:p>
          <a:p>
            <a:endParaRPr lang="en-US" dirty="0"/>
          </a:p>
          <a:p>
            <a:r>
              <a:rPr lang="en-US" dirty="0"/>
              <a:t>“The cat stares at me” is a sentence with 2 children, noun-phrase and verb-phrase. The noun-phrase has 2 children, article (the) and noun (cat). The verb-phrase has 2 children, the verb (stares) and a prepositional-phrase. The prepositional-phrase has 2 children, a preposition (at) and a pronoun (me).</a:t>
            </a:r>
          </a:p>
          <a:p>
            <a:endParaRPr lang="en-US" dirty="0"/>
          </a:p>
          <a:p>
            <a:r>
              <a:rPr lang="en-US" dirty="0"/>
              <a:t>In a similar way, the code “if(x) y(); else z();” is an if-else with 3 children: condition, then, and else. The condition is an identifier (x). The then is a function call, of function y with no arguments. The else is a function call, of function z with no arguments.]</a:t>
            </a:r>
          </a:p>
        </p:txBody>
      </p:sp>
      <p:sp>
        <p:nvSpPr>
          <p:cNvPr id="4" name="Slide Number Placeholder 3"/>
          <p:cNvSpPr>
            <a:spLocks noGrp="1"/>
          </p:cNvSpPr>
          <p:nvPr>
            <p:ph type="sldNum" sz="quarter" idx="5"/>
          </p:nvPr>
        </p:nvSpPr>
        <p:spPr/>
        <p:txBody>
          <a:bodyPr/>
          <a:lstStyle/>
          <a:p>
            <a:fld id="{999729AB-B77D-48AE-AA10-D1BD2B4D03EA}" type="slidenum">
              <a:rPr lang="en-US" smtClean="0"/>
              <a:pPr/>
              <a:t>23</a:t>
            </a:fld>
            <a:endParaRPr lang="en-US"/>
          </a:p>
        </p:txBody>
      </p:sp>
    </p:spTree>
    <p:extLst>
      <p:ext uri="{BB962C8B-B14F-4D97-AF65-F5344CB8AC3E}">
        <p14:creationId xmlns:p14="http://schemas.microsoft.com/office/powerpoint/2010/main" val="2045022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type systems are the main way we check for correctness; types are a way of encoding proofs of correctness into your code</a:t>
            </a:r>
          </a:p>
          <a:p>
            <a:r>
              <a:rPr lang="en-US" dirty="0"/>
              <a:t>	- but the complexity of these proofs can get so high that the compiler can't check them any more (halting problem)…</a:t>
            </a:r>
          </a:p>
          <a:p>
            <a:r>
              <a:rPr lang="en-US" dirty="0"/>
              <a:t>	- and type annotations can start swamping out the actual code</a:t>
            </a:r>
          </a:p>
          <a:p>
            <a:pPr marL="171450" indent="-171450">
              <a:buFontTx/>
              <a:buChar char="-"/>
            </a:pPr>
            <a:r>
              <a:rPr lang="en-US" dirty="0"/>
              <a:t>so type system design is a balancing act of "prevents enough mistakes to be useful" and "lets the programmer do what they want" and "doesn't make the code unreadably dense”</a:t>
            </a:r>
          </a:p>
          <a:p>
            <a:pPr marL="171450" indent="-171450">
              <a:buFontTx/>
              <a:buChar char="-"/>
            </a:pPr>
            <a:endParaRPr lang="en-US" dirty="0"/>
          </a:p>
          <a:p>
            <a:pPr marL="0" indent="0">
              <a:buFontTx/>
              <a:buNone/>
            </a:pPr>
            <a:r>
              <a:rPr lang="en-US" dirty="0"/>
              <a:t>[diagram: the code “x = 10;” gives an undefined reference to x error. The code “</a:t>
            </a:r>
            <a:r>
              <a:rPr lang="en-US" dirty="0" err="1"/>
              <a:t>int</a:t>
            </a:r>
            <a:r>
              <a:rPr lang="en-US" dirty="0"/>
              <a:t> x = 1.0;” gives a possible loss of precision error. The code “</a:t>
            </a:r>
            <a:r>
              <a:rPr lang="en-US" dirty="0" err="1"/>
              <a:t>int</a:t>
            </a:r>
            <a:r>
              <a:rPr lang="en-US" dirty="0"/>
              <a:t> x = 1;” checks out and is “correct” according to the compiler.]</a:t>
            </a:r>
          </a:p>
        </p:txBody>
      </p:sp>
      <p:sp>
        <p:nvSpPr>
          <p:cNvPr id="4" name="Slide Number Placeholder 3"/>
          <p:cNvSpPr>
            <a:spLocks noGrp="1"/>
          </p:cNvSpPr>
          <p:nvPr>
            <p:ph type="sldNum" sz="quarter" idx="5"/>
          </p:nvPr>
        </p:nvSpPr>
        <p:spPr/>
        <p:txBody>
          <a:bodyPr/>
          <a:lstStyle/>
          <a:p>
            <a:fld id="{999729AB-B77D-48AE-AA10-D1BD2B4D03EA}" type="slidenum">
              <a:rPr lang="en-US" smtClean="0"/>
              <a:pPr/>
              <a:t>24</a:t>
            </a:fld>
            <a:endParaRPr lang="en-US"/>
          </a:p>
        </p:txBody>
      </p:sp>
    </p:spTree>
    <p:extLst>
      <p:ext uri="{BB962C8B-B14F-4D97-AF65-F5344CB8AC3E}">
        <p14:creationId xmlns:p14="http://schemas.microsoft.com/office/powerpoint/2010/main" val="35777783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is an example of "loop unrolling" – replacing a loop with copies of its contents, which can eliminate a lot of conditional branches at the cost of much more code, which might not fit in the cache… so its applicability really depends on the code and the CPU it will run on.</a:t>
            </a:r>
          </a:p>
          <a:p>
            <a:r>
              <a:rPr lang="en-US" dirty="0"/>
              <a:t>	- which is one reason why JIT compilers can do better than AOT compilers – the JIT compiler knows more about the CPU about to run the code than an AOT compiler does!</a:t>
            </a:r>
          </a:p>
          <a:p>
            <a:endParaRPr lang="en-US" dirty="0"/>
          </a:p>
          <a:p>
            <a:r>
              <a:rPr lang="en-US" dirty="0"/>
              <a:t>[diagram: a short for-loop that runs for 4 iterations is replaced with 4 lines of code that do the same thing without the loop. Then that can be converted to assembly, and ultimately machine code.]</a:t>
            </a:r>
          </a:p>
        </p:txBody>
      </p:sp>
      <p:sp>
        <p:nvSpPr>
          <p:cNvPr id="4" name="Slide Number Placeholder 3"/>
          <p:cNvSpPr>
            <a:spLocks noGrp="1"/>
          </p:cNvSpPr>
          <p:nvPr>
            <p:ph type="sldNum" sz="quarter" idx="5"/>
          </p:nvPr>
        </p:nvSpPr>
        <p:spPr/>
        <p:txBody>
          <a:bodyPr/>
          <a:lstStyle/>
          <a:p>
            <a:fld id="{999729AB-B77D-48AE-AA10-D1BD2B4D03EA}" type="slidenum">
              <a:rPr lang="en-US" smtClean="0"/>
              <a:pPr/>
              <a:t>25</a:t>
            </a:fld>
            <a:endParaRPr lang="en-US"/>
          </a:p>
        </p:txBody>
      </p:sp>
    </p:spTree>
    <p:extLst>
      <p:ext uri="{BB962C8B-B14F-4D97-AF65-F5344CB8AC3E}">
        <p14:creationId xmlns:p14="http://schemas.microsoft.com/office/powerpoint/2010/main" val="23317103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can you tell I like this stuff?</a:t>
            </a:r>
          </a:p>
        </p:txBody>
      </p:sp>
      <p:sp>
        <p:nvSpPr>
          <p:cNvPr id="4" name="Slide Number Placeholder 3"/>
          <p:cNvSpPr>
            <a:spLocks noGrp="1"/>
          </p:cNvSpPr>
          <p:nvPr>
            <p:ph type="sldNum" sz="quarter" idx="5"/>
          </p:nvPr>
        </p:nvSpPr>
        <p:spPr/>
        <p:txBody>
          <a:bodyPr/>
          <a:lstStyle/>
          <a:p>
            <a:fld id="{999729AB-B77D-48AE-AA10-D1BD2B4D03EA}" type="slidenum">
              <a:rPr lang="en-US" smtClean="0"/>
              <a:pPr/>
              <a:t>26</a:t>
            </a:fld>
            <a:endParaRPr lang="en-US"/>
          </a:p>
        </p:txBody>
      </p:sp>
    </p:spTree>
    <p:extLst>
      <p:ext uri="{BB962C8B-B14F-4D97-AF65-F5344CB8AC3E}">
        <p14:creationId xmlns:p14="http://schemas.microsoft.com/office/powerpoint/2010/main" val="1147667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all languages can be used to solve all problems. the difference is: how natural and elegant is it to do so?</a:t>
            </a:r>
          </a:p>
          <a:p>
            <a:r>
              <a:rPr lang="en-US" dirty="0"/>
              <a:t>	- Java's strengths mostly come from its widespread support, community, and low barrier to entry</a:t>
            </a:r>
          </a:p>
          <a:p>
            <a:r>
              <a:rPr lang="en-US" dirty="0"/>
              <a:t>	- but it is not good for elegant code.</a:t>
            </a:r>
          </a:p>
          <a:p>
            <a:r>
              <a:rPr lang="en-US" dirty="0"/>
              <a:t>	- C has no strengths. it's a terrible language.</a:t>
            </a:r>
          </a:p>
          <a:p>
            <a:r>
              <a:rPr lang="en-US" dirty="0"/>
              <a:t>- Rust is not a perfect language by any stretch of the imagination!</a:t>
            </a:r>
          </a:p>
          <a:p>
            <a:r>
              <a:rPr lang="en-US" dirty="0"/>
              <a:t>	- it's just a better choice than Java or C for the purposes of this course.</a:t>
            </a:r>
          </a:p>
          <a:p>
            <a:pPr marL="171450" indent="-171450">
              <a:buFontTx/>
              <a:buChar char="-"/>
            </a:pPr>
            <a:r>
              <a:rPr lang="en-US" dirty="0"/>
              <a:t>A grad compilers course would probably have you write in Haskell or </a:t>
            </a:r>
            <a:r>
              <a:rPr lang="en-US" dirty="0" err="1"/>
              <a:t>OCaml</a:t>
            </a:r>
            <a:r>
              <a:rPr lang="en-US" dirty="0"/>
              <a:t> or something, but those are </a:t>
            </a:r>
            <a:r>
              <a:rPr lang="en-US" i="1" dirty="0"/>
              <a:t>hardcore FP languages</a:t>
            </a:r>
            <a:r>
              <a:rPr lang="en-US" i="0" dirty="0"/>
              <a:t> and I am not comfortable enough with them to teach a course in them and we'd waste a bunch of time teaching the language instead of writing compilers.</a:t>
            </a:r>
          </a:p>
          <a:p>
            <a:pPr marL="171450" indent="-171450">
              <a:buFontTx/>
              <a:buChar char="-"/>
            </a:pPr>
            <a:endParaRPr lang="en-US" i="0" dirty="0"/>
          </a:p>
          <a:p>
            <a:pPr marL="0" indent="0">
              <a:buFontTx/>
              <a:buNone/>
            </a:pPr>
            <a:r>
              <a:rPr lang="en-US" i="0" dirty="0"/>
              <a:t>[diagram: a table comparing the relative merits of Java, C, and Rust on features relevant for writing compilers. Java is okay, C is terrible, and Rust is much better by these metrics.]</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28</a:t>
            </a:fld>
            <a:endParaRPr lang="en-US"/>
          </a:p>
        </p:txBody>
      </p:sp>
    </p:spTree>
    <p:extLst>
      <p:ext uri="{BB962C8B-B14F-4D97-AF65-F5344CB8AC3E}">
        <p14:creationId xmlns:p14="http://schemas.microsoft.com/office/powerpoint/2010/main" val="7607294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PL = programming language. lol.</a:t>
            </a:r>
          </a:p>
          <a:p>
            <a:r>
              <a:rPr lang="en-US" dirty="0"/>
              <a:t>- most of the confusing complexity happens when you start borrowing values.</a:t>
            </a:r>
          </a:p>
          <a:p>
            <a:r>
              <a:rPr lang="en-US" dirty="0"/>
              <a:t>	- but we can sidestep a lot of that by using certain types and coding idioms.</a:t>
            </a:r>
          </a:p>
          <a:p>
            <a:r>
              <a:rPr lang="en-US" dirty="0"/>
              <a:t>	- it'll be less performant than "idiomatic Rust" but it'll still work fine.</a:t>
            </a:r>
          </a:p>
        </p:txBody>
      </p:sp>
      <p:sp>
        <p:nvSpPr>
          <p:cNvPr id="4" name="Slide Number Placeholder 3"/>
          <p:cNvSpPr>
            <a:spLocks noGrp="1"/>
          </p:cNvSpPr>
          <p:nvPr>
            <p:ph type="sldNum" sz="quarter" idx="5"/>
          </p:nvPr>
        </p:nvSpPr>
        <p:spPr/>
        <p:txBody>
          <a:bodyPr/>
          <a:lstStyle/>
          <a:p>
            <a:fld id="{999729AB-B77D-48AE-AA10-D1BD2B4D03EA}" type="slidenum">
              <a:rPr lang="en-US" smtClean="0"/>
              <a:pPr/>
              <a:t>29</a:t>
            </a:fld>
            <a:endParaRPr lang="en-US"/>
          </a:p>
        </p:txBody>
      </p:sp>
    </p:spTree>
    <p:extLst>
      <p:ext uri="{BB962C8B-B14F-4D97-AF65-F5344CB8AC3E}">
        <p14:creationId xmlns:p14="http://schemas.microsoft.com/office/powerpoint/2010/main" val="10913314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no class around everything (classes don't exist in Rust)</a:t>
            </a:r>
          </a:p>
          <a:p>
            <a:r>
              <a:rPr lang="en-US" dirty="0"/>
              <a:t>- function declared with "</a:t>
            </a:r>
            <a:r>
              <a:rPr lang="en-US" dirty="0" err="1"/>
              <a:t>fn</a:t>
            </a:r>
            <a:r>
              <a:rPr lang="en-US" dirty="0"/>
              <a:t>" keyword</a:t>
            </a:r>
          </a:p>
          <a:p>
            <a:r>
              <a:rPr lang="en-US" dirty="0"/>
              <a:t>- cool syntax for ranges of numbers (..= means "upper bound inclusive")</a:t>
            </a:r>
          </a:p>
          <a:p>
            <a:r>
              <a:rPr lang="en-US" dirty="0"/>
              <a:t>- no parentheses around loop/if conditions</a:t>
            </a:r>
          </a:p>
          <a:p>
            <a:r>
              <a:rPr lang="en-US" dirty="0"/>
              <a:t>- curly braces </a:t>
            </a:r>
            <a:r>
              <a:rPr lang="en-US" i="1" dirty="0"/>
              <a:t>always</a:t>
            </a:r>
            <a:r>
              <a:rPr lang="en-US" i="0" dirty="0"/>
              <a:t> required</a:t>
            </a:r>
          </a:p>
          <a:p>
            <a:r>
              <a:rPr lang="en-US" i="0" dirty="0"/>
              <a:t>- other than that, it looks pretty familiar!</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31</a:t>
            </a:fld>
            <a:endParaRPr lang="en-US"/>
          </a:p>
        </p:txBody>
      </p:sp>
    </p:spTree>
    <p:extLst>
      <p:ext uri="{BB962C8B-B14F-4D97-AF65-F5344CB8AC3E}">
        <p14:creationId xmlns:p14="http://schemas.microsoft.com/office/powerpoint/2010/main" val="34550896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Rust does have things called "arrays" too, but they are a fixed size which must be known at compile time, and are not as common.</a:t>
            </a:r>
          </a:p>
          <a:p>
            <a:r>
              <a:rPr lang="en-US" dirty="0"/>
              <a:t>- </a:t>
            </a:r>
            <a:r>
              <a:rPr lang="en-US" dirty="0" err="1"/>
              <a:t>Vec</a:t>
            </a:r>
            <a:r>
              <a:rPr lang="en-US" dirty="0"/>
              <a:t> is a more familiar type if you're coming from most other languages.</a:t>
            </a:r>
          </a:p>
        </p:txBody>
      </p:sp>
      <p:sp>
        <p:nvSpPr>
          <p:cNvPr id="4" name="Slide Number Placeholder 3"/>
          <p:cNvSpPr>
            <a:spLocks noGrp="1"/>
          </p:cNvSpPr>
          <p:nvPr>
            <p:ph type="sldNum" sz="quarter" idx="5"/>
          </p:nvPr>
        </p:nvSpPr>
        <p:spPr/>
        <p:txBody>
          <a:bodyPr/>
          <a:lstStyle/>
          <a:p>
            <a:fld id="{999729AB-B77D-48AE-AA10-D1BD2B4D03EA}" type="slidenum">
              <a:rPr lang="en-US" smtClean="0"/>
              <a:pPr/>
              <a:t>32</a:t>
            </a:fld>
            <a:endParaRPr lang="en-US"/>
          </a:p>
        </p:txBody>
      </p:sp>
    </p:spTree>
    <p:extLst>
      <p:ext uri="{BB962C8B-B14F-4D97-AF65-F5344CB8AC3E}">
        <p14:creationId xmlns:p14="http://schemas.microsoft.com/office/powerpoint/2010/main" val="18623009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is us running afoul of Rust's really cool </a:t>
            </a:r>
            <a:r>
              <a:rPr lang="en-US" i="1" dirty="0"/>
              <a:t>ownership system.</a:t>
            </a:r>
          </a:p>
          <a:p>
            <a:r>
              <a:rPr lang="en-US" i="1" dirty="0"/>
              <a:t>	- </a:t>
            </a:r>
            <a:r>
              <a:rPr lang="en-US" i="0" dirty="0"/>
              <a:t>ownership encodes information about who is responsible for, or currently using, an object.</a:t>
            </a:r>
          </a:p>
          <a:p>
            <a:r>
              <a:rPr lang="en-US" i="0" dirty="0"/>
              <a:t>- but it can take some getting used to, so </a:t>
            </a:r>
            <a:r>
              <a:rPr lang="en-US" i="1" dirty="0"/>
              <a:t>don't</a:t>
            </a:r>
            <a:r>
              <a:rPr lang="en-US" i="0" dirty="0"/>
              <a:t> feel bad if you don't get it at first.</a:t>
            </a:r>
          </a:p>
          <a:p>
            <a:r>
              <a:rPr lang="en-US" i="0" dirty="0"/>
              <a:t>	- many times, following the compiler's advice is enough to make it shut up about ownership and borrowing and moves.</a:t>
            </a:r>
          </a:p>
          <a:p>
            <a:endParaRPr lang="en-US" i="0" dirty="0"/>
          </a:p>
          <a:p>
            <a:r>
              <a:rPr lang="en-US" i="0" dirty="0"/>
              <a:t>[image: an example of a Rust compiler error, which not only gives the error message and location, but several more lines explaining the error, why it happened, and how to fix it]</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33</a:t>
            </a:fld>
            <a:endParaRPr lang="en-US"/>
          </a:p>
        </p:txBody>
      </p:sp>
    </p:spTree>
    <p:extLst>
      <p:ext uri="{BB962C8B-B14F-4D97-AF65-F5344CB8AC3E}">
        <p14:creationId xmlns:p14="http://schemas.microsoft.com/office/powerpoint/2010/main" val="37497644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202729"/>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14501"/>
            <a:ext cx="7772400" cy="1225021"/>
          </a:xfrm>
        </p:spPr>
        <p:txBody>
          <a:bodyPr anchor="b">
            <a:noAutofit/>
          </a:bodyPr>
          <a:lstStyle>
            <a:lvl1pPr algn="l">
              <a:defRPr sz="4800"/>
            </a:lvl1pPr>
          </a:lstStyle>
          <a:p>
            <a:r>
              <a:rPr lang="en-US" dirty="0"/>
              <a:t>Click to edit Master title style</a:t>
            </a:r>
          </a:p>
        </p:txBody>
      </p:sp>
      <p:sp>
        <p:nvSpPr>
          <p:cNvPr id="3" name="Subtitle 2"/>
          <p:cNvSpPr>
            <a:spLocks noGrp="1"/>
          </p:cNvSpPr>
          <p:nvPr>
            <p:ph type="subTitle" idx="1"/>
          </p:nvPr>
        </p:nvSpPr>
        <p:spPr>
          <a:xfrm>
            <a:off x="685800" y="3177645"/>
            <a:ext cx="7772400" cy="1460500"/>
          </a:xfrm>
          <a:noFill/>
        </p:spPr>
        <p:txBody>
          <a:bodyPr>
            <a:normAutofit/>
          </a:bodyPr>
          <a:lstStyle>
            <a:lvl1pPr marL="0" indent="0" algn="l">
              <a:buNone/>
              <a:defRPr sz="2400">
                <a:solidFill>
                  <a:schemeClr val="bg1"/>
                </a:solidFill>
              </a:defRPr>
            </a:lvl1pPr>
            <a:lvl2pPr marL="411480" indent="0" algn="ctr">
              <a:buNone/>
              <a:defRPr>
                <a:solidFill>
                  <a:schemeClr val="tx1">
                    <a:tint val="75000"/>
                  </a:schemeClr>
                </a:solidFill>
              </a:defRPr>
            </a:lvl2pPr>
            <a:lvl3pPr marL="822960" indent="0" algn="ctr">
              <a:buNone/>
              <a:defRPr>
                <a:solidFill>
                  <a:schemeClr val="tx1">
                    <a:tint val="75000"/>
                  </a:schemeClr>
                </a:solidFill>
              </a:defRPr>
            </a:lvl3pPr>
            <a:lvl4pPr marL="1234440" indent="0" algn="ctr">
              <a:buNone/>
              <a:defRPr>
                <a:solidFill>
                  <a:schemeClr val="tx1">
                    <a:tint val="75000"/>
                  </a:schemeClr>
                </a:solidFill>
              </a:defRPr>
            </a:lvl4pPr>
            <a:lvl5pPr marL="1645920" indent="0" algn="ctr">
              <a:buNone/>
              <a:defRPr>
                <a:solidFill>
                  <a:schemeClr val="tx1">
                    <a:tint val="75000"/>
                  </a:schemeClr>
                </a:solidFill>
              </a:defRPr>
            </a:lvl5pPr>
            <a:lvl6pPr marL="2057400" indent="0" algn="ctr">
              <a:buNone/>
              <a:defRPr>
                <a:solidFill>
                  <a:schemeClr val="tx1">
                    <a:tint val="75000"/>
                  </a:schemeClr>
                </a:solidFill>
              </a:defRPr>
            </a:lvl6pPr>
            <a:lvl7pPr marL="2468880" indent="0" algn="ctr">
              <a:buNone/>
              <a:defRPr>
                <a:solidFill>
                  <a:schemeClr val="tx1">
                    <a:tint val="75000"/>
                  </a:schemeClr>
                </a:solidFill>
              </a:defRPr>
            </a:lvl7pPr>
            <a:lvl8pPr marL="2880360" indent="0" algn="ctr">
              <a:buNone/>
              <a:defRPr>
                <a:solidFill>
                  <a:schemeClr val="tx1">
                    <a:tint val="75000"/>
                  </a:schemeClr>
                </a:solidFill>
              </a:defRPr>
            </a:lvl8pPr>
            <a:lvl9pPr marL="3291840" indent="0" algn="ctr">
              <a:buNone/>
              <a:defRPr>
                <a:solidFill>
                  <a:schemeClr val="tx1">
                    <a:tint val="75000"/>
                  </a:schemeClr>
                </a:solidFill>
              </a:defRPr>
            </a:lvl9pPr>
          </a:lstStyle>
          <a:p>
            <a:r>
              <a:rPr lang="en-US"/>
              <a:t>Click to edit Master subtitle style</a:t>
            </a:r>
            <a:endParaRPr lang="en-US" dirty="0"/>
          </a:p>
        </p:txBody>
      </p:sp>
      <p:sp>
        <p:nvSpPr>
          <p:cNvPr id="5" name="Footer Placeholder 4"/>
          <p:cNvSpPr>
            <a:spLocks noGrp="1"/>
          </p:cNvSpPr>
          <p:nvPr>
            <p:ph type="ftr" sz="quarter" idx="11"/>
          </p:nvPr>
        </p:nvSpPr>
        <p:spPr/>
        <p:txBody>
          <a:bodyPr/>
          <a:lstStyle/>
          <a:p>
            <a:r>
              <a:rPr lang="cs-CZ"/>
              <a:t>CS447</a:t>
            </a:r>
            <a:endParaRPr lang="en-US" dirty="0"/>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
        <p:nvSpPr>
          <p:cNvPr id="7" name="Rectangle 6"/>
          <p:cNvSpPr/>
          <p:nvPr/>
        </p:nvSpPr>
        <p:spPr>
          <a:xfrm>
            <a:off x="0" y="3162300"/>
            <a:ext cx="9144000" cy="18288"/>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Tree>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95300"/>
          </a:xfrm>
        </p:spPr>
        <p:txBody>
          <a:bodyPr>
            <a:noAutofit/>
          </a:bodyPr>
          <a:lstStyle>
            <a:lvl1pPr>
              <a:defRPr sz="2800"/>
            </a:lvl1pPr>
          </a:lstStyle>
          <a:p>
            <a:r>
              <a:rPr lang="en-US" dirty="0"/>
              <a:t>Click to edit Master title style</a:t>
            </a:r>
          </a:p>
        </p:txBody>
      </p:sp>
      <p:sp>
        <p:nvSpPr>
          <p:cNvPr id="3" name="Content Placeholder 2"/>
          <p:cNvSpPr>
            <a:spLocks noGrp="1"/>
          </p:cNvSpPr>
          <p:nvPr>
            <p:ph idx="1"/>
          </p:nvPr>
        </p:nvSpPr>
        <p:spPr>
          <a:xfrm>
            <a:off x="152400" y="495301"/>
            <a:ext cx="8991600" cy="4801659"/>
          </a:xfrm>
        </p:spPr>
        <p:txBody>
          <a:bodyPr>
            <a:normAutofit/>
          </a:bodyPr>
          <a:lstStyle>
            <a:lvl1pPr marL="257175" indent="-257175">
              <a:buSzPct val="100000"/>
              <a:buFont typeface="Trebuchet MS" pitchFamily="34" charset="0"/>
              <a:buChar char="●"/>
              <a:defRPr sz="2200"/>
            </a:lvl1pPr>
            <a:lvl2pPr marL="515780" indent="-257175">
              <a:defRPr sz="2200"/>
            </a:lvl2pPr>
            <a:lvl3pPr marL="772955" indent="-250032">
              <a:tabLst/>
              <a:defRPr sz="2200" b="0"/>
            </a:lvl3pPr>
            <a:lvl4pPr marL="1031558" indent="-257175">
              <a:tabLst/>
              <a:defRPr sz="2200" b="0"/>
            </a:lvl4pPr>
            <a:lvl5pPr marL="1285875" indent="-254318">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lvl1pPr>
              <a:defRPr sz="1200"/>
            </a:lvl1pPr>
          </a:lstStyle>
          <a:p>
            <a:r>
              <a:rPr lang="cs-CZ"/>
              <a:t>CS447</a:t>
            </a:r>
            <a:endParaRPr lang="en-US" dirty="0"/>
          </a:p>
        </p:txBody>
      </p:sp>
      <p:sp>
        <p:nvSpPr>
          <p:cNvPr id="6" name="Slide Number Placeholder 5"/>
          <p:cNvSpPr>
            <a:spLocks noGrp="1"/>
          </p:cNvSpPr>
          <p:nvPr>
            <p:ph type="sldNum" sz="quarter" idx="12"/>
          </p:nvPr>
        </p:nvSpPr>
        <p:spPr/>
        <p:txBody>
          <a:bodyPr/>
          <a:lstStyle>
            <a:lvl1pPr>
              <a:defRPr sz="1200"/>
            </a:lvl1pPr>
          </a:lstStyle>
          <a:p>
            <a:fld id="{3552B95B-556F-44BD-91A5-D80C1B9E2BB3}" type="slidenum">
              <a:rPr lang="en-US" smtClean="0"/>
              <a:pPr/>
              <a:t>‹#›</a:t>
            </a:fld>
            <a:endParaRPr lang="en-US"/>
          </a:p>
        </p:txBody>
      </p:sp>
    </p:spTree>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5">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obj" preserve="1">
  <p:cSld name="Title and Content (no anim)">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95300"/>
          </a:xfrm>
        </p:spPr>
        <p:txBody>
          <a:bodyPr>
            <a:noAutofit/>
          </a:bodyPr>
          <a:lstStyle>
            <a:lvl1pPr>
              <a:defRPr sz="2800"/>
            </a:lvl1pPr>
          </a:lstStyle>
          <a:p>
            <a:r>
              <a:rPr lang="en-US" dirty="0"/>
              <a:t>Click to edit Master title style</a:t>
            </a:r>
          </a:p>
        </p:txBody>
      </p:sp>
      <p:sp>
        <p:nvSpPr>
          <p:cNvPr id="3" name="Content Placeholder 2"/>
          <p:cNvSpPr>
            <a:spLocks noGrp="1"/>
          </p:cNvSpPr>
          <p:nvPr>
            <p:ph idx="1"/>
          </p:nvPr>
        </p:nvSpPr>
        <p:spPr>
          <a:xfrm>
            <a:off x="152400" y="495301"/>
            <a:ext cx="8991600" cy="4801659"/>
          </a:xfrm>
        </p:spPr>
        <p:txBody>
          <a:bodyPr>
            <a:normAutofit/>
          </a:bodyPr>
          <a:lstStyle>
            <a:lvl1pPr marL="257175" indent="-257175">
              <a:buSzPct val="100000"/>
              <a:buFont typeface="Trebuchet MS" pitchFamily="34" charset="0"/>
              <a:buChar char="●"/>
              <a:defRPr sz="2200"/>
            </a:lvl1pPr>
            <a:lvl2pPr marL="515780" indent="-257175">
              <a:defRPr sz="2200"/>
            </a:lvl2pPr>
            <a:lvl3pPr marL="772955" indent="-250032">
              <a:tabLst/>
              <a:defRPr sz="2200" b="0"/>
            </a:lvl3pPr>
            <a:lvl4pPr marL="1031558" indent="-257175">
              <a:tabLst/>
              <a:defRPr sz="2200" b="0"/>
            </a:lvl4pPr>
            <a:lvl5pPr marL="1285875" indent="-254318">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lvl1pPr>
              <a:defRPr sz="1200"/>
            </a:lvl1pPr>
          </a:lstStyle>
          <a:p>
            <a:r>
              <a:rPr lang="cs-CZ"/>
              <a:t>CS447</a:t>
            </a:r>
            <a:endParaRPr lang="en-US" dirty="0"/>
          </a:p>
        </p:txBody>
      </p:sp>
      <p:sp>
        <p:nvSpPr>
          <p:cNvPr id="6" name="Slide Number Placeholder 5"/>
          <p:cNvSpPr>
            <a:spLocks noGrp="1"/>
          </p:cNvSpPr>
          <p:nvPr>
            <p:ph type="sldNum" sz="quarter" idx="12"/>
          </p:nvPr>
        </p:nvSpPr>
        <p:spPr/>
        <p:txBody>
          <a:bodyPr/>
          <a:lstStyle>
            <a:lvl1pPr>
              <a:defRPr sz="1200"/>
            </a:lvl1pPr>
          </a:lstStyle>
          <a:p>
            <a:fld id="{3552B95B-556F-44BD-91A5-D80C1B9E2BB3}" type="slidenum">
              <a:rPr lang="en-US" smtClean="0"/>
              <a:pPr/>
              <a:t>‹#›</a:t>
            </a:fld>
            <a:endParaRPr lang="en-US"/>
          </a:p>
        </p:txBody>
      </p:sp>
    </p:spTree>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202729"/>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14501"/>
            <a:ext cx="7772400" cy="1225021"/>
          </a:xfrm>
        </p:spPr>
        <p:txBody>
          <a:bodyPr anchor="b">
            <a:noAutofit/>
          </a:bodyPr>
          <a:lstStyle>
            <a:lvl1pPr algn="l">
              <a:defRPr sz="4800"/>
            </a:lvl1pPr>
          </a:lstStyle>
          <a:p>
            <a:r>
              <a:rPr lang="en-US" dirty="0"/>
              <a:t>Click to edit Master title style</a:t>
            </a:r>
          </a:p>
        </p:txBody>
      </p:sp>
      <p:sp>
        <p:nvSpPr>
          <p:cNvPr id="5" name="Footer Placeholder 4"/>
          <p:cNvSpPr>
            <a:spLocks noGrp="1"/>
          </p:cNvSpPr>
          <p:nvPr>
            <p:ph type="ftr" sz="quarter" idx="11"/>
          </p:nvPr>
        </p:nvSpPr>
        <p:spPr/>
        <p:txBody>
          <a:bodyPr/>
          <a:lstStyle/>
          <a:p>
            <a:r>
              <a:rPr lang="cs-CZ"/>
              <a:t>CS447</a:t>
            </a:r>
            <a:endParaRPr lang="en-US" dirty="0"/>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
        <p:nvSpPr>
          <p:cNvPr id="7" name="Rectangle 6"/>
          <p:cNvSpPr/>
          <p:nvPr/>
        </p:nvSpPr>
        <p:spPr>
          <a:xfrm>
            <a:off x="0" y="3162300"/>
            <a:ext cx="9144000" cy="18288"/>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Tree>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333501"/>
            <a:ext cx="4038600" cy="3771636"/>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333501"/>
            <a:ext cx="4038600" cy="3771636"/>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79261"/>
            <a:ext cx="4040188" cy="533136"/>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279261"/>
            <a:ext cx="4041775" cy="533136"/>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6" name="Content Placeholder 5"/>
          <p:cNvSpPr>
            <a:spLocks noGrp="1"/>
          </p:cNvSpPr>
          <p:nvPr>
            <p:ph sz="quarter" idx="4"/>
          </p:nvPr>
        </p:nvSpPr>
        <p:spPr>
          <a:xfrm>
            <a:off x="4645028" y="1812396"/>
            <a:ext cx="4041775" cy="3292740"/>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5296960"/>
            <a:ext cx="2133600" cy="304271"/>
          </a:xfrm>
          <a:prstGeom prst="rect">
            <a:avLst/>
          </a:prstGeom>
        </p:spPr>
        <p:txBody>
          <a:bodyPr/>
          <a:lstStyle/>
          <a:p>
            <a:endParaRPr lang="en-US"/>
          </a:p>
        </p:txBody>
      </p:sp>
      <p:sp>
        <p:nvSpPr>
          <p:cNvPr id="8" name="Footer Placeholder 7"/>
          <p:cNvSpPr>
            <a:spLocks noGrp="1"/>
          </p:cNvSpPr>
          <p:nvPr>
            <p:ph type="ftr" sz="quarter" idx="11"/>
          </p:nvPr>
        </p:nvSpPr>
        <p:spPr/>
        <p:txBody>
          <a:bodyPr/>
          <a:lstStyle/>
          <a:p>
            <a:r>
              <a:rPr lang="cs-CZ"/>
              <a:t>CS447</a:t>
            </a:r>
            <a:endParaRPr lang="en-US"/>
          </a:p>
        </p:txBody>
      </p:sp>
      <p:sp>
        <p:nvSpPr>
          <p:cNvPr id="9" name="Slide Number Placeholder 8"/>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5296960"/>
            <a:ext cx="2133600" cy="304271"/>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cs-CZ"/>
              <a:t>CS447</a:t>
            </a:r>
            <a:endParaRPr lang="en-US"/>
          </a:p>
        </p:txBody>
      </p:sp>
      <p:sp>
        <p:nvSpPr>
          <p:cNvPr id="5" name="Slide Number Placeholder 4"/>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5296960"/>
            <a:ext cx="2133600" cy="304271"/>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cs-CZ"/>
              <a:t>CS447</a:t>
            </a:r>
            <a:endParaRPr lang="en-US"/>
          </a:p>
        </p:txBody>
      </p:sp>
      <p:sp>
        <p:nvSpPr>
          <p:cNvPr id="4" name="Slide Number Placeholder 3"/>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27541"/>
            <a:ext cx="3008313" cy="968376"/>
          </a:xfrm>
        </p:spPr>
        <p:txBody>
          <a:bodyPr anchor="b"/>
          <a:lstStyle>
            <a:lvl1pPr algn="l">
              <a:defRPr sz="1800" b="1"/>
            </a:lvl1pPr>
          </a:lstStyle>
          <a:p>
            <a:r>
              <a:rPr lang="en-US"/>
              <a:t>Click to edit Master title style</a:t>
            </a:r>
          </a:p>
        </p:txBody>
      </p:sp>
      <p:sp>
        <p:nvSpPr>
          <p:cNvPr id="3" name="Content Placeholder 2"/>
          <p:cNvSpPr>
            <a:spLocks noGrp="1"/>
          </p:cNvSpPr>
          <p:nvPr>
            <p:ph idx="1"/>
          </p:nvPr>
        </p:nvSpPr>
        <p:spPr>
          <a:xfrm>
            <a:off x="3575050" y="227544"/>
            <a:ext cx="5111750" cy="4877594"/>
          </a:xfr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195919"/>
            <a:ext cx="3008313" cy="3909219"/>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2"/>
          </a:xfrm>
        </p:spPr>
        <p:txBody>
          <a:bodyPr anchor="b"/>
          <a:lstStyle>
            <a:lvl1pPr algn="l">
              <a:defRPr sz="1800" b="1"/>
            </a:lvl1pPr>
          </a:lstStyle>
          <a:p>
            <a:r>
              <a:rPr lang="en-US"/>
              <a:t>Click to edit Master title style</a:t>
            </a:r>
          </a:p>
        </p:txBody>
      </p:sp>
      <p:sp>
        <p:nvSpPr>
          <p:cNvPr id="3" name="Picture Placeholder 2"/>
          <p:cNvSpPr>
            <a:spLocks noGrp="1"/>
          </p:cNvSpPr>
          <p:nvPr>
            <p:ph type="pic" idx="1"/>
          </p:nvPr>
        </p:nvSpPr>
        <p:spPr>
          <a:xfrm>
            <a:off x="1792288" y="510646"/>
            <a:ext cx="5486400" cy="3429000"/>
          </a:xfrm>
        </p:spPr>
        <p:txBody>
          <a:bodyPr/>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r>
              <a:rPr lang="en-US" dirty="0"/>
              <a:t>Drag picture to placeholder or click icon to add</a:t>
            </a:r>
          </a:p>
        </p:txBody>
      </p:sp>
      <p:sp>
        <p:nvSpPr>
          <p:cNvPr id="4" name="Text Placeholder 3"/>
          <p:cNvSpPr>
            <a:spLocks noGrp="1"/>
          </p:cNvSpPr>
          <p:nvPr>
            <p:ph type="body" sz="half" idx="2"/>
          </p:nvPr>
        </p:nvSpPr>
        <p:spPr>
          <a:xfrm>
            <a:off x="1792288" y="4472783"/>
            <a:ext cx="5486400" cy="670719"/>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5296960"/>
            <a:ext cx="2133600" cy="304271"/>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cs-CZ"/>
              <a:t>CS447</a:t>
            </a:r>
            <a:endParaRPr lang="en-US"/>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28867"/>
            <a:ext cx="2057400" cy="487627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28867"/>
            <a:ext cx="6019800"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5296960"/>
            <a:ext cx="2133600" cy="304271"/>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cs-CZ"/>
              <a:t>CS447</a:t>
            </a:r>
            <a:endParaRPr lang="en-US"/>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Rectangle 8"/>
          <p:cNvSpPr/>
          <p:nvPr/>
        </p:nvSpPr>
        <p:spPr>
          <a:xfrm>
            <a:off x="0" y="5600700"/>
            <a:ext cx="9144000" cy="114300"/>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
        <p:nvSpPr>
          <p:cNvPr id="7" name="Rectangle 6"/>
          <p:cNvSpPr/>
          <p:nvPr/>
        </p:nvSpPr>
        <p:spPr>
          <a:xfrm>
            <a:off x="0" y="0"/>
            <a:ext cx="9144000" cy="495300"/>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
        <p:nvSpPr>
          <p:cNvPr id="2" name="Title Placeholder 1"/>
          <p:cNvSpPr>
            <a:spLocks noGrp="1"/>
          </p:cNvSpPr>
          <p:nvPr>
            <p:ph type="title"/>
          </p:nvPr>
        </p:nvSpPr>
        <p:spPr>
          <a:xfrm>
            <a:off x="152400" y="0"/>
            <a:ext cx="8991600" cy="49530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152400" y="495301"/>
            <a:ext cx="8991600" cy="4801659"/>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0" y="5296960"/>
            <a:ext cx="1219200" cy="304271"/>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cs-CZ"/>
              <a:t>CS447</a:t>
            </a:r>
            <a:endParaRPr lang="en-US" dirty="0"/>
          </a:p>
        </p:txBody>
      </p:sp>
      <p:sp>
        <p:nvSpPr>
          <p:cNvPr id="6" name="Slide Number Placeholder 5"/>
          <p:cNvSpPr>
            <a:spLocks noGrp="1"/>
          </p:cNvSpPr>
          <p:nvPr>
            <p:ph type="sldNum" sz="quarter" idx="4"/>
          </p:nvPr>
        </p:nvSpPr>
        <p:spPr>
          <a:xfrm>
            <a:off x="8458200" y="5296960"/>
            <a:ext cx="685800" cy="304271"/>
          </a:xfrm>
          <a:prstGeom prst="rect">
            <a:avLst/>
          </a:prstGeom>
        </p:spPr>
        <p:txBody>
          <a:bodyPr vert="horz" lIns="91440" tIns="45720" rIns="91440" bIns="45720" rtlCol="0" anchor="ctr"/>
          <a:lstStyle>
            <a:lvl1pPr algn="r">
              <a:defRPr sz="1200">
                <a:solidFill>
                  <a:schemeClr val="tx1">
                    <a:tint val="75000"/>
                  </a:schemeClr>
                </a:solidFill>
              </a:defRPr>
            </a:lvl1pPr>
          </a:lstStyle>
          <a:p>
            <a:fld id="{3552B95B-556F-44BD-91A5-D80C1B9E2BB3}" type="slidenum">
              <a:rPr lang="en-US" smtClean="0"/>
              <a:pPr/>
              <a:t>‹#›</a:t>
            </a:fld>
            <a:endParaRPr lang="en-US"/>
          </a:p>
        </p:txBody>
      </p:sp>
    </p:spTree>
    <p:extLst>
      <p:ext uri="{BB962C8B-B14F-4D97-AF65-F5344CB8AC3E}">
        <p14:creationId xmlns:p14="http://schemas.microsoft.com/office/powerpoint/2010/main" val="34903523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ransition/>
  <p:hf hdr="0" ftr="0" dt="0"/>
  <p:txStyles>
    <p:titleStyle>
      <a:lvl1pPr algn="l" defTabSz="822960" rtl="0" eaLnBrk="1" latinLnBrk="0" hangingPunct="1">
        <a:spcBef>
          <a:spcPct val="0"/>
        </a:spcBef>
        <a:buNone/>
        <a:defRPr sz="2800" b="1" kern="1200">
          <a:solidFill>
            <a:schemeClr val="bg1"/>
          </a:solidFill>
          <a:latin typeface="+mj-lt"/>
          <a:ea typeface="GulimChe" pitchFamily="49" charset="-127"/>
          <a:cs typeface="MoolBoran" pitchFamily="34" charset="0"/>
        </a:defRPr>
      </a:lvl1pPr>
    </p:titleStyle>
    <p:bodyStyle>
      <a:lvl1pPr marL="204312" indent="-204312" algn="l" defTabSz="822960" rtl="0" eaLnBrk="1" latinLnBrk="0" hangingPunct="1">
        <a:spcBef>
          <a:spcPts val="0"/>
        </a:spcBef>
        <a:buSzPct val="150000"/>
        <a:buFont typeface="Arial" pitchFamily="34" charset="0"/>
        <a:buChar char="•"/>
        <a:defRPr sz="2200" kern="1200">
          <a:solidFill>
            <a:schemeClr val="tx1"/>
          </a:solidFill>
          <a:latin typeface="+mn-lt"/>
          <a:ea typeface="+mn-ea"/>
          <a:cs typeface="+mn-cs"/>
        </a:defRPr>
      </a:lvl1pPr>
      <a:lvl2pPr marL="415767" indent="-207170" algn="l" defTabSz="822960" rtl="0" eaLnBrk="1" latinLnBrk="0" hangingPunct="1">
        <a:spcBef>
          <a:spcPts val="0"/>
        </a:spcBef>
        <a:buFont typeface="Courier New" pitchFamily="49" charset="0"/>
        <a:buChar char="o"/>
        <a:defRPr sz="2200" kern="1200">
          <a:solidFill>
            <a:schemeClr val="tx1"/>
          </a:solidFill>
          <a:latin typeface="+mn-lt"/>
          <a:ea typeface="+mn-ea"/>
          <a:cs typeface="+mn-cs"/>
        </a:defRPr>
      </a:lvl2pPr>
      <a:lvl3pPr marL="620078" indent="-205740" algn="l" defTabSz="822960" rtl="0" eaLnBrk="1" latinLnBrk="0" hangingPunct="1">
        <a:spcBef>
          <a:spcPts val="0"/>
        </a:spcBef>
        <a:buFont typeface="Wingdings" pitchFamily="2" charset="2"/>
        <a:buChar char="§"/>
        <a:defRPr sz="2200" kern="1200">
          <a:solidFill>
            <a:schemeClr val="tx1"/>
          </a:solidFill>
          <a:latin typeface="+mn-lt"/>
          <a:ea typeface="+mn-ea"/>
          <a:cs typeface="+mn-cs"/>
        </a:defRPr>
      </a:lvl3pPr>
      <a:lvl4pPr marL="821532" indent="-205740" algn="l" defTabSz="822960" rtl="0" eaLnBrk="1" latinLnBrk="0" hangingPunct="1">
        <a:spcBef>
          <a:spcPts val="0"/>
        </a:spcBef>
        <a:buFont typeface="Arial" pitchFamily="34" charset="0"/>
        <a:buChar char="–"/>
        <a:defRPr sz="2200" kern="1200">
          <a:solidFill>
            <a:schemeClr val="tx1"/>
          </a:solidFill>
          <a:latin typeface="+mn-lt"/>
          <a:ea typeface="+mn-ea"/>
          <a:cs typeface="+mn-cs"/>
        </a:defRPr>
      </a:lvl4pPr>
      <a:lvl5pPr marL="1028700" indent="-205740" algn="l" defTabSz="822960" rtl="0" eaLnBrk="1" latinLnBrk="0" hangingPunct="1">
        <a:spcBef>
          <a:spcPts val="0"/>
        </a:spcBef>
        <a:buFont typeface="Arial" pitchFamily="34" charset="0"/>
        <a:buChar char="»"/>
        <a:defRPr sz="2200" kern="1200">
          <a:solidFill>
            <a:schemeClr val="tx1"/>
          </a:solidFill>
          <a:latin typeface="+mn-lt"/>
          <a:ea typeface="+mn-ea"/>
          <a:cs typeface="+mn-cs"/>
        </a:defRPr>
      </a:lvl5pPr>
      <a:lvl6pPr marL="226314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67462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8610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9758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tif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5.gif"/><Relationship Id="rId7"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2.png"/></Relationships>
</file>

<file path=ppt/slides/_rels/slide1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0.png"/><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Intro and Rust</a:t>
            </a:r>
            <a:endParaRPr lang="en-US" sz="2400" dirty="0"/>
          </a:p>
        </p:txBody>
      </p:sp>
      <p:sp>
        <p:nvSpPr>
          <p:cNvPr id="3" name="Subtitle 2"/>
          <p:cNvSpPr>
            <a:spLocks noGrp="1"/>
          </p:cNvSpPr>
          <p:nvPr>
            <p:ph type="subTitle" idx="1"/>
          </p:nvPr>
        </p:nvSpPr>
        <p:spPr/>
        <p:txBody>
          <a:bodyPr/>
          <a:lstStyle/>
          <a:p>
            <a:r>
              <a:rPr lang="en-US" dirty="0"/>
              <a:t>CS 1622</a:t>
            </a:r>
          </a:p>
          <a:p>
            <a:r>
              <a:rPr lang="en-US" dirty="0"/>
              <a:t>Jarrett Billingsley</a:t>
            </a:r>
          </a:p>
        </p:txBody>
      </p:sp>
    </p:spTree>
    <p:extLst>
      <p:ext uri="{BB962C8B-B14F-4D97-AF65-F5344CB8AC3E}">
        <p14:creationId xmlns:p14="http://schemas.microsoft.com/office/powerpoint/2010/main" val="3612086569"/>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017CE-A372-C744-8763-80C56E421E87}"/>
              </a:ext>
            </a:extLst>
          </p:cNvPr>
          <p:cNvSpPr>
            <a:spLocks noGrp="1"/>
          </p:cNvSpPr>
          <p:nvPr>
            <p:ph type="title"/>
          </p:nvPr>
        </p:nvSpPr>
        <p:spPr/>
        <p:txBody>
          <a:bodyPr/>
          <a:lstStyle/>
          <a:p>
            <a:r>
              <a:rPr lang="en-US" dirty="0"/>
              <a:t>Class announcements</a:t>
            </a:r>
          </a:p>
        </p:txBody>
      </p:sp>
      <p:sp>
        <p:nvSpPr>
          <p:cNvPr id="3" name="Content Placeholder 2">
            <a:extLst>
              <a:ext uri="{FF2B5EF4-FFF2-40B4-BE49-F238E27FC236}">
                <a16:creationId xmlns:a16="http://schemas.microsoft.com/office/drawing/2014/main" id="{F4FEBBF7-1C6E-294A-B5C4-174BB20AAFA9}"/>
              </a:ext>
            </a:extLst>
          </p:cNvPr>
          <p:cNvSpPr>
            <a:spLocks noGrp="1"/>
          </p:cNvSpPr>
          <p:nvPr>
            <p:ph idx="1"/>
          </p:nvPr>
        </p:nvSpPr>
        <p:spPr/>
        <p:txBody>
          <a:bodyPr/>
          <a:lstStyle/>
          <a:p>
            <a:r>
              <a:rPr lang="en-US" b="1" dirty="0"/>
              <a:t>be sure to check the notes on each of my slides</a:t>
            </a:r>
          </a:p>
          <a:p>
            <a:pPr lvl="1"/>
            <a:r>
              <a:rPr lang="en-US" dirty="0"/>
              <a:t>for extra explanations, examples, snarky comments etc.</a:t>
            </a:r>
          </a:p>
          <a:p>
            <a:pPr lvl="1"/>
            <a:r>
              <a:rPr lang="en-US" dirty="0"/>
              <a:t>as well as answers to the questions on the slides so you can study.</a:t>
            </a:r>
          </a:p>
          <a:p>
            <a:r>
              <a:rPr lang="en-US" dirty="0"/>
              <a:t>also, </a:t>
            </a:r>
            <a:r>
              <a:rPr lang="en-US" b="1" dirty="0"/>
              <a:t>be sure to use </a:t>
            </a:r>
            <a:r>
              <a:rPr lang="en-US" b="1" dirty="0" err="1"/>
              <a:t>Powerpoint</a:t>
            </a:r>
            <a:r>
              <a:rPr lang="en-US" b="1" dirty="0"/>
              <a:t> to view my slides</a:t>
            </a:r>
          </a:p>
          <a:p>
            <a:pPr lvl="1"/>
            <a:r>
              <a:rPr lang="en-US" i="1" dirty="0"/>
              <a:t>not</a:t>
            </a:r>
            <a:r>
              <a:rPr lang="en-US" dirty="0"/>
              <a:t> Keynote, </a:t>
            </a:r>
            <a:r>
              <a:rPr lang="en-US" i="1" dirty="0"/>
              <a:t>not</a:t>
            </a:r>
            <a:r>
              <a:rPr lang="en-US" dirty="0"/>
              <a:t> Google Drive; they absolutely butcher alignment and diagrams and arrows and I use a lot of those. it’s bad enough that diagrams can become incorrect/misleading.</a:t>
            </a:r>
          </a:p>
          <a:p>
            <a:pPr lvl="1"/>
            <a:r>
              <a:rPr lang="en-US" dirty="0"/>
              <a:t>if you use a note-taking app, </a:t>
            </a:r>
            <a:r>
              <a:rPr lang="en-US" b="1" dirty="0">
                <a:solidFill>
                  <a:srgbClr val="00B050"/>
                </a:solidFill>
              </a:rPr>
              <a:t>open the pptx in </a:t>
            </a:r>
            <a:r>
              <a:rPr lang="en-US" b="1" dirty="0" err="1">
                <a:solidFill>
                  <a:srgbClr val="00B050"/>
                </a:solidFill>
              </a:rPr>
              <a:t>Powerpoint</a:t>
            </a:r>
            <a:r>
              <a:rPr lang="en-US" b="1" dirty="0">
                <a:solidFill>
                  <a:srgbClr val="00B050"/>
                </a:solidFill>
              </a:rPr>
              <a:t> and export it as PDF, then use that. </a:t>
            </a:r>
            <a:r>
              <a:rPr lang="en-US" dirty="0"/>
              <a:t>it will look </a:t>
            </a:r>
            <a:r>
              <a:rPr lang="en-US" i="1" dirty="0"/>
              <a:t>much</a:t>
            </a:r>
            <a:r>
              <a:rPr lang="en-US" dirty="0"/>
              <a:t> better than opening the pptx directly in your note-taking app.</a:t>
            </a:r>
          </a:p>
        </p:txBody>
      </p:sp>
      <p:sp>
        <p:nvSpPr>
          <p:cNvPr id="4" name="Slide Number Placeholder 3">
            <a:extLst>
              <a:ext uri="{FF2B5EF4-FFF2-40B4-BE49-F238E27FC236}">
                <a16:creationId xmlns:a16="http://schemas.microsoft.com/office/drawing/2014/main" id="{05CC32BD-B01F-C646-91E9-D5AAEE75AC36}"/>
              </a:ext>
            </a:extLst>
          </p:cNvPr>
          <p:cNvSpPr>
            <a:spLocks noGrp="1"/>
          </p:cNvSpPr>
          <p:nvPr>
            <p:ph type="sldNum" sz="quarter" idx="12"/>
          </p:nvPr>
        </p:nvSpPr>
        <p:spPr/>
        <p:txBody>
          <a:bodyPr/>
          <a:lstStyle/>
          <a:p>
            <a:fld id="{3552B95B-556F-44BD-91A5-D80C1B9E2BB3}" type="slidenum">
              <a:rPr lang="en-US" smtClean="0"/>
              <a:pPr/>
              <a:t>2</a:t>
            </a:fld>
            <a:endParaRPr lang="en-US"/>
          </a:p>
        </p:txBody>
      </p:sp>
    </p:spTree>
    <p:extLst>
      <p:ext uri="{BB962C8B-B14F-4D97-AF65-F5344CB8AC3E}">
        <p14:creationId xmlns:p14="http://schemas.microsoft.com/office/powerpoint/2010/main" val="243397440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Administrivia</a:t>
            </a:r>
          </a:p>
        </p:txBody>
      </p:sp>
      <p:sp>
        <p:nvSpPr>
          <p:cNvPr id="4" name="Slide Number Placeholder 3"/>
          <p:cNvSpPr>
            <a:spLocks noGrp="1"/>
          </p:cNvSpPr>
          <p:nvPr>
            <p:ph type="sldNum" sz="quarter" idx="12"/>
          </p:nvPr>
        </p:nvSpPr>
        <p:spPr/>
        <p:txBody>
          <a:bodyPr/>
          <a:lstStyle/>
          <a:p>
            <a:fld id="{3552B95B-556F-44BD-91A5-D80C1B9E2BB3}" type="slidenum">
              <a:rPr lang="en-US" smtClean="0"/>
              <a:pPr/>
              <a:t>3</a:t>
            </a:fld>
            <a:endParaRPr lang="en-US"/>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a:t>
            </a:r>
          </a:p>
        </p:txBody>
      </p:sp>
      <p:sp>
        <p:nvSpPr>
          <p:cNvPr id="3" name="Content Placeholder 2"/>
          <p:cNvSpPr>
            <a:spLocks noGrp="1"/>
          </p:cNvSpPr>
          <p:nvPr>
            <p:ph idx="1"/>
          </p:nvPr>
        </p:nvSpPr>
        <p:spPr/>
        <p:txBody>
          <a:bodyPr>
            <a:normAutofit/>
          </a:bodyPr>
          <a:lstStyle/>
          <a:p>
            <a:r>
              <a:rPr lang="en-US" dirty="0"/>
              <a:t>you can just call me Jarrett</a:t>
            </a:r>
          </a:p>
          <a:p>
            <a:r>
              <a:rPr lang="en-US" sz="3600" b="1" dirty="0" err="1">
                <a:latin typeface="Consolas" charset="0"/>
                <a:ea typeface="Consolas" charset="0"/>
                <a:cs typeface="Consolas" charset="0"/>
              </a:rPr>
              <a:t>jarrett@cs.pitt.edu</a:t>
            </a:r>
            <a:endParaRPr lang="en-US" b="1" dirty="0">
              <a:latin typeface="Consolas" charset="0"/>
              <a:ea typeface="Consolas" charset="0"/>
              <a:cs typeface="Consolas" charset="0"/>
            </a:endParaRPr>
          </a:p>
          <a:p>
            <a:r>
              <a:rPr lang="en-US" sz="3600" b="1" dirty="0" err="1">
                <a:latin typeface="Consolas" charset="0"/>
                <a:ea typeface="Consolas" charset="0"/>
                <a:cs typeface="Consolas" charset="0"/>
              </a:rPr>
              <a:t>sites.pitt.edu</a:t>
            </a:r>
            <a:r>
              <a:rPr lang="en-US" sz="3600" b="1" dirty="0">
                <a:latin typeface="Consolas" charset="0"/>
                <a:ea typeface="Consolas" charset="0"/>
                <a:cs typeface="Consolas" charset="0"/>
              </a:rPr>
              <a:t>/~jfb42</a:t>
            </a:r>
          </a:p>
          <a:p>
            <a:r>
              <a:rPr lang="en-US" b="1" dirty="0"/>
              <a:t>Office hours:</a:t>
            </a:r>
            <a:r>
              <a:rPr lang="en-US" dirty="0"/>
              <a:t> Mon/Wed 1:15-3:30 in 6509 SENSQ</a:t>
            </a:r>
          </a:p>
          <a:p>
            <a:r>
              <a:rPr lang="en-US" b="1" dirty="0"/>
              <a:t>Religious absences:</a:t>
            </a:r>
            <a:r>
              <a:rPr lang="en-US" dirty="0"/>
              <a:t> contact me ASAP</a:t>
            </a:r>
          </a:p>
          <a:p>
            <a:r>
              <a:rPr lang="en-US" b="1" dirty="0"/>
              <a:t>Students with disabilities:</a:t>
            </a:r>
            <a:r>
              <a:rPr lang="en-US" dirty="0"/>
              <a:t> contact the DRS ASAP</a:t>
            </a:r>
          </a:p>
          <a:p>
            <a:r>
              <a:rPr lang="en-US" b="1" dirty="0">
                <a:solidFill>
                  <a:srgbClr val="FF0000"/>
                </a:solidFill>
              </a:rPr>
              <a:t>Everything in this section is also on my site in "course info"!</a:t>
            </a:r>
          </a:p>
          <a:p>
            <a:pPr lvl="1"/>
            <a:r>
              <a:rPr lang="en-US" i="1" dirty="0">
                <a:solidFill>
                  <a:srgbClr val="FF0000"/>
                </a:solidFill>
              </a:rPr>
              <a:t>I use red on the slides for really important things</a:t>
            </a:r>
          </a:p>
          <a:p>
            <a:pPr lvl="1"/>
            <a:endParaRPr lang="en-US" b="1" dirty="0">
              <a:solidFill>
                <a:srgbClr val="FF0000"/>
              </a:solidFill>
            </a:endParaRPr>
          </a:p>
        </p:txBody>
      </p:sp>
      <p:sp>
        <p:nvSpPr>
          <p:cNvPr id="6" name="Slide Number Placeholder 5"/>
          <p:cNvSpPr>
            <a:spLocks noGrp="1"/>
          </p:cNvSpPr>
          <p:nvPr>
            <p:ph type="sldNum" sz="quarter" idx="12"/>
          </p:nvPr>
        </p:nvSpPr>
        <p:spPr/>
        <p:txBody>
          <a:bodyPr/>
          <a:lstStyle/>
          <a:p>
            <a:fld id="{3552B95B-556F-44BD-91A5-D80C1B9E2BB3}" type="slidenum">
              <a:rPr lang="en-US" smtClean="0"/>
              <a:pPr/>
              <a:t>4</a:t>
            </a:fld>
            <a:endParaRPr lang="en-US"/>
          </a:p>
        </p:txBody>
      </p:sp>
    </p:spTree>
    <p:extLst>
      <p:ext uri="{BB962C8B-B14F-4D97-AF65-F5344CB8AC3E}">
        <p14:creationId xmlns:p14="http://schemas.microsoft.com/office/powerpoint/2010/main" val="374742293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1FD13-B407-8B47-AA44-E99B8A599DAD}"/>
              </a:ext>
            </a:extLst>
          </p:cNvPr>
          <p:cNvSpPr>
            <a:spLocks noGrp="1"/>
          </p:cNvSpPr>
          <p:nvPr>
            <p:ph type="title"/>
          </p:nvPr>
        </p:nvSpPr>
        <p:spPr/>
        <p:txBody>
          <a:bodyPr/>
          <a:lstStyle/>
          <a:p>
            <a:r>
              <a:rPr lang="en-US" dirty="0"/>
              <a:t>Communication</a:t>
            </a:r>
          </a:p>
        </p:txBody>
      </p:sp>
      <p:sp>
        <p:nvSpPr>
          <p:cNvPr id="3" name="Content Placeholder 2">
            <a:extLst>
              <a:ext uri="{FF2B5EF4-FFF2-40B4-BE49-F238E27FC236}">
                <a16:creationId xmlns:a16="http://schemas.microsoft.com/office/drawing/2014/main" id="{AD1AC879-3062-4B42-AC89-0E2B5FCFE202}"/>
              </a:ext>
            </a:extLst>
          </p:cNvPr>
          <p:cNvSpPr>
            <a:spLocks noGrp="1"/>
          </p:cNvSpPr>
          <p:nvPr>
            <p:ph idx="1"/>
          </p:nvPr>
        </p:nvSpPr>
        <p:spPr/>
        <p:txBody>
          <a:bodyPr/>
          <a:lstStyle/>
          <a:p>
            <a:r>
              <a:rPr lang="en-US" dirty="0"/>
              <a:t>I send announcements through Canvas which come thru email</a:t>
            </a:r>
          </a:p>
          <a:p>
            <a:pPr lvl="1"/>
            <a:r>
              <a:rPr lang="en-US" dirty="0"/>
              <a:t>it is not my responsibility to make sure you get them, it’s </a:t>
            </a:r>
            <a:r>
              <a:rPr lang="en-US" i="1" dirty="0"/>
              <a:t>yours</a:t>
            </a:r>
            <a:endParaRPr lang="en-US" dirty="0"/>
          </a:p>
          <a:p>
            <a:r>
              <a:rPr lang="en-US" dirty="0"/>
              <a:t>announcements/grades are the </a:t>
            </a:r>
            <a:r>
              <a:rPr lang="en-US" b="1" dirty="0"/>
              <a:t>only</a:t>
            </a:r>
            <a:r>
              <a:rPr lang="en-US" dirty="0"/>
              <a:t> things I use Canvas for</a:t>
            </a:r>
          </a:p>
          <a:p>
            <a:pPr lvl="1"/>
            <a:r>
              <a:rPr lang="en-US" dirty="0"/>
              <a:t>(well recording class too)</a:t>
            </a:r>
          </a:p>
          <a:p>
            <a:pPr lvl="1"/>
            <a:r>
              <a:rPr lang="en-US" dirty="0"/>
              <a:t>everything else is on my site.</a:t>
            </a:r>
          </a:p>
          <a:p>
            <a:pPr lvl="1"/>
            <a:r>
              <a:rPr lang="en-US" dirty="0"/>
              <a:t>including the course schedule/syllabus.</a:t>
            </a:r>
          </a:p>
          <a:p>
            <a:r>
              <a:rPr lang="en-US" b="1" dirty="0"/>
              <a:t>Discord hours:</a:t>
            </a:r>
            <a:r>
              <a:rPr lang="en-US" dirty="0"/>
              <a:t> most days after 12PM and before 9PM EDT</a:t>
            </a:r>
          </a:p>
          <a:p>
            <a:pPr lvl="1"/>
            <a:r>
              <a:rPr lang="en-US" sz="1100" dirty="0"/>
              <a:t>but I don't really have a healthy work/life separation so</a:t>
            </a:r>
          </a:p>
          <a:p>
            <a:r>
              <a:rPr lang="en-US" b="1" dirty="0"/>
              <a:t>For more "official" communications, or if you need my attention </a:t>
            </a:r>
            <a:r>
              <a:rPr lang="en-US" b="1" i="1" dirty="0"/>
              <a:t>immediately,</a:t>
            </a:r>
            <a:r>
              <a:rPr lang="en-US" i="1" dirty="0"/>
              <a:t> </a:t>
            </a:r>
            <a:r>
              <a:rPr lang="en-US" b="1" dirty="0">
                <a:solidFill>
                  <a:srgbClr val="FF0000"/>
                </a:solidFill>
              </a:rPr>
              <a:t>use email.</a:t>
            </a:r>
          </a:p>
          <a:p>
            <a:pPr lvl="1"/>
            <a:r>
              <a:rPr lang="en-US" dirty="0"/>
              <a:t>otherwise, Discord is preferred – much better for sharing code, screenshots, etc. in a </a:t>
            </a:r>
            <a:r>
              <a:rPr lang="en-US"/>
              <a:t>much quicker way.</a:t>
            </a:r>
            <a:endParaRPr lang="en-US" dirty="0"/>
          </a:p>
        </p:txBody>
      </p:sp>
      <p:sp>
        <p:nvSpPr>
          <p:cNvPr id="5" name="Slide Number Placeholder 4">
            <a:extLst>
              <a:ext uri="{FF2B5EF4-FFF2-40B4-BE49-F238E27FC236}">
                <a16:creationId xmlns:a16="http://schemas.microsoft.com/office/drawing/2014/main" id="{103D6070-231E-0E42-A0E6-A7F6774A0160}"/>
              </a:ext>
            </a:extLst>
          </p:cNvPr>
          <p:cNvSpPr>
            <a:spLocks noGrp="1"/>
          </p:cNvSpPr>
          <p:nvPr>
            <p:ph type="sldNum" sz="quarter" idx="12"/>
          </p:nvPr>
        </p:nvSpPr>
        <p:spPr/>
        <p:txBody>
          <a:bodyPr/>
          <a:lstStyle/>
          <a:p>
            <a:fld id="{3552B95B-556F-44BD-91A5-D80C1B9E2BB3}" type="slidenum">
              <a:rPr lang="en-US" smtClean="0"/>
              <a:pPr/>
              <a:t>5</a:t>
            </a:fld>
            <a:endParaRPr lang="en-US"/>
          </a:p>
        </p:txBody>
      </p:sp>
    </p:spTree>
    <p:extLst>
      <p:ext uri="{BB962C8B-B14F-4D97-AF65-F5344CB8AC3E}">
        <p14:creationId xmlns:p14="http://schemas.microsoft.com/office/powerpoint/2010/main" val="148591437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68AA3B3-84F7-4949-B6BA-EEE30001EA37}"/>
              </a:ext>
            </a:extLst>
          </p:cNvPr>
          <p:cNvPicPr>
            <a:picLocks noChangeAspect="1"/>
          </p:cNvPicPr>
          <p:nvPr/>
        </p:nvPicPr>
        <p:blipFill>
          <a:blip r:embed="rId3"/>
          <a:stretch>
            <a:fillRect/>
          </a:stretch>
        </p:blipFill>
        <p:spPr>
          <a:xfrm rot="1020644">
            <a:off x="5524435" y="1883192"/>
            <a:ext cx="2721975" cy="3083053"/>
          </a:xfrm>
          <a:prstGeom prst="rect">
            <a:avLst/>
          </a:prstGeom>
        </p:spPr>
      </p:pic>
      <p:sp>
        <p:nvSpPr>
          <p:cNvPr id="2" name="Title 1"/>
          <p:cNvSpPr>
            <a:spLocks noGrp="1"/>
          </p:cNvSpPr>
          <p:nvPr>
            <p:ph type="title"/>
          </p:nvPr>
        </p:nvSpPr>
        <p:spPr/>
        <p:txBody>
          <a:bodyPr/>
          <a:lstStyle/>
          <a:p>
            <a:r>
              <a:rPr lang="en-US" dirty="0"/>
              <a:t>Textbooks???</a:t>
            </a:r>
          </a:p>
        </p:txBody>
      </p:sp>
      <p:sp>
        <p:nvSpPr>
          <p:cNvPr id="3" name="Content Placeholder 2"/>
          <p:cNvSpPr>
            <a:spLocks noGrp="1"/>
          </p:cNvSpPr>
          <p:nvPr>
            <p:ph idx="1"/>
          </p:nvPr>
        </p:nvSpPr>
        <p:spPr>
          <a:xfrm>
            <a:off x="152400" y="495301"/>
            <a:ext cx="8991600" cy="838199"/>
          </a:xfrm>
        </p:spPr>
        <p:txBody>
          <a:bodyPr/>
          <a:lstStyle/>
          <a:p>
            <a:r>
              <a:rPr lang="en-US" dirty="0"/>
              <a:t>I'm not really a book person.</a:t>
            </a:r>
          </a:p>
          <a:p>
            <a:r>
              <a:rPr lang="en-US" dirty="0"/>
              <a:t>none of these are required and the first two are free (see course info)</a:t>
            </a:r>
          </a:p>
          <a:p>
            <a:endParaRPr lang="en-US" dirty="0"/>
          </a:p>
        </p:txBody>
      </p:sp>
      <p:sp>
        <p:nvSpPr>
          <p:cNvPr id="6" name="Slide Number Placeholder 5"/>
          <p:cNvSpPr>
            <a:spLocks noGrp="1"/>
          </p:cNvSpPr>
          <p:nvPr>
            <p:ph type="sldNum" sz="quarter" idx="12"/>
          </p:nvPr>
        </p:nvSpPr>
        <p:spPr/>
        <p:txBody>
          <a:bodyPr/>
          <a:lstStyle/>
          <a:p>
            <a:fld id="{3552B95B-556F-44BD-91A5-D80C1B9E2BB3}" type="slidenum">
              <a:rPr lang="en-US" smtClean="0"/>
              <a:pPr/>
              <a:t>6</a:t>
            </a:fld>
            <a:endParaRPr lang="en-US"/>
          </a:p>
        </p:txBody>
      </p:sp>
      <p:pic>
        <p:nvPicPr>
          <p:cNvPr id="4" name="Picture 3">
            <a:extLst>
              <a:ext uri="{FF2B5EF4-FFF2-40B4-BE49-F238E27FC236}">
                <a16:creationId xmlns:a16="http://schemas.microsoft.com/office/drawing/2014/main" id="{8D6CBCEB-9A0E-0F4E-BC1C-92FE7C8ABA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63957" y="1412722"/>
            <a:ext cx="2117290" cy="3175936"/>
          </a:xfrm>
          <a:prstGeom prst="rect">
            <a:avLst/>
          </a:prstGeom>
        </p:spPr>
      </p:pic>
      <p:pic>
        <p:nvPicPr>
          <p:cNvPr id="1026" name="Picture 2" descr="The Rust Programming Language (Covers Rust 2018): Steve Klabnik ...">
            <a:extLst>
              <a:ext uri="{FF2B5EF4-FFF2-40B4-BE49-F238E27FC236}">
                <a16:creationId xmlns:a16="http://schemas.microsoft.com/office/drawing/2014/main" id="{4BC9EC64-2714-2047-8CD2-CFE875F5371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20558407">
            <a:off x="910600" y="1895031"/>
            <a:ext cx="2392807" cy="3162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71331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Grading</a:t>
            </a:r>
          </a:p>
        </p:txBody>
      </p:sp>
      <p:sp>
        <p:nvSpPr>
          <p:cNvPr id="3" name="Content Placeholder 2"/>
          <p:cNvSpPr>
            <a:spLocks noGrp="1"/>
          </p:cNvSpPr>
          <p:nvPr>
            <p:ph idx="1"/>
          </p:nvPr>
        </p:nvSpPr>
        <p:spPr/>
        <p:txBody>
          <a:bodyPr>
            <a:normAutofit/>
          </a:bodyPr>
          <a:lstStyle/>
          <a:p>
            <a:r>
              <a:rPr lang="en-US" b="1" dirty="0"/>
              <a:t>Projects (x4): 60%</a:t>
            </a:r>
          </a:p>
          <a:p>
            <a:pPr lvl="1"/>
            <a:r>
              <a:rPr lang="en-US" dirty="0"/>
              <a:t>each is worth 15%</a:t>
            </a:r>
          </a:p>
          <a:p>
            <a:pPr lvl="1"/>
            <a:r>
              <a:rPr lang="en-US" b="1" dirty="0"/>
              <a:t>there is a late submission policy, </a:t>
            </a:r>
            <a:r>
              <a:rPr lang="en-US" dirty="0"/>
              <a:t>see the course info page</a:t>
            </a:r>
            <a:endParaRPr lang="en-US" b="1" dirty="0"/>
          </a:p>
          <a:p>
            <a:r>
              <a:rPr lang="en-US" b="1" dirty="0"/>
              <a:t>Exams (x2): 40%</a:t>
            </a:r>
          </a:p>
          <a:p>
            <a:pPr lvl="1"/>
            <a:r>
              <a:rPr lang="en-US" dirty="0"/>
              <a:t>each worth 20%</a:t>
            </a:r>
            <a:endParaRPr lang="en-US" b="1" dirty="0"/>
          </a:p>
          <a:p>
            <a:pPr lvl="1"/>
            <a:r>
              <a:rPr lang="en-US" b="1" dirty="0">
                <a:solidFill>
                  <a:srgbClr val="00B050"/>
                </a:solidFill>
              </a:rPr>
              <a:t>exam 2 is </a:t>
            </a:r>
            <a:r>
              <a:rPr lang="en-US" b="1" i="1" dirty="0">
                <a:solidFill>
                  <a:srgbClr val="00B050"/>
                </a:solidFill>
              </a:rPr>
              <a:t>not</a:t>
            </a:r>
            <a:r>
              <a:rPr lang="en-US" b="1" dirty="0">
                <a:solidFill>
                  <a:srgbClr val="00B050"/>
                </a:solidFill>
              </a:rPr>
              <a:t> cumulative! </a:t>
            </a:r>
            <a:r>
              <a:rPr lang="en-US" dirty="0"/>
              <a:t>it’s just on the stuff after exam 1.</a:t>
            </a:r>
            <a:endParaRPr lang="en-US" b="1" dirty="0"/>
          </a:p>
          <a:p>
            <a:pPr lvl="1"/>
            <a:r>
              <a:rPr lang="en-US" dirty="0"/>
              <a:t>on both exam days, we will do a short review session beforehand.</a:t>
            </a:r>
          </a:p>
          <a:p>
            <a:r>
              <a:rPr lang="en-US" dirty="0"/>
              <a:t>There are no labs or recitations or anything.</a:t>
            </a:r>
          </a:p>
          <a:p>
            <a:pPr lvl="0"/>
            <a:r>
              <a:rPr lang="en-US" dirty="0"/>
              <a:t>Attendance is </a:t>
            </a:r>
            <a:r>
              <a:rPr lang="en-US" b="1" dirty="0"/>
              <a:t>not graded </a:t>
            </a:r>
            <a:r>
              <a:rPr lang="en-US" dirty="0"/>
              <a:t>for lectures…</a:t>
            </a:r>
          </a:p>
          <a:p>
            <a:pPr lvl="1"/>
            <a:r>
              <a:rPr lang="en-US" dirty="0"/>
              <a:t>but </a:t>
            </a:r>
            <a:r>
              <a:rPr lang="en-US" b="1" dirty="0"/>
              <a:t>people who don't come and interact don't do well.</a:t>
            </a:r>
          </a:p>
        </p:txBody>
      </p:sp>
      <p:sp>
        <p:nvSpPr>
          <p:cNvPr id="6" name="Slide Number Placeholder 5"/>
          <p:cNvSpPr>
            <a:spLocks noGrp="1"/>
          </p:cNvSpPr>
          <p:nvPr>
            <p:ph type="sldNum" sz="quarter" idx="12"/>
          </p:nvPr>
        </p:nvSpPr>
        <p:spPr/>
        <p:txBody>
          <a:bodyPr/>
          <a:lstStyle/>
          <a:p>
            <a:fld id="{3552B95B-556F-44BD-91A5-D80C1B9E2BB3}" type="slidenum">
              <a:rPr lang="en-US" smtClean="0"/>
              <a:pPr/>
              <a:t>7</a:t>
            </a:fld>
            <a:endParaRPr lang="en-US"/>
          </a:p>
        </p:txBody>
      </p:sp>
    </p:spTree>
    <p:extLst>
      <p:ext uri="{BB962C8B-B14F-4D97-AF65-F5344CB8AC3E}">
        <p14:creationId xmlns:p14="http://schemas.microsoft.com/office/powerpoint/2010/main" val="48716299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Teaching philosophy</a:t>
            </a:r>
          </a:p>
        </p:txBody>
      </p:sp>
      <p:sp>
        <p:nvSpPr>
          <p:cNvPr id="3" name="Content Placeholder 2"/>
          <p:cNvSpPr>
            <a:spLocks noGrp="1"/>
          </p:cNvSpPr>
          <p:nvPr>
            <p:ph idx="1"/>
          </p:nvPr>
        </p:nvSpPr>
        <p:spPr/>
        <p:txBody>
          <a:bodyPr>
            <a:normAutofit/>
          </a:bodyPr>
          <a:lstStyle/>
          <a:p>
            <a:r>
              <a:rPr lang="en-US" dirty="0"/>
              <a:t>I'm more of a "big picture" teacher</a:t>
            </a:r>
          </a:p>
          <a:p>
            <a:pPr lvl="1"/>
            <a:r>
              <a:rPr lang="en-US" dirty="0"/>
              <a:t>I care about high-level concepts and problem-solving</a:t>
            </a:r>
          </a:p>
          <a:p>
            <a:pPr lvl="1"/>
            <a:r>
              <a:rPr lang="en-US" dirty="0"/>
              <a:t>you won't get exam questions about function parameters</a:t>
            </a:r>
          </a:p>
          <a:p>
            <a:r>
              <a:rPr lang="en-US" dirty="0"/>
              <a:t>You are a student. </a:t>
            </a:r>
            <a:r>
              <a:rPr lang="en-US" b="1" i="1" dirty="0"/>
              <a:t>you are supposed to be confused.</a:t>
            </a:r>
            <a:endParaRPr lang="en-US" b="1" dirty="0"/>
          </a:p>
          <a:p>
            <a:pPr lvl="1"/>
            <a:r>
              <a:rPr lang="en-US" b="1" dirty="0"/>
              <a:t>I </a:t>
            </a:r>
            <a:r>
              <a:rPr lang="en-US" b="1" dirty="0" err="1"/>
              <a:t>wanna</a:t>
            </a:r>
            <a:r>
              <a:rPr lang="en-US" b="1" dirty="0"/>
              <a:t> help you understand!</a:t>
            </a:r>
          </a:p>
          <a:p>
            <a:pPr lvl="1"/>
            <a:r>
              <a:rPr lang="en-US" dirty="0">
                <a:solidFill>
                  <a:srgbClr val="FF0000"/>
                </a:solidFill>
              </a:rPr>
              <a:t>never say "this is a dumb question" cause there aren't any!</a:t>
            </a:r>
          </a:p>
          <a:p>
            <a:pPr lvl="1"/>
            <a:r>
              <a:rPr lang="en-US" sz="3200" b="1" dirty="0">
                <a:solidFill>
                  <a:srgbClr val="00B050"/>
                </a:solidFill>
              </a:rPr>
              <a:t>DON’T STRUGGLE IN SILENCE!!!! EVER!!</a:t>
            </a:r>
          </a:p>
          <a:p>
            <a:r>
              <a:rPr lang="en-US" dirty="0"/>
              <a:t>What is a university setting good for today?</a:t>
            </a:r>
          </a:p>
          <a:p>
            <a:pPr lvl="1"/>
            <a:r>
              <a:rPr lang="en-US" dirty="0"/>
              <a:t>focus, practice, and </a:t>
            </a:r>
            <a:r>
              <a:rPr lang="en-US" i="1" dirty="0"/>
              <a:t>access to people who know stuff</a:t>
            </a:r>
          </a:p>
          <a:p>
            <a:pPr lvl="1"/>
            <a:r>
              <a:rPr lang="en-US" b="1" dirty="0"/>
              <a:t>your friends do not know as much about this stuff as I do</a:t>
            </a:r>
          </a:p>
          <a:p>
            <a:pPr lvl="1"/>
            <a:r>
              <a:rPr lang="en-US" dirty="0"/>
              <a:t>but also… your friends </a:t>
            </a:r>
            <a:r>
              <a:rPr lang="en-US" b="1" dirty="0"/>
              <a:t>can</a:t>
            </a:r>
            <a:r>
              <a:rPr lang="en-US" dirty="0"/>
              <a:t> be very helpful when studying or in practical matters (installing stuff </a:t>
            </a:r>
            <a:r>
              <a:rPr lang="en-US" dirty="0" err="1"/>
              <a:t>etc</a:t>
            </a:r>
            <a:r>
              <a:rPr lang="en-US" dirty="0"/>
              <a:t>)!</a:t>
            </a:r>
          </a:p>
          <a:p>
            <a:pPr lvl="1"/>
            <a:r>
              <a:rPr lang="en-US" b="1" dirty="0"/>
              <a:t>studying together is not cheating! do it!</a:t>
            </a:r>
          </a:p>
        </p:txBody>
      </p:sp>
      <p:sp>
        <p:nvSpPr>
          <p:cNvPr id="6" name="Slide Number Placeholder 5"/>
          <p:cNvSpPr>
            <a:spLocks noGrp="1"/>
          </p:cNvSpPr>
          <p:nvPr>
            <p:ph type="sldNum" sz="quarter" idx="12"/>
          </p:nvPr>
        </p:nvSpPr>
        <p:spPr/>
        <p:txBody>
          <a:bodyPr/>
          <a:lstStyle/>
          <a:p>
            <a:fld id="{3552B95B-556F-44BD-91A5-D80C1B9E2BB3}" type="slidenum">
              <a:rPr lang="en-US" smtClean="0"/>
              <a:pPr/>
              <a:t>8</a:t>
            </a:fld>
            <a:endParaRPr lang="en-US"/>
          </a:p>
        </p:txBody>
      </p:sp>
    </p:spTree>
    <p:extLst>
      <p:ext uri="{BB962C8B-B14F-4D97-AF65-F5344CB8AC3E}">
        <p14:creationId xmlns:p14="http://schemas.microsoft.com/office/powerpoint/2010/main" val="136367751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 can tell when you cheat </a:t>
            </a:r>
            <a:r>
              <a:rPr lang="en-US" dirty="0">
                <a:sym typeface="Wingdings"/>
              </a:rPr>
              <a:t>:^)</a:t>
            </a:r>
            <a:endParaRPr lang="en-US" dirty="0"/>
          </a:p>
        </p:txBody>
      </p:sp>
      <p:sp>
        <p:nvSpPr>
          <p:cNvPr id="3" name="Content Placeholder 2"/>
          <p:cNvSpPr>
            <a:spLocks noGrp="1"/>
          </p:cNvSpPr>
          <p:nvPr>
            <p:ph idx="1"/>
          </p:nvPr>
        </p:nvSpPr>
        <p:spPr/>
        <p:txBody>
          <a:bodyPr/>
          <a:lstStyle/>
          <a:p>
            <a:r>
              <a:rPr lang="en-US" b="1" dirty="0">
                <a:solidFill>
                  <a:srgbClr val="FF0000"/>
                </a:solidFill>
              </a:rPr>
              <a:t>If you cheat, you fail the course. Period.</a:t>
            </a:r>
          </a:p>
          <a:p>
            <a:r>
              <a:rPr lang="en-US" b="1" dirty="0"/>
              <a:t>Don't post your code on </a:t>
            </a:r>
            <a:r>
              <a:rPr lang="en-US" b="1" dirty="0" err="1"/>
              <a:t>github</a:t>
            </a:r>
            <a:r>
              <a:rPr lang="en-US" b="1" dirty="0"/>
              <a:t>, </a:t>
            </a:r>
            <a:r>
              <a:rPr lang="en-US" b="1" dirty="0" err="1"/>
              <a:t>baidu</a:t>
            </a:r>
            <a:r>
              <a:rPr lang="en-US" b="1" dirty="0"/>
              <a:t> etc.</a:t>
            </a:r>
          </a:p>
          <a:p>
            <a:r>
              <a:rPr lang="en-US" b="1" dirty="0"/>
              <a:t>Don't "help" your friends by giving them code.</a:t>
            </a:r>
          </a:p>
          <a:p>
            <a:pPr marL="0" indent="0">
              <a:buNone/>
            </a:pPr>
            <a:endParaRPr lang="en-US" b="1" dirty="0"/>
          </a:p>
        </p:txBody>
      </p:sp>
      <p:sp>
        <p:nvSpPr>
          <p:cNvPr id="5" name="Slide Number Placeholder 4"/>
          <p:cNvSpPr>
            <a:spLocks noGrp="1"/>
          </p:cNvSpPr>
          <p:nvPr>
            <p:ph type="sldNum" sz="quarter" idx="12"/>
          </p:nvPr>
        </p:nvSpPr>
        <p:spPr/>
        <p:txBody>
          <a:bodyPr/>
          <a:lstStyle/>
          <a:p>
            <a:fld id="{3552B95B-556F-44BD-91A5-D80C1B9E2BB3}" type="slidenum">
              <a:rPr lang="en-US" smtClean="0"/>
              <a:pPr/>
              <a:t>9</a:t>
            </a:fld>
            <a:endParaRPr lang="en-US"/>
          </a:p>
        </p:txBody>
      </p:sp>
      <p:pic>
        <p:nvPicPr>
          <p:cNvPr id="1026" name="Picture 2" descr="a graphical depiction of 'helping' someone by giving them your code">
            <a:extLst>
              <a:ext uri="{FF2B5EF4-FFF2-40B4-BE49-F238E27FC236}">
                <a16:creationId xmlns:a16="http://schemas.microsoft.com/office/drawing/2014/main" id="{506B4B4E-26C0-1746-A2AE-90C8DA05B7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82130"/>
            <a:ext cx="9144000" cy="3516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15000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Academic Integrity</a:t>
            </a:r>
          </a:p>
        </p:txBody>
      </p:sp>
      <p:sp>
        <p:nvSpPr>
          <p:cNvPr id="3" name="Content Placeholder 2"/>
          <p:cNvSpPr>
            <a:spLocks noGrp="1"/>
          </p:cNvSpPr>
          <p:nvPr>
            <p:ph idx="1"/>
          </p:nvPr>
        </p:nvSpPr>
        <p:spPr/>
        <p:txBody>
          <a:bodyPr>
            <a:normAutofit/>
          </a:bodyPr>
          <a:lstStyle/>
          <a:p>
            <a:pPr defTabSz="713232">
              <a:buSzTx/>
              <a:defRPr/>
            </a:pPr>
            <a:r>
              <a:rPr lang="en-US" dirty="0"/>
              <a:t>If you "help" a friend, </a:t>
            </a:r>
            <a:r>
              <a:rPr lang="en-US" b="1" dirty="0"/>
              <a:t>you are only delaying their failure until a later point </a:t>
            </a:r>
            <a:r>
              <a:rPr lang="en-US" dirty="0"/>
              <a:t>when it will be too late to fix the problems.</a:t>
            </a:r>
          </a:p>
          <a:p>
            <a:pPr lvl="1"/>
            <a:r>
              <a:rPr lang="en-US" dirty="0"/>
              <a:t>a 0 will hurt way, </a:t>
            </a:r>
            <a:r>
              <a:rPr lang="en-US" i="1" dirty="0"/>
              <a:t>way</a:t>
            </a:r>
            <a:r>
              <a:rPr lang="en-US" dirty="0"/>
              <a:t> more than a 60, and it'll hurt you </a:t>
            </a:r>
            <a:r>
              <a:rPr lang="en-US" b="1" dirty="0"/>
              <a:t>both.</a:t>
            </a:r>
          </a:p>
          <a:p>
            <a:r>
              <a:rPr lang="en-US" b="1" dirty="0">
                <a:solidFill>
                  <a:srgbClr val="FF0000"/>
                </a:solidFill>
              </a:rPr>
              <a:t>Don't cheat if your enrollment is contingent upon your GPA. </a:t>
            </a:r>
          </a:p>
          <a:p>
            <a:pPr lvl="1"/>
            <a:r>
              <a:rPr lang="en-US" dirty="0"/>
              <a:t>or your ROTC or your student visa or your graduation or whatever.</a:t>
            </a:r>
          </a:p>
          <a:p>
            <a:r>
              <a:rPr lang="en-US" dirty="0"/>
              <a:t>Generally speaking, I trust you!</a:t>
            </a:r>
          </a:p>
          <a:p>
            <a:pPr lvl="1"/>
            <a:r>
              <a:rPr lang="en-US" dirty="0"/>
              <a:t>I </a:t>
            </a:r>
            <a:r>
              <a:rPr lang="en-US" b="1" dirty="0"/>
              <a:t>try</a:t>
            </a:r>
            <a:r>
              <a:rPr lang="en-US" dirty="0"/>
              <a:t> to be accommodating about extensions and such</a:t>
            </a:r>
          </a:p>
          <a:p>
            <a:pPr lvl="1"/>
            <a:r>
              <a:rPr lang="en-US" dirty="0"/>
              <a:t>I don’t think most cheaters are being lazy</a:t>
            </a:r>
          </a:p>
          <a:p>
            <a:r>
              <a:rPr lang="en-US" dirty="0"/>
              <a:t>But you’re an adult, and are </a:t>
            </a:r>
            <a:r>
              <a:rPr lang="en-US" b="1" dirty="0"/>
              <a:t>responsible for your actions.</a:t>
            </a:r>
          </a:p>
          <a:p>
            <a:pPr lvl="1"/>
            <a:r>
              <a:rPr lang="en-US" dirty="0"/>
              <a:t>I </a:t>
            </a:r>
            <a:r>
              <a:rPr lang="en-US" i="1" dirty="0"/>
              <a:t>hate</a:t>
            </a:r>
            <a:r>
              <a:rPr lang="en-US" dirty="0"/>
              <a:t> being in a position where I have your future in my hands…</a:t>
            </a:r>
          </a:p>
          <a:p>
            <a:pPr lvl="1"/>
            <a:r>
              <a:rPr lang="en-US" b="1" dirty="0"/>
              <a:t>especially when you're the one who put it there.</a:t>
            </a:r>
          </a:p>
          <a:p>
            <a:pPr lvl="1"/>
            <a:r>
              <a:rPr lang="en-US" b="1" i="1" dirty="0">
                <a:solidFill>
                  <a:srgbClr val="FF0000"/>
                </a:solidFill>
              </a:rPr>
              <a:t>Do not take advantage of my trust.</a:t>
            </a:r>
          </a:p>
          <a:p>
            <a:r>
              <a:rPr lang="en-US" sz="2000" dirty="0"/>
              <a:t>I</a:t>
            </a:r>
            <a:r>
              <a:rPr lang="en-US" dirty="0"/>
              <a:t>f you're confused, </a:t>
            </a:r>
            <a:r>
              <a:rPr lang="en-US" b="1" dirty="0"/>
              <a:t>don't cheat, ask for help. yes, even on the exams. yes, even an hour before the project is due.</a:t>
            </a:r>
          </a:p>
        </p:txBody>
      </p:sp>
      <p:sp>
        <p:nvSpPr>
          <p:cNvPr id="6" name="Slide Number Placeholder 5"/>
          <p:cNvSpPr>
            <a:spLocks noGrp="1"/>
          </p:cNvSpPr>
          <p:nvPr>
            <p:ph type="sldNum" sz="quarter" idx="12"/>
          </p:nvPr>
        </p:nvSpPr>
        <p:spPr/>
        <p:txBody>
          <a:bodyPr/>
          <a:lstStyle/>
          <a:p>
            <a:fld id="{3552B95B-556F-44BD-91A5-D80C1B9E2BB3}" type="slidenum">
              <a:rPr lang="en-US" smtClean="0"/>
              <a:pPr/>
              <a:t>10</a:t>
            </a:fld>
            <a:endParaRPr lang="en-US"/>
          </a:p>
        </p:txBody>
      </p:sp>
    </p:spTree>
    <p:extLst>
      <p:ext uri="{BB962C8B-B14F-4D97-AF65-F5344CB8AC3E}">
        <p14:creationId xmlns:p14="http://schemas.microsoft.com/office/powerpoint/2010/main" val="2085211440"/>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2DB2C-6CC8-1F4A-87B2-46369EEE62F9}"/>
              </a:ext>
            </a:extLst>
          </p:cNvPr>
          <p:cNvSpPr>
            <a:spLocks noGrp="1"/>
          </p:cNvSpPr>
          <p:nvPr>
            <p:ph type="ctrTitle"/>
          </p:nvPr>
        </p:nvSpPr>
        <p:spPr/>
        <p:txBody>
          <a:bodyPr/>
          <a:lstStyle/>
          <a:p>
            <a:r>
              <a:rPr lang="en-US" dirty="0"/>
              <a:t>Intro</a:t>
            </a:r>
          </a:p>
        </p:txBody>
      </p:sp>
      <p:sp>
        <p:nvSpPr>
          <p:cNvPr id="4" name="Slide Number Placeholder 3">
            <a:extLst>
              <a:ext uri="{FF2B5EF4-FFF2-40B4-BE49-F238E27FC236}">
                <a16:creationId xmlns:a16="http://schemas.microsoft.com/office/drawing/2014/main" id="{D1ED8237-1383-704B-B519-A24ADD488C3C}"/>
              </a:ext>
            </a:extLst>
          </p:cNvPr>
          <p:cNvSpPr>
            <a:spLocks noGrp="1"/>
          </p:cNvSpPr>
          <p:nvPr>
            <p:ph type="sldNum" sz="quarter" idx="12"/>
          </p:nvPr>
        </p:nvSpPr>
        <p:spPr/>
        <p:txBody>
          <a:bodyPr/>
          <a:lstStyle/>
          <a:p>
            <a:fld id="{3552B95B-556F-44BD-91A5-D80C1B9E2BB3}" type="slidenum">
              <a:rPr lang="en-US" smtClean="0"/>
              <a:pPr/>
              <a:t>11</a:t>
            </a:fld>
            <a:endParaRPr lang="en-US"/>
          </a:p>
        </p:txBody>
      </p:sp>
    </p:spTree>
    <p:extLst>
      <p:ext uri="{BB962C8B-B14F-4D97-AF65-F5344CB8AC3E}">
        <p14:creationId xmlns:p14="http://schemas.microsoft.com/office/powerpoint/2010/main" val="2189303633"/>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8D3F4-400B-9242-AE51-6F0677CE228D}"/>
              </a:ext>
            </a:extLst>
          </p:cNvPr>
          <p:cNvSpPr>
            <a:spLocks noGrp="1"/>
          </p:cNvSpPr>
          <p:nvPr>
            <p:ph type="title"/>
          </p:nvPr>
        </p:nvSpPr>
        <p:spPr/>
        <p:txBody>
          <a:bodyPr/>
          <a:lstStyle/>
          <a:p>
            <a:r>
              <a:rPr lang="en-US" dirty="0"/>
              <a:t>What, Why, and How</a:t>
            </a:r>
          </a:p>
        </p:txBody>
      </p:sp>
      <p:sp>
        <p:nvSpPr>
          <p:cNvPr id="3" name="Content Placeholder 2">
            <a:extLst>
              <a:ext uri="{FF2B5EF4-FFF2-40B4-BE49-F238E27FC236}">
                <a16:creationId xmlns:a16="http://schemas.microsoft.com/office/drawing/2014/main" id="{93D98F7A-56A0-9644-8399-3781DB343B50}"/>
              </a:ext>
            </a:extLst>
          </p:cNvPr>
          <p:cNvSpPr>
            <a:spLocks noGrp="1"/>
          </p:cNvSpPr>
          <p:nvPr>
            <p:ph idx="1"/>
          </p:nvPr>
        </p:nvSpPr>
        <p:spPr>
          <a:xfrm>
            <a:off x="152400" y="495301"/>
            <a:ext cx="8991600" cy="495301"/>
          </a:xfrm>
        </p:spPr>
        <p:txBody>
          <a:bodyPr/>
          <a:lstStyle/>
          <a:p>
            <a:r>
              <a:rPr lang="en-US" dirty="0"/>
              <a:t>for every topic, ask yourself (and me!) these questions:</a:t>
            </a:r>
          </a:p>
        </p:txBody>
      </p:sp>
      <p:sp>
        <p:nvSpPr>
          <p:cNvPr id="5" name="Slide Number Placeholder 4">
            <a:extLst>
              <a:ext uri="{FF2B5EF4-FFF2-40B4-BE49-F238E27FC236}">
                <a16:creationId xmlns:a16="http://schemas.microsoft.com/office/drawing/2014/main" id="{D94EA931-F5EF-9548-80ED-A8F9158C7FC4}"/>
              </a:ext>
            </a:extLst>
          </p:cNvPr>
          <p:cNvSpPr>
            <a:spLocks noGrp="1"/>
          </p:cNvSpPr>
          <p:nvPr>
            <p:ph type="sldNum" sz="quarter" idx="12"/>
          </p:nvPr>
        </p:nvSpPr>
        <p:spPr/>
        <p:txBody>
          <a:bodyPr/>
          <a:lstStyle/>
          <a:p>
            <a:fld id="{3552B95B-556F-44BD-91A5-D80C1B9E2BB3}" type="slidenum">
              <a:rPr lang="en-US" smtClean="0"/>
              <a:pPr/>
              <a:t>12</a:t>
            </a:fld>
            <a:endParaRPr lang="en-US"/>
          </a:p>
        </p:txBody>
      </p:sp>
      <p:sp>
        <p:nvSpPr>
          <p:cNvPr id="6" name="Rectangle 5">
            <a:extLst>
              <a:ext uri="{FF2B5EF4-FFF2-40B4-BE49-F238E27FC236}">
                <a16:creationId xmlns:a16="http://schemas.microsoft.com/office/drawing/2014/main" id="{E874C803-E96E-F64F-A8A8-A1EE92C2FDDB}"/>
              </a:ext>
            </a:extLst>
          </p:cNvPr>
          <p:cNvSpPr/>
          <p:nvPr/>
        </p:nvSpPr>
        <p:spPr>
          <a:xfrm>
            <a:off x="914400" y="1993268"/>
            <a:ext cx="2725366" cy="754015"/>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What </a:t>
            </a:r>
            <a:r>
              <a:rPr lang="en-US" sz="2400" dirty="0"/>
              <a:t>is it?</a:t>
            </a:r>
          </a:p>
        </p:txBody>
      </p:sp>
      <p:sp>
        <p:nvSpPr>
          <p:cNvPr id="7" name="Rectangle 6">
            <a:extLst>
              <a:ext uri="{FF2B5EF4-FFF2-40B4-BE49-F238E27FC236}">
                <a16:creationId xmlns:a16="http://schemas.microsoft.com/office/drawing/2014/main" id="{EA0CFD48-4AD0-114B-AD5C-6900B92FABB0}"/>
              </a:ext>
            </a:extLst>
          </p:cNvPr>
          <p:cNvSpPr/>
          <p:nvPr/>
        </p:nvSpPr>
        <p:spPr>
          <a:xfrm>
            <a:off x="914400" y="1078869"/>
            <a:ext cx="2725366" cy="75401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Why </a:t>
            </a:r>
            <a:r>
              <a:rPr lang="en-US" sz="2400" dirty="0"/>
              <a:t>do we use it?</a:t>
            </a:r>
          </a:p>
        </p:txBody>
      </p:sp>
      <p:sp>
        <p:nvSpPr>
          <p:cNvPr id="8" name="Rectangle 7">
            <a:extLst>
              <a:ext uri="{FF2B5EF4-FFF2-40B4-BE49-F238E27FC236}">
                <a16:creationId xmlns:a16="http://schemas.microsoft.com/office/drawing/2014/main" id="{38AB24FD-6301-6B43-AF4D-8E9915FF80F6}"/>
              </a:ext>
            </a:extLst>
          </p:cNvPr>
          <p:cNvSpPr/>
          <p:nvPr/>
        </p:nvSpPr>
        <p:spPr>
          <a:xfrm>
            <a:off x="914400" y="2907667"/>
            <a:ext cx="2725366" cy="7540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How </a:t>
            </a:r>
            <a:r>
              <a:rPr lang="en-US" sz="2400" dirty="0"/>
              <a:t>do we do it?</a:t>
            </a:r>
          </a:p>
        </p:txBody>
      </p:sp>
      <p:sp>
        <p:nvSpPr>
          <p:cNvPr id="9" name="TextBox 8">
            <a:extLst>
              <a:ext uri="{FF2B5EF4-FFF2-40B4-BE49-F238E27FC236}">
                <a16:creationId xmlns:a16="http://schemas.microsoft.com/office/drawing/2014/main" id="{8EA0E1DD-B520-2747-8906-AE0D81DC88A3}"/>
              </a:ext>
            </a:extLst>
          </p:cNvPr>
          <p:cNvSpPr txBox="1"/>
          <p:nvPr/>
        </p:nvSpPr>
        <p:spPr>
          <a:xfrm>
            <a:off x="3795974" y="2080747"/>
            <a:ext cx="4890826" cy="430887"/>
          </a:xfrm>
          <a:prstGeom prst="rect">
            <a:avLst/>
          </a:prstGeom>
          <a:noFill/>
        </p:spPr>
        <p:txBody>
          <a:bodyPr wrap="none" rtlCol="0">
            <a:spAutoFit/>
          </a:bodyPr>
          <a:lstStyle/>
          <a:p>
            <a:r>
              <a:rPr lang="en-US" sz="2200" dirty="0"/>
              <a:t>"a function is a named piece of code."</a:t>
            </a:r>
          </a:p>
        </p:txBody>
      </p:sp>
      <p:sp>
        <p:nvSpPr>
          <p:cNvPr id="10" name="TextBox 9">
            <a:extLst>
              <a:ext uri="{FF2B5EF4-FFF2-40B4-BE49-F238E27FC236}">
                <a16:creationId xmlns:a16="http://schemas.microsoft.com/office/drawing/2014/main" id="{992E0BD0-699B-C240-BB7E-22B73A157BEB}"/>
              </a:ext>
            </a:extLst>
          </p:cNvPr>
          <p:cNvSpPr txBox="1"/>
          <p:nvPr/>
        </p:nvSpPr>
        <p:spPr>
          <a:xfrm>
            <a:off x="3795974" y="1078869"/>
            <a:ext cx="5195626" cy="769441"/>
          </a:xfrm>
          <a:prstGeom prst="rect">
            <a:avLst/>
          </a:prstGeom>
          <a:noFill/>
        </p:spPr>
        <p:txBody>
          <a:bodyPr wrap="square" rtlCol="0">
            <a:spAutoFit/>
          </a:bodyPr>
          <a:lstStyle/>
          <a:p>
            <a:r>
              <a:rPr lang="en-US" sz="2200" dirty="0"/>
              <a:t>"splitting code into functions makes it easier to read, understand, and reuse."</a:t>
            </a:r>
          </a:p>
        </p:txBody>
      </p:sp>
      <p:sp>
        <p:nvSpPr>
          <p:cNvPr id="11" name="TextBox 10">
            <a:extLst>
              <a:ext uri="{FF2B5EF4-FFF2-40B4-BE49-F238E27FC236}">
                <a16:creationId xmlns:a16="http://schemas.microsoft.com/office/drawing/2014/main" id="{9A78300E-9F02-4444-8965-8B2B738E0F4D}"/>
              </a:ext>
            </a:extLst>
          </p:cNvPr>
          <p:cNvSpPr txBox="1"/>
          <p:nvPr/>
        </p:nvSpPr>
        <p:spPr>
          <a:xfrm>
            <a:off x="3795974" y="2684509"/>
            <a:ext cx="4586056" cy="1200329"/>
          </a:xfrm>
          <a:prstGeom prst="rect">
            <a:avLst/>
          </a:prstGeom>
          <a:noFill/>
        </p:spPr>
        <p:txBody>
          <a:bodyPr wrap="square" rtlCol="0">
            <a:spAutoFit/>
          </a:bodyPr>
          <a:lstStyle/>
          <a:p>
            <a:r>
              <a:rPr lang="en-US" sz="2200" dirty="0"/>
              <a:t>"in Java, you write the return type, </a:t>
            </a:r>
            <a:r>
              <a:rPr lang="en-US" sz="2000" dirty="0"/>
              <a:t>then the name, then a left parenthesis, </a:t>
            </a:r>
            <a:r>
              <a:rPr lang="en-US" sz="1600" dirty="0"/>
              <a:t>then any arguments, with the type and name, </a:t>
            </a:r>
            <a:r>
              <a:rPr lang="en-US" sz="1400" dirty="0"/>
              <a:t>separated by commas, then a right parenthesis, then…</a:t>
            </a:r>
          </a:p>
        </p:txBody>
      </p:sp>
      <p:sp>
        <p:nvSpPr>
          <p:cNvPr id="12" name="TextBox 11">
            <a:extLst>
              <a:ext uri="{FF2B5EF4-FFF2-40B4-BE49-F238E27FC236}">
                <a16:creationId xmlns:a16="http://schemas.microsoft.com/office/drawing/2014/main" id="{11008D91-490A-A540-8AB5-3B7CB5036731}"/>
              </a:ext>
            </a:extLst>
          </p:cNvPr>
          <p:cNvSpPr txBox="1"/>
          <p:nvPr/>
        </p:nvSpPr>
        <p:spPr>
          <a:xfrm>
            <a:off x="342900" y="3995123"/>
            <a:ext cx="8458200" cy="430887"/>
          </a:xfrm>
          <a:prstGeom prst="rect">
            <a:avLst/>
          </a:prstGeom>
          <a:noFill/>
        </p:spPr>
        <p:txBody>
          <a:bodyPr wrap="square" rtlCol="0">
            <a:spAutoFit/>
          </a:bodyPr>
          <a:lstStyle/>
          <a:p>
            <a:pPr algn="ctr"/>
            <a:r>
              <a:rPr lang="en-US" sz="2200" b="1" dirty="0">
                <a:solidFill>
                  <a:srgbClr val="FF0000"/>
                </a:solidFill>
              </a:rPr>
              <a:t>what</a:t>
            </a:r>
            <a:r>
              <a:rPr lang="en-US" sz="2200" dirty="0">
                <a:solidFill>
                  <a:srgbClr val="FF0000"/>
                </a:solidFill>
              </a:rPr>
              <a:t> and </a:t>
            </a:r>
            <a:r>
              <a:rPr lang="en-US" sz="2200" b="1" dirty="0">
                <a:solidFill>
                  <a:srgbClr val="FF0000"/>
                </a:solidFill>
              </a:rPr>
              <a:t>why</a:t>
            </a:r>
            <a:r>
              <a:rPr lang="en-US" sz="2200" dirty="0">
                <a:solidFill>
                  <a:srgbClr val="FF0000"/>
                </a:solidFill>
              </a:rPr>
              <a:t> are </a:t>
            </a:r>
            <a:r>
              <a:rPr lang="en-US" sz="2200" i="1" dirty="0">
                <a:solidFill>
                  <a:srgbClr val="FF0000"/>
                </a:solidFill>
              </a:rPr>
              <a:t>almost always</a:t>
            </a:r>
            <a:r>
              <a:rPr lang="en-US" sz="2200" dirty="0">
                <a:solidFill>
                  <a:srgbClr val="FF0000"/>
                </a:solidFill>
              </a:rPr>
              <a:t> more important than </a:t>
            </a:r>
            <a:r>
              <a:rPr lang="en-US" sz="2200" b="1" dirty="0">
                <a:solidFill>
                  <a:srgbClr val="FF0000"/>
                </a:solidFill>
              </a:rPr>
              <a:t>how.</a:t>
            </a:r>
            <a:endParaRPr lang="en-US" sz="2200" dirty="0">
              <a:solidFill>
                <a:srgbClr val="FF0000"/>
              </a:solidFill>
            </a:endParaRPr>
          </a:p>
        </p:txBody>
      </p:sp>
      <p:sp>
        <p:nvSpPr>
          <p:cNvPr id="13" name="TextBox 12">
            <a:extLst>
              <a:ext uri="{FF2B5EF4-FFF2-40B4-BE49-F238E27FC236}">
                <a16:creationId xmlns:a16="http://schemas.microsoft.com/office/drawing/2014/main" id="{3DC39AE4-4475-F64A-998E-67F6494AB418}"/>
              </a:ext>
            </a:extLst>
          </p:cNvPr>
          <p:cNvSpPr txBox="1"/>
          <p:nvPr/>
        </p:nvSpPr>
        <p:spPr>
          <a:xfrm>
            <a:off x="609600" y="4503246"/>
            <a:ext cx="7924800" cy="769441"/>
          </a:xfrm>
          <a:prstGeom prst="rect">
            <a:avLst/>
          </a:prstGeom>
          <a:noFill/>
        </p:spPr>
        <p:txBody>
          <a:bodyPr wrap="square" rtlCol="0">
            <a:spAutoFit/>
          </a:bodyPr>
          <a:lstStyle/>
          <a:p>
            <a:pPr algn="ctr"/>
            <a:r>
              <a:rPr lang="en-US" sz="2200" dirty="0"/>
              <a:t>on the exams, </a:t>
            </a:r>
            <a:r>
              <a:rPr lang="en-US" sz="2200" b="1" dirty="0"/>
              <a:t>be sure you are answering the right question. </a:t>
            </a:r>
            <a:r>
              <a:rPr lang="en-US" sz="2200" dirty="0"/>
              <a:t>if I ask "</a:t>
            </a:r>
            <a:r>
              <a:rPr lang="en-US" sz="2200" b="1" dirty="0"/>
              <a:t>what</a:t>
            </a:r>
            <a:r>
              <a:rPr lang="en-US" sz="2200" dirty="0"/>
              <a:t> is X," </a:t>
            </a:r>
            <a:r>
              <a:rPr lang="en-US" sz="2200" i="1" dirty="0"/>
              <a:t>don't </a:t>
            </a:r>
            <a:r>
              <a:rPr lang="en-US" sz="2200" dirty="0"/>
              <a:t>explain </a:t>
            </a:r>
            <a:r>
              <a:rPr lang="en-US" sz="2200" b="1" dirty="0"/>
              <a:t>how</a:t>
            </a:r>
            <a:r>
              <a:rPr lang="en-US" sz="2200" dirty="0"/>
              <a:t> to X.</a:t>
            </a:r>
          </a:p>
        </p:txBody>
      </p:sp>
    </p:spTree>
    <p:extLst>
      <p:ext uri="{BB962C8B-B14F-4D97-AF65-F5344CB8AC3E}">
        <p14:creationId xmlns:p14="http://schemas.microsoft.com/office/powerpoint/2010/main" val="101118338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p:bldP spid="10" grpId="0"/>
      <p:bldP spid="11" grpId="0"/>
      <p:bldP spid="12" grpId="0"/>
      <p:bldP spid="1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8" descr="bored&quot; American Sign Language (ASL)">
            <a:extLst>
              <a:ext uri="{FF2B5EF4-FFF2-40B4-BE49-F238E27FC236}">
                <a16:creationId xmlns:a16="http://schemas.microsoft.com/office/drawing/2014/main" id="{D1759674-579A-9E49-8AE3-4F1D6767C3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4867" y="2760529"/>
            <a:ext cx="1785133" cy="15621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upload.wikimedia.org/wikipedia/commons/thumb/3/38/Chart_of_world_writing_systems.svg/500px-Chart_of_world_writing_systems.svg.png">
            <a:extLst>
              <a:ext uri="{FF2B5EF4-FFF2-40B4-BE49-F238E27FC236}">
                <a16:creationId xmlns:a16="http://schemas.microsoft.com/office/drawing/2014/main" id="{36C20F05-6DC5-2F43-998B-9C6DA19E9F8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17567"/>
          <a:stretch/>
        </p:blipFill>
        <p:spPr bwMode="auto">
          <a:xfrm>
            <a:off x="0" y="2404202"/>
            <a:ext cx="2288108" cy="125240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4ADC6B4-1AEC-F249-90F9-B436992BB7BB}"/>
              </a:ext>
            </a:extLst>
          </p:cNvPr>
          <p:cNvSpPr>
            <a:spLocks noGrp="1"/>
          </p:cNvSpPr>
          <p:nvPr>
            <p:ph type="title"/>
          </p:nvPr>
        </p:nvSpPr>
        <p:spPr/>
        <p:txBody>
          <a:bodyPr/>
          <a:lstStyle/>
          <a:p>
            <a:r>
              <a:rPr lang="en-US" dirty="0"/>
              <a:t>What is language?</a:t>
            </a:r>
          </a:p>
        </p:txBody>
      </p:sp>
      <p:sp>
        <p:nvSpPr>
          <p:cNvPr id="3" name="Content Placeholder 2">
            <a:extLst>
              <a:ext uri="{FF2B5EF4-FFF2-40B4-BE49-F238E27FC236}">
                <a16:creationId xmlns:a16="http://schemas.microsoft.com/office/drawing/2014/main" id="{365BC4EE-163C-164C-A97D-91E2DDECC60B}"/>
              </a:ext>
            </a:extLst>
          </p:cNvPr>
          <p:cNvSpPr>
            <a:spLocks noGrp="1"/>
          </p:cNvSpPr>
          <p:nvPr>
            <p:ph idx="1"/>
          </p:nvPr>
        </p:nvSpPr>
        <p:spPr>
          <a:xfrm>
            <a:off x="152400" y="495301"/>
            <a:ext cx="8991600" cy="838199"/>
          </a:xfrm>
        </p:spPr>
        <p:txBody>
          <a:bodyPr/>
          <a:lstStyle/>
          <a:p>
            <a:r>
              <a:rPr lang="en-US" dirty="0"/>
              <a:t>a system of encoding </a:t>
            </a:r>
            <a:r>
              <a:rPr lang="en-US" b="1" dirty="0"/>
              <a:t>information </a:t>
            </a:r>
            <a:r>
              <a:rPr lang="en-US" dirty="0"/>
              <a:t>by using </a:t>
            </a:r>
            <a:r>
              <a:rPr lang="en-US" b="1" dirty="0"/>
              <a:t>arbitrary symbols</a:t>
            </a:r>
          </a:p>
          <a:p>
            <a:pPr lvl="1"/>
            <a:r>
              <a:rPr lang="en-US" dirty="0"/>
              <a:t>"symbols" can also include sounds, objects, actions, etc.</a:t>
            </a:r>
          </a:p>
          <a:p>
            <a:endParaRPr lang="en-US" dirty="0"/>
          </a:p>
        </p:txBody>
      </p:sp>
      <p:sp>
        <p:nvSpPr>
          <p:cNvPr id="4" name="Slide Number Placeholder 3">
            <a:extLst>
              <a:ext uri="{FF2B5EF4-FFF2-40B4-BE49-F238E27FC236}">
                <a16:creationId xmlns:a16="http://schemas.microsoft.com/office/drawing/2014/main" id="{B136D418-2878-714B-83FE-077C1D9B666A}"/>
              </a:ext>
            </a:extLst>
          </p:cNvPr>
          <p:cNvSpPr>
            <a:spLocks noGrp="1"/>
          </p:cNvSpPr>
          <p:nvPr>
            <p:ph type="sldNum" sz="quarter" idx="12"/>
          </p:nvPr>
        </p:nvSpPr>
        <p:spPr/>
        <p:txBody>
          <a:bodyPr/>
          <a:lstStyle/>
          <a:p>
            <a:fld id="{3552B95B-556F-44BD-91A5-D80C1B9E2BB3}" type="slidenum">
              <a:rPr lang="en-US" smtClean="0"/>
              <a:pPr/>
              <a:t>13</a:t>
            </a:fld>
            <a:endParaRPr lang="en-US"/>
          </a:p>
        </p:txBody>
      </p:sp>
      <p:pic>
        <p:nvPicPr>
          <p:cNvPr id="1026" name="Picture 2" descr="Mouth Speak Clipart">
            <a:extLst>
              <a:ext uri="{FF2B5EF4-FFF2-40B4-BE49-F238E27FC236}">
                <a16:creationId xmlns:a16="http://schemas.microsoft.com/office/drawing/2014/main" id="{FF18F54B-37DF-1547-A2D3-11730351F20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6350" y="1448526"/>
            <a:ext cx="1529912" cy="10795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Braille - Wikipedia">
            <a:extLst>
              <a:ext uri="{FF2B5EF4-FFF2-40B4-BE49-F238E27FC236}">
                <a16:creationId xmlns:a16="http://schemas.microsoft.com/office/drawing/2014/main" id="{DF83F427-B1DD-4942-90F8-E23DCE0C0A5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1333500"/>
            <a:ext cx="1887680" cy="125240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1D8955F4-6D57-2943-92BA-7831FAE9A053}"/>
              </a:ext>
            </a:extLst>
          </p:cNvPr>
          <p:cNvPicPr>
            <a:picLocks noChangeAspect="1"/>
          </p:cNvPicPr>
          <p:nvPr/>
        </p:nvPicPr>
        <p:blipFill>
          <a:blip r:embed="rId7"/>
          <a:stretch>
            <a:fillRect/>
          </a:stretch>
        </p:blipFill>
        <p:spPr>
          <a:xfrm>
            <a:off x="670210" y="3758283"/>
            <a:ext cx="1123950" cy="1128692"/>
          </a:xfrm>
          <a:prstGeom prst="rect">
            <a:avLst/>
          </a:prstGeom>
        </p:spPr>
      </p:pic>
      <p:sp>
        <p:nvSpPr>
          <p:cNvPr id="11" name="TextBox 10">
            <a:extLst>
              <a:ext uri="{FF2B5EF4-FFF2-40B4-BE49-F238E27FC236}">
                <a16:creationId xmlns:a16="http://schemas.microsoft.com/office/drawing/2014/main" id="{44E15BF3-FDA8-6545-9159-CBE2C9B27810}"/>
              </a:ext>
            </a:extLst>
          </p:cNvPr>
          <p:cNvSpPr txBox="1"/>
          <p:nvPr/>
        </p:nvSpPr>
        <p:spPr>
          <a:xfrm>
            <a:off x="3810000" y="1297619"/>
            <a:ext cx="5334000" cy="769441"/>
          </a:xfrm>
          <a:prstGeom prst="rect">
            <a:avLst/>
          </a:prstGeom>
          <a:noFill/>
        </p:spPr>
        <p:txBody>
          <a:bodyPr wrap="square" rtlCol="0">
            <a:spAutoFit/>
          </a:bodyPr>
          <a:lstStyle/>
          <a:p>
            <a:pPr algn="ctr"/>
            <a:r>
              <a:rPr lang="en-US" sz="2200" dirty="0"/>
              <a:t>human languages are </a:t>
            </a:r>
            <a:r>
              <a:rPr lang="en-US" sz="2200" b="1" dirty="0"/>
              <a:t>massively</a:t>
            </a:r>
            <a:r>
              <a:rPr lang="en-US" sz="2200" dirty="0"/>
              <a:t> complex, like anything involving brains.</a:t>
            </a:r>
          </a:p>
        </p:txBody>
      </p:sp>
      <p:sp>
        <p:nvSpPr>
          <p:cNvPr id="13" name="TextBox 12">
            <a:extLst>
              <a:ext uri="{FF2B5EF4-FFF2-40B4-BE49-F238E27FC236}">
                <a16:creationId xmlns:a16="http://schemas.microsoft.com/office/drawing/2014/main" id="{D08E07CC-62CC-0C4C-A37D-5E77348B3473}"/>
              </a:ext>
            </a:extLst>
          </p:cNvPr>
          <p:cNvSpPr txBox="1"/>
          <p:nvPr/>
        </p:nvSpPr>
        <p:spPr>
          <a:xfrm>
            <a:off x="3810000" y="2143305"/>
            <a:ext cx="5334000" cy="769441"/>
          </a:xfrm>
          <a:prstGeom prst="rect">
            <a:avLst/>
          </a:prstGeom>
          <a:noFill/>
        </p:spPr>
        <p:txBody>
          <a:bodyPr wrap="square" rtlCol="0">
            <a:spAutoFit/>
          </a:bodyPr>
          <a:lstStyle/>
          <a:p>
            <a:pPr algn="ctr"/>
            <a:r>
              <a:rPr lang="en-US" sz="2200" dirty="0"/>
              <a:t>within the mess, there are kernels of mathematical and logical truth…</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0DFBE0A-C974-254E-86A2-C649FF79FB26}"/>
                  </a:ext>
                </a:extLst>
              </p:cNvPr>
              <p:cNvSpPr txBox="1"/>
              <p:nvPr/>
            </p:nvSpPr>
            <p:spPr>
              <a:xfrm>
                <a:off x="4572000" y="3076708"/>
                <a:ext cx="3633431" cy="4648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800" b="0" i="1" smtClean="0">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m:t>
                          </m:r>
                        </m:e>
                        <m:sub>
                          <m:r>
                            <a:rPr lang="en-US" sz="2800" i="1">
                              <a:latin typeface="Cambria Math" panose="02040503050406030204" pitchFamily="18" charset="0"/>
                              <a:ea typeface="Cambria Math" panose="02040503050406030204" pitchFamily="18" charset="0"/>
                            </a:rPr>
                            <m:t>𝑥</m:t>
                          </m:r>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𝑆</m:t>
                          </m:r>
                        </m:sub>
                      </m:sSub>
                      <m:sSub>
                        <m:sSubPr>
                          <m:ctrlPr>
                            <a:rPr lang="en-US" sz="2800" b="0" i="1" smtClean="0">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m:t>
                          </m:r>
                        </m:e>
                        <m:sub>
                          <m:r>
                            <a:rPr lang="en-US" sz="2800" i="1">
                              <a:latin typeface="Cambria Math" panose="02040503050406030204" pitchFamily="18" charset="0"/>
                              <a:ea typeface="Cambria Math" panose="02040503050406030204" pitchFamily="18" charset="0"/>
                            </a:rPr>
                            <m:t>𝑦</m:t>
                          </m:r>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𝑥</m:t>
                          </m:r>
                        </m:sub>
                      </m:sSub>
                      <m:r>
                        <a:rPr lang="en-US" sz="2800" b="0" i="1" smtClean="0">
                          <a:latin typeface="Cambria Math" panose="02040503050406030204" pitchFamily="18" charset="0"/>
                          <a:ea typeface="Cambria Math" panose="02040503050406030204" pitchFamily="18" charset="0"/>
                        </a:rPr>
                        <m:t> </m:t>
                      </m:r>
                      <m:r>
                        <a:rPr lang="en-US" sz="2800" b="0" i="1" smtClean="0">
                          <a:latin typeface="Cambria Math" panose="02040503050406030204" pitchFamily="18" charset="0"/>
                          <a:ea typeface="Cambria Math" panose="02040503050406030204" pitchFamily="18" charset="0"/>
                        </a:rPr>
                        <m:t>𝑃</m:t>
                      </m:r>
                      <m:d>
                        <m:dPr>
                          <m:ctrlPr>
                            <a:rPr lang="en-US" sz="2800" b="0" i="1" smtClean="0">
                              <a:latin typeface="Cambria Math" panose="02040503050406030204" pitchFamily="18" charset="0"/>
                              <a:ea typeface="Cambria Math" panose="02040503050406030204" pitchFamily="18" charset="0"/>
                            </a:rPr>
                          </m:ctrlPr>
                        </m:dPr>
                        <m:e>
                          <m:r>
                            <a:rPr lang="en-US" sz="2800" b="0" i="1" smtClean="0">
                              <a:latin typeface="Cambria Math" panose="02040503050406030204" pitchFamily="18" charset="0"/>
                              <a:ea typeface="Cambria Math" panose="02040503050406030204" pitchFamily="18" charset="0"/>
                            </a:rPr>
                            <m:t>𝑦</m:t>
                          </m:r>
                        </m:e>
                      </m:d>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𝑄</m:t>
                      </m:r>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𝑥</m:t>
                      </m:r>
                      <m:r>
                        <a:rPr lang="en-US" sz="2800" b="0" i="1" smtClean="0">
                          <a:latin typeface="Cambria Math" panose="02040503050406030204" pitchFamily="18" charset="0"/>
                          <a:ea typeface="Cambria Math" panose="02040503050406030204" pitchFamily="18" charset="0"/>
                        </a:rPr>
                        <m:t>)</m:t>
                      </m:r>
                    </m:oMath>
                  </m:oMathPara>
                </a14:m>
                <a:endParaRPr lang="en-US" sz="2800" dirty="0"/>
              </a:p>
            </p:txBody>
          </p:sp>
        </mc:Choice>
        <mc:Fallback xmlns="">
          <p:sp>
            <p:nvSpPr>
              <p:cNvPr id="16" name="TextBox 15">
                <a:extLst>
                  <a:ext uri="{FF2B5EF4-FFF2-40B4-BE49-F238E27FC236}">
                    <a16:creationId xmlns:a16="http://schemas.microsoft.com/office/drawing/2014/main" id="{E0DFBE0A-C974-254E-86A2-C649FF79FB26}"/>
                  </a:ext>
                </a:extLst>
              </p:cNvPr>
              <p:cNvSpPr txBox="1">
                <a:spLocks noRot="1" noChangeAspect="1" noMove="1" noResize="1" noEditPoints="1" noAdjustHandles="1" noChangeArrowheads="1" noChangeShapeType="1" noTextEdit="1"/>
              </p:cNvSpPr>
              <p:nvPr/>
            </p:nvSpPr>
            <p:spPr>
              <a:xfrm>
                <a:off x="4572000" y="3076708"/>
                <a:ext cx="3633431" cy="464871"/>
              </a:xfrm>
              <a:prstGeom prst="rect">
                <a:avLst/>
              </a:prstGeom>
              <a:blipFill>
                <a:blip r:embed="rId8"/>
                <a:stretch>
                  <a:fillRect l="-1399" t="-2632" r="-2797" b="-26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63B811F-826F-2D46-80B5-744E37432B80}"/>
                  </a:ext>
                </a:extLst>
              </p:cNvPr>
              <p:cNvSpPr txBox="1"/>
              <p:nvPr/>
            </p:nvSpPr>
            <p:spPr>
              <a:xfrm>
                <a:off x="4072376" y="3761892"/>
                <a:ext cx="999248" cy="9639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trlPr>
                            <a:rPr lang="en-US" sz="2800" b="0" i="1" smtClean="0">
                              <a:latin typeface="Cambria Math" panose="02040503050406030204" pitchFamily="18" charset="0"/>
                              <a:ea typeface="Cambria Math" panose="02040503050406030204" pitchFamily="18" charset="0"/>
                            </a:rPr>
                          </m:ctrlPr>
                        </m:naryPr>
                        <m:sub>
                          <m:r>
                            <m:rPr>
                              <m:brk m:alnAt="23"/>
                            </m:rPr>
                            <a:rPr lang="en-US" sz="2800" b="0" i="1" smtClean="0">
                              <a:latin typeface="Cambria Math" panose="02040503050406030204" pitchFamily="18" charset="0"/>
                              <a:ea typeface="Cambria Math" panose="02040503050406030204" pitchFamily="18" charset="0"/>
                            </a:rPr>
                            <m:t>0</m:t>
                          </m:r>
                        </m:sub>
                        <m:sup>
                          <m:r>
                            <a:rPr lang="en-US" sz="2800" b="0" i="1" smtClean="0">
                              <a:latin typeface="Cambria Math" panose="02040503050406030204" pitchFamily="18" charset="0"/>
                              <a:ea typeface="Cambria Math" panose="02040503050406030204" pitchFamily="18" charset="0"/>
                            </a:rPr>
                            <m:t>𝑛</m:t>
                          </m:r>
                        </m:sup>
                        <m:e>
                          <m:f>
                            <m:fPr>
                              <m:ctrlPr>
                                <a:rPr lang="en-US" sz="2800" b="0" i="1" smtClean="0">
                                  <a:latin typeface="Cambria Math" panose="02040503050406030204" pitchFamily="18" charset="0"/>
                                  <a:ea typeface="Cambria Math" panose="02040503050406030204" pitchFamily="18" charset="0"/>
                                </a:rPr>
                              </m:ctrlPr>
                            </m:fPr>
                            <m:num>
                              <m:sSup>
                                <m:sSupPr>
                                  <m:ctrlPr>
                                    <a:rPr lang="en-US" sz="2800" b="0" i="1" smtClean="0">
                                      <a:latin typeface="Cambria Math" panose="02040503050406030204" pitchFamily="18" charset="0"/>
                                      <a:ea typeface="Cambria Math" panose="02040503050406030204" pitchFamily="18" charset="0"/>
                                    </a:rPr>
                                  </m:ctrlPr>
                                </m:sSupPr>
                                <m:e>
                                  <m:r>
                                    <a:rPr lang="en-US" sz="2800" b="0" i="1" smtClean="0">
                                      <a:latin typeface="Cambria Math" panose="02040503050406030204" pitchFamily="18" charset="0"/>
                                      <a:ea typeface="Cambria Math" panose="02040503050406030204" pitchFamily="18" charset="0"/>
                                    </a:rPr>
                                    <m:t>𝑥</m:t>
                                  </m:r>
                                </m:e>
                                <m:sup>
                                  <m:r>
                                    <a:rPr lang="en-US" sz="2800" b="0" i="1" smtClean="0">
                                      <a:latin typeface="Cambria Math" panose="02040503050406030204" pitchFamily="18" charset="0"/>
                                      <a:ea typeface="Cambria Math" panose="02040503050406030204" pitchFamily="18" charset="0"/>
                                    </a:rPr>
                                    <m:t>2</m:t>
                                  </m:r>
                                </m:sup>
                              </m:sSup>
                            </m:num>
                            <m:den>
                              <m:r>
                                <a:rPr lang="en-US" sz="2800" b="0" i="1" smtClean="0">
                                  <a:latin typeface="Cambria Math" panose="02040503050406030204" pitchFamily="18" charset="0"/>
                                  <a:ea typeface="Cambria Math" panose="02040503050406030204" pitchFamily="18" charset="0"/>
                                </a:rPr>
                                <m:t>9</m:t>
                              </m:r>
                            </m:den>
                          </m:f>
                        </m:e>
                      </m:nary>
                    </m:oMath>
                  </m:oMathPara>
                </a14:m>
                <a:endParaRPr lang="en-US" sz="2800" dirty="0"/>
              </a:p>
            </p:txBody>
          </p:sp>
        </mc:Choice>
        <mc:Fallback xmlns="">
          <p:sp>
            <p:nvSpPr>
              <p:cNvPr id="17" name="TextBox 16">
                <a:extLst>
                  <a:ext uri="{FF2B5EF4-FFF2-40B4-BE49-F238E27FC236}">
                    <a16:creationId xmlns:a16="http://schemas.microsoft.com/office/drawing/2014/main" id="{963B811F-826F-2D46-80B5-744E37432B80}"/>
                  </a:ext>
                </a:extLst>
              </p:cNvPr>
              <p:cNvSpPr txBox="1">
                <a:spLocks noRot="1" noChangeAspect="1" noMove="1" noResize="1" noEditPoints="1" noAdjustHandles="1" noChangeArrowheads="1" noChangeShapeType="1" noTextEdit="1"/>
              </p:cNvSpPr>
              <p:nvPr/>
            </p:nvSpPr>
            <p:spPr>
              <a:xfrm>
                <a:off x="4072376" y="3761892"/>
                <a:ext cx="999248" cy="963982"/>
              </a:xfrm>
              <a:prstGeom prst="rect">
                <a:avLst/>
              </a:prstGeom>
              <a:blipFill>
                <a:blip r:embed="rId9"/>
                <a:stretch>
                  <a:fillRect l="-146835" t="-180519" r="-58228" b="-264935"/>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00AD3275-FF59-7E4B-96FF-4B548A133B62}"/>
              </a:ext>
            </a:extLst>
          </p:cNvPr>
          <p:cNvSpPr txBox="1"/>
          <p:nvPr/>
        </p:nvSpPr>
        <p:spPr>
          <a:xfrm>
            <a:off x="4933382" y="3937908"/>
            <a:ext cx="4246659" cy="769441"/>
          </a:xfrm>
          <a:prstGeom prst="rect">
            <a:avLst/>
          </a:prstGeom>
          <a:noFill/>
        </p:spPr>
        <p:txBody>
          <a:bodyPr wrap="square" rtlCol="0">
            <a:spAutoFit/>
          </a:bodyPr>
          <a:lstStyle/>
          <a:p>
            <a:pPr algn="ctr"/>
            <a:r>
              <a:rPr lang="en-US" sz="2200" dirty="0"/>
              <a:t>…upon which </a:t>
            </a:r>
            <a:r>
              <a:rPr lang="en-US" sz="2200" b="1" dirty="0"/>
              <a:t>computer languages </a:t>
            </a:r>
            <a:r>
              <a:rPr lang="en-US" sz="2200" dirty="0"/>
              <a:t>were designed.</a:t>
            </a:r>
          </a:p>
        </p:txBody>
      </p:sp>
    </p:spTree>
    <p:extLst>
      <p:ext uri="{BB962C8B-B14F-4D97-AF65-F5344CB8AC3E}">
        <p14:creationId xmlns:p14="http://schemas.microsoft.com/office/powerpoint/2010/main" val="244634227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3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6" grpId="0"/>
      <p:bldP spid="17" grpId="0"/>
      <p:bldP spid="1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aving JSON responses to your model in Scala">
            <a:extLst>
              <a:ext uri="{FF2B5EF4-FFF2-40B4-BE49-F238E27FC236}">
                <a16:creationId xmlns:a16="http://schemas.microsoft.com/office/drawing/2014/main" id="{0C338964-4641-044B-BC3B-855C8C686D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3218" y="3162300"/>
            <a:ext cx="2316719" cy="110799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59ED13A-AECE-614B-9396-13DCD27BE4B5}"/>
              </a:ext>
            </a:extLst>
          </p:cNvPr>
          <p:cNvSpPr>
            <a:spLocks noGrp="1"/>
          </p:cNvSpPr>
          <p:nvPr>
            <p:ph type="title"/>
          </p:nvPr>
        </p:nvSpPr>
        <p:spPr/>
        <p:txBody>
          <a:bodyPr/>
          <a:lstStyle/>
          <a:p>
            <a:r>
              <a:rPr lang="en-US" dirty="0"/>
              <a:t>Computer languages</a:t>
            </a:r>
          </a:p>
        </p:txBody>
      </p:sp>
      <p:sp>
        <p:nvSpPr>
          <p:cNvPr id="3" name="Content Placeholder 2">
            <a:extLst>
              <a:ext uri="{FF2B5EF4-FFF2-40B4-BE49-F238E27FC236}">
                <a16:creationId xmlns:a16="http://schemas.microsoft.com/office/drawing/2014/main" id="{15EA501E-F6A4-FC4B-9F47-2233B514E24D}"/>
              </a:ext>
            </a:extLst>
          </p:cNvPr>
          <p:cNvSpPr>
            <a:spLocks noGrp="1"/>
          </p:cNvSpPr>
          <p:nvPr>
            <p:ph idx="1"/>
          </p:nvPr>
        </p:nvSpPr>
        <p:spPr>
          <a:xfrm>
            <a:off x="152400" y="495301"/>
            <a:ext cx="8991600" cy="838199"/>
          </a:xfrm>
        </p:spPr>
        <p:txBody>
          <a:bodyPr/>
          <a:lstStyle/>
          <a:p>
            <a:r>
              <a:rPr lang="en-US" dirty="0"/>
              <a:t>modeled after human languages, these are much simpler languages used to encode information in a way that is useful for computing.</a:t>
            </a:r>
          </a:p>
        </p:txBody>
      </p:sp>
      <p:sp>
        <p:nvSpPr>
          <p:cNvPr id="4" name="Slide Number Placeholder 3">
            <a:extLst>
              <a:ext uri="{FF2B5EF4-FFF2-40B4-BE49-F238E27FC236}">
                <a16:creationId xmlns:a16="http://schemas.microsoft.com/office/drawing/2014/main" id="{557A2EE0-8A89-D143-8AAA-D31D5171F03B}"/>
              </a:ext>
            </a:extLst>
          </p:cNvPr>
          <p:cNvSpPr>
            <a:spLocks noGrp="1"/>
          </p:cNvSpPr>
          <p:nvPr>
            <p:ph type="sldNum" sz="quarter" idx="12"/>
          </p:nvPr>
        </p:nvSpPr>
        <p:spPr/>
        <p:txBody>
          <a:bodyPr/>
          <a:lstStyle/>
          <a:p>
            <a:fld id="{3552B95B-556F-44BD-91A5-D80C1B9E2BB3}" type="slidenum">
              <a:rPr lang="en-US" smtClean="0"/>
              <a:pPr/>
              <a:t>14</a:t>
            </a:fld>
            <a:endParaRPr lang="en-US"/>
          </a:p>
        </p:txBody>
      </p:sp>
      <p:pic>
        <p:nvPicPr>
          <p:cNvPr id="5" name="Picture 4" descr="ttps://upload.wikimedia.org/wikipedia/commons/thumb/1/10/CSS3_and_HTML5_logos_and_wordmarks.svg/791px-CS">
            <a:extLst>
              <a:ext uri="{FF2B5EF4-FFF2-40B4-BE49-F238E27FC236}">
                <a16:creationId xmlns:a16="http://schemas.microsoft.com/office/drawing/2014/main" id="{C2280957-EB43-0447-BA9B-647F238EAC8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 r="48638"/>
          <a:stretch/>
        </p:blipFill>
        <p:spPr bwMode="auto">
          <a:xfrm>
            <a:off x="2743199" y="1439996"/>
            <a:ext cx="988988" cy="1246356"/>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a:extLst>
              <a:ext uri="{FF2B5EF4-FFF2-40B4-BE49-F238E27FC236}">
                <a16:creationId xmlns:a16="http://schemas.microsoft.com/office/drawing/2014/main" id="{6D83C0F1-CA53-054B-BE5D-C8FAAACCF5C6}"/>
              </a:ext>
            </a:extLst>
          </p:cNvPr>
          <p:cNvGrpSpPr/>
          <p:nvPr/>
        </p:nvGrpSpPr>
        <p:grpSpPr>
          <a:xfrm>
            <a:off x="663111" y="1374672"/>
            <a:ext cx="1509338" cy="1527277"/>
            <a:chOff x="646592" y="1738135"/>
            <a:chExt cx="1509338" cy="1527277"/>
          </a:xfrm>
        </p:grpSpPr>
        <p:pic>
          <p:nvPicPr>
            <p:cNvPr id="8" name="Picture 2" descr="Image result for ecmascript logo">
              <a:extLst>
                <a:ext uri="{FF2B5EF4-FFF2-40B4-BE49-F238E27FC236}">
                  <a16:creationId xmlns:a16="http://schemas.microsoft.com/office/drawing/2014/main" id="{99FC574F-61EA-B641-9D92-4898B67CCB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62734" y="2427212"/>
              <a:ext cx="838200" cy="8382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4" descr="Image result for python logo">
              <a:extLst>
                <a:ext uri="{FF2B5EF4-FFF2-40B4-BE49-F238E27FC236}">
                  <a16:creationId xmlns:a16="http://schemas.microsoft.com/office/drawing/2014/main" id="{EEE94DF7-2822-0844-AA85-8D5451A3F03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6592" y="2005273"/>
              <a:ext cx="838200" cy="838200"/>
            </a:xfrm>
            <a:prstGeom prst="rect">
              <a:avLst/>
            </a:prstGeom>
            <a:noFill/>
            <a:effectLst>
              <a:glow rad="228600">
                <a:schemeClr val="bg2"/>
              </a:glow>
            </a:effectLst>
            <a:extLst>
              <a:ext uri="{909E8E84-426E-40DD-AFC4-6F175D3DCCD1}">
                <a14:hiddenFill xmlns:a14="http://schemas.microsoft.com/office/drawing/2010/main">
                  <a:solidFill>
                    <a:srgbClr val="FFFFFF"/>
                  </a:solidFill>
                </a14:hiddenFill>
              </a:ext>
            </a:extLst>
          </p:spPr>
        </p:pic>
        <p:pic>
          <p:nvPicPr>
            <p:cNvPr id="6" name="Picture 2" descr="Image result for java logo">
              <a:extLst>
                <a:ext uri="{FF2B5EF4-FFF2-40B4-BE49-F238E27FC236}">
                  <a16:creationId xmlns:a16="http://schemas.microsoft.com/office/drawing/2014/main" id="{14C7D5B7-4C70-C842-824D-53F7EA58CCF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15016" y="1738135"/>
              <a:ext cx="540914" cy="988474"/>
            </a:xfrm>
            <a:prstGeom prst="rect">
              <a:avLst/>
            </a:prstGeom>
            <a:noFill/>
            <a:extLst>
              <a:ext uri="{909E8E84-426E-40DD-AFC4-6F175D3DCCD1}">
                <a14:hiddenFill xmlns:a14="http://schemas.microsoft.com/office/drawing/2010/main">
                  <a:solidFill>
                    <a:srgbClr val="FFFFFF"/>
                  </a:solidFill>
                </a14:hiddenFill>
              </a:ext>
            </a:extLst>
          </p:spPr>
        </p:pic>
      </p:grpSp>
      <p:sp>
        <p:nvSpPr>
          <p:cNvPr id="10" name="TextBox 9">
            <a:extLst>
              <a:ext uri="{FF2B5EF4-FFF2-40B4-BE49-F238E27FC236}">
                <a16:creationId xmlns:a16="http://schemas.microsoft.com/office/drawing/2014/main" id="{743FA648-8B0C-3C43-B568-489D562F9C6E}"/>
              </a:ext>
            </a:extLst>
          </p:cNvPr>
          <p:cNvSpPr txBox="1"/>
          <p:nvPr/>
        </p:nvSpPr>
        <p:spPr>
          <a:xfrm>
            <a:off x="147958" y="2943121"/>
            <a:ext cx="2519042" cy="1785104"/>
          </a:xfrm>
          <a:prstGeom prst="rect">
            <a:avLst/>
          </a:prstGeom>
          <a:noFill/>
        </p:spPr>
        <p:txBody>
          <a:bodyPr wrap="square" rtlCol="0">
            <a:spAutoFit/>
          </a:bodyPr>
          <a:lstStyle/>
          <a:p>
            <a:pPr algn="ctr"/>
            <a:r>
              <a:rPr lang="en-US" sz="2200" b="1" dirty="0"/>
              <a:t>programming languages </a:t>
            </a:r>
            <a:r>
              <a:rPr lang="en-US" sz="2200" dirty="0"/>
              <a:t>encode instructions for the computer to execute.</a:t>
            </a:r>
            <a:endParaRPr lang="en-US" sz="2200" b="1" dirty="0"/>
          </a:p>
        </p:txBody>
      </p:sp>
      <p:pic>
        <p:nvPicPr>
          <p:cNvPr id="11" name="Picture 10" descr="ttps://upload.wikimedia.org/wikipedia/commons/thumb/1/10/CSS3_and_HTML5_logos_and_wordmarks.svg/791px-CS">
            <a:extLst>
              <a:ext uri="{FF2B5EF4-FFF2-40B4-BE49-F238E27FC236}">
                <a16:creationId xmlns:a16="http://schemas.microsoft.com/office/drawing/2014/main" id="{2C0EB477-30E2-2E40-A494-4B3DEDB720B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1089"/>
          <a:stretch/>
        </p:blipFill>
        <p:spPr bwMode="auto">
          <a:xfrm>
            <a:off x="3429000" y="1374672"/>
            <a:ext cx="941796" cy="124635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B216CB05-F207-E442-93E6-399E08A125FB}"/>
              </a:ext>
            </a:extLst>
          </p:cNvPr>
          <p:cNvSpPr txBox="1"/>
          <p:nvPr/>
        </p:nvSpPr>
        <p:spPr>
          <a:xfrm>
            <a:off x="4338712" y="1503337"/>
            <a:ext cx="3287035" cy="769441"/>
          </a:xfrm>
          <a:prstGeom prst="rect">
            <a:avLst/>
          </a:prstGeom>
          <a:noFill/>
        </p:spPr>
        <p:txBody>
          <a:bodyPr wrap="square" rtlCol="0">
            <a:spAutoFit/>
          </a:bodyPr>
          <a:lstStyle/>
          <a:p>
            <a:pPr algn="ctr"/>
            <a:r>
              <a:rPr lang="en-US" sz="2200" b="1" dirty="0"/>
              <a:t>declarative languages </a:t>
            </a:r>
            <a:r>
              <a:rPr lang="en-US" sz="2200" dirty="0"/>
              <a:t>encode data and rules.</a:t>
            </a:r>
            <a:endParaRPr lang="en-US" sz="2200" b="1" dirty="0"/>
          </a:p>
        </p:txBody>
      </p:sp>
      <p:sp>
        <p:nvSpPr>
          <p:cNvPr id="13" name="TextBox 12">
            <a:extLst>
              <a:ext uri="{FF2B5EF4-FFF2-40B4-BE49-F238E27FC236}">
                <a16:creationId xmlns:a16="http://schemas.microsoft.com/office/drawing/2014/main" id="{5E25D532-2212-9E43-8F4F-E47420E532CB}"/>
              </a:ext>
            </a:extLst>
          </p:cNvPr>
          <p:cNvSpPr txBox="1"/>
          <p:nvPr/>
        </p:nvSpPr>
        <p:spPr>
          <a:xfrm>
            <a:off x="2769319" y="2841655"/>
            <a:ext cx="3831578" cy="1107996"/>
          </a:xfrm>
          <a:prstGeom prst="rect">
            <a:avLst/>
          </a:prstGeom>
          <a:noFill/>
        </p:spPr>
        <p:txBody>
          <a:bodyPr wrap="square" rtlCol="0">
            <a:spAutoFit/>
          </a:bodyPr>
          <a:lstStyle/>
          <a:p>
            <a:pPr algn="ctr"/>
            <a:r>
              <a:rPr lang="en-US" sz="2200" b="1" dirty="0"/>
              <a:t>interchange and binary file formats </a:t>
            </a:r>
            <a:r>
              <a:rPr lang="en-US" sz="2200" dirty="0"/>
              <a:t>encode domain- or application-specific data.</a:t>
            </a:r>
            <a:endParaRPr lang="en-US" sz="2200" b="1" dirty="0"/>
          </a:p>
        </p:txBody>
      </p:sp>
      <p:pic>
        <p:nvPicPr>
          <p:cNvPr id="15" name="Picture 2" descr="mage result for jpeg icon">
            <a:extLst>
              <a:ext uri="{FF2B5EF4-FFF2-40B4-BE49-F238E27FC236}">
                <a16:creationId xmlns:a16="http://schemas.microsoft.com/office/drawing/2014/main" id="{5E7919AA-F535-BC41-8037-536C88D663B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92876" y="2348640"/>
            <a:ext cx="981054" cy="981054"/>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4D266D76-62C0-E24D-AAAF-75970F606246}"/>
              </a:ext>
            </a:extLst>
          </p:cNvPr>
          <p:cNvPicPr>
            <a:picLocks noChangeAspect="1"/>
          </p:cNvPicPr>
          <p:nvPr/>
        </p:nvPicPr>
        <p:blipFill>
          <a:blip r:embed="rId9"/>
          <a:stretch>
            <a:fillRect/>
          </a:stretch>
        </p:blipFill>
        <p:spPr>
          <a:xfrm>
            <a:off x="7543809" y="2252703"/>
            <a:ext cx="1146107" cy="1189520"/>
          </a:xfrm>
          <a:prstGeom prst="rect">
            <a:avLst/>
          </a:prstGeom>
        </p:spPr>
      </p:pic>
      <p:sp>
        <p:nvSpPr>
          <p:cNvPr id="17" name="TextBox 16">
            <a:extLst>
              <a:ext uri="{FF2B5EF4-FFF2-40B4-BE49-F238E27FC236}">
                <a16:creationId xmlns:a16="http://schemas.microsoft.com/office/drawing/2014/main" id="{7379BED3-CEAE-E642-B99E-C434FF09B3F3}"/>
              </a:ext>
            </a:extLst>
          </p:cNvPr>
          <p:cNvSpPr txBox="1"/>
          <p:nvPr/>
        </p:nvSpPr>
        <p:spPr>
          <a:xfrm>
            <a:off x="3575280" y="4331745"/>
            <a:ext cx="4476541" cy="769441"/>
          </a:xfrm>
          <a:prstGeom prst="rect">
            <a:avLst/>
          </a:prstGeom>
          <a:noFill/>
        </p:spPr>
        <p:txBody>
          <a:bodyPr wrap="square" rtlCol="0">
            <a:spAutoFit/>
          </a:bodyPr>
          <a:lstStyle/>
          <a:p>
            <a:pPr algn="ctr"/>
            <a:r>
              <a:rPr lang="en-US" sz="2200" dirty="0"/>
              <a:t>even things like </a:t>
            </a:r>
            <a:r>
              <a:rPr lang="en-US" sz="2200" b="1" dirty="0"/>
              <a:t>network protocols </a:t>
            </a:r>
            <a:r>
              <a:rPr lang="en-US" sz="2200" dirty="0"/>
              <a:t>are a kind of language!</a:t>
            </a:r>
          </a:p>
        </p:txBody>
      </p:sp>
    </p:spTree>
    <p:extLst>
      <p:ext uri="{BB962C8B-B14F-4D97-AF65-F5344CB8AC3E}">
        <p14:creationId xmlns:p14="http://schemas.microsoft.com/office/powerpoint/2010/main" val="353223873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5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3" grpId="0"/>
      <p:bldP spid="1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B4074-8A51-7145-8498-CFC9E928B8DB}"/>
              </a:ext>
            </a:extLst>
          </p:cNvPr>
          <p:cNvSpPr>
            <a:spLocks noGrp="1"/>
          </p:cNvSpPr>
          <p:nvPr>
            <p:ph type="title"/>
          </p:nvPr>
        </p:nvSpPr>
        <p:spPr/>
        <p:txBody>
          <a:bodyPr/>
          <a:lstStyle/>
          <a:p>
            <a:r>
              <a:rPr lang="en-US" dirty="0"/>
              <a:t>Programming languages</a:t>
            </a:r>
          </a:p>
        </p:txBody>
      </p:sp>
      <p:sp>
        <p:nvSpPr>
          <p:cNvPr id="3" name="Content Placeholder 2">
            <a:extLst>
              <a:ext uri="{FF2B5EF4-FFF2-40B4-BE49-F238E27FC236}">
                <a16:creationId xmlns:a16="http://schemas.microsoft.com/office/drawing/2014/main" id="{1482FAB3-0CCA-934D-90F6-BEEB3796E09C}"/>
              </a:ext>
            </a:extLst>
          </p:cNvPr>
          <p:cNvSpPr>
            <a:spLocks noGrp="1"/>
          </p:cNvSpPr>
          <p:nvPr>
            <p:ph idx="1"/>
          </p:nvPr>
        </p:nvSpPr>
        <p:spPr>
          <a:xfrm>
            <a:off x="152400" y="495301"/>
            <a:ext cx="8991600" cy="838199"/>
          </a:xfrm>
        </p:spPr>
        <p:txBody>
          <a:bodyPr/>
          <a:lstStyle/>
          <a:p>
            <a:r>
              <a:rPr lang="en-US" i="1" dirty="0"/>
              <a:t>one </a:t>
            </a:r>
            <a:r>
              <a:rPr lang="en-US" dirty="0"/>
              <a:t>definition is that programs are </a:t>
            </a:r>
            <a:r>
              <a:rPr lang="en-US" b="1" dirty="0"/>
              <a:t>sequences of instructions…</a:t>
            </a:r>
          </a:p>
          <a:p>
            <a:r>
              <a:rPr lang="en-US" dirty="0"/>
              <a:t>but </a:t>
            </a:r>
            <a:r>
              <a:rPr lang="en-US" b="1" dirty="0"/>
              <a:t>programs are also proofs.</a:t>
            </a:r>
            <a:endParaRPr lang="en-US" dirty="0"/>
          </a:p>
        </p:txBody>
      </p:sp>
      <p:sp>
        <p:nvSpPr>
          <p:cNvPr id="4" name="Slide Number Placeholder 3">
            <a:extLst>
              <a:ext uri="{FF2B5EF4-FFF2-40B4-BE49-F238E27FC236}">
                <a16:creationId xmlns:a16="http://schemas.microsoft.com/office/drawing/2014/main" id="{67FE7916-FC00-E94F-A07F-D540A28E314C}"/>
              </a:ext>
            </a:extLst>
          </p:cNvPr>
          <p:cNvSpPr>
            <a:spLocks noGrp="1"/>
          </p:cNvSpPr>
          <p:nvPr>
            <p:ph type="sldNum" sz="quarter" idx="12"/>
          </p:nvPr>
        </p:nvSpPr>
        <p:spPr/>
        <p:txBody>
          <a:bodyPr/>
          <a:lstStyle/>
          <a:p>
            <a:fld id="{3552B95B-556F-44BD-91A5-D80C1B9E2BB3}" type="slidenum">
              <a:rPr lang="en-US" smtClean="0"/>
              <a:pPr/>
              <a:t>15</a:t>
            </a:fld>
            <a:endParaRPr lang="en-US"/>
          </a:p>
        </p:txBody>
      </p:sp>
      <p:pic>
        <p:nvPicPr>
          <p:cNvPr id="3074" name="Picture 2" descr="Natural deduction proof editor and checker">
            <a:extLst>
              <a:ext uri="{FF2B5EF4-FFF2-40B4-BE49-F238E27FC236}">
                <a16:creationId xmlns:a16="http://schemas.microsoft.com/office/drawing/2014/main" id="{235A7785-C0E7-4246-A207-C6AD89BC02C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80" t="2379" r="13479" b="2141"/>
          <a:stretch/>
        </p:blipFill>
        <p:spPr bwMode="auto">
          <a:xfrm>
            <a:off x="5143500" y="1177619"/>
            <a:ext cx="3657600" cy="259882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1C11ADF-085F-2C42-BE6A-08A1E8B6AB92}"/>
              </a:ext>
            </a:extLst>
          </p:cNvPr>
          <p:cNvSpPr txBox="1"/>
          <p:nvPr/>
        </p:nvSpPr>
        <p:spPr>
          <a:xfrm>
            <a:off x="198058" y="1333500"/>
            <a:ext cx="4602542" cy="1938992"/>
          </a:xfrm>
          <a:prstGeom prst="rect">
            <a:avLst/>
          </a:prstGeom>
          <a:noFill/>
        </p:spPr>
        <p:txBody>
          <a:bodyPr wrap="none" rtlCol="0">
            <a:spAutoFit/>
          </a:bodyPr>
          <a:lstStyle/>
          <a:p>
            <a:r>
              <a:rPr lang="en-US" sz="2400" b="1" dirty="0" err="1">
                <a:solidFill>
                  <a:srgbClr val="FF0000"/>
                </a:solidFill>
                <a:latin typeface="Consolas" panose="020B0609020204030204" pitchFamily="49" charset="0"/>
                <a:cs typeface="Consolas" panose="020B0609020204030204" pitchFamily="49" charset="0"/>
              </a:rPr>
              <a:t>fn</a:t>
            </a:r>
            <a:r>
              <a:rPr lang="en-US" sz="2400" b="1" dirty="0">
                <a:solidFill>
                  <a:srgbClr val="FF0000"/>
                </a:solidFill>
                <a:latin typeface="Consolas" panose="020B0609020204030204" pitchFamily="49" charset="0"/>
                <a:cs typeface="Consolas" panose="020B0609020204030204" pitchFamily="49" charset="0"/>
              </a:rPr>
              <a:t> </a:t>
            </a:r>
            <a:r>
              <a:rPr lang="en-US" sz="2400" b="1" dirty="0">
                <a:latin typeface="Consolas" panose="020B0609020204030204" pitchFamily="49" charset="0"/>
                <a:cs typeface="Consolas" panose="020B0609020204030204" pitchFamily="49" charset="0"/>
              </a:rPr>
              <a:t>main() {</a:t>
            </a:r>
          </a:p>
          <a:p>
            <a:r>
              <a:rPr lang="en-US" sz="2400" b="1" dirty="0">
                <a:solidFill>
                  <a:srgbClr val="FF0000"/>
                </a:solidFill>
                <a:latin typeface="Consolas" panose="020B0609020204030204" pitchFamily="49" charset="0"/>
                <a:cs typeface="Consolas" panose="020B0609020204030204" pitchFamily="49" charset="0"/>
              </a:rPr>
              <a:t>  for</a:t>
            </a:r>
            <a:r>
              <a:rPr lang="en-US" sz="2400" b="1" dirty="0">
                <a:latin typeface="Consolas" panose="020B0609020204030204" pitchFamily="49" charset="0"/>
                <a:cs typeface="Consolas" panose="020B0609020204030204" pitchFamily="49" charset="0"/>
              </a:rPr>
              <a:t> i </a:t>
            </a:r>
            <a:r>
              <a:rPr lang="en-US" sz="2400" b="1" dirty="0">
                <a:solidFill>
                  <a:srgbClr val="FF0000"/>
                </a:solidFill>
                <a:latin typeface="Consolas" panose="020B0609020204030204" pitchFamily="49" charset="0"/>
                <a:cs typeface="Consolas" panose="020B0609020204030204" pitchFamily="49" charset="0"/>
              </a:rPr>
              <a:t>in</a:t>
            </a:r>
            <a:r>
              <a:rPr lang="en-US" sz="2400" b="1" dirty="0">
                <a:latin typeface="Consolas" panose="020B0609020204030204" pitchFamily="49" charset="0"/>
                <a:cs typeface="Consolas" panose="020B0609020204030204" pitchFamily="49" charset="0"/>
              </a:rPr>
              <a:t> </a:t>
            </a:r>
            <a:r>
              <a:rPr lang="en-US" sz="2400" b="1" dirty="0">
                <a:solidFill>
                  <a:schemeClr val="accent3">
                    <a:lumMod val="75000"/>
                  </a:schemeClr>
                </a:solidFill>
                <a:latin typeface="Consolas" panose="020B0609020204030204" pitchFamily="49" charset="0"/>
                <a:cs typeface="Consolas" panose="020B0609020204030204" pitchFamily="49" charset="0"/>
              </a:rPr>
              <a:t>0</a:t>
            </a:r>
            <a:r>
              <a:rPr lang="en-US" sz="2400" b="1" dirty="0">
                <a:latin typeface="Consolas" panose="020B0609020204030204" pitchFamily="49" charset="0"/>
                <a:cs typeface="Consolas" panose="020B0609020204030204" pitchFamily="49" charset="0"/>
              </a:rPr>
              <a:t> .. </a:t>
            </a:r>
            <a:r>
              <a:rPr lang="en-US" sz="2400" b="1" dirty="0">
                <a:solidFill>
                  <a:schemeClr val="accent3">
                    <a:lumMod val="75000"/>
                  </a:schemeClr>
                </a:solidFill>
                <a:latin typeface="Consolas" panose="020B0609020204030204" pitchFamily="49" charset="0"/>
                <a:cs typeface="Consolas" panose="020B0609020204030204" pitchFamily="49" charset="0"/>
              </a:rPr>
              <a:t>10</a:t>
            </a:r>
            <a:r>
              <a:rPr lang="en-US" sz="2400" b="1" dirty="0">
                <a:latin typeface="Consolas" panose="020B0609020204030204" pitchFamily="49" charset="0"/>
                <a:cs typeface="Consolas" panose="020B0609020204030204" pitchFamily="49" charset="0"/>
              </a:rPr>
              <a:t> {</a:t>
            </a:r>
          </a:p>
          <a:p>
            <a:r>
              <a:rPr lang="en-US" sz="2400" b="1" dirty="0">
                <a:latin typeface="Consolas" panose="020B0609020204030204" pitchFamily="49" charset="0"/>
                <a:cs typeface="Consolas" panose="020B0609020204030204" pitchFamily="49" charset="0"/>
              </a:rPr>
              <a:t>    </a:t>
            </a:r>
            <a:r>
              <a:rPr lang="en-US" sz="2400" b="1" dirty="0" err="1">
                <a:latin typeface="Consolas" panose="020B0609020204030204" pitchFamily="49" charset="0"/>
                <a:cs typeface="Consolas" panose="020B0609020204030204" pitchFamily="49" charset="0"/>
              </a:rPr>
              <a:t>println</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"i = {}"</a:t>
            </a:r>
            <a:r>
              <a:rPr lang="en-US" sz="2400" b="1" dirty="0">
                <a:latin typeface="Consolas" panose="020B0609020204030204" pitchFamily="49" charset="0"/>
                <a:cs typeface="Consolas" panose="020B0609020204030204" pitchFamily="49" charset="0"/>
              </a:rPr>
              <a:t>, i);</a:t>
            </a:r>
          </a:p>
          <a:p>
            <a:r>
              <a:rPr lang="en-US" sz="2400" b="1" dirty="0">
                <a:latin typeface="Consolas" panose="020B0609020204030204" pitchFamily="49" charset="0"/>
                <a:cs typeface="Consolas" panose="020B0609020204030204" pitchFamily="49" charset="0"/>
              </a:rPr>
              <a:t>  }</a:t>
            </a:r>
          </a:p>
          <a:p>
            <a:r>
              <a:rPr lang="en-US" sz="2400" b="1" dirty="0">
                <a:latin typeface="Consolas" panose="020B0609020204030204" pitchFamily="49" charset="0"/>
                <a:cs typeface="Consolas" panose="020B0609020204030204" pitchFamily="49" charset="0"/>
              </a:rPr>
              <a:t>}</a:t>
            </a:r>
          </a:p>
        </p:txBody>
      </p:sp>
      <p:sp>
        <p:nvSpPr>
          <p:cNvPr id="7" name="TextBox 6">
            <a:extLst>
              <a:ext uri="{FF2B5EF4-FFF2-40B4-BE49-F238E27FC236}">
                <a16:creationId xmlns:a16="http://schemas.microsoft.com/office/drawing/2014/main" id="{6FEC4CB4-720C-DB41-843B-95C485C11BC2}"/>
              </a:ext>
            </a:extLst>
          </p:cNvPr>
          <p:cNvSpPr txBox="1"/>
          <p:nvPr/>
        </p:nvSpPr>
        <p:spPr>
          <a:xfrm>
            <a:off x="495509" y="3053166"/>
            <a:ext cx="4476541" cy="1446550"/>
          </a:xfrm>
          <a:prstGeom prst="rect">
            <a:avLst/>
          </a:prstGeom>
          <a:noFill/>
        </p:spPr>
        <p:txBody>
          <a:bodyPr wrap="square" rtlCol="0">
            <a:spAutoFit/>
          </a:bodyPr>
          <a:lstStyle/>
          <a:p>
            <a:pPr algn="ctr"/>
            <a:r>
              <a:rPr lang="en-US" sz="2200" dirty="0"/>
              <a:t>the Curry-Howard correspondence shows that programs and proofs are </a:t>
            </a:r>
            <a:r>
              <a:rPr lang="en-US" sz="2200" b="1" dirty="0"/>
              <a:t>two ways of expressing the same mathematical objects.</a:t>
            </a:r>
            <a:endParaRPr lang="en-US" sz="2200" dirty="0"/>
          </a:p>
        </p:txBody>
      </p:sp>
      <p:sp>
        <p:nvSpPr>
          <p:cNvPr id="8" name="TextBox 7">
            <a:extLst>
              <a:ext uri="{FF2B5EF4-FFF2-40B4-BE49-F238E27FC236}">
                <a16:creationId xmlns:a16="http://schemas.microsoft.com/office/drawing/2014/main" id="{799291ED-8F0A-FE40-934C-E8849B5678B9}"/>
              </a:ext>
            </a:extLst>
          </p:cNvPr>
          <p:cNvSpPr txBox="1"/>
          <p:nvPr/>
        </p:nvSpPr>
        <p:spPr>
          <a:xfrm>
            <a:off x="599971" y="4637727"/>
            <a:ext cx="7944058" cy="769441"/>
          </a:xfrm>
          <a:prstGeom prst="rect">
            <a:avLst/>
          </a:prstGeom>
          <a:noFill/>
        </p:spPr>
        <p:txBody>
          <a:bodyPr wrap="square" rtlCol="0">
            <a:spAutoFit/>
          </a:bodyPr>
          <a:lstStyle/>
          <a:p>
            <a:pPr algn="ctr"/>
            <a:r>
              <a:rPr lang="en-US" sz="2200" dirty="0"/>
              <a:t>there are </a:t>
            </a:r>
            <a:r>
              <a:rPr lang="en-US" sz="2200" b="1" dirty="0"/>
              <a:t>proof languages </a:t>
            </a:r>
            <a:r>
              <a:rPr lang="en-US" sz="2200" dirty="0"/>
              <a:t>and </a:t>
            </a:r>
            <a:r>
              <a:rPr lang="en-US" sz="2200" b="1" dirty="0"/>
              <a:t>proof assistants </a:t>
            </a:r>
            <a:r>
              <a:rPr lang="en-US" sz="2200" dirty="0"/>
              <a:t>which can function as both programming languages </a:t>
            </a:r>
            <a:r>
              <a:rPr lang="en-US" sz="2200" i="1" dirty="0"/>
              <a:t>and</a:t>
            </a:r>
            <a:r>
              <a:rPr lang="en-US" sz="2200" dirty="0"/>
              <a:t> proof checkers.</a:t>
            </a:r>
          </a:p>
        </p:txBody>
      </p:sp>
    </p:spTree>
    <p:extLst>
      <p:ext uri="{BB962C8B-B14F-4D97-AF65-F5344CB8AC3E}">
        <p14:creationId xmlns:p14="http://schemas.microsoft.com/office/powerpoint/2010/main" val="295635333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7680D-B555-AE42-BD85-D6C753FA5CF3}"/>
              </a:ext>
            </a:extLst>
          </p:cNvPr>
          <p:cNvSpPr>
            <a:spLocks noGrp="1"/>
          </p:cNvSpPr>
          <p:nvPr>
            <p:ph type="title"/>
          </p:nvPr>
        </p:nvSpPr>
        <p:spPr/>
        <p:txBody>
          <a:bodyPr/>
          <a:lstStyle/>
          <a:p>
            <a:r>
              <a:rPr lang="en-US" dirty="0"/>
              <a:t>The Origin of </a:t>
            </a:r>
            <a:r>
              <a:rPr lang="en-US" sz="1600" dirty="0"/>
              <a:t>(high-level programming) </a:t>
            </a:r>
            <a:r>
              <a:rPr lang="en-US" dirty="0"/>
              <a:t>Languages</a:t>
            </a:r>
          </a:p>
        </p:txBody>
      </p:sp>
      <p:sp>
        <p:nvSpPr>
          <p:cNvPr id="3" name="Content Placeholder 2">
            <a:extLst>
              <a:ext uri="{FF2B5EF4-FFF2-40B4-BE49-F238E27FC236}">
                <a16:creationId xmlns:a16="http://schemas.microsoft.com/office/drawing/2014/main" id="{0CBD7EA6-0302-2847-97E0-7B86AD5AB8B8}"/>
              </a:ext>
            </a:extLst>
          </p:cNvPr>
          <p:cNvSpPr>
            <a:spLocks noGrp="1"/>
          </p:cNvSpPr>
          <p:nvPr>
            <p:ph idx="1"/>
          </p:nvPr>
        </p:nvSpPr>
        <p:spPr>
          <a:xfrm>
            <a:off x="152400" y="495301"/>
            <a:ext cx="8991600" cy="838199"/>
          </a:xfrm>
        </p:spPr>
        <p:txBody>
          <a:bodyPr/>
          <a:lstStyle/>
          <a:p>
            <a:r>
              <a:rPr lang="en-US" dirty="0"/>
              <a:t>as you learned in 447, </a:t>
            </a:r>
            <a:r>
              <a:rPr lang="en-US" b="1" dirty="0"/>
              <a:t>CPUs execute machine code…</a:t>
            </a:r>
          </a:p>
          <a:p>
            <a:pPr lvl="1"/>
            <a:r>
              <a:rPr lang="en-US" dirty="0"/>
              <a:t>and </a:t>
            </a:r>
            <a:r>
              <a:rPr lang="en-US" b="1" dirty="0"/>
              <a:t>assembly language </a:t>
            </a:r>
            <a:r>
              <a:rPr lang="en-US" dirty="0"/>
              <a:t>is a textual representation of that.</a:t>
            </a:r>
          </a:p>
        </p:txBody>
      </p:sp>
      <p:sp>
        <p:nvSpPr>
          <p:cNvPr id="4" name="Slide Number Placeholder 3">
            <a:extLst>
              <a:ext uri="{FF2B5EF4-FFF2-40B4-BE49-F238E27FC236}">
                <a16:creationId xmlns:a16="http://schemas.microsoft.com/office/drawing/2014/main" id="{5761E2B8-07AF-264F-819C-388511E30A9A}"/>
              </a:ext>
            </a:extLst>
          </p:cNvPr>
          <p:cNvSpPr>
            <a:spLocks noGrp="1"/>
          </p:cNvSpPr>
          <p:nvPr>
            <p:ph type="sldNum" sz="quarter" idx="12"/>
          </p:nvPr>
        </p:nvSpPr>
        <p:spPr/>
        <p:txBody>
          <a:bodyPr/>
          <a:lstStyle/>
          <a:p>
            <a:fld id="{3552B95B-556F-44BD-91A5-D80C1B9E2BB3}" type="slidenum">
              <a:rPr lang="en-US" smtClean="0"/>
              <a:pPr/>
              <a:t>16</a:t>
            </a:fld>
            <a:endParaRPr lang="en-US"/>
          </a:p>
        </p:txBody>
      </p:sp>
      <p:sp>
        <p:nvSpPr>
          <p:cNvPr id="5" name="TextBox 4">
            <a:extLst>
              <a:ext uri="{FF2B5EF4-FFF2-40B4-BE49-F238E27FC236}">
                <a16:creationId xmlns:a16="http://schemas.microsoft.com/office/drawing/2014/main" id="{03D1C2BA-C424-B346-8EFC-177D6734EFBD}"/>
              </a:ext>
            </a:extLst>
          </p:cNvPr>
          <p:cNvSpPr txBox="1"/>
          <p:nvPr/>
        </p:nvSpPr>
        <p:spPr>
          <a:xfrm>
            <a:off x="304800" y="1344108"/>
            <a:ext cx="2717411" cy="3970318"/>
          </a:xfrm>
          <a:prstGeom prst="rect">
            <a:avLst/>
          </a:prstGeom>
          <a:noFill/>
        </p:spPr>
        <p:txBody>
          <a:bodyPr wrap="none" rtlCol="0">
            <a:spAutoFit/>
          </a:bodyPr>
          <a:lstStyle/>
          <a:p>
            <a:r>
              <a:rPr lang="en-US" sz="1800" b="1" dirty="0">
                <a:latin typeface="Consolas" panose="020B0609020204030204" pitchFamily="49" charset="0"/>
                <a:cs typeface="Consolas" panose="020B0609020204030204" pitchFamily="49" charset="0"/>
              </a:rPr>
              <a:t>main:</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li</a:t>
            </a:r>
            <a:r>
              <a:rPr lang="en-US" sz="1800" b="1" dirty="0">
                <a:latin typeface="Consolas" panose="020B0609020204030204" pitchFamily="49" charset="0"/>
                <a:cs typeface="Consolas" panose="020B0609020204030204" pitchFamily="49" charset="0"/>
              </a:rPr>
              <a:t>   s0, </a:t>
            </a:r>
            <a:r>
              <a:rPr lang="en-US" sz="1800" b="1" dirty="0">
                <a:solidFill>
                  <a:schemeClr val="accent3">
                    <a:lumMod val="75000"/>
                  </a:schemeClr>
                </a:solidFill>
                <a:latin typeface="Consolas" panose="020B0609020204030204" pitchFamily="49" charset="0"/>
                <a:cs typeface="Consolas" panose="020B0609020204030204" pitchFamily="49" charset="0"/>
              </a:rPr>
              <a:t>0</a:t>
            </a:r>
          </a:p>
          <a:p>
            <a:r>
              <a:rPr lang="en-US" sz="1800" b="1" dirty="0">
                <a:latin typeface="Consolas" panose="020B0609020204030204" pitchFamily="49" charset="0"/>
                <a:cs typeface="Consolas" panose="020B0609020204030204" pitchFamily="49" charset="0"/>
              </a:rPr>
              <a:t>_loop:</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la</a:t>
            </a:r>
            <a:r>
              <a:rPr lang="en-US" sz="1800" b="1" dirty="0">
                <a:latin typeface="Consolas" panose="020B0609020204030204" pitchFamily="49" charset="0"/>
                <a:cs typeface="Consolas" panose="020B0609020204030204" pitchFamily="49" charset="0"/>
              </a:rPr>
              <a:t>   a0, </a:t>
            </a:r>
            <a:r>
              <a:rPr lang="en-US" sz="1800" b="1" dirty="0" err="1">
                <a:latin typeface="Consolas" panose="020B0609020204030204" pitchFamily="49" charset="0"/>
                <a:cs typeface="Consolas" panose="020B0609020204030204" pitchFamily="49" charset="0"/>
              </a:rPr>
              <a:t>msg</a:t>
            </a:r>
            <a:endParaRPr lang="en-US" sz="1800" b="1" dirty="0">
              <a:latin typeface="Consolas" panose="020B0609020204030204" pitchFamily="49" charset="0"/>
              <a:cs typeface="Consolas" panose="020B0609020204030204" pitchFamily="49" charset="0"/>
            </a:endParaRP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li</a:t>
            </a:r>
            <a:r>
              <a:rPr lang="en-US" sz="1800" b="1" dirty="0">
                <a:latin typeface="Consolas" panose="020B0609020204030204" pitchFamily="49" charset="0"/>
                <a:cs typeface="Consolas" panose="020B0609020204030204" pitchFamily="49" charset="0"/>
              </a:rPr>
              <a:t>   v0, </a:t>
            </a:r>
            <a:r>
              <a:rPr lang="en-US" sz="1800" b="1" dirty="0">
                <a:solidFill>
                  <a:schemeClr val="accent3">
                    <a:lumMod val="75000"/>
                  </a:schemeClr>
                </a:solidFill>
                <a:latin typeface="Consolas" panose="020B0609020204030204" pitchFamily="49" charset="0"/>
                <a:cs typeface="Consolas" panose="020B0609020204030204" pitchFamily="49" charset="0"/>
              </a:rPr>
              <a:t>4</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syscall</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move</a:t>
            </a:r>
            <a:r>
              <a:rPr lang="en-US" sz="1800" b="1" dirty="0">
                <a:latin typeface="Consolas" panose="020B0609020204030204" pitchFamily="49" charset="0"/>
                <a:cs typeface="Consolas" panose="020B0609020204030204" pitchFamily="49" charset="0"/>
              </a:rPr>
              <a:t> a0, s0</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li</a:t>
            </a:r>
            <a:r>
              <a:rPr lang="en-US" sz="1800" b="1" dirty="0">
                <a:latin typeface="Consolas" panose="020B0609020204030204" pitchFamily="49" charset="0"/>
                <a:cs typeface="Consolas" panose="020B0609020204030204" pitchFamily="49" charset="0"/>
              </a:rPr>
              <a:t>   v0, </a:t>
            </a:r>
            <a:r>
              <a:rPr lang="en-US" sz="1800" b="1" dirty="0">
                <a:solidFill>
                  <a:schemeClr val="accent3">
                    <a:lumMod val="75000"/>
                  </a:schemeClr>
                </a:solidFill>
                <a:latin typeface="Consolas" panose="020B0609020204030204" pitchFamily="49" charset="0"/>
                <a:cs typeface="Consolas" panose="020B0609020204030204" pitchFamily="49" charset="0"/>
              </a:rPr>
              <a:t>1</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syscall</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li</a:t>
            </a:r>
            <a:r>
              <a:rPr lang="en-US" sz="1800" b="1" dirty="0">
                <a:latin typeface="Consolas" panose="020B0609020204030204" pitchFamily="49" charset="0"/>
                <a:cs typeface="Consolas" panose="020B0609020204030204" pitchFamily="49" charset="0"/>
              </a:rPr>
              <a:t>   a0, </a:t>
            </a:r>
            <a:r>
              <a:rPr lang="en-US" sz="1800" b="1" dirty="0">
                <a:solidFill>
                  <a:schemeClr val="accent6">
                    <a:lumMod val="75000"/>
                  </a:schemeClr>
                </a:solidFill>
                <a:latin typeface="Consolas" panose="020B0609020204030204" pitchFamily="49" charset="0"/>
                <a:cs typeface="Consolas" panose="020B0609020204030204" pitchFamily="49" charset="0"/>
              </a:rPr>
              <a:t>'\n'</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li</a:t>
            </a:r>
            <a:r>
              <a:rPr lang="en-US" sz="1800" b="1" dirty="0">
                <a:latin typeface="Consolas" panose="020B0609020204030204" pitchFamily="49" charset="0"/>
                <a:cs typeface="Consolas" panose="020B0609020204030204" pitchFamily="49" charset="0"/>
              </a:rPr>
              <a:t>   v0, </a:t>
            </a:r>
            <a:r>
              <a:rPr lang="en-US" sz="1800" b="1" dirty="0">
                <a:solidFill>
                  <a:schemeClr val="accent3">
                    <a:lumMod val="75000"/>
                  </a:schemeClr>
                </a:solidFill>
                <a:latin typeface="Consolas" panose="020B0609020204030204" pitchFamily="49" charset="0"/>
                <a:cs typeface="Consolas" panose="020B0609020204030204" pitchFamily="49" charset="0"/>
              </a:rPr>
              <a:t>11</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syscall</a:t>
            </a:r>
          </a:p>
          <a:p>
            <a:r>
              <a:rPr lang="en-US" sz="1800" b="1"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add</a:t>
            </a:r>
            <a:r>
              <a:rPr lang="en-US" sz="1800" b="1" dirty="0">
                <a:latin typeface="Consolas" panose="020B0609020204030204" pitchFamily="49" charset="0"/>
                <a:cs typeface="Consolas" panose="020B0609020204030204" pitchFamily="49" charset="0"/>
              </a:rPr>
              <a:t>  s0, s0, </a:t>
            </a:r>
            <a:r>
              <a:rPr lang="en-US" sz="1800" b="1" dirty="0">
                <a:solidFill>
                  <a:schemeClr val="accent3">
                    <a:lumMod val="75000"/>
                  </a:schemeClr>
                </a:solidFill>
                <a:latin typeface="Consolas" panose="020B0609020204030204" pitchFamily="49" charset="0"/>
                <a:cs typeface="Consolas" panose="020B0609020204030204" pitchFamily="49" charset="0"/>
              </a:rPr>
              <a:t>1</a:t>
            </a:r>
          </a:p>
          <a:p>
            <a:r>
              <a:rPr lang="en-US" sz="1800" b="1" dirty="0">
                <a:latin typeface="Consolas" panose="020B0609020204030204" pitchFamily="49" charset="0"/>
                <a:cs typeface="Consolas" panose="020B0609020204030204" pitchFamily="49" charset="0"/>
              </a:rPr>
              <a:t>  </a:t>
            </a:r>
            <a:r>
              <a:rPr lang="en-US" sz="1800" b="1" dirty="0" err="1">
                <a:solidFill>
                  <a:srgbClr val="FF0000"/>
                </a:solidFill>
                <a:latin typeface="Consolas" panose="020B0609020204030204" pitchFamily="49" charset="0"/>
                <a:cs typeface="Consolas" panose="020B0609020204030204" pitchFamily="49" charset="0"/>
              </a:rPr>
              <a:t>blt</a:t>
            </a:r>
            <a:r>
              <a:rPr lang="en-US" sz="1800" b="1" dirty="0">
                <a:latin typeface="Consolas" panose="020B0609020204030204" pitchFamily="49" charset="0"/>
                <a:cs typeface="Consolas" panose="020B0609020204030204" pitchFamily="49" charset="0"/>
              </a:rPr>
              <a:t>  s0, </a:t>
            </a:r>
            <a:r>
              <a:rPr lang="en-US" sz="1800" b="1" dirty="0">
                <a:solidFill>
                  <a:schemeClr val="accent3">
                    <a:lumMod val="75000"/>
                  </a:schemeClr>
                </a:solidFill>
                <a:latin typeface="Consolas" panose="020B0609020204030204" pitchFamily="49" charset="0"/>
                <a:cs typeface="Consolas" panose="020B0609020204030204" pitchFamily="49" charset="0"/>
              </a:rPr>
              <a:t>10</a:t>
            </a:r>
            <a:r>
              <a:rPr lang="en-US" sz="1800" b="1" dirty="0">
                <a:latin typeface="Consolas" panose="020B0609020204030204" pitchFamily="49" charset="0"/>
                <a:cs typeface="Consolas" panose="020B0609020204030204" pitchFamily="49" charset="0"/>
              </a:rPr>
              <a:t>, _loop</a:t>
            </a:r>
          </a:p>
        </p:txBody>
      </p:sp>
      <p:sp>
        <p:nvSpPr>
          <p:cNvPr id="6" name="TextBox 5">
            <a:extLst>
              <a:ext uri="{FF2B5EF4-FFF2-40B4-BE49-F238E27FC236}">
                <a16:creationId xmlns:a16="http://schemas.microsoft.com/office/drawing/2014/main" id="{6D9A1835-7B1C-2445-AAB2-CF2C8FED3E05}"/>
              </a:ext>
            </a:extLst>
          </p:cNvPr>
          <p:cNvSpPr txBox="1"/>
          <p:nvPr/>
        </p:nvSpPr>
        <p:spPr>
          <a:xfrm>
            <a:off x="3725024" y="3329267"/>
            <a:ext cx="4602542" cy="1938992"/>
          </a:xfrm>
          <a:prstGeom prst="rect">
            <a:avLst/>
          </a:prstGeom>
          <a:noFill/>
        </p:spPr>
        <p:txBody>
          <a:bodyPr wrap="none" rtlCol="0">
            <a:spAutoFit/>
          </a:bodyPr>
          <a:lstStyle/>
          <a:p>
            <a:r>
              <a:rPr lang="en-US" sz="2400" b="1" dirty="0" err="1">
                <a:solidFill>
                  <a:srgbClr val="FF0000"/>
                </a:solidFill>
                <a:latin typeface="Consolas" panose="020B0609020204030204" pitchFamily="49" charset="0"/>
                <a:cs typeface="Consolas" panose="020B0609020204030204" pitchFamily="49" charset="0"/>
              </a:rPr>
              <a:t>fn</a:t>
            </a:r>
            <a:r>
              <a:rPr lang="en-US" sz="2400" b="1" dirty="0">
                <a:solidFill>
                  <a:srgbClr val="FF0000"/>
                </a:solidFill>
                <a:latin typeface="Consolas" panose="020B0609020204030204" pitchFamily="49" charset="0"/>
                <a:cs typeface="Consolas" panose="020B0609020204030204" pitchFamily="49" charset="0"/>
              </a:rPr>
              <a:t> </a:t>
            </a:r>
            <a:r>
              <a:rPr lang="en-US" sz="2400" b="1" dirty="0">
                <a:latin typeface="Consolas" panose="020B0609020204030204" pitchFamily="49" charset="0"/>
                <a:cs typeface="Consolas" panose="020B0609020204030204" pitchFamily="49" charset="0"/>
              </a:rPr>
              <a:t>main() {</a:t>
            </a:r>
          </a:p>
          <a:p>
            <a:r>
              <a:rPr lang="en-US" sz="2400" b="1" dirty="0">
                <a:solidFill>
                  <a:srgbClr val="FF0000"/>
                </a:solidFill>
                <a:latin typeface="Consolas" panose="020B0609020204030204" pitchFamily="49" charset="0"/>
                <a:cs typeface="Consolas" panose="020B0609020204030204" pitchFamily="49" charset="0"/>
              </a:rPr>
              <a:t>  for</a:t>
            </a:r>
            <a:r>
              <a:rPr lang="en-US" sz="2400" b="1" dirty="0">
                <a:latin typeface="Consolas" panose="020B0609020204030204" pitchFamily="49" charset="0"/>
                <a:cs typeface="Consolas" panose="020B0609020204030204" pitchFamily="49" charset="0"/>
              </a:rPr>
              <a:t> i </a:t>
            </a:r>
            <a:r>
              <a:rPr lang="en-US" sz="2400" b="1" dirty="0">
                <a:solidFill>
                  <a:srgbClr val="FF0000"/>
                </a:solidFill>
                <a:latin typeface="Consolas" panose="020B0609020204030204" pitchFamily="49" charset="0"/>
                <a:cs typeface="Consolas" panose="020B0609020204030204" pitchFamily="49" charset="0"/>
              </a:rPr>
              <a:t>in</a:t>
            </a:r>
            <a:r>
              <a:rPr lang="en-US" sz="2400" b="1" dirty="0">
                <a:latin typeface="Consolas" panose="020B0609020204030204" pitchFamily="49" charset="0"/>
                <a:cs typeface="Consolas" panose="020B0609020204030204" pitchFamily="49" charset="0"/>
              </a:rPr>
              <a:t> </a:t>
            </a:r>
            <a:r>
              <a:rPr lang="en-US" sz="2400" b="1" dirty="0">
                <a:solidFill>
                  <a:schemeClr val="accent3">
                    <a:lumMod val="75000"/>
                  </a:schemeClr>
                </a:solidFill>
                <a:latin typeface="Consolas" panose="020B0609020204030204" pitchFamily="49" charset="0"/>
                <a:cs typeface="Consolas" panose="020B0609020204030204" pitchFamily="49" charset="0"/>
              </a:rPr>
              <a:t>0</a:t>
            </a:r>
            <a:r>
              <a:rPr lang="en-US" sz="2400" b="1" dirty="0">
                <a:latin typeface="Consolas" panose="020B0609020204030204" pitchFamily="49" charset="0"/>
                <a:cs typeface="Consolas" panose="020B0609020204030204" pitchFamily="49" charset="0"/>
              </a:rPr>
              <a:t> .. </a:t>
            </a:r>
            <a:r>
              <a:rPr lang="en-US" sz="2400" b="1" dirty="0">
                <a:solidFill>
                  <a:schemeClr val="accent3">
                    <a:lumMod val="75000"/>
                  </a:schemeClr>
                </a:solidFill>
                <a:latin typeface="Consolas" panose="020B0609020204030204" pitchFamily="49" charset="0"/>
                <a:cs typeface="Consolas" panose="020B0609020204030204" pitchFamily="49" charset="0"/>
              </a:rPr>
              <a:t>10</a:t>
            </a:r>
            <a:r>
              <a:rPr lang="en-US" sz="2400" b="1" dirty="0">
                <a:latin typeface="Consolas" panose="020B0609020204030204" pitchFamily="49" charset="0"/>
                <a:cs typeface="Consolas" panose="020B0609020204030204" pitchFamily="49" charset="0"/>
              </a:rPr>
              <a:t> {</a:t>
            </a:r>
          </a:p>
          <a:p>
            <a:r>
              <a:rPr lang="en-US" sz="2400" b="1" dirty="0">
                <a:latin typeface="Consolas" panose="020B0609020204030204" pitchFamily="49" charset="0"/>
                <a:cs typeface="Consolas" panose="020B0609020204030204" pitchFamily="49" charset="0"/>
              </a:rPr>
              <a:t>    </a:t>
            </a:r>
            <a:r>
              <a:rPr lang="en-US" sz="2400" b="1" dirty="0" err="1">
                <a:latin typeface="Consolas" panose="020B0609020204030204" pitchFamily="49" charset="0"/>
                <a:cs typeface="Consolas" panose="020B0609020204030204" pitchFamily="49" charset="0"/>
              </a:rPr>
              <a:t>println</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"i = {}"</a:t>
            </a:r>
            <a:r>
              <a:rPr lang="en-US" sz="2400" b="1" dirty="0">
                <a:latin typeface="Consolas" panose="020B0609020204030204" pitchFamily="49" charset="0"/>
                <a:cs typeface="Consolas" panose="020B0609020204030204" pitchFamily="49" charset="0"/>
              </a:rPr>
              <a:t>, i);</a:t>
            </a:r>
          </a:p>
          <a:p>
            <a:r>
              <a:rPr lang="en-US" sz="2400" b="1" dirty="0">
                <a:latin typeface="Consolas" panose="020B0609020204030204" pitchFamily="49" charset="0"/>
                <a:cs typeface="Consolas" panose="020B0609020204030204" pitchFamily="49" charset="0"/>
              </a:rPr>
              <a:t>  }</a:t>
            </a:r>
          </a:p>
          <a:p>
            <a:r>
              <a:rPr lang="en-US" sz="2400" b="1" dirty="0">
                <a:latin typeface="Consolas" panose="020B0609020204030204" pitchFamily="49" charset="0"/>
                <a:cs typeface="Consolas" panose="020B0609020204030204" pitchFamily="49" charset="0"/>
              </a:rPr>
              <a:t>}</a:t>
            </a:r>
          </a:p>
        </p:txBody>
      </p:sp>
      <p:sp>
        <p:nvSpPr>
          <p:cNvPr id="7" name="TextBox 6">
            <a:extLst>
              <a:ext uri="{FF2B5EF4-FFF2-40B4-BE49-F238E27FC236}">
                <a16:creationId xmlns:a16="http://schemas.microsoft.com/office/drawing/2014/main" id="{A0AC10B0-117A-7B4D-B6CA-7C2F5E096261}"/>
              </a:ext>
            </a:extLst>
          </p:cNvPr>
          <p:cNvSpPr txBox="1"/>
          <p:nvPr/>
        </p:nvSpPr>
        <p:spPr>
          <a:xfrm>
            <a:off x="2438400" y="1344108"/>
            <a:ext cx="6324600" cy="769441"/>
          </a:xfrm>
          <a:prstGeom prst="rect">
            <a:avLst/>
          </a:prstGeom>
          <a:noFill/>
        </p:spPr>
        <p:txBody>
          <a:bodyPr wrap="square" rtlCol="0">
            <a:spAutoFit/>
          </a:bodyPr>
          <a:lstStyle/>
          <a:p>
            <a:pPr algn="ctr"/>
            <a:r>
              <a:rPr lang="en-US" sz="2200" dirty="0"/>
              <a:t>but even the simplest tasks take a </a:t>
            </a:r>
            <a:r>
              <a:rPr lang="en-US" sz="2200" i="1" dirty="0"/>
              <a:t>lot</a:t>
            </a:r>
            <a:r>
              <a:rPr lang="en-US" sz="2200" dirty="0"/>
              <a:t> of code in assembly, and </a:t>
            </a:r>
            <a:r>
              <a:rPr lang="en-US" sz="2200" b="1" dirty="0"/>
              <a:t>more code = more mistakes.</a:t>
            </a:r>
          </a:p>
        </p:txBody>
      </p:sp>
      <p:sp>
        <p:nvSpPr>
          <p:cNvPr id="8" name="TextBox 7">
            <a:extLst>
              <a:ext uri="{FF2B5EF4-FFF2-40B4-BE49-F238E27FC236}">
                <a16:creationId xmlns:a16="http://schemas.microsoft.com/office/drawing/2014/main" id="{CE84368A-FC47-954A-BAFE-6380F473BEE2}"/>
              </a:ext>
            </a:extLst>
          </p:cNvPr>
          <p:cNvSpPr txBox="1"/>
          <p:nvPr/>
        </p:nvSpPr>
        <p:spPr>
          <a:xfrm>
            <a:off x="2590801" y="2394972"/>
            <a:ext cx="6439580" cy="769441"/>
          </a:xfrm>
          <a:prstGeom prst="rect">
            <a:avLst/>
          </a:prstGeom>
          <a:noFill/>
        </p:spPr>
        <p:txBody>
          <a:bodyPr wrap="square" rtlCol="0">
            <a:spAutoFit/>
          </a:bodyPr>
          <a:lstStyle/>
          <a:p>
            <a:pPr algn="ctr"/>
            <a:r>
              <a:rPr lang="en-US" sz="2200" dirty="0"/>
              <a:t>we invented </a:t>
            </a:r>
            <a:r>
              <a:rPr lang="en-US" sz="2200" b="1" dirty="0"/>
              <a:t>high-level languages (HLLs) </a:t>
            </a:r>
            <a:r>
              <a:rPr lang="en-US" sz="2200" dirty="0"/>
              <a:t>to let us write programs in shorter, human-friendly ways.</a:t>
            </a:r>
          </a:p>
        </p:txBody>
      </p:sp>
    </p:spTree>
    <p:extLst>
      <p:ext uri="{BB962C8B-B14F-4D97-AF65-F5344CB8AC3E}">
        <p14:creationId xmlns:p14="http://schemas.microsoft.com/office/powerpoint/2010/main" val="99983123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8C0AD-799D-E540-8246-AAF2938361C7}"/>
              </a:ext>
            </a:extLst>
          </p:cNvPr>
          <p:cNvSpPr>
            <a:spLocks noGrp="1"/>
          </p:cNvSpPr>
          <p:nvPr>
            <p:ph type="title"/>
          </p:nvPr>
        </p:nvSpPr>
        <p:spPr/>
        <p:txBody>
          <a:bodyPr/>
          <a:lstStyle/>
          <a:p>
            <a:r>
              <a:rPr lang="en-US" dirty="0"/>
              <a:t>Performance ∝ 1 / Abstraction</a:t>
            </a:r>
          </a:p>
        </p:txBody>
      </p:sp>
      <p:sp>
        <p:nvSpPr>
          <p:cNvPr id="3" name="Content Placeholder 2">
            <a:extLst>
              <a:ext uri="{FF2B5EF4-FFF2-40B4-BE49-F238E27FC236}">
                <a16:creationId xmlns:a16="http://schemas.microsoft.com/office/drawing/2014/main" id="{93277DFB-06D6-5E45-ADED-26F663818481}"/>
              </a:ext>
            </a:extLst>
          </p:cNvPr>
          <p:cNvSpPr>
            <a:spLocks noGrp="1"/>
          </p:cNvSpPr>
          <p:nvPr>
            <p:ph idx="1"/>
          </p:nvPr>
        </p:nvSpPr>
        <p:spPr>
          <a:xfrm>
            <a:off x="152400" y="495301"/>
            <a:ext cx="8991600" cy="1142999"/>
          </a:xfrm>
        </p:spPr>
        <p:txBody>
          <a:bodyPr/>
          <a:lstStyle/>
          <a:p>
            <a:r>
              <a:rPr lang="en-US" dirty="0"/>
              <a:t>HLLs allow us to focus </a:t>
            </a:r>
            <a:r>
              <a:rPr lang="en-US" b="1" dirty="0"/>
              <a:t>more on solving problems </a:t>
            </a:r>
            <a:r>
              <a:rPr lang="en-US" dirty="0"/>
              <a:t>than on holding the CPU's hand through every step of computation</a:t>
            </a:r>
          </a:p>
          <a:p>
            <a:r>
              <a:rPr lang="en-US" dirty="0"/>
              <a:t>but </a:t>
            </a:r>
            <a:r>
              <a:rPr lang="en-US" i="1" dirty="0"/>
              <a:t>most</a:t>
            </a:r>
            <a:r>
              <a:rPr lang="en-US" dirty="0"/>
              <a:t> abstractions come at a </a:t>
            </a:r>
            <a:r>
              <a:rPr lang="en-US" b="1" dirty="0"/>
              <a:t>performance cost</a:t>
            </a:r>
            <a:endParaRPr lang="en-US" dirty="0"/>
          </a:p>
        </p:txBody>
      </p:sp>
      <p:sp>
        <p:nvSpPr>
          <p:cNvPr id="4" name="Slide Number Placeholder 3">
            <a:extLst>
              <a:ext uri="{FF2B5EF4-FFF2-40B4-BE49-F238E27FC236}">
                <a16:creationId xmlns:a16="http://schemas.microsoft.com/office/drawing/2014/main" id="{680E0F3B-7684-1544-A843-8FF075FB621C}"/>
              </a:ext>
            </a:extLst>
          </p:cNvPr>
          <p:cNvSpPr>
            <a:spLocks noGrp="1"/>
          </p:cNvSpPr>
          <p:nvPr>
            <p:ph type="sldNum" sz="quarter" idx="12"/>
          </p:nvPr>
        </p:nvSpPr>
        <p:spPr/>
        <p:txBody>
          <a:bodyPr/>
          <a:lstStyle/>
          <a:p>
            <a:fld id="{3552B95B-556F-44BD-91A5-D80C1B9E2BB3}" type="slidenum">
              <a:rPr lang="en-US" smtClean="0"/>
              <a:pPr/>
              <a:t>17</a:t>
            </a:fld>
            <a:endParaRPr lang="en-US"/>
          </a:p>
        </p:txBody>
      </p:sp>
      <p:sp>
        <p:nvSpPr>
          <p:cNvPr id="5" name="TextBox 4">
            <a:extLst>
              <a:ext uri="{FF2B5EF4-FFF2-40B4-BE49-F238E27FC236}">
                <a16:creationId xmlns:a16="http://schemas.microsoft.com/office/drawing/2014/main" id="{853A8AAF-FBBF-3140-9130-CEEC9F986585}"/>
              </a:ext>
            </a:extLst>
          </p:cNvPr>
          <p:cNvSpPr txBox="1"/>
          <p:nvPr/>
        </p:nvSpPr>
        <p:spPr>
          <a:xfrm>
            <a:off x="439287" y="1790700"/>
            <a:ext cx="4262705" cy="1200329"/>
          </a:xfrm>
          <a:prstGeom prst="rect">
            <a:avLst/>
          </a:prstGeom>
          <a:noFill/>
        </p:spPr>
        <p:txBody>
          <a:bodyPr wrap="none" rtlCol="0">
            <a:spAutoFit/>
          </a:bodyPr>
          <a:lstStyle/>
          <a:p>
            <a:r>
              <a:rPr lang="en-US" sz="2400" b="1" dirty="0">
                <a:solidFill>
                  <a:srgbClr val="FF0000"/>
                </a:solidFill>
                <a:latin typeface="Consolas" panose="020B0609020204030204" pitchFamily="49" charset="0"/>
                <a:cs typeface="Consolas" panose="020B0609020204030204" pitchFamily="49" charset="0"/>
              </a:rPr>
              <a:t>for</a:t>
            </a:r>
            <a:r>
              <a:rPr lang="en-US" sz="2400" b="1" dirty="0">
                <a:latin typeface="Consolas" panose="020B0609020204030204" pitchFamily="49" charset="0"/>
                <a:cs typeface="Consolas" panose="020B0609020204030204" pitchFamily="49" charset="0"/>
              </a:rPr>
              <a:t>(i = </a:t>
            </a:r>
            <a:r>
              <a:rPr lang="en-US" sz="2400" b="1" dirty="0">
                <a:solidFill>
                  <a:schemeClr val="accent3">
                    <a:lumMod val="75000"/>
                  </a:schemeClr>
                </a:solidFill>
                <a:latin typeface="Consolas" panose="020B0609020204030204" pitchFamily="49" charset="0"/>
                <a:cs typeface="Consolas" panose="020B0609020204030204" pitchFamily="49" charset="0"/>
              </a:rPr>
              <a:t>0</a:t>
            </a:r>
            <a:r>
              <a:rPr lang="en-US" sz="2400" b="1" dirty="0">
                <a:latin typeface="Consolas" panose="020B0609020204030204" pitchFamily="49" charset="0"/>
                <a:cs typeface="Consolas" panose="020B0609020204030204" pitchFamily="49" charset="0"/>
              </a:rPr>
              <a:t>; i &lt; n; i++) {</a:t>
            </a:r>
          </a:p>
          <a:p>
            <a:r>
              <a:rPr lang="en-US" sz="2400" b="1" dirty="0">
                <a:latin typeface="Consolas" panose="020B0609020204030204" pitchFamily="49" charset="0"/>
                <a:cs typeface="Consolas" panose="020B0609020204030204" pitchFamily="49" charset="0"/>
              </a:rPr>
              <a:t>  A[i] = B[i] + C[i];</a:t>
            </a:r>
          </a:p>
          <a:p>
            <a:r>
              <a:rPr lang="en-US" sz="2400" b="1"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B69C3126-19A3-AA48-B976-F5EF7448730A}"/>
              </a:ext>
            </a:extLst>
          </p:cNvPr>
          <p:cNvSpPr txBox="1"/>
          <p:nvPr/>
        </p:nvSpPr>
        <p:spPr>
          <a:xfrm>
            <a:off x="5791200" y="2160031"/>
            <a:ext cx="1713931" cy="461665"/>
          </a:xfrm>
          <a:prstGeom prst="rect">
            <a:avLst/>
          </a:prstGeom>
          <a:noFill/>
        </p:spPr>
        <p:txBody>
          <a:bodyPr wrap="none" rtlCol="0">
            <a:spAutoFit/>
          </a:bodyPr>
          <a:lstStyle/>
          <a:p>
            <a:r>
              <a:rPr lang="en-US" sz="2400" b="1" dirty="0">
                <a:latin typeface="Consolas" panose="020B0609020204030204" pitchFamily="49" charset="0"/>
                <a:cs typeface="Consolas" panose="020B0609020204030204" pitchFamily="49" charset="0"/>
              </a:rPr>
              <a:t>A = B + C</a:t>
            </a:r>
          </a:p>
        </p:txBody>
      </p:sp>
      <p:sp>
        <p:nvSpPr>
          <p:cNvPr id="7" name="TextBox 6">
            <a:extLst>
              <a:ext uri="{FF2B5EF4-FFF2-40B4-BE49-F238E27FC236}">
                <a16:creationId xmlns:a16="http://schemas.microsoft.com/office/drawing/2014/main" id="{6F8F75A5-53A9-EA44-8291-6B7F4FC39B80}"/>
              </a:ext>
            </a:extLst>
          </p:cNvPr>
          <p:cNvSpPr txBox="1"/>
          <p:nvPr/>
        </p:nvSpPr>
        <p:spPr>
          <a:xfrm>
            <a:off x="256408" y="3086100"/>
            <a:ext cx="4232976" cy="1446550"/>
          </a:xfrm>
          <a:prstGeom prst="rect">
            <a:avLst/>
          </a:prstGeom>
          <a:noFill/>
        </p:spPr>
        <p:txBody>
          <a:bodyPr wrap="square" rtlCol="0">
            <a:spAutoFit/>
          </a:bodyPr>
          <a:lstStyle/>
          <a:p>
            <a:pPr algn="ctr"/>
            <a:r>
              <a:rPr lang="en-US" sz="2200" b="1" dirty="0"/>
              <a:t>lower-level</a:t>
            </a:r>
            <a:r>
              <a:rPr lang="en-US" sz="2200" dirty="0"/>
              <a:t> languages like C provide abstractions that better match* what the underlying hardware provides.</a:t>
            </a:r>
          </a:p>
        </p:txBody>
      </p:sp>
      <p:sp>
        <p:nvSpPr>
          <p:cNvPr id="8" name="TextBox 7">
            <a:extLst>
              <a:ext uri="{FF2B5EF4-FFF2-40B4-BE49-F238E27FC236}">
                <a16:creationId xmlns:a16="http://schemas.microsoft.com/office/drawing/2014/main" id="{EC30B6ED-0E36-1C4E-AF3D-BEA6D0EE8632}"/>
              </a:ext>
            </a:extLst>
          </p:cNvPr>
          <p:cNvSpPr txBox="1"/>
          <p:nvPr/>
        </p:nvSpPr>
        <p:spPr>
          <a:xfrm>
            <a:off x="4654617" y="3086100"/>
            <a:ext cx="4232976" cy="1446550"/>
          </a:xfrm>
          <a:prstGeom prst="rect">
            <a:avLst/>
          </a:prstGeom>
          <a:noFill/>
        </p:spPr>
        <p:txBody>
          <a:bodyPr wrap="square" rtlCol="0">
            <a:spAutoFit/>
          </a:bodyPr>
          <a:lstStyle/>
          <a:p>
            <a:pPr algn="ctr"/>
            <a:r>
              <a:rPr lang="en-US" sz="2200" b="1" dirty="0"/>
              <a:t>higher-level </a:t>
            </a:r>
            <a:r>
              <a:rPr lang="en-US" sz="2200" dirty="0"/>
              <a:t>languages like Python give you more powerful abstractions, at the cost of lower performance (usually).</a:t>
            </a:r>
          </a:p>
        </p:txBody>
      </p:sp>
      <p:sp>
        <p:nvSpPr>
          <p:cNvPr id="9" name="TextBox 8">
            <a:extLst>
              <a:ext uri="{FF2B5EF4-FFF2-40B4-BE49-F238E27FC236}">
                <a16:creationId xmlns:a16="http://schemas.microsoft.com/office/drawing/2014/main" id="{03F00E82-49EB-8841-8270-1BD8E8BA254C}"/>
              </a:ext>
            </a:extLst>
          </p:cNvPr>
          <p:cNvSpPr txBox="1"/>
          <p:nvPr/>
        </p:nvSpPr>
        <p:spPr>
          <a:xfrm>
            <a:off x="1664537" y="4627721"/>
            <a:ext cx="5980160" cy="769441"/>
          </a:xfrm>
          <a:prstGeom prst="rect">
            <a:avLst/>
          </a:prstGeom>
          <a:noFill/>
        </p:spPr>
        <p:txBody>
          <a:bodyPr wrap="square" rtlCol="0">
            <a:spAutoFit/>
          </a:bodyPr>
          <a:lstStyle/>
          <a:p>
            <a:pPr algn="ctr"/>
            <a:r>
              <a:rPr lang="en-US" sz="2200" b="1" dirty="0"/>
              <a:t>but it all depends </a:t>
            </a:r>
            <a:r>
              <a:rPr lang="en-US" sz="2200" dirty="0"/>
              <a:t>on the CPU design and the </a:t>
            </a:r>
            <a:r>
              <a:rPr lang="en-US" sz="2200" i="1" dirty="0"/>
              <a:t>quality of the language implementation.</a:t>
            </a:r>
            <a:endParaRPr lang="en-US" sz="2200" dirty="0"/>
          </a:p>
        </p:txBody>
      </p:sp>
    </p:spTree>
    <p:extLst>
      <p:ext uri="{BB962C8B-B14F-4D97-AF65-F5344CB8AC3E}">
        <p14:creationId xmlns:p14="http://schemas.microsoft.com/office/powerpoint/2010/main" val="239984874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10823-4EFA-F543-BFF5-7256A737938E}"/>
              </a:ext>
            </a:extLst>
          </p:cNvPr>
          <p:cNvSpPr>
            <a:spLocks noGrp="1"/>
          </p:cNvSpPr>
          <p:nvPr>
            <p:ph type="ctrTitle"/>
          </p:nvPr>
        </p:nvSpPr>
        <p:spPr/>
        <p:txBody>
          <a:bodyPr/>
          <a:lstStyle/>
          <a:p>
            <a:r>
              <a:rPr lang="en-US" dirty="0"/>
              <a:t>Compilers</a:t>
            </a:r>
          </a:p>
        </p:txBody>
      </p:sp>
      <p:sp>
        <p:nvSpPr>
          <p:cNvPr id="3" name="Slide Number Placeholder 2">
            <a:extLst>
              <a:ext uri="{FF2B5EF4-FFF2-40B4-BE49-F238E27FC236}">
                <a16:creationId xmlns:a16="http://schemas.microsoft.com/office/drawing/2014/main" id="{D599D015-442F-8A47-AE1B-349B10EDF420}"/>
              </a:ext>
            </a:extLst>
          </p:cNvPr>
          <p:cNvSpPr>
            <a:spLocks noGrp="1"/>
          </p:cNvSpPr>
          <p:nvPr>
            <p:ph type="sldNum" sz="quarter" idx="12"/>
          </p:nvPr>
        </p:nvSpPr>
        <p:spPr/>
        <p:txBody>
          <a:bodyPr/>
          <a:lstStyle/>
          <a:p>
            <a:fld id="{3552B95B-556F-44BD-91A5-D80C1B9E2BB3}" type="slidenum">
              <a:rPr lang="en-US" smtClean="0"/>
              <a:pPr/>
              <a:t>18</a:t>
            </a:fld>
            <a:endParaRPr lang="en-US"/>
          </a:p>
        </p:txBody>
      </p:sp>
    </p:spTree>
    <p:extLst>
      <p:ext uri="{BB962C8B-B14F-4D97-AF65-F5344CB8AC3E}">
        <p14:creationId xmlns:p14="http://schemas.microsoft.com/office/powerpoint/2010/main" val="3149201050"/>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56A06-122C-7049-8FB0-E598A974BE09}"/>
              </a:ext>
            </a:extLst>
          </p:cNvPr>
          <p:cNvSpPr>
            <a:spLocks noGrp="1"/>
          </p:cNvSpPr>
          <p:nvPr>
            <p:ph type="title"/>
          </p:nvPr>
        </p:nvSpPr>
        <p:spPr/>
        <p:txBody>
          <a:bodyPr/>
          <a:lstStyle/>
          <a:p>
            <a:r>
              <a:rPr lang="en-US" dirty="0"/>
              <a:t>What's a compiler?</a:t>
            </a:r>
          </a:p>
        </p:txBody>
      </p:sp>
      <p:sp>
        <p:nvSpPr>
          <p:cNvPr id="3" name="Content Placeholder 2">
            <a:extLst>
              <a:ext uri="{FF2B5EF4-FFF2-40B4-BE49-F238E27FC236}">
                <a16:creationId xmlns:a16="http://schemas.microsoft.com/office/drawing/2014/main" id="{336F634B-7739-E346-8757-28C2A7796A9A}"/>
              </a:ext>
            </a:extLst>
          </p:cNvPr>
          <p:cNvSpPr>
            <a:spLocks noGrp="1"/>
          </p:cNvSpPr>
          <p:nvPr>
            <p:ph idx="1"/>
          </p:nvPr>
        </p:nvSpPr>
        <p:spPr>
          <a:xfrm>
            <a:off x="152400" y="495301"/>
            <a:ext cx="8991600" cy="1219199"/>
          </a:xfrm>
        </p:spPr>
        <p:txBody>
          <a:bodyPr/>
          <a:lstStyle/>
          <a:p>
            <a:r>
              <a:rPr lang="en-US" dirty="0"/>
              <a:t>it's a program that </a:t>
            </a:r>
            <a:r>
              <a:rPr lang="en-US" b="1" dirty="0"/>
              <a:t>translates</a:t>
            </a:r>
            <a:r>
              <a:rPr lang="en-US" dirty="0"/>
              <a:t> one programming language (the </a:t>
            </a:r>
            <a:r>
              <a:rPr lang="en-US" b="1" dirty="0"/>
              <a:t>source</a:t>
            </a:r>
            <a:r>
              <a:rPr lang="en-US" dirty="0"/>
              <a:t> language) to another (the </a:t>
            </a:r>
            <a:r>
              <a:rPr lang="en-US" b="1" dirty="0"/>
              <a:t>target</a:t>
            </a:r>
            <a:r>
              <a:rPr lang="en-US" dirty="0"/>
              <a:t> language).</a:t>
            </a:r>
          </a:p>
          <a:p>
            <a:r>
              <a:rPr lang="en-US" i="1" dirty="0"/>
              <a:t>typically</a:t>
            </a:r>
            <a:r>
              <a:rPr lang="en-US" dirty="0"/>
              <a:t> this is from an </a:t>
            </a:r>
            <a:r>
              <a:rPr lang="en-US" b="1" dirty="0"/>
              <a:t>HLL</a:t>
            </a:r>
            <a:r>
              <a:rPr lang="en-US" dirty="0"/>
              <a:t> to a </a:t>
            </a:r>
            <a:r>
              <a:rPr lang="en-US" b="1" dirty="0"/>
              <a:t>machine language.</a:t>
            </a:r>
            <a:endParaRPr lang="en-US" b="1" i="1" dirty="0"/>
          </a:p>
        </p:txBody>
      </p:sp>
      <p:sp>
        <p:nvSpPr>
          <p:cNvPr id="4" name="Slide Number Placeholder 3">
            <a:extLst>
              <a:ext uri="{FF2B5EF4-FFF2-40B4-BE49-F238E27FC236}">
                <a16:creationId xmlns:a16="http://schemas.microsoft.com/office/drawing/2014/main" id="{1D629FC5-8E89-2A44-BEE9-9FFE5A71FE70}"/>
              </a:ext>
            </a:extLst>
          </p:cNvPr>
          <p:cNvSpPr>
            <a:spLocks noGrp="1"/>
          </p:cNvSpPr>
          <p:nvPr>
            <p:ph type="sldNum" sz="quarter" idx="12"/>
          </p:nvPr>
        </p:nvSpPr>
        <p:spPr/>
        <p:txBody>
          <a:bodyPr/>
          <a:lstStyle/>
          <a:p>
            <a:fld id="{3552B95B-556F-44BD-91A5-D80C1B9E2BB3}" type="slidenum">
              <a:rPr lang="en-US" smtClean="0"/>
              <a:pPr/>
              <a:t>19</a:t>
            </a:fld>
            <a:endParaRPr lang="en-US"/>
          </a:p>
        </p:txBody>
      </p:sp>
      <p:sp>
        <p:nvSpPr>
          <p:cNvPr id="5" name="TextBox 4">
            <a:extLst>
              <a:ext uri="{FF2B5EF4-FFF2-40B4-BE49-F238E27FC236}">
                <a16:creationId xmlns:a16="http://schemas.microsoft.com/office/drawing/2014/main" id="{59DB67FB-874B-1F47-B5C9-66A8B347E10F}"/>
              </a:ext>
            </a:extLst>
          </p:cNvPr>
          <p:cNvSpPr txBox="1"/>
          <p:nvPr/>
        </p:nvSpPr>
        <p:spPr>
          <a:xfrm>
            <a:off x="716370" y="2344062"/>
            <a:ext cx="1125373" cy="646331"/>
          </a:xfrm>
          <a:prstGeom prst="rect">
            <a:avLst/>
          </a:prstGeom>
          <a:noFill/>
        </p:spPr>
        <p:txBody>
          <a:bodyPr wrap="none" rtlCol="0">
            <a:spAutoFit/>
          </a:bodyPr>
          <a:lstStyle/>
          <a:p>
            <a:pPr algn="ctr"/>
            <a:r>
              <a:rPr lang="en-US" sz="3600" b="1" dirty="0">
                <a:solidFill>
                  <a:srgbClr val="0070C0"/>
                </a:solidFill>
              </a:rPr>
              <a:t>Java</a:t>
            </a:r>
          </a:p>
        </p:txBody>
      </p:sp>
      <p:sp>
        <p:nvSpPr>
          <p:cNvPr id="6" name="TextBox 5">
            <a:extLst>
              <a:ext uri="{FF2B5EF4-FFF2-40B4-BE49-F238E27FC236}">
                <a16:creationId xmlns:a16="http://schemas.microsoft.com/office/drawing/2014/main" id="{6E317BC9-CD6D-6841-9E39-D088B8330353}"/>
              </a:ext>
            </a:extLst>
          </p:cNvPr>
          <p:cNvSpPr txBox="1"/>
          <p:nvPr/>
        </p:nvSpPr>
        <p:spPr>
          <a:xfrm>
            <a:off x="170762" y="4526459"/>
            <a:ext cx="2335058" cy="461665"/>
          </a:xfrm>
          <a:prstGeom prst="rect">
            <a:avLst/>
          </a:prstGeom>
          <a:noFill/>
        </p:spPr>
        <p:txBody>
          <a:bodyPr wrap="square" rtlCol="0">
            <a:spAutoFit/>
          </a:bodyPr>
          <a:lstStyle/>
          <a:p>
            <a:pPr algn="ctr"/>
            <a:r>
              <a:rPr lang="en-US" sz="2400" b="1" dirty="0">
                <a:solidFill>
                  <a:srgbClr val="FF0000"/>
                </a:solidFill>
              </a:rPr>
              <a:t>JVM Bytecode</a:t>
            </a:r>
          </a:p>
        </p:txBody>
      </p:sp>
      <p:sp>
        <p:nvSpPr>
          <p:cNvPr id="8" name="TextBox 7">
            <a:extLst>
              <a:ext uri="{FF2B5EF4-FFF2-40B4-BE49-F238E27FC236}">
                <a16:creationId xmlns:a16="http://schemas.microsoft.com/office/drawing/2014/main" id="{98E9C40E-76CA-E24C-BFB3-94D81782D400}"/>
              </a:ext>
            </a:extLst>
          </p:cNvPr>
          <p:cNvSpPr txBox="1"/>
          <p:nvPr/>
        </p:nvSpPr>
        <p:spPr>
          <a:xfrm>
            <a:off x="4466343" y="4526459"/>
            <a:ext cx="2848857" cy="461665"/>
          </a:xfrm>
          <a:prstGeom prst="rect">
            <a:avLst/>
          </a:prstGeom>
          <a:noFill/>
        </p:spPr>
        <p:txBody>
          <a:bodyPr wrap="none" rtlCol="0">
            <a:spAutoFit/>
          </a:bodyPr>
          <a:lstStyle/>
          <a:p>
            <a:pPr algn="ctr"/>
            <a:r>
              <a:rPr lang="en-US" sz="2400" b="1" dirty="0">
                <a:solidFill>
                  <a:srgbClr val="FF0000"/>
                </a:solidFill>
              </a:rPr>
              <a:t>x86 Machine Code</a:t>
            </a:r>
          </a:p>
        </p:txBody>
      </p:sp>
      <p:sp>
        <p:nvSpPr>
          <p:cNvPr id="9" name="TextBox 8">
            <a:extLst>
              <a:ext uri="{FF2B5EF4-FFF2-40B4-BE49-F238E27FC236}">
                <a16:creationId xmlns:a16="http://schemas.microsoft.com/office/drawing/2014/main" id="{DB2FAB81-BE57-3448-9696-4AEFB2056036}"/>
              </a:ext>
            </a:extLst>
          </p:cNvPr>
          <p:cNvSpPr txBox="1"/>
          <p:nvPr/>
        </p:nvSpPr>
        <p:spPr>
          <a:xfrm>
            <a:off x="5639748" y="2380236"/>
            <a:ext cx="473207" cy="646331"/>
          </a:xfrm>
          <a:prstGeom prst="rect">
            <a:avLst/>
          </a:prstGeom>
          <a:noFill/>
        </p:spPr>
        <p:txBody>
          <a:bodyPr wrap="none" rtlCol="0">
            <a:spAutoFit/>
          </a:bodyPr>
          <a:lstStyle/>
          <a:p>
            <a:pPr algn="ctr"/>
            <a:r>
              <a:rPr lang="en-US" sz="3600" b="1" dirty="0">
                <a:solidFill>
                  <a:srgbClr val="0070C0"/>
                </a:solidFill>
              </a:rPr>
              <a:t>C</a:t>
            </a:r>
          </a:p>
        </p:txBody>
      </p:sp>
      <p:grpSp>
        <p:nvGrpSpPr>
          <p:cNvPr id="18" name="Group 17">
            <a:extLst>
              <a:ext uri="{FF2B5EF4-FFF2-40B4-BE49-F238E27FC236}">
                <a16:creationId xmlns:a16="http://schemas.microsoft.com/office/drawing/2014/main" id="{C184CB7D-125C-4346-8742-487AE5160380}"/>
              </a:ext>
            </a:extLst>
          </p:cNvPr>
          <p:cNvGrpSpPr/>
          <p:nvPr/>
        </p:nvGrpSpPr>
        <p:grpSpPr>
          <a:xfrm>
            <a:off x="273101" y="2943958"/>
            <a:ext cx="1232393" cy="1641016"/>
            <a:chOff x="1043108" y="2933700"/>
            <a:chExt cx="1232393" cy="1641016"/>
          </a:xfrm>
        </p:grpSpPr>
        <p:sp>
          <p:nvSpPr>
            <p:cNvPr id="14" name="Down Arrow 13">
              <a:extLst>
                <a:ext uri="{FF2B5EF4-FFF2-40B4-BE49-F238E27FC236}">
                  <a16:creationId xmlns:a16="http://schemas.microsoft.com/office/drawing/2014/main" id="{3BC3FC11-1D02-1245-A089-194E7B91624E}"/>
                </a:ext>
              </a:extLst>
            </p:cNvPr>
            <p:cNvSpPr/>
            <p:nvPr/>
          </p:nvSpPr>
          <p:spPr>
            <a:xfrm>
              <a:off x="1894501" y="2933700"/>
              <a:ext cx="381000" cy="1641016"/>
            </a:xfrm>
            <a:prstGeom prst="downArrow">
              <a:avLst>
                <a:gd name="adj1" fmla="val 24737"/>
                <a:gd name="adj2"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25D05ED3-E2F2-0F4F-AE1D-D8732C141AA6}"/>
                </a:ext>
              </a:extLst>
            </p:cNvPr>
            <p:cNvSpPr txBox="1"/>
            <p:nvPr/>
          </p:nvSpPr>
          <p:spPr>
            <a:xfrm>
              <a:off x="1043108" y="3389565"/>
              <a:ext cx="962123" cy="430887"/>
            </a:xfrm>
            <a:prstGeom prst="rect">
              <a:avLst/>
            </a:prstGeom>
            <a:noFill/>
          </p:spPr>
          <p:txBody>
            <a:bodyPr wrap="none" rtlCol="0">
              <a:spAutoFit/>
            </a:bodyPr>
            <a:lstStyle/>
            <a:p>
              <a:pPr algn="r"/>
              <a:r>
                <a:rPr lang="en-US" sz="2200" b="1" dirty="0" err="1">
                  <a:latin typeface="Consolas" panose="020B0609020204030204" pitchFamily="49" charset="0"/>
                  <a:cs typeface="Consolas" panose="020B0609020204030204" pitchFamily="49" charset="0"/>
                </a:rPr>
                <a:t>javac</a:t>
              </a:r>
              <a:endParaRPr lang="en-US" sz="2200" b="1" dirty="0">
                <a:latin typeface="Consolas" panose="020B0609020204030204" pitchFamily="49" charset="0"/>
                <a:cs typeface="Consolas" panose="020B0609020204030204" pitchFamily="49" charset="0"/>
              </a:endParaRPr>
            </a:p>
          </p:txBody>
        </p:sp>
      </p:grpSp>
      <p:grpSp>
        <p:nvGrpSpPr>
          <p:cNvPr id="19" name="Group 18">
            <a:extLst>
              <a:ext uri="{FF2B5EF4-FFF2-40B4-BE49-F238E27FC236}">
                <a16:creationId xmlns:a16="http://schemas.microsoft.com/office/drawing/2014/main" id="{8885949F-D14F-A748-AFD4-49DB6DA78626}"/>
              </a:ext>
            </a:extLst>
          </p:cNvPr>
          <p:cNvGrpSpPr/>
          <p:nvPr/>
        </p:nvGrpSpPr>
        <p:grpSpPr>
          <a:xfrm>
            <a:off x="5244034" y="2943958"/>
            <a:ext cx="851275" cy="1641016"/>
            <a:chOff x="5729175" y="2933700"/>
            <a:chExt cx="851275" cy="1641016"/>
          </a:xfrm>
        </p:grpSpPr>
        <p:sp>
          <p:nvSpPr>
            <p:cNvPr id="15" name="Down Arrow 14">
              <a:extLst>
                <a:ext uri="{FF2B5EF4-FFF2-40B4-BE49-F238E27FC236}">
                  <a16:creationId xmlns:a16="http://schemas.microsoft.com/office/drawing/2014/main" id="{F865FC2A-FE42-8D4E-9600-4494D35BBABC}"/>
                </a:ext>
              </a:extLst>
            </p:cNvPr>
            <p:cNvSpPr/>
            <p:nvPr/>
          </p:nvSpPr>
          <p:spPr>
            <a:xfrm>
              <a:off x="6199450" y="2933700"/>
              <a:ext cx="381000" cy="1641016"/>
            </a:xfrm>
            <a:prstGeom prst="downArrow">
              <a:avLst>
                <a:gd name="adj1" fmla="val 24737"/>
                <a:gd name="adj2"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ABDFC0A0-9D83-9D4F-8793-5B504A6021EC}"/>
                </a:ext>
              </a:extLst>
            </p:cNvPr>
            <p:cNvSpPr txBox="1"/>
            <p:nvPr/>
          </p:nvSpPr>
          <p:spPr>
            <a:xfrm>
              <a:off x="5729175" y="3389565"/>
              <a:ext cx="651140" cy="430887"/>
            </a:xfrm>
            <a:prstGeom prst="rect">
              <a:avLst/>
            </a:prstGeom>
            <a:noFill/>
          </p:spPr>
          <p:txBody>
            <a:bodyPr wrap="none" rtlCol="0">
              <a:spAutoFit/>
            </a:bodyPr>
            <a:lstStyle/>
            <a:p>
              <a:pPr algn="r"/>
              <a:r>
                <a:rPr lang="en-US" sz="2200" b="1" dirty="0" err="1">
                  <a:latin typeface="Consolas" panose="020B0609020204030204" pitchFamily="49" charset="0"/>
                  <a:cs typeface="Consolas" panose="020B0609020204030204" pitchFamily="49" charset="0"/>
                </a:rPr>
                <a:t>gcc</a:t>
              </a:r>
              <a:endParaRPr lang="en-US" sz="2200" b="1" dirty="0">
                <a:latin typeface="Consolas" panose="020B0609020204030204" pitchFamily="49" charset="0"/>
                <a:cs typeface="Consolas" panose="020B0609020204030204" pitchFamily="49" charset="0"/>
              </a:endParaRPr>
            </a:p>
          </p:txBody>
        </p:sp>
      </p:grpSp>
      <p:sp>
        <p:nvSpPr>
          <p:cNvPr id="20" name="Down Arrow 19">
            <a:extLst>
              <a:ext uri="{FF2B5EF4-FFF2-40B4-BE49-F238E27FC236}">
                <a16:creationId xmlns:a16="http://schemas.microsoft.com/office/drawing/2014/main" id="{E852CF92-C4BC-DB45-840C-691A5473DA3F}"/>
              </a:ext>
            </a:extLst>
          </p:cNvPr>
          <p:cNvSpPr/>
          <p:nvPr/>
        </p:nvSpPr>
        <p:spPr>
          <a:xfrm rot="16200000">
            <a:off x="3489569" y="862647"/>
            <a:ext cx="381000" cy="3756704"/>
          </a:xfrm>
          <a:prstGeom prst="downArrow">
            <a:avLst>
              <a:gd name="adj1" fmla="val 24737"/>
              <a:gd name="adj2"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95C4F15B-17C2-344A-8CB2-1DA5CAE0AB5B}"/>
              </a:ext>
            </a:extLst>
          </p:cNvPr>
          <p:cNvSpPr txBox="1"/>
          <p:nvPr/>
        </p:nvSpPr>
        <p:spPr>
          <a:xfrm>
            <a:off x="1776683" y="1934633"/>
            <a:ext cx="3484997" cy="769441"/>
          </a:xfrm>
          <a:prstGeom prst="rect">
            <a:avLst/>
          </a:prstGeom>
          <a:noFill/>
        </p:spPr>
        <p:txBody>
          <a:bodyPr wrap="square" rtlCol="0">
            <a:spAutoFit/>
          </a:bodyPr>
          <a:lstStyle/>
          <a:p>
            <a:pPr algn="ctr"/>
            <a:r>
              <a:rPr lang="en-US" sz="2200" b="1" dirty="0" err="1"/>
              <a:t>transpilers</a:t>
            </a:r>
            <a:r>
              <a:rPr lang="en-US" sz="2200" b="1" dirty="0"/>
              <a:t> </a:t>
            </a:r>
            <a:r>
              <a:rPr lang="en-US" sz="2200" dirty="0"/>
              <a:t>convert between HLLs.</a:t>
            </a:r>
          </a:p>
        </p:txBody>
      </p:sp>
      <p:sp>
        <p:nvSpPr>
          <p:cNvPr id="22" name="TextBox 21">
            <a:extLst>
              <a:ext uri="{FF2B5EF4-FFF2-40B4-BE49-F238E27FC236}">
                <a16:creationId xmlns:a16="http://schemas.microsoft.com/office/drawing/2014/main" id="{077E8B52-36C2-814A-9AB5-F657AF0CC740}"/>
              </a:ext>
            </a:extLst>
          </p:cNvPr>
          <p:cNvSpPr txBox="1"/>
          <p:nvPr/>
        </p:nvSpPr>
        <p:spPr>
          <a:xfrm>
            <a:off x="1568844" y="3779947"/>
            <a:ext cx="3837178" cy="769441"/>
          </a:xfrm>
          <a:prstGeom prst="rect">
            <a:avLst/>
          </a:prstGeom>
          <a:noFill/>
        </p:spPr>
        <p:txBody>
          <a:bodyPr wrap="square" rtlCol="0">
            <a:spAutoFit/>
          </a:bodyPr>
          <a:lstStyle/>
          <a:p>
            <a:pPr algn="ctr"/>
            <a:r>
              <a:rPr lang="en-US" sz="2200" b="1" dirty="0" err="1"/>
              <a:t>recompilers</a:t>
            </a:r>
            <a:r>
              <a:rPr lang="en-US" sz="2200" b="1" dirty="0"/>
              <a:t> </a:t>
            </a:r>
            <a:r>
              <a:rPr lang="en-US" sz="2200" dirty="0"/>
              <a:t>convert between machine languages.</a:t>
            </a:r>
          </a:p>
        </p:txBody>
      </p:sp>
      <p:grpSp>
        <p:nvGrpSpPr>
          <p:cNvPr id="23" name="Group 22">
            <a:extLst>
              <a:ext uri="{FF2B5EF4-FFF2-40B4-BE49-F238E27FC236}">
                <a16:creationId xmlns:a16="http://schemas.microsoft.com/office/drawing/2014/main" id="{D8DF0DBD-2FD0-B94E-8CF4-0FF9CA1462FF}"/>
              </a:ext>
            </a:extLst>
          </p:cNvPr>
          <p:cNvGrpSpPr/>
          <p:nvPr/>
        </p:nvGrpSpPr>
        <p:grpSpPr>
          <a:xfrm>
            <a:off x="2408649" y="4584975"/>
            <a:ext cx="2075340" cy="710925"/>
            <a:chOff x="216790" y="2868141"/>
            <a:chExt cx="2075340" cy="710925"/>
          </a:xfrm>
        </p:grpSpPr>
        <p:sp>
          <p:nvSpPr>
            <p:cNvPr id="24" name="Down Arrow 23">
              <a:extLst>
                <a:ext uri="{FF2B5EF4-FFF2-40B4-BE49-F238E27FC236}">
                  <a16:creationId xmlns:a16="http://schemas.microsoft.com/office/drawing/2014/main" id="{3B9A7571-2CD2-DC48-9553-46F5703E2879}"/>
                </a:ext>
              </a:extLst>
            </p:cNvPr>
            <p:cNvSpPr/>
            <p:nvPr/>
          </p:nvSpPr>
          <p:spPr>
            <a:xfrm rot="16200000">
              <a:off x="1063960" y="2020971"/>
              <a:ext cx="381000" cy="2075340"/>
            </a:xfrm>
            <a:prstGeom prst="downArrow">
              <a:avLst>
                <a:gd name="adj1" fmla="val 24737"/>
                <a:gd name="adj2"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E6C36B86-19CE-7241-AF38-38BA7E495103}"/>
                </a:ext>
              </a:extLst>
            </p:cNvPr>
            <p:cNvSpPr txBox="1"/>
            <p:nvPr/>
          </p:nvSpPr>
          <p:spPr>
            <a:xfrm>
              <a:off x="815985" y="3148179"/>
              <a:ext cx="806631" cy="430887"/>
            </a:xfrm>
            <a:prstGeom prst="rect">
              <a:avLst/>
            </a:prstGeom>
            <a:noFill/>
          </p:spPr>
          <p:txBody>
            <a:bodyPr wrap="none" rtlCol="0">
              <a:spAutoFit/>
            </a:bodyPr>
            <a:lstStyle/>
            <a:p>
              <a:pPr algn="ctr"/>
              <a:r>
                <a:rPr lang="en-US" sz="2200" b="1" dirty="0">
                  <a:latin typeface="Consolas" panose="020B0609020204030204" pitchFamily="49" charset="0"/>
                  <a:cs typeface="Consolas" panose="020B0609020204030204" pitchFamily="49" charset="0"/>
                </a:rPr>
                <a:t>java</a:t>
              </a:r>
            </a:p>
          </p:txBody>
        </p:sp>
      </p:grpSp>
      <p:sp>
        <p:nvSpPr>
          <p:cNvPr id="26" name="TextBox 25">
            <a:extLst>
              <a:ext uri="{FF2B5EF4-FFF2-40B4-BE49-F238E27FC236}">
                <a16:creationId xmlns:a16="http://schemas.microsoft.com/office/drawing/2014/main" id="{B2B43E47-2F49-BD43-BE49-FD67258F146A}"/>
              </a:ext>
            </a:extLst>
          </p:cNvPr>
          <p:cNvSpPr txBox="1"/>
          <p:nvPr/>
        </p:nvSpPr>
        <p:spPr>
          <a:xfrm>
            <a:off x="6268338" y="1800210"/>
            <a:ext cx="2964130" cy="1446550"/>
          </a:xfrm>
          <a:prstGeom prst="rect">
            <a:avLst/>
          </a:prstGeom>
          <a:noFill/>
        </p:spPr>
        <p:txBody>
          <a:bodyPr wrap="square" rtlCol="0">
            <a:spAutoFit/>
          </a:bodyPr>
          <a:lstStyle/>
          <a:p>
            <a:pPr algn="ctr"/>
            <a:r>
              <a:rPr lang="en-US" sz="2200" dirty="0"/>
              <a:t>and </a:t>
            </a:r>
            <a:r>
              <a:rPr lang="en-US" sz="2200" b="1" i="1" dirty="0" err="1"/>
              <a:t>de</a:t>
            </a:r>
            <a:r>
              <a:rPr lang="en-US" sz="2200" b="1" dirty="0" err="1"/>
              <a:t>compilers</a:t>
            </a:r>
            <a:r>
              <a:rPr lang="en-US" sz="2200" b="1" dirty="0"/>
              <a:t> </a:t>
            </a:r>
            <a:r>
              <a:rPr lang="en-US" sz="1600" dirty="0"/>
              <a:t>attempt to</a:t>
            </a:r>
            <a:r>
              <a:rPr lang="en-US" sz="2200" dirty="0"/>
              <a:t> reconstruct HLL code from machine language!</a:t>
            </a:r>
          </a:p>
        </p:txBody>
      </p:sp>
      <p:grpSp>
        <p:nvGrpSpPr>
          <p:cNvPr id="27" name="Group 26">
            <a:extLst>
              <a:ext uri="{FF2B5EF4-FFF2-40B4-BE49-F238E27FC236}">
                <a16:creationId xmlns:a16="http://schemas.microsoft.com/office/drawing/2014/main" id="{F6DEC24C-59E7-EF40-B51F-38608680EAE7}"/>
              </a:ext>
            </a:extLst>
          </p:cNvPr>
          <p:cNvGrpSpPr/>
          <p:nvPr/>
        </p:nvGrpSpPr>
        <p:grpSpPr>
          <a:xfrm>
            <a:off x="6050558" y="2917506"/>
            <a:ext cx="1896195" cy="1641016"/>
            <a:chOff x="6199450" y="2933700"/>
            <a:chExt cx="1896195" cy="1641016"/>
          </a:xfrm>
        </p:grpSpPr>
        <p:sp>
          <p:nvSpPr>
            <p:cNvPr id="28" name="Down Arrow 27">
              <a:extLst>
                <a:ext uri="{FF2B5EF4-FFF2-40B4-BE49-F238E27FC236}">
                  <a16:creationId xmlns:a16="http://schemas.microsoft.com/office/drawing/2014/main" id="{31C45E9D-4B45-A949-9FD2-014D597DA069}"/>
                </a:ext>
              </a:extLst>
            </p:cNvPr>
            <p:cNvSpPr/>
            <p:nvPr/>
          </p:nvSpPr>
          <p:spPr>
            <a:xfrm rot="10800000">
              <a:off x="6199450" y="2933700"/>
              <a:ext cx="381000" cy="1641016"/>
            </a:xfrm>
            <a:prstGeom prst="downArrow">
              <a:avLst>
                <a:gd name="adj1" fmla="val 24737"/>
                <a:gd name="adj2" fmla="val 500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3C08B9EB-3C68-2B42-AFE5-7A283C35805F}"/>
                </a:ext>
              </a:extLst>
            </p:cNvPr>
            <p:cNvSpPr txBox="1"/>
            <p:nvPr/>
          </p:nvSpPr>
          <p:spPr>
            <a:xfrm>
              <a:off x="6532397" y="3531589"/>
              <a:ext cx="1563248" cy="769441"/>
            </a:xfrm>
            <a:prstGeom prst="rect">
              <a:avLst/>
            </a:prstGeom>
            <a:noFill/>
          </p:spPr>
          <p:txBody>
            <a:bodyPr wrap="none" rtlCol="0">
              <a:spAutoFit/>
            </a:bodyPr>
            <a:lstStyle/>
            <a:p>
              <a:r>
                <a:rPr lang="en-US" sz="2200" dirty="0">
                  <a:solidFill>
                    <a:srgbClr val="FF0000"/>
                  </a:solidFill>
                  <a:cs typeface="Consolas" panose="020B0609020204030204" pitchFamily="49" charset="0"/>
                </a:rPr>
                <a:t>e.g. </a:t>
              </a:r>
              <a:r>
                <a:rPr lang="en-US" sz="2200" dirty="0" err="1">
                  <a:solidFill>
                    <a:srgbClr val="FF0000"/>
                  </a:solidFill>
                  <a:cs typeface="Consolas" panose="020B0609020204030204" pitchFamily="49" charset="0"/>
                </a:rPr>
                <a:t>ghidra</a:t>
              </a:r>
              <a:r>
                <a:rPr lang="en-US" sz="2200" dirty="0">
                  <a:solidFill>
                    <a:srgbClr val="FF0000"/>
                  </a:solidFill>
                  <a:cs typeface="Consolas" panose="020B0609020204030204" pitchFamily="49" charset="0"/>
                </a:rPr>
                <a:t>,</a:t>
              </a:r>
            </a:p>
            <a:p>
              <a:r>
                <a:rPr lang="en-US" sz="2200" dirty="0">
                  <a:solidFill>
                    <a:srgbClr val="FF0000"/>
                  </a:solidFill>
                  <a:cs typeface="Consolas" panose="020B0609020204030204" pitchFamily="49" charset="0"/>
                </a:rPr>
                <a:t>hex-rays</a:t>
              </a:r>
            </a:p>
          </p:txBody>
        </p:sp>
      </p:grpSp>
    </p:spTree>
    <p:extLst>
      <p:ext uri="{BB962C8B-B14F-4D97-AF65-F5344CB8AC3E}">
        <p14:creationId xmlns:p14="http://schemas.microsoft.com/office/powerpoint/2010/main" val="13634179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9" grpId="0"/>
      <p:bldP spid="20" grpId="0" animBg="1"/>
      <p:bldP spid="21" grpId="0"/>
      <p:bldP spid="22" grpId="0"/>
      <p:bldP spid="2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C20ED-2B51-5641-A057-BDE579E1F601}"/>
              </a:ext>
            </a:extLst>
          </p:cNvPr>
          <p:cNvSpPr>
            <a:spLocks noGrp="1"/>
          </p:cNvSpPr>
          <p:nvPr>
            <p:ph type="title"/>
          </p:nvPr>
        </p:nvSpPr>
        <p:spPr/>
        <p:txBody>
          <a:bodyPr/>
          <a:lstStyle/>
          <a:p>
            <a:r>
              <a:rPr lang="en-US" dirty="0"/>
              <a:t>Ahead-of-time vs. Just-in-time (AOT vs JIT)</a:t>
            </a:r>
          </a:p>
        </p:txBody>
      </p:sp>
      <p:sp>
        <p:nvSpPr>
          <p:cNvPr id="3" name="Content Placeholder 2">
            <a:extLst>
              <a:ext uri="{FF2B5EF4-FFF2-40B4-BE49-F238E27FC236}">
                <a16:creationId xmlns:a16="http://schemas.microsoft.com/office/drawing/2014/main" id="{405404D5-04B5-6E4D-BA20-18D39982177C}"/>
              </a:ext>
            </a:extLst>
          </p:cNvPr>
          <p:cNvSpPr>
            <a:spLocks noGrp="1"/>
          </p:cNvSpPr>
          <p:nvPr>
            <p:ph idx="1"/>
          </p:nvPr>
        </p:nvSpPr>
        <p:spPr>
          <a:xfrm>
            <a:off x="152400" y="495301"/>
            <a:ext cx="8991600" cy="914399"/>
          </a:xfrm>
        </p:spPr>
        <p:txBody>
          <a:bodyPr/>
          <a:lstStyle/>
          <a:p>
            <a:r>
              <a:rPr lang="en-US" b="1" dirty="0"/>
              <a:t>AOT</a:t>
            </a:r>
            <a:r>
              <a:rPr lang="en-US" dirty="0"/>
              <a:t> compilers produce a file that contains the native machine code.</a:t>
            </a:r>
          </a:p>
          <a:p>
            <a:r>
              <a:rPr lang="en-US" b="1" dirty="0"/>
              <a:t>JIT</a:t>
            </a:r>
            <a:r>
              <a:rPr lang="en-US" dirty="0"/>
              <a:t> compilers produce native machine code </a:t>
            </a:r>
            <a:r>
              <a:rPr lang="en-US" i="1" dirty="0"/>
              <a:t>right before it's needed.</a:t>
            </a:r>
          </a:p>
        </p:txBody>
      </p:sp>
      <p:sp>
        <p:nvSpPr>
          <p:cNvPr id="4" name="Slide Number Placeholder 3">
            <a:extLst>
              <a:ext uri="{FF2B5EF4-FFF2-40B4-BE49-F238E27FC236}">
                <a16:creationId xmlns:a16="http://schemas.microsoft.com/office/drawing/2014/main" id="{762C9DEE-C311-1D4E-8C87-3EA196932518}"/>
              </a:ext>
            </a:extLst>
          </p:cNvPr>
          <p:cNvSpPr>
            <a:spLocks noGrp="1"/>
          </p:cNvSpPr>
          <p:nvPr>
            <p:ph type="sldNum" sz="quarter" idx="12"/>
          </p:nvPr>
        </p:nvSpPr>
        <p:spPr/>
        <p:txBody>
          <a:bodyPr/>
          <a:lstStyle/>
          <a:p>
            <a:fld id="{3552B95B-556F-44BD-91A5-D80C1B9E2BB3}" type="slidenum">
              <a:rPr lang="en-US" smtClean="0"/>
              <a:pPr/>
              <a:t>20</a:t>
            </a:fld>
            <a:endParaRPr lang="en-US"/>
          </a:p>
        </p:txBody>
      </p:sp>
      <p:sp>
        <p:nvSpPr>
          <p:cNvPr id="5" name="TextBox 4">
            <a:extLst>
              <a:ext uri="{FF2B5EF4-FFF2-40B4-BE49-F238E27FC236}">
                <a16:creationId xmlns:a16="http://schemas.microsoft.com/office/drawing/2014/main" id="{0CA340D5-7B9A-DE48-AFA0-50D2418BE5C5}"/>
              </a:ext>
            </a:extLst>
          </p:cNvPr>
          <p:cNvSpPr txBox="1"/>
          <p:nvPr/>
        </p:nvSpPr>
        <p:spPr>
          <a:xfrm>
            <a:off x="0" y="2878268"/>
            <a:ext cx="1125373" cy="646331"/>
          </a:xfrm>
          <a:prstGeom prst="rect">
            <a:avLst/>
          </a:prstGeom>
          <a:noFill/>
        </p:spPr>
        <p:txBody>
          <a:bodyPr wrap="none" rtlCol="0">
            <a:spAutoFit/>
          </a:bodyPr>
          <a:lstStyle/>
          <a:p>
            <a:pPr algn="ctr"/>
            <a:r>
              <a:rPr lang="en-US" sz="3600" b="1" dirty="0">
                <a:solidFill>
                  <a:srgbClr val="0070C0"/>
                </a:solidFill>
              </a:rPr>
              <a:t>Java</a:t>
            </a:r>
          </a:p>
        </p:txBody>
      </p:sp>
      <p:sp>
        <p:nvSpPr>
          <p:cNvPr id="6" name="TextBox 5">
            <a:extLst>
              <a:ext uri="{FF2B5EF4-FFF2-40B4-BE49-F238E27FC236}">
                <a16:creationId xmlns:a16="http://schemas.microsoft.com/office/drawing/2014/main" id="{CA9E4CEB-9F3A-4A45-8D7D-F757607120F0}"/>
              </a:ext>
            </a:extLst>
          </p:cNvPr>
          <p:cNvSpPr txBox="1"/>
          <p:nvPr/>
        </p:nvSpPr>
        <p:spPr>
          <a:xfrm>
            <a:off x="652166" y="1534924"/>
            <a:ext cx="473207" cy="646331"/>
          </a:xfrm>
          <a:prstGeom prst="rect">
            <a:avLst/>
          </a:prstGeom>
          <a:noFill/>
        </p:spPr>
        <p:txBody>
          <a:bodyPr wrap="none" rtlCol="0">
            <a:spAutoFit/>
          </a:bodyPr>
          <a:lstStyle/>
          <a:p>
            <a:pPr algn="ctr"/>
            <a:r>
              <a:rPr lang="en-US" sz="3600" b="1" dirty="0">
                <a:solidFill>
                  <a:srgbClr val="0070C0"/>
                </a:solidFill>
              </a:rPr>
              <a:t>C</a:t>
            </a:r>
          </a:p>
        </p:txBody>
      </p:sp>
      <p:grpSp>
        <p:nvGrpSpPr>
          <p:cNvPr id="10" name="Group 9">
            <a:extLst>
              <a:ext uri="{FF2B5EF4-FFF2-40B4-BE49-F238E27FC236}">
                <a16:creationId xmlns:a16="http://schemas.microsoft.com/office/drawing/2014/main" id="{2D68986E-5E0B-B94E-9573-9F4F5F649777}"/>
              </a:ext>
            </a:extLst>
          </p:cNvPr>
          <p:cNvGrpSpPr/>
          <p:nvPr/>
        </p:nvGrpSpPr>
        <p:grpSpPr>
          <a:xfrm>
            <a:off x="1288276" y="1633022"/>
            <a:ext cx="1073924" cy="621387"/>
            <a:chOff x="3106813" y="1572081"/>
            <a:chExt cx="1641016" cy="621387"/>
          </a:xfrm>
        </p:grpSpPr>
        <p:sp>
          <p:nvSpPr>
            <p:cNvPr id="11" name="Down Arrow 10">
              <a:extLst>
                <a:ext uri="{FF2B5EF4-FFF2-40B4-BE49-F238E27FC236}">
                  <a16:creationId xmlns:a16="http://schemas.microsoft.com/office/drawing/2014/main" id="{9C2E7387-A482-A94F-A078-FA4A3AFB859E}"/>
                </a:ext>
              </a:extLst>
            </p:cNvPr>
            <p:cNvSpPr/>
            <p:nvPr/>
          </p:nvSpPr>
          <p:spPr>
            <a:xfrm rot="16200000">
              <a:off x="3736821" y="942073"/>
              <a:ext cx="381000" cy="1641016"/>
            </a:xfrm>
            <a:prstGeom prst="downArrow">
              <a:avLst>
                <a:gd name="adj1" fmla="val 24737"/>
                <a:gd name="adj2"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BDEF2B3-038F-D04E-BA7A-524BB1CA1507}"/>
                </a:ext>
              </a:extLst>
            </p:cNvPr>
            <p:cNvSpPr txBox="1"/>
            <p:nvPr/>
          </p:nvSpPr>
          <p:spPr>
            <a:xfrm>
              <a:off x="3601751" y="1762581"/>
              <a:ext cx="651140" cy="430887"/>
            </a:xfrm>
            <a:prstGeom prst="rect">
              <a:avLst/>
            </a:prstGeom>
            <a:noFill/>
          </p:spPr>
          <p:txBody>
            <a:bodyPr wrap="none" rtlCol="0">
              <a:spAutoFit/>
            </a:bodyPr>
            <a:lstStyle/>
            <a:p>
              <a:pPr algn="r"/>
              <a:r>
                <a:rPr lang="en-US" sz="2200" b="1" dirty="0" err="1">
                  <a:latin typeface="Consolas" panose="020B0609020204030204" pitchFamily="49" charset="0"/>
                  <a:cs typeface="Consolas" panose="020B0609020204030204" pitchFamily="49" charset="0"/>
                </a:rPr>
                <a:t>gcc</a:t>
              </a:r>
              <a:endParaRPr lang="en-US" sz="2200" b="1" dirty="0">
                <a:latin typeface="Consolas" panose="020B0609020204030204" pitchFamily="49" charset="0"/>
                <a:cs typeface="Consolas" panose="020B0609020204030204" pitchFamily="49" charset="0"/>
              </a:endParaRPr>
            </a:p>
          </p:txBody>
        </p:sp>
      </p:grpSp>
      <p:grpSp>
        <p:nvGrpSpPr>
          <p:cNvPr id="14" name="Group 22">
            <a:extLst>
              <a:ext uri="{FF2B5EF4-FFF2-40B4-BE49-F238E27FC236}">
                <a16:creationId xmlns:a16="http://schemas.microsoft.com/office/drawing/2014/main" id="{919456C4-BE6E-A540-B2CD-C7A03A1A5FDF}"/>
              </a:ext>
            </a:extLst>
          </p:cNvPr>
          <p:cNvGrpSpPr/>
          <p:nvPr/>
        </p:nvGrpSpPr>
        <p:grpSpPr>
          <a:xfrm>
            <a:off x="2209800" y="1333500"/>
            <a:ext cx="1447800" cy="1247865"/>
            <a:chOff x="6926830" y="800100"/>
            <a:chExt cx="1447800" cy="1247865"/>
          </a:xfrm>
        </p:grpSpPr>
        <p:sp>
          <p:nvSpPr>
            <p:cNvPr id="16" name="TextBox 15">
              <a:extLst>
                <a:ext uri="{FF2B5EF4-FFF2-40B4-BE49-F238E27FC236}">
                  <a16:creationId xmlns:a16="http://schemas.microsoft.com/office/drawing/2014/main" id="{AE708FF6-184C-0D49-A2BB-D2E5A4961C85}"/>
                </a:ext>
              </a:extLst>
            </p:cNvPr>
            <p:cNvSpPr txBox="1"/>
            <p:nvPr/>
          </p:nvSpPr>
          <p:spPr>
            <a:xfrm>
              <a:off x="6926830" y="1647855"/>
              <a:ext cx="1447800" cy="400110"/>
            </a:xfrm>
            <a:prstGeom prst="rect">
              <a:avLst/>
            </a:prstGeom>
            <a:noFill/>
          </p:spPr>
          <p:txBody>
            <a:bodyPr wrap="square" rtlCol="0">
              <a:spAutoFit/>
            </a:bodyPr>
            <a:lstStyle/>
            <a:p>
              <a:pPr algn="ctr"/>
              <a:r>
                <a:rPr lang="en-US" sz="2000" b="1" dirty="0" err="1"/>
                <a:t>hello.exe</a:t>
              </a:r>
              <a:endParaRPr lang="en-US" sz="2000" b="1" dirty="0"/>
            </a:p>
          </p:txBody>
        </p:sp>
        <p:pic>
          <p:nvPicPr>
            <p:cNvPr id="17" name="Picture 2" descr="Image result for application icon">
              <a:extLst>
                <a:ext uri="{FF2B5EF4-FFF2-40B4-BE49-F238E27FC236}">
                  <a16:creationId xmlns:a16="http://schemas.microsoft.com/office/drawing/2014/main" id="{951AFDB7-CE31-E147-A2C1-CECE43CDB215}"/>
                </a:ext>
              </a:extLst>
            </p:cNvPr>
            <p:cNvPicPr>
              <a:picLocks noChangeAspect="1" noChangeArrowheads="1"/>
            </p:cNvPicPr>
            <p:nvPr/>
          </p:nvPicPr>
          <p:blipFill>
            <a:blip r:embed="rId3"/>
            <a:srcRect/>
            <a:stretch>
              <a:fillRect/>
            </a:stretch>
          </p:blipFill>
          <p:spPr bwMode="auto">
            <a:xfrm>
              <a:off x="7162800" y="800100"/>
              <a:ext cx="972969" cy="972969"/>
            </a:xfrm>
            <a:prstGeom prst="rect">
              <a:avLst/>
            </a:prstGeom>
            <a:noFill/>
          </p:spPr>
        </p:pic>
      </p:grpSp>
      <p:sp>
        <p:nvSpPr>
          <p:cNvPr id="18" name="Octagon 17">
            <a:extLst>
              <a:ext uri="{FF2B5EF4-FFF2-40B4-BE49-F238E27FC236}">
                <a16:creationId xmlns:a16="http://schemas.microsoft.com/office/drawing/2014/main" id="{3B16D813-C960-3648-A795-1BA6EE2D3E0D}"/>
              </a:ext>
            </a:extLst>
          </p:cNvPr>
          <p:cNvSpPr/>
          <p:nvPr/>
        </p:nvSpPr>
        <p:spPr>
          <a:xfrm>
            <a:off x="7017528" y="1418828"/>
            <a:ext cx="1733080" cy="1733080"/>
          </a:xfrm>
          <a:prstGeom prst="octagon">
            <a:avLst>
              <a:gd name="adj" fmla="val 5963"/>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CPU</a:t>
            </a:r>
          </a:p>
        </p:txBody>
      </p:sp>
      <p:sp>
        <p:nvSpPr>
          <p:cNvPr id="19" name="Down Arrow 18">
            <a:extLst>
              <a:ext uri="{FF2B5EF4-FFF2-40B4-BE49-F238E27FC236}">
                <a16:creationId xmlns:a16="http://schemas.microsoft.com/office/drawing/2014/main" id="{3B01FFFD-6F57-3843-A760-C3C6DBFA575E}"/>
              </a:ext>
            </a:extLst>
          </p:cNvPr>
          <p:cNvSpPr/>
          <p:nvPr/>
        </p:nvSpPr>
        <p:spPr>
          <a:xfrm rot="16200000">
            <a:off x="5067300" y="143584"/>
            <a:ext cx="381000" cy="3352800"/>
          </a:xfrm>
          <a:prstGeom prst="downArrow">
            <a:avLst>
              <a:gd name="adj1" fmla="val 24737"/>
              <a:gd name="adj2"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486619F4-3140-A848-ABC2-D803859A8CDF}"/>
              </a:ext>
            </a:extLst>
          </p:cNvPr>
          <p:cNvGrpSpPr/>
          <p:nvPr/>
        </p:nvGrpSpPr>
        <p:grpSpPr>
          <a:xfrm>
            <a:off x="1288276" y="3075700"/>
            <a:ext cx="1073924" cy="626606"/>
            <a:chOff x="3106813" y="1572081"/>
            <a:chExt cx="1641016" cy="626606"/>
          </a:xfrm>
        </p:grpSpPr>
        <p:sp>
          <p:nvSpPr>
            <p:cNvPr id="21" name="Down Arrow 20">
              <a:extLst>
                <a:ext uri="{FF2B5EF4-FFF2-40B4-BE49-F238E27FC236}">
                  <a16:creationId xmlns:a16="http://schemas.microsoft.com/office/drawing/2014/main" id="{85AAB072-DA99-5047-8257-31FE677B2076}"/>
                </a:ext>
              </a:extLst>
            </p:cNvPr>
            <p:cNvSpPr/>
            <p:nvPr/>
          </p:nvSpPr>
          <p:spPr>
            <a:xfrm rot="16200000">
              <a:off x="3736821" y="942073"/>
              <a:ext cx="381000" cy="1641016"/>
            </a:xfrm>
            <a:prstGeom prst="downArrow">
              <a:avLst>
                <a:gd name="adj1" fmla="val 24737"/>
                <a:gd name="adj2" fmla="val 50000"/>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AB35B567-6A29-7442-A384-C12463BE619A}"/>
                </a:ext>
              </a:extLst>
            </p:cNvPr>
            <p:cNvSpPr txBox="1"/>
            <p:nvPr/>
          </p:nvSpPr>
          <p:spPr>
            <a:xfrm>
              <a:off x="3374798" y="1767800"/>
              <a:ext cx="962123" cy="430887"/>
            </a:xfrm>
            <a:prstGeom prst="rect">
              <a:avLst/>
            </a:prstGeom>
            <a:noFill/>
          </p:spPr>
          <p:txBody>
            <a:bodyPr wrap="none" rtlCol="0">
              <a:spAutoFit/>
            </a:bodyPr>
            <a:lstStyle/>
            <a:p>
              <a:pPr algn="ctr"/>
              <a:r>
                <a:rPr lang="en-US" sz="2200" b="1" dirty="0" err="1">
                  <a:latin typeface="Consolas" panose="020B0609020204030204" pitchFamily="49" charset="0"/>
                  <a:cs typeface="Consolas" panose="020B0609020204030204" pitchFamily="49" charset="0"/>
                </a:rPr>
                <a:t>javac</a:t>
              </a:r>
              <a:endParaRPr lang="en-US" sz="2200" b="1" dirty="0">
                <a:latin typeface="Consolas" panose="020B0609020204030204" pitchFamily="49" charset="0"/>
                <a:cs typeface="Consolas" panose="020B0609020204030204" pitchFamily="49" charset="0"/>
              </a:endParaRPr>
            </a:p>
          </p:txBody>
        </p:sp>
      </p:grpSp>
      <p:grpSp>
        <p:nvGrpSpPr>
          <p:cNvPr id="27" name="Group 26">
            <a:extLst>
              <a:ext uri="{FF2B5EF4-FFF2-40B4-BE49-F238E27FC236}">
                <a16:creationId xmlns:a16="http://schemas.microsoft.com/office/drawing/2014/main" id="{FA4E9FE3-ED45-BC4F-9E3C-1BE8C3A56F13}"/>
              </a:ext>
            </a:extLst>
          </p:cNvPr>
          <p:cNvGrpSpPr/>
          <p:nvPr/>
        </p:nvGrpSpPr>
        <p:grpSpPr>
          <a:xfrm>
            <a:off x="2216928" y="2777925"/>
            <a:ext cx="1447800" cy="1222575"/>
            <a:chOff x="3065389" y="2777925"/>
            <a:chExt cx="1447800" cy="1222575"/>
          </a:xfrm>
        </p:grpSpPr>
        <p:sp>
          <p:nvSpPr>
            <p:cNvPr id="24" name="TextBox 23">
              <a:extLst>
                <a:ext uri="{FF2B5EF4-FFF2-40B4-BE49-F238E27FC236}">
                  <a16:creationId xmlns:a16="http://schemas.microsoft.com/office/drawing/2014/main" id="{3CA8126F-C851-8F40-8A6A-5CF1F599B852}"/>
                </a:ext>
              </a:extLst>
            </p:cNvPr>
            <p:cNvSpPr txBox="1"/>
            <p:nvPr/>
          </p:nvSpPr>
          <p:spPr>
            <a:xfrm>
              <a:off x="3065389" y="3600390"/>
              <a:ext cx="1447800" cy="400110"/>
            </a:xfrm>
            <a:prstGeom prst="rect">
              <a:avLst/>
            </a:prstGeom>
            <a:noFill/>
          </p:spPr>
          <p:txBody>
            <a:bodyPr wrap="square" rtlCol="0">
              <a:spAutoFit/>
            </a:bodyPr>
            <a:lstStyle/>
            <a:p>
              <a:pPr algn="ctr"/>
              <a:r>
                <a:rPr lang="en-US" sz="2000" b="1" dirty="0" err="1"/>
                <a:t>hello.class</a:t>
              </a:r>
              <a:endParaRPr lang="en-US" sz="2000" b="1" dirty="0"/>
            </a:p>
          </p:txBody>
        </p:sp>
        <p:sp>
          <p:nvSpPr>
            <p:cNvPr id="26" name="Folded Corner 25">
              <a:extLst>
                <a:ext uri="{FF2B5EF4-FFF2-40B4-BE49-F238E27FC236}">
                  <a16:creationId xmlns:a16="http://schemas.microsoft.com/office/drawing/2014/main" id="{1EB0360C-F4B7-EB40-8B75-7AA00E8B463F}"/>
                </a:ext>
              </a:extLst>
            </p:cNvPr>
            <p:cNvSpPr/>
            <p:nvPr/>
          </p:nvSpPr>
          <p:spPr>
            <a:xfrm flipV="1">
              <a:off x="3394877" y="2777925"/>
              <a:ext cx="771675" cy="847016"/>
            </a:xfrm>
            <a:prstGeom prst="foldedCorner">
              <a:avLst>
                <a:gd name="adj" fmla="val 21656"/>
              </a:avLst>
            </a:prstGeom>
            <a:solidFill>
              <a:schemeClr val="bg1">
                <a:lumMod val="8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Octagon 27">
            <a:extLst>
              <a:ext uri="{FF2B5EF4-FFF2-40B4-BE49-F238E27FC236}">
                <a16:creationId xmlns:a16="http://schemas.microsoft.com/office/drawing/2014/main" id="{470AC886-7C6F-F34D-B0A3-4952A7990258}"/>
              </a:ext>
            </a:extLst>
          </p:cNvPr>
          <p:cNvSpPr/>
          <p:nvPr/>
        </p:nvSpPr>
        <p:spPr>
          <a:xfrm>
            <a:off x="3757309" y="2416202"/>
            <a:ext cx="3000982" cy="2958971"/>
          </a:xfrm>
          <a:prstGeom prst="octagon">
            <a:avLst>
              <a:gd name="adj" fmla="val 11826"/>
            </a:avLst>
          </a:prstGeom>
          <a:solidFill>
            <a:schemeClr val="accent3">
              <a:lumMod val="75000"/>
            </a:schemeClr>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3600" b="1" dirty="0">
                <a:solidFill>
                  <a:schemeClr val="accent3">
                    <a:lumMod val="20000"/>
                    <a:lumOff val="80000"/>
                  </a:schemeClr>
                </a:solidFill>
              </a:rPr>
              <a:t>JVM</a:t>
            </a:r>
          </a:p>
        </p:txBody>
      </p:sp>
      <p:sp>
        <p:nvSpPr>
          <p:cNvPr id="34" name="Arc 33">
            <a:extLst>
              <a:ext uri="{FF2B5EF4-FFF2-40B4-BE49-F238E27FC236}">
                <a16:creationId xmlns:a16="http://schemas.microsoft.com/office/drawing/2014/main" id="{FF26C2E2-A716-DE4B-957E-575E65D749C1}"/>
              </a:ext>
            </a:extLst>
          </p:cNvPr>
          <p:cNvSpPr/>
          <p:nvPr/>
        </p:nvSpPr>
        <p:spPr>
          <a:xfrm rot="10800000" flipH="1">
            <a:off x="6298844" y="2857500"/>
            <a:ext cx="1118312" cy="1118312"/>
          </a:xfrm>
          <a:prstGeom prst="arc">
            <a:avLst>
              <a:gd name="adj1" fmla="val 16200000"/>
              <a:gd name="adj2" fmla="val 732414"/>
            </a:avLst>
          </a:prstGeom>
          <a:ln w="762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TextBox 34">
            <a:extLst>
              <a:ext uri="{FF2B5EF4-FFF2-40B4-BE49-F238E27FC236}">
                <a16:creationId xmlns:a16="http://schemas.microsoft.com/office/drawing/2014/main" id="{71F598D8-F9ED-CB45-80CA-82E7F033FE78}"/>
              </a:ext>
            </a:extLst>
          </p:cNvPr>
          <p:cNvSpPr txBox="1"/>
          <p:nvPr/>
        </p:nvSpPr>
        <p:spPr>
          <a:xfrm>
            <a:off x="3926735" y="3277225"/>
            <a:ext cx="2668572" cy="1446550"/>
          </a:xfrm>
          <a:prstGeom prst="rect">
            <a:avLst/>
          </a:prstGeom>
          <a:noFill/>
        </p:spPr>
        <p:txBody>
          <a:bodyPr wrap="square" rtlCol="0">
            <a:spAutoFit/>
          </a:bodyPr>
          <a:lstStyle/>
          <a:p>
            <a:pPr algn="ctr"/>
            <a:r>
              <a:rPr lang="en-US" sz="2200" dirty="0">
                <a:solidFill>
                  <a:schemeClr val="bg1"/>
                </a:solidFill>
              </a:rPr>
              <a:t>…can use an interpreter to run the bytecode, or</a:t>
            </a:r>
            <a:r>
              <a:rPr lang="en-US" sz="2200" i="1" dirty="0">
                <a:solidFill>
                  <a:schemeClr val="bg1"/>
                </a:solidFill>
              </a:rPr>
              <a:t> </a:t>
            </a:r>
            <a:r>
              <a:rPr lang="en-US" sz="2200" dirty="0">
                <a:solidFill>
                  <a:schemeClr val="bg1"/>
                </a:solidFill>
              </a:rPr>
              <a:t>JIT it to native code.</a:t>
            </a:r>
          </a:p>
        </p:txBody>
      </p:sp>
      <p:grpSp>
        <p:nvGrpSpPr>
          <p:cNvPr id="37" name="Group 36">
            <a:extLst>
              <a:ext uri="{FF2B5EF4-FFF2-40B4-BE49-F238E27FC236}">
                <a16:creationId xmlns:a16="http://schemas.microsoft.com/office/drawing/2014/main" id="{AD129A2C-388A-3249-AD02-0B82DCAFF18B}"/>
              </a:ext>
            </a:extLst>
          </p:cNvPr>
          <p:cNvGrpSpPr/>
          <p:nvPr/>
        </p:nvGrpSpPr>
        <p:grpSpPr>
          <a:xfrm>
            <a:off x="2509355" y="3524599"/>
            <a:ext cx="1541210" cy="1409546"/>
            <a:chOff x="2509355" y="3524599"/>
            <a:chExt cx="1541210" cy="1409546"/>
          </a:xfrm>
        </p:grpSpPr>
        <p:sp>
          <p:nvSpPr>
            <p:cNvPr id="31" name="Arc 30">
              <a:extLst>
                <a:ext uri="{FF2B5EF4-FFF2-40B4-BE49-F238E27FC236}">
                  <a16:creationId xmlns:a16="http://schemas.microsoft.com/office/drawing/2014/main" id="{CFBBFB02-3C71-CC49-922B-F96093381111}"/>
                </a:ext>
              </a:extLst>
            </p:cNvPr>
            <p:cNvSpPr/>
            <p:nvPr/>
          </p:nvSpPr>
          <p:spPr>
            <a:xfrm rot="16200000" flipH="1">
              <a:off x="2932253" y="3524599"/>
              <a:ext cx="1118312" cy="1118312"/>
            </a:xfrm>
            <a:prstGeom prst="arc">
              <a:avLst>
                <a:gd name="adj1" fmla="val 16200000"/>
                <a:gd name="adj2" fmla="val 732414"/>
              </a:avLst>
            </a:prstGeom>
            <a:ln w="762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6" name="TextBox 35">
              <a:extLst>
                <a:ext uri="{FF2B5EF4-FFF2-40B4-BE49-F238E27FC236}">
                  <a16:creationId xmlns:a16="http://schemas.microsoft.com/office/drawing/2014/main" id="{51A8ACA4-2E0A-B541-AF4B-12DAB1DF16B5}"/>
                </a:ext>
              </a:extLst>
            </p:cNvPr>
            <p:cNvSpPr txBox="1"/>
            <p:nvPr/>
          </p:nvSpPr>
          <p:spPr>
            <a:xfrm>
              <a:off x="2509355" y="4503258"/>
              <a:ext cx="806632" cy="430887"/>
            </a:xfrm>
            <a:prstGeom prst="rect">
              <a:avLst/>
            </a:prstGeom>
            <a:noFill/>
          </p:spPr>
          <p:txBody>
            <a:bodyPr wrap="none" rtlCol="0">
              <a:spAutoFit/>
            </a:bodyPr>
            <a:lstStyle/>
            <a:p>
              <a:pPr algn="ctr"/>
              <a:r>
                <a:rPr lang="en-US" sz="2200" b="1" dirty="0">
                  <a:latin typeface="Consolas" panose="020B0609020204030204" pitchFamily="49" charset="0"/>
                  <a:cs typeface="Consolas" panose="020B0609020204030204" pitchFamily="49" charset="0"/>
                </a:rPr>
                <a:t>java</a:t>
              </a:r>
            </a:p>
          </p:txBody>
        </p:sp>
      </p:grpSp>
    </p:spTree>
    <p:extLst>
      <p:ext uri="{BB962C8B-B14F-4D97-AF65-F5344CB8AC3E}">
        <p14:creationId xmlns:p14="http://schemas.microsoft.com/office/powerpoint/2010/main" val="41370988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8" grpId="0" animBg="1"/>
      <p:bldP spid="19" grpId="0" animBg="1"/>
      <p:bldP spid="28" grpId="0" animBg="1"/>
      <p:bldP spid="34" grpId="0" animBg="1"/>
      <p:bldP spid="3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7029C-5549-5F41-B4FE-4669AA3E4938}"/>
              </a:ext>
            </a:extLst>
          </p:cNvPr>
          <p:cNvSpPr>
            <a:spLocks noGrp="1"/>
          </p:cNvSpPr>
          <p:nvPr>
            <p:ph type="title"/>
          </p:nvPr>
        </p:nvSpPr>
        <p:spPr/>
        <p:txBody>
          <a:bodyPr/>
          <a:lstStyle/>
          <a:p>
            <a:r>
              <a:rPr lang="en-US" dirty="0"/>
              <a:t>Okay, okay: HOW does a compiler WORK</a:t>
            </a:r>
          </a:p>
        </p:txBody>
      </p:sp>
      <p:sp>
        <p:nvSpPr>
          <p:cNvPr id="3" name="Content Placeholder 2">
            <a:extLst>
              <a:ext uri="{FF2B5EF4-FFF2-40B4-BE49-F238E27FC236}">
                <a16:creationId xmlns:a16="http://schemas.microsoft.com/office/drawing/2014/main" id="{5E612003-B4F3-A24C-AD5D-F6D9AA6E934F}"/>
              </a:ext>
            </a:extLst>
          </p:cNvPr>
          <p:cNvSpPr>
            <a:spLocks noGrp="1"/>
          </p:cNvSpPr>
          <p:nvPr>
            <p:ph idx="1"/>
          </p:nvPr>
        </p:nvSpPr>
        <p:spPr>
          <a:xfrm>
            <a:off x="152400" y="495302"/>
            <a:ext cx="8991600" cy="495300"/>
          </a:xfrm>
        </p:spPr>
        <p:txBody>
          <a:bodyPr/>
          <a:lstStyle/>
          <a:p>
            <a:r>
              <a:rPr lang="en-US" dirty="0"/>
              <a:t>there are kind of two broad stages:</a:t>
            </a:r>
          </a:p>
        </p:txBody>
      </p:sp>
      <p:sp>
        <p:nvSpPr>
          <p:cNvPr id="4" name="Slide Number Placeholder 3">
            <a:extLst>
              <a:ext uri="{FF2B5EF4-FFF2-40B4-BE49-F238E27FC236}">
                <a16:creationId xmlns:a16="http://schemas.microsoft.com/office/drawing/2014/main" id="{43540A36-2645-4E44-9BF3-9DEF978E8455}"/>
              </a:ext>
            </a:extLst>
          </p:cNvPr>
          <p:cNvSpPr>
            <a:spLocks noGrp="1"/>
          </p:cNvSpPr>
          <p:nvPr>
            <p:ph type="sldNum" sz="quarter" idx="12"/>
          </p:nvPr>
        </p:nvSpPr>
        <p:spPr/>
        <p:txBody>
          <a:bodyPr/>
          <a:lstStyle/>
          <a:p>
            <a:fld id="{3552B95B-556F-44BD-91A5-D80C1B9E2BB3}" type="slidenum">
              <a:rPr lang="en-US" smtClean="0"/>
              <a:pPr/>
              <a:t>21</a:t>
            </a:fld>
            <a:endParaRPr lang="en-US"/>
          </a:p>
        </p:txBody>
      </p:sp>
      <p:grpSp>
        <p:nvGrpSpPr>
          <p:cNvPr id="5" name="Group 4">
            <a:extLst>
              <a:ext uri="{FF2B5EF4-FFF2-40B4-BE49-F238E27FC236}">
                <a16:creationId xmlns:a16="http://schemas.microsoft.com/office/drawing/2014/main" id="{EBF7CE61-CC7C-AF4B-A5A8-A37E969D61A0}"/>
              </a:ext>
            </a:extLst>
          </p:cNvPr>
          <p:cNvGrpSpPr/>
          <p:nvPr/>
        </p:nvGrpSpPr>
        <p:grpSpPr>
          <a:xfrm>
            <a:off x="-48784" y="2472482"/>
            <a:ext cx="1260613" cy="1037709"/>
            <a:chOff x="3065389" y="2777925"/>
            <a:chExt cx="1447800" cy="1191797"/>
          </a:xfrm>
        </p:grpSpPr>
        <p:sp>
          <p:nvSpPr>
            <p:cNvPr id="6" name="TextBox 5">
              <a:extLst>
                <a:ext uri="{FF2B5EF4-FFF2-40B4-BE49-F238E27FC236}">
                  <a16:creationId xmlns:a16="http://schemas.microsoft.com/office/drawing/2014/main" id="{8014FEE0-BF76-7D44-A641-3A80C6492F00}"/>
                </a:ext>
              </a:extLst>
            </p:cNvPr>
            <p:cNvSpPr txBox="1"/>
            <p:nvPr/>
          </p:nvSpPr>
          <p:spPr>
            <a:xfrm>
              <a:off x="3065389" y="3600390"/>
              <a:ext cx="1447800" cy="369332"/>
            </a:xfrm>
            <a:prstGeom prst="rect">
              <a:avLst/>
            </a:prstGeom>
            <a:noFill/>
          </p:spPr>
          <p:txBody>
            <a:bodyPr wrap="square" rtlCol="0">
              <a:spAutoFit/>
            </a:bodyPr>
            <a:lstStyle/>
            <a:p>
              <a:pPr algn="ctr"/>
              <a:r>
                <a:rPr lang="en-US" sz="1800" b="1" dirty="0" err="1"/>
                <a:t>hello.c</a:t>
              </a:r>
              <a:endParaRPr lang="en-US" sz="1800" b="1" dirty="0"/>
            </a:p>
          </p:txBody>
        </p:sp>
        <p:sp>
          <p:nvSpPr>
            <p:cNvPr id="7" name="Folded Corner 6">
              <a:extLst>
                <a:ext uri="{FF2B5EF4-FFF2-40B4-BE49-F238E27FC236}">
                  <a16:creationId xmlns:a16="http://schemas.microsoft.com/office/drawing/2014/main" id="{19325C8D-6578-1C46-9E44-1D15E3534E19}"/>
                </a:ext>
              </a:extLst>
            </p:cNvPr>
            <p:cNvSpPr/>
            <p:nvPr/>
          </p:nvSpPr>
          <p:spPr>
            <a:xfrm flipV="1">
              <a:off x="3394877" y="2777925"/>
              <a:ext cx="771675" cy="847016"/>
            </a:xfrm>
            <a:prstGeom prst="foldedCorner">
              <a:avLst>
                <a:gd name="adj" fmla="val 21656"/>
              </a:avLst>
            </a:prstGeom>
            <a:solidFill>
              <a:srgbClr val="FCECD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grpSp>
      <p:sp>
        <p:nvSpPr>
          <p:cNvPr id="8" name="Cloud 7">
            <a:extLst>
              <a:ext uri="{FF2B5EF4-FFF2-40B4-BE49-F238E27FC236}">
                <a16:creationId xmlns:a16="http://schemas.microsoft.com/office/drawing/2014/main" id="{794A07BE-F6FA-AD43-A4C6-C4509800CC21}"/>
              </a:ext>
            </a:extLst>
          </p:cNvPr>
          <p:cNvSpPr/>
          <p:nvPr/>
        </p:nvSpPr>
        <p:spPr>
          <a:xfrm rot="20517393">
            <a:off x="3400803" y="2127157"/>
            <a:ext cx="2223302" cy="1567567"/>
          </a:xfrm>
          <a:prstGeom prst="cloud">
            <a:avLst/>
          </a:prstGeom>
          <a:solidFill>
            <a:schemeClr val="accent4">
              <a:lumMod val="75000"/>
            </a:scheme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wrap="none" lIns="182880" tIns="0" rIns="0" bIns="0" rtlCol="0" anchor="ctr">
            <a:noAutofit/>
          </a:bodyPr>
          <a:lstStyle/>
          <a:p>
            <a:pPr algn="ctr"/>
            <a:r>
              <a:rPr lang="en-US" sz="1600" b="1" dirty="0"/>
              <a:t>some abstract, </a:t>
            </a:r>
          </a:p>
          <a:p>
            <a:pPr algn="ctr"/>
            <a:r>
              <a:rPr lang="en-US" sz="1600" b="1" dirty="0"/>
              <a:t>"correct" program</a:t>
            </a:r>
          </a:p>
          <a:p>
            <a:pPr algn="ctr"/>
            <a:r>
              <a:rPr lang="en-US" sz="1600" b="1" dirty="0"/>
              <a:t>representation</a:t>
            </a:r>
          </a:p>
        </p:txBody>
      </p:sp>
      <p:grpSp>
        <p:nvGrpSpPr>
          <p:cNvPr id="9" name="Group 22">
            <a:extLst>
              <a:ext uri="{FF2B5EF4-FFF2-40B4-BE49-F238E27FC236}">
                <a16:creationId xmlns:a16="http://schemas.microsoft.com/office/drawing/2014/main" id="{90EA8260-C8F2-0B4C-8B03-BA11EEBED2AF}"/>
              </a:ext>
            </a:extLst>
          </p:cNvPr>
          <p:cNvGrpSpPr/>
          <p:nvPr/>
        </p:nvGrpSpPr>
        <p:grpSpPr>
          <a:xfrm>
            <a:off x="7946194" y="2437590"/>
            <a:ext cx="1197806" cy="1006931"/>
            <a:chOff x="6926830" y="800100"/>
            <a:chExt cx="1447800" cy="1217087"/>
          </a:xfrm>
        </p:grpSpPr>
        <p:sp>
          <p:nvSpPr>
            <p:cNvPr id="10" name="TextBox 9">
              <a:extLst>
                <a:ext uri="{FF2B5EF4-FFF2-40B4-BE49-F238E27FC236}">
                  <a16:creationId xmlns:a16="http://schemas.microsoft.com/office/drawing/2014/main" id="{04107A3F-3339-6842-A0A1-1B2E87605AEE}"/>
                </a:ext>
              </a:extLst>
            </p:cNvPr>
            <p:cNvSpPr txBox="1"/>
            <p:nvPr/>
          </p:nvSpPr>
          <p:spPr>
            <a:xfrm>
              <a:off x="6926830" y="1647855"/>
              <a:ext cx="1447800" cy="369332"/>
            </a:xfrm>
            <a:prstGeom prst="rect">
              <a:avLst/>
            </a:prstGeom>
            <a:noFill/>
          </p:spPr>
          <p:txBody>
            <a:bodyPr wrap="square" rtlCol="0">
              <a:spAutoFit/>
            </a:bodyPr>
            <a:lstStyle/>
            <a:p>
              <a:pPr algn="ctr"/>
              <a:r>
                <a:rPr lang="en-US" sz="1800" b="1" dirty="0" err="1"/>
                <a:t>hello.exe</a:t>
              </a:r>
              <a:endParaRPr lang="en-US" sz="1800" b="1" dirty="0"/>
            </a:p>
          </p:txBody>
        </p:sp>
        <p:pic>
          <p:nvPicPr>
            <p:cNvPr id="11" name="Picture 2" descr="Image result for application icon">
              <a:extLst>
                <a:ext uri="{FF2B5EF4-FFF2-40B4-BE49-F238E27FC236}">
                  <a16:creationId xmlns:a16="http://schemas.microsoft.com/office/drawing/2014/main" id="{746F0A73-E324-4647-93E0-91D9136FF1C3}"/>
                </a:ext>
              </a:extLst>
            </p:cNvPr>
            <p:cNvPicPr>
              <a:picLocks noChangeAspect="1" noChangeArrowheads="1"/>
            </p:cNvPicPr>
            <p:nvPr/>
          </p:nvPicPr>
          <p:blipFill>
            <a:blip r:embed="rId3"/>
            <a:srcRect/>
            <a:stretch>
              <a:fillRect/>
            </a:stretch>
          </p:blipFill>
          <p:spPr bwMode="auto">
            <a:xfrm>
              <a:off x="7162800" y="800100"/>
              <a:ext cx="972969" cy="972969"/>
            </a:xfrm>
            <a:prstGeom prst="rect">
              <a:avLst/>
            </a:prstGeom>
            <a:noFill/>
          </p:spPr>
        </p:pic>
      </p:grpSp>
      <p:sp>
        <p:nvSpPr>
          <p:cNvPr id="12" name="Right Arrow 11">
            <a:extLst>
              <a:ext uri="{FF2B5EF4-FFF2-40B4-BE49-F238E27FC236}">
                <a16:creationId xmlns:a16="http://schemas.microsoft.com/office/drawing/2014/main" id="{5AB00DE0-45F3-9746-91AA-1B18B4D05BCF}"/>
              </a:ext>
            </a:extLst>
          </p:cNvPr>
          <p:cNvSpPr/>
          <p:nvPr/>
        </p:nvSpPr>
        <p:spPr>
          <a:xfrm>
            <a:off x="990600" y="2472482"/>
            <a:ext cx="304800" cy="876918"/>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Arrow 13">
            <a:extLst>
              <a:ext uri="{FF2B5EF4-FFF2-40B4-BE49-F238E27FC236}">
                <a16:creationId xmlns:a16="http://schemas.microsoft.com/office/drawing/2014/main" id="{159CC546-D7EA-754D-B6E4-B5C8AC4D1264}"/>
              </a:ext>
            </a:extLst>
          </p:cNvPr>
          <p:cNvSpPr/>
          <p:nvPr/>
        </p:nvSpPr>
        <p:spPr>
          <a:xfrm>
            <a:off x="3185982" y="2472482"/>
            <a:ext cx="304800" cy="876918"/>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ight Arrow 14">
            <a:extLst>
              <a:ext uri="{FF2B5EF4-FFF2-40B4-BE49-F238E27FC236}">
                <a16:creationId xmlns:a16="http://schemas.microsoft.com/office/drawing/2014/main" id="{8D13E1AB-A7EA-DA4D-96CE-B21A1D23AD62}"/>
              </a:ext>
            </a:extLst>
          </p:cNvPr>
          <p:cNvSpPr/>
          <p:nvPr/>
        </p:nvSpPr>
        <p:spPr>
          <a:xfrm>
            <a:off x="5564253" y="2472482"/>
            <a:ext cx="304800" cy="876918"/>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Arrow 15">
            <a:extLst>
              <a:ext uri="{FF2B5EF4-FFF2-40B4-BE49-F238E27FC236}">
                <a16:creationId xmlns:a16="http://schemas.microsoft.com/office/drawing/2014/main" id="{C0C818BE-E712-0F47-A4A6-BCE6B447E84F}"/>
              </a:ext>
            </a:extLst>
          </p:cNvPr>
          <p:cNvSpPr/>
          <p:nvPr/>
        </p:nvSpPr>
        <p:spPr>
          <a:xfrm>
            <a:off x="7779770" y="2472482"/>
            <a:ext cx="304800" cy="876918"/>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ctagon 16">
            <a:extLst>
              <a:ext uri="{FF2B5EF4-FFF2-40B4-BE49-F238E27FC236}">
                <a16:creationId xmlns:a16="http://schemas.microsoft.com/office/drawing/2014/main" id="{A79576E4-F748-764A-A5DE-AE8E7D326E8D}"/>
              </a:ext>
            </a:extLst>
          </p:cNvPr>
          <p:cNvSpPr/>
          <p:nvPr/>
        </p:nvSpPr>
        <p:spPr>
          <a:xfrm>
            <a:off x="1328661" y="2187843"/>
            <a:ext cx="1800472" cy="1399350"/>
          </a:xfrm>
          <a:prstGeom prst="octagon">
            <a:avLst>
              <a:gd name="adj" fmla="val 522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Frontend</a:t>
            </a:r>
          </a:p>
        </p:txBody>
      </p:sp>
      <p:sp>
        <p:nvSpPr>
          <p:cNvPr id="18" name="Octagon 17">
            <a:extLst>
              <a:ext uri="{FF2B5EF4-FFF2-40B4-BE49-F238E27FC236}">
                <a16:creationId xmlns:a16="http://schemas.microsoft.com/office/drawing/2014/main" id="{E58A2CCB-AE29-1A47-98E7-9D486AA9C98B}"/>
              </a:ext>
            </a:extLst>
          </p:cNvPr>
          <p:cNvSpPr/>
          <p:nvPr/>
        </p:nvSpPr>
        <p:spPr>
          <a:xfrm>
            <a:off x="5943335" y="2186584"/>
            <a:ext cx="1800472" cy="1399350"/>
          </a:xfrm>
          <a:prstGeom prst="octagon">
            <a:avLst>
              <a:gd name="adj" fmla="val 5229"/>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Backend</a:t>
            </a:r>
          </a:p>
        </p:txBody>
      </p:sp>
      <p:sp>
        <p:nvSpPr>
          <p:cNvPr id="19" name="TextBox 18">
            <a:extLst>
              <a:ext uri="{FF2B5EF4-FFF2-40B4-BE49-F238E27FC236}">
                <a16:creationId xmlns:a16="http://schemas.microsoft.com/office/drawing/2014/main" id="{50D5CD50-161B-3441-AEEB-697808DAAD35}"/>
              </a:ext>
            </a:extLst>
          </p:cNvPr>
          <p:cNvSpPr txBox="1"/>
          <p:nvPr/>
        </p:nvSpPr>
        <p:spPr>
          <a:xfrm>
            <a:off x="502177" y="981610"/>
            <a:ext cx="3453440" cy="1107996"/>
          </a:xfrm>
          <a:prstGeom prst="rect">
            <a:avLst/>
          </a:prstGeom>
          <a:noFill/>
        </p:spPr>
        <p:txBody>
          <a:bodyPr wrap="square" rtlCol="0">
            <a:spAutoFit/>
          </a:bodyPr>
          <a:lstStyle/>
          <a:p>
            <a:pPr algn="ctr"/>
            <a:r>
              <a:rPr lang="en-US" sz="2200" dirty="0"/>
              <a:t>the </a:t>
            </a:r>
            <a:r>
              <a:rPr lang="en-US" sz="2200" b="1" dirty="0"/>
              <a:t>frontend</a:t>
            </a:r>
            <a:r>
              <a:rPr lang="en-US" sz="2200" dirty="0"/>
              <a:t> reads the source code and checks it for "correctness."</a:t>
            </a:r>
          </a:p>
        </p:txBody>
      </p:sp>
      <p:sp>
        <p:nvSpPr>
          <p:cNvPr id="20" name="TextBox 19">
            <a:extLst>
              <a:ext uri="{FF2B5EF4-FFF2-40B4-BE49-F238E27FC236}">
                <a16:creationId xmlns:a16="http://schemas.microsoft.com/office/drawing/2014/main" id="{CFF40DA1-D304-334E-87D3-FCA2DB7FD49E}"/>
              </a:ext>
            </a:extLst>
          </p:cNvPr>
          <p:cNvSpPr txBox="1"/>
          <p:nvPr/>
        </p:nvSpPr>
        <p:spPr>
          <a:xfrm>
            <a:off x="5092197" y="990602"/>
            <a:ext cx="3823926" cy="1107996"/>
          </a:xfrm>
          <a:prstGeom prst="rect">
            <a:avLst/>
          </a:prstGeom>
          <a:noFill/>
        </p:spPr>
        <p:txBody>
          <a:bodyPr wrap="square" rtlCol="0">
            <a:spAutoFit/>
          </a:bodyPr>
          <a:lstStyle/>
          <a:p>
            <a:pPr algn="ctr"/>
            <a:r>
              <a:rPr lang="en-US" sz="2200" dirty="0"/>
              <a:t>the </a:t>
            </a:r>
            <a:r>
              <a:rPr lang="en-US" sz="2200" b="1" dirty="0"/>
              <a:t>backend</a:t>
            </a:r>
            <a:r>
              <a:rPr lang="en-US" sz="2200" dirty="0"/>
              <a:t> produces target code from the compiler's "idea" of your program.</a:t>
            </a:r>
          </a:p>
        </p:txBody>
      </p:sp>
      <p:sp>
        <p:nvSpPr>
          <p:cNvPr id="23" name="TextBox 22">
            <a:extLst>
              <a:ext uri="{FF2B5EF4-FFF2-40B4-BE49-F238E27FC236}">
                <a16:creationId xmlns:a16="http://schemas.microsoft.com/office/drawing/2014/main" id="{1B48BF34-C657-E444-85F5-00AE7E6AB76E}"/>
              </a:ext>
            </a:extLst>
          </p:cNvPr>
          <p:cNvSpPr txBox="1"/>
          <p:nvPr/>
        </p:nvSpPr>
        <p:spPr>
          <a:xfrm>
            <a:off x="1319726" y="3847748"/>
            <a:ext cx="6626468" cy="769441"/>
          </a:xfrm>
          <a:prstGeom prst="rect">
            <a:avLst/>
          </a:prstGeom>
          <a:noFill/>
        </p:spPr>
        <p:txBody>
          <a:bodyPr wrap="square" rtlCol="0">
            <a:spAutoFit/>
          </a:bodyPr>
          <a:lstStyle/>
          <a:p>
            <a:pPr algn="ctr"/>
            <a:r>
              <a:rPr lang="en-US" sz="2200" dirty="0"/>
              <a:t>this "idea" is the </a:t>
            </a:r>
            <a:r>
              <a:rPr lang="en-US" sz="2200" b="1" dirty="0"/>
              <a:t>intermediate representation (IR): </a:t>
            </a:r>
            <a:r>
              <a:rPr lang="en-US" sz="2200" dirty="0"/>
              <a:t>a sort of </a:t>
            </a:r>
            <a:r>
              <a:rPr lang="en-US" sz="2200" i="1" dirty="0"/>
              <a:t>third</a:t>
            </a:r>
            <a:r>
              <a:rPr lang="en-US" sz="2200" dirty="0"/>
              <a:t> language which "bridges the gap."</a:t>
            </a:r>
          </a:p>
        </p:txBody>
      </p:sp>
    </p:spTree>
    <p:extLst>
      <p:ext uri="{BB962C8B-B14F-4D97-AF65-F5344CB8AC3E}">
        <p14:creationId xmlns:p14="http://schemas.microsoft.com/office/powerpoint/2010/main" val="50038701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P spid="14" grpId="0" animBg="1"/>
      <p:bldP spid="15" grpId="0" animBg="1"/>
      <p:bldP spid="16" grpId="0" animBg="1"/>
      <p:bldP spid="17" grpId="0" animBg="1"/>
      <p:bldP spid="18" grpId="0" animBg="1"/>
      <p:bldP spid="19" grpId="0"/>
      <p:bldP spid="20" grpId="0"/>
      <p:bldP spid="2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2918A-1B4E-2549-9774-7CAC5BF7A281}"/>
              </a:ext>
            </a:extLst>
          </p:cNvPr>
          <p:cNvSpPr>
            <a:spLocks noGrp="1"/>
          </p:cNvSpPr>
          <p:nvPr>
            <p:ph type="title"/>
          </p:nvPr>
        </p:nvSpPr>
        <p:spPr/>
        <p:txBody>
          <a:bodyPr/>
          <a:lstStyle/>
          <a:p>
            <a:r>
              <a:rPr lang="en-US" dirty="0"/>
              <a:t>Frontend step 1: Lexical Analysis (Lexing </a:t>
            </a:r>
            <a:r>
              <a:rPr lang="en-US" sz="1800" dirty="0"/>
              <a:t>(or Scanning)</a:t>
            </a:r>
            <a:r>
              <a:rPr lang="en-US" dirty="0"/>
              <a:t>)</a:t>
            </a:r>
          </a:p>
        </p:txBody>
      </p:sp>
      <p:sp>
        <p:nvSpPr>
          <p:cNvPr id="3" name="Content Placeholder 2">
            <a:extLst>
              <a:ext uri="{FF2B5EF4-FFF2-40B4-BE49-F238E27FC236}">
                <a16:creationId xmlns:a16="http://schemas.microsoft.com/office/drawing/2014/main" id="{1D9D12EC-31A7-F943-99C2-9DC004E42E7C}"/>
              </a:ext>
            </a:extLst>
          </p:cNvPr>
          <p:cNvSpPr>
            <a:spLocks noGrp="1"/>
          </p:cNvSpPr>
          <p:nvPr>
            <p:ph idx="1"/>
          </p:nvPr>
        </p:nvSpPr>
        <p:spPr>
          <a:xfrm>
            <a:off x="152400" y="495301"/>
            <a:ext cx="8991600" cy="914399"/>
          </a:xfrm>
        </p:spPr>
        <p:txBody>
          <a:bodyPr/>
          <a:lstStyle/>
          <a:p>
            <a:r>
              <a:rPr lang="en-US" b="1" dirty="0" err="1"/>
              <a:t>lexing</a:t>
            </a:r>
            <a:r>
              <a:rPr lang="en-US" dirty="0"/>
              <a:t> splits the source text into </a:t>
            </a:r>
            <a:r>
              <a:rPr lang="en-US" b="1" dirty="0"/>
              <a:t>tokens: </a:t>
            </a:r>
            <a:r>
              <a:rPr lang="en-US" dirty="0"/>
              <a:t>words, symbols, etc.</a:t>
            </a:r>
            <a:endParaRPr lang="en-US" b="1" dirty="0"/>
          </a:p>
          <a:p>
            <a:r>
              <a:rPr lang="en-US" dirty="0"/>
              <a:t>it's a straightforward string processing algorithm.</a:t>
            </a:r>
          </a:p>
        </p:txBody>
      </p:sp>
      <p:sp>
        <p:nvSpPr>
          <p:cNvPr id="4" name="Slide Number Placeholder 3">
            <a:extLst>
              <a:ext uri="{FF2B5EF4-FFF2-40B4-BE49-F238E27FC236}">
                <a16:creationId xmlns:a16="http://schemas.microsoft.com/office/drawing/2014/main" id="{9053C7ED-9BBD-864A-A53D-8302C1130060}"/>
              </a:ext>
            </a:extLst>
          </p:cNvPr>
          <p:cNvSpPr>
            <a:spLocks noGrp="1"/>
          </p:cNvSpPr>
          <p:nvPr>
            <p:ph type="sldNum" sz="quarter" idx="12"/>
          </p:nvPr>
        </p:nvSpPr>
        <p:spPr/>
        <p:txBody>
          <a:bodyPr/>
          <a:lstStyle/>
          <a:p>
            <a:fld id="{3552B95B-556F-44BD-91A5-D80C1B9E2BB3}" type="slidenum">
              <a:rPr lang="en-US" smtClean="0"/>
              <a:pPr/>
              <a:t>22</a:t>
            </a:fld>
            <a:endParaRPr lang="en-US"/>
          </a:p>
        </p:txBody>
      </p:sp>
      <p:sp>
        <p:nvSpPr>
          <p:cNvPr id="6" name="TextBox 5">
            <a:extLst>
              <a:ext uri="{FF2B5EF4-FFF2-40B4-BE49-F238E27FC236}">
                <a16:creationId xmlns:a16="http://schemas.microsoft.com/office/drawing/2014/main" id="{9E0E2211-6FD3-8F49-A38D-C7019AD591A1}"/>
              </a:ext>
            </a:extLst>
          </p:cNvPr>
          <p:cNvSpPr txBox="1"/>
          <p:nvPr/>
        </p:nvSpPr>
        <p:spPr>
          <a:xfrm>
            <a:off x="241810" y="1485900"/>
            <a:ext cx="3181658" cy="584775"/>
          </a:xfrm>
          <a:prstGeom prst="rect">
            <a:avLst/>
          </a:prstGeom>
          <a:noFill/>
        </p:spPr>
        <p:txBody>
          <a:bodyPr wrap="square" rtlCol="0">
            <a:spAutoFit/>
          </a:bodyPr>
          <a:lstStyle/>
          <a:p>
            <a:r>
              <a:rPr lang="en-US" sz="3200" dirty="0"/>
              <a:t>This is English.</a:t>
            </a:r>
          </a:p>
        </p:txBody>
      </p:sp>
      <p:sp>
        <p:nvSpPr>
          <p:cNvPr id="7" name="TextBox 6">
            <a:extLst>
              <a:ext uri="{FF2B5EF4-FFF2-40B4-BE49-F238E27FC236}">
                <a16:creationId xmlns:a16="http://schemas.microsoft.com/office/drawing/2014/main" id="{1CE29C05-E8DB-074E-867F-A2CAE3FDA7DF}"/>
              </a:ext>
            </a:extLst>
          </p:cNvPr>
          <p:cNvSpPr txBox="1"/>
          <p:nvPr/>
        </p:nvSpPr>
        <p:spPr>
          <a:xfrm>
            <a:off x="241810" y="2247900"/>
            <a:ext cx="3568190" cy="584775"/>
          </a:xfrm>
          <a:prstGeom prst="rect">
            <a:avLst/>
          </a:prstGeom>
          <a:noFill/>
        </p:spPr>
        <p:txBody>
          <a:bodyPr wrap="square" rtlCol="0">
            <a:spAutoFit/>
          </a:bodyPr>
          <a:lstStyle/>
          <a:p>
            <a:r>
              <a:rPr lang="en-US" sz="3200" b="1" dirty="0">
                <a:solidFill>
                  <a:srgbClr val="FF0000"/>
                </a:solidFill>
                <a:latin typeface="Consolas" panose="020B0609020204030204" pitchFamily="49" charset="0"/>
                <a:cs typeface="Consolas" panose="020B0609020204030204" pitchFamily="49" charset="0"/>
              </a:rPr>
              <a:t>void</a:t>
            </a:r>
            <a:r>
              <a:rPr lang="en-US" sz="3200" b="1" dirty="0">
                <a:latin typeface="Consolas" panose="020B0609020204030204" pitchFamily="49" charset="0"/>
                <a:cs typeface="Consolas" panose="020B0609020204030204" pitchFamily="49" charset="0"/>
              </a:rPr>
              <a:t> main(){}</a:t>
            </a:r>
          </a:p>
        </p:txBody>
      </p:sp>
      <p:sp>
        <p:nvSpPr>
          <p:cNvPr id="10" name="TextBox 9">
            <a:extLst>
              <a:ext uri="{FF2B5EF4-FFF2-40B4-BE49-F238E27FC236}">
                <a16:creationId xmlns:a16="http://schemas.microsoft.com/office/drawing/2014/main" id="{E7BE62EF-717B-454E-B17D-6C7B69D162BA}"/>
              </a:ext>
            </a:extLst>
          </p:cNvPr>
          <p:cNvSpPr txBox="1"/>
          <p:nvPr/>
        </p:nvSpPr>
        <p:spPr>
          <a:xfrm>
            <a:off x="241810" y="3771900"/>
            <a:ext cx="3568190" cy="584775"/>
          </a:xfrm>
          <a:prstGeom prst="rect">
            <a:avLst/>
          </a:prstGeom>
          <a:noFill/>
        </p:spPr>
        <p:txBody>
          <a:bodyPr wrap="square" rtlCol="0">
            <a:spAutoFit/>
          </a:bodyPr>
          <a:lstStyle/>
          <a:p>
            <a:r>
              <a:rPr lang="en-US" sz="3200" b="1" dirty="0">
                <a:solidFill>
                  <a:srgbClr val="FF0000"/>
                </a:solidFill>
                <a:latin typeface="Consolas" panose="020B0609020204030204" pitchFamily="49" charset="0"/>
                <a:cs typeface="Consolas" panose="020B0609020204030204" pitchFamily="49" charset="0"/>
              </a:rPr>
              <a:t>if</a:t>
            </a:r>
            <a:r>
              <a:rPr lang="en-US" sz="3200" b="1" dirty="0">
                <a:latin typeface="Consolas" panose="020B0609020204030204" pitchFamily="49" charset="0"/>
                <a:cs typeface="Consolas" panose="020B0609020204030204" pitchFamily="49" charset="0"/>
              </a:rPr>
              <a:t>&lt;</a:t>
            </a:r>
            <a:r>
              <a:rPr lang="en-US" sz="3200" b="1" dirty="0">
                <a:solidFill>
                  <a:srgbClr val="FF0000"/>
                </a:solidFill>
                <a:latin typeface="Consolas" panose="020B0609020204030204" pitchFamily="49" charset="0"/>
                <a:cs typeface="Consolas" panose="020B0609020204030204" pitchFamily="49" charset="0"/>
              </a:rPr>
              <a:t>class</a:t>
            </a:r>
            <a:r>
              <a:rPr lang="en-US" sz="3200" b="1" dirty="0">
                <a:latin typeface="Consolas" panose="020B0609020204030204" pitchFamily="49" charset="0"/>
                <a:cs typeface="Consolas" panose="020B0609020204030204" pitchFamily="49" charset="0"/>
              </a:rPr>
              <a:t>)++</a:t>
            </a:r>
          </a:p>
        </p:txBody>
      </p:sp>
      <p:sp>
        <p:nvSpPr>
          <p:cNvPr id="13" name="TextBox 12">
            <a:extLst>
              <a:ext uri="{FF2B5EF4-FFF2-40B4-BE49-F238E27FC236}">
                <a16:creationId xmlns:a16="http://schemas.microsoft.com/office/drawing/2014/main" id="{35F1DAF3-AF14-224A-A2FA-6D6AF50898BE}"/>
              </a:ext>
            </a:extLst>
          </p:cNvPr>
          <p:cNvSpPr txBox="1"/>
          <p:nvPr/>
        </p:nvSpPr>
        <p:spPr>
          <a:xfrm>
            <a:off x="241810" y="3009900"/>
            <a:ext cx="3568190" cy="584775"/>
          </a:xfrm>
          <a:prstGeom prst="rect">
            <a:avLst/>
          </a:prstGeom>
          <a:noFill/>
        </p:spPr>
        <p:txBody>
          <a:bodyPr wrap="square" rtlCol="0">
            <a:spAutoFit/>
          </a:bodyPr>
          <a:lstStyle/>
          <a:p>
            <a:r>
              <a:rPr lang="en-US" sz="3200" b="1" dirty="0">
                <a:solidFill>
                  <a:schemeClr val="accent6">
                    <a:lumMod val="75000"/>
                  </a:schemeClr>
                </a:solidFill>
                <a:latin typeface="Consolas" panose="020B0609020204030204" pitchFamily="49" charset="0"/>
                <a:cs typeface="Consolas" panose="020B0609020204030204" pitchFamily="49" charset="0"/>
              </a:rPr>
              <a:t>"hello!</a:t>
            </a:r>
          </a:p>
        </p:txBody>
      </p:sp>
      <p:sp>
        <p:nvSpPr>
          <p:cNvPr id="14" name="TextBox 13">
            <a:extLst>
              <a:ext uri="{FF2B5EF4-FFF2-40B4-BE49-F238E27FC236}">
                <a16:creationId xmlns:a16="http://schemas.microsoft.com/office/drawing/2014/main" id="{822183D4-72CA-AE4F-BFC7-19BAE8FBD0B0}"/>
              </a:ext>
            </a:extLst>
          </p:cNvPr>
          <p:cNvSpPr txBox="1"/>
          <p:nvPr/>
        </p:nvSpPr>
        <p:spPr>
          <a:xfrm>
            <a:off x="5345104" y="1547454"/>
            <a:ext cx="3657600" cy="461665"/>
          </a:xfrm>
          <a:prstGeom prst="rect">
            <a:avLst/>
          </a:prstGeom>
          <a:noFill/>
        </p:spPr>
        <p:txBody>
          <a:bodyPr wrap="square" rtlCol="0">
            <a:spAutoFit/>
          </a:bodyPr>
          <a:lstStyle/>
          <a:p>
            <a:pPr algn="r"/>
            <a:r>
              <a:rPr lang="en-US" sz="2400" b="1" dirty="0">
                <a:solidFill>
                  <a:schemeClr val="accent6">
                    <a:lumMod val="75000"/>
                  </a:schemeClr>
                </a:solidFill>
                <a:latin typeface="Consolas" panose="020B0609020204030204" pitchFamily="49" charset="0"/>
                <a:cs typeface="Consolas" panose="020B0609020204030204" pitchFamily="49" charset="0"/>
              </a:rPr>
              <a:t>This</a:t>
            </a:r>
            <a:r>
              <a:rPr lang="en-US" sz="2400" b="1" dirty="0">
                <a:latin typeface="Consolas" panose="020B0609020204030204" pitchFamily="49" charset="0"/>
                <a:cs typeface="Consolas" panose="020B0609020204030204" pitchFamily="49" charset="0"/>
              </a:rPr>
              <a:t>, </a:t>
            </a:r>
            <a:r>
              <a:rPr lang="en-US" sz="2400" b="1" dirty="0">
                <a:solidFill>
                  <a:schemeClr val="accent6">
                    <a:lumMod val="75000"/>
                  </a:schemeClr>
                </a:solidFill>
                <a:latin typeface="Consolas" panose="020B0609020204030204" pitchFamily="49" charset="0"/>
                <a:cs typeface="Consolas" panose="020B0609020204030204" pitchFamily="49" charset="0"/>
              </a:rPr>
              <a:t>is</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English</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a:t>
            </a:r>
          </a:p>
        </p:txBody>
      </p:sp>
      <p:sp>
        <p:nvSpPr>
          <p:cNvPr id="15" name="TextBox 14">
            <a:extLst>
              <a:ext uri="{FF2B5EF4-FFF2-40B4-BE49-F238E27FC236}">
                <a16:creationId xmlns:a16="http://schemas.microsoft.com/office/drawing/2014/main" id="{88EE981F-C6D0-3540-9768-99AE9E78D929}"/>
              </a:ext>
            </a:extLst>
          </p:cNvPr>
          <p:cNvSpPr txBox="1"/>
          <p:nvPr/>
        </p:nvSpPr>
        <p:spPr>
          <a:xfrm>
            <a:off x="5040304" y="2309454"/>
            <a:ext cx="3962400" cy="461665"/>
          </a:xfrm>
          <a:prstGeom prst="rect">
            <a:avLst/>
          </a:prstGeom>
          <a:noFill/>
        </p:spPr>
        <p:txBody>
          <a:bodyPr wrap="square" rtlCol="0">
            <a:spAutoFit/>
          </a:bodyPr>
          <a:lstStyle/>
          <a:p>
            <a:pPr algn="r"/>
            <a:r>
              <a:rPr lang="en-US" sz="2400" b="1" dirty="0">
                <a:solidFill>
                  <a:schemeClr val="accent6">
                    <a:lumMod val="75000"/>
                  </a:schemeClr>
                </a:solidFill>
                <a:latin typeface="Consolas" panose="020B0609020204030204" pitchFamily="49" charset="0"/>
                <a:cs typeface="Consolas" panose="020B0609020204030204" pitchFamily="49" charset="0"/>
              </a:rPr>
              <a:t>void</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main</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a:t>
            </a:r>
          </a:p>
        </p:txBody>
      </p:sp>
      <p:sp>
        <p:nvSpPr>
          <p:cNvPr id="16" name="TextBox 15">
            <a:extLst>
              <a:ext uri="{FF2B5EF4-FFF2-40B4-BE49-F238E27FC236}">
                <a16:creationId xmlns:a16="http://schemas.microsoft.com/office/drawing/2014/main" id="{AFEDEBB5-0E97-B245-AA36-B9A17230F7BD}"/>
              </a:ext>
            </a:extLst>
          </p:cNvPr>
          <p:cNvSpPr txBox="1"/>
          <p:nvPr/>
        </p:nvSpPr>
        <p:spPr>
          <a:xfrm>
            <a:off x="5040304" y="3846612"/>
            <a:ext cx="3962400" cy="461665"/>
          </a:xfrm>
          <a:prstGeom prst="rect">
            <a:avLst/>
          </a:prstGeom>
          <a:noFill/>
        </p:spPr>
        <p:txBody>
          <a:bodyPr wrap="square" rtlCol="0">
            <a:spAutoFit/>
          </a:bodyPr>
          <a:lstStyle/>
          <a:p>
            <a:pPr algn="r"/>
            <a:r>
              <a:rPr lang="en-US" sz="2400" b="1" dirty="0">
                <a:solidFill>
                  <a:schemeClr val="accent6">
                    <a:lumMod val="75000"/>
                  </a:schemeClr>
                </a:solidFill>
                <a:latin typeface="Consolas" panose="020B0609020204030204" pitchFamily="49" charset="0"/>
                <a:cs typeface="Consolas" panose="020B0609020204030204" pitchFamily="49" charset="0"/>
              </a:rPr>
              <a:t>if</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&lt;</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class</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a:t>
            </a:r>
          </a:p>
        </p:txBody>
      </p:sp>
      <p:sp>
        <p:nvSpPr>
          <p:cNvPr id="17" name="TextBox 16">
            <a:extLst>
              <a:ext uri="{FF2B5EF4-FFF2-40B4-BE49-F238E27FC236}">
                <a16:creationId xmlns:a16="http://schemas.microsoft.com/office/drawing/2014/main" id="{49F57D87-D4F2-AD4F-B45C-EBCC0F2789EB}"/>
              </a:ext>
            </a:extLst>
          </p:cNvPr>
          <p:cNvSpPr txBox="1"/>
          <p:nvPr/>
        </p:nvSpPr>
        <p:spPr>
          <a:xfrm>
            <a:off x="4803851" y="3071454"/>
            <a:ext cx="4107162" cy="461665"/>
          </a:xfrm>
          <a:prstGeom prst="rect">
            <a:avLst/>
          </a:prstGeom>
          <a:noFill/>
        </p:spPr>
        <p:txBody>
          <a:bodyPr wrap="square" rtlCol="0">
            <a:spAutoFit/>
          </a:bodyPr>
          <a:lstStyle/>
          <a:p>
            <a:pPr algn="r"/>
            <a:r>
              <a:rPr lang="en-US" sz="2400" b="1" dirty="0">
                <a:solidFill>
                  <a:srgbClr val="FF0000"/>
                </a:solidFill>
              </a:rPr>
              <a:t>error:</a:t>
            </a:r>
            <a:r>
              <a:rPr lang="en-US" sz="2400" dirty="0"/>
              <a:t> unclosed string literal</a:t>
            </a:r>
          </a:p>
        </p:txBody>
      </p:sp>
      <p:sp>
        <p:nvSpPr>
          <p:cNvPr id="18" name="Right Arrow 17">
            <a:extLst>
              <a:ext uri="{FF2B5EF4-FFF2-40B4-BE49-F238E27FC236}">
                <a16:creationId xmlns:a16="http://schemas.microsoft.com/office/drawing/2014/main" id="{846D437D-05AC-9043-B3F7-7BA0E4C827B2}"/>
              </a:ext>
            </a:extLst>
          </p:cNvPr>
          <p:cNvSpPr/>
          <p:nvPr/>
        </p:nvSpPr>
        <p:spPr>
          <a:xfrm>
            <a:off x="3684069" y="1639414"/>
            <a:ext cx="990600" cy="304057"/>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a:extLst>
              <a:ext uri="{FF2B5EF4-FFF2-40B4-BE49-F238E27FC236}">
                <a16:creationId xmlns:a16="http://schemas.microsoft.com/office/drawing/2014/main" id="{53D6B1F0-25F8-5C45-AB85-0ECC44B05B8C}"/>
              </a:ext>
            </a:extLst>
          </p:cNvPr>
          <p:cNvSpPr/>
          <p:nvPr/>
        </p:nvSpPr>
        <p:spPr>
          <a:xfrm>
            <a:off x="3675246" y="2401415"/>
            <a:ext cx="990600" cy="304057"/>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9675E0DA-0353-0F4A-A31F-34C336A93363}"/>
              </a:ext>
            </a:extLst>
          </p:cNvPr>
          <p:cNvSpPr/>
          <p:nvPr/>
        </p:nvSpPr>
        <p:spPr>
          <a:xfrm>
            <a:off x="3666423" y="3163416"/>
            <a:ext cx="990600" cy="304057"/>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ight Arrow 20">
            <a:extLst>
              <a:ext uri="{FF2B5EF4-FFF2-40B4-BE49-F238E27FC236}">
                <a16:creationId xmlns:a16="http://schemas.microsoft.com/office/drawing/2014/main" id="{6058C14E-6856-4642-9E13-F23B596FA99F}"/>
              </a:ext>
            </a:extLst>
          </p:cNvPr>
          <p:cNvSpPr/>
          <p:nvPr/>
        </p:nvSpPr>
        <p:spPr>
          <a:xfrm>
            <a:off x="3657600" y="3925417"/>
            <a:ext cx="990600" cy="304057"/>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C2BA3F9-229A-E14C-878F-5BE4388A2395}"/>
              </a:ext>
            </a:extLst>
          </p:cNvPr>
          <p:cNvSpPr txBox="1"/>
          <p:nvPr/>
        </p:nvSpPr>
        <p:spPr>
          <a:xfrm>
            <a:off x="838200" y="4619682"/>
            <a:ext cx="7467600" cy="769441"/>
          </a:xfrm>
          <a:prstGeom prst="rect">
            <a:avLst/>
          </a:prstGeom>
          <a:noFill/>
        </p:spPr>
        <p:txBody>
          <a:bodyPr wrap="square" rtlCol="0">
            <a:spAutoFit/>
          </a:bodyPr>
          <a:lstStyle/>
          <a:p>
            <a:pPr algn="ctr"/>
            <a:r>
              <a:rPr lang="en-US" sz="2200" dirty="0"/>
              <a:t>this last one is nonsense, but the </a:t>
            </a:r>
            <a:r>
              <a:rPr lang="en-US" sz="2200" dirty="0" err="1"/>
              <a:t>lexer</a:t>
            </a:r>
            <a:r>
              <a:rPr lang="en-US" sz="2200" dirty="0"/>
              <a:t> doesn't know that. that's the responsibility of…</a:t>
            </a:r>
          </a:p>
        </p:txBody>
      </p:sp>
    </p:spTree>
    <p:extLst>
      <p:ext uri="{BB962C8B-B14F-4D97-AF65-F5344CB8AC3E}">
        <p14:creationId xmlns:p14="http://schemas.microsoft.com/office/powerpoint/2010/main" val="176517518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0" grpId="0"/>
      <p:bldP spid="13" grpId="0"/>
      <p:bldP spid="14" grpId="0"/>
      <p:bldP spid="15" grpId="0"/>
      <p:bldP spid="16" grpId="0"/>
      <p:bldP spid="17" grpId="0"/>
      <p:bldP spid="18" grpId="0" animBg="1"/>
      <p:bldP spid="19" grpId="0" animBg="1"/>
      <p:bldP spid="20" grpId="0" animBg="1"/>
      <p:bldP spid="21" grpId="0" animBg="1"/>
      <p:bldP spid="2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F376D-8C2A-8548-A068-AAD3614FF5F7}"/>
              </a:ext>
            </a:extLst>
          </p:cNvPr>
          <p:cNvSpPr>
            <a:spLocks noGrp="1"/>
          </p:cNvSpPr>
          <p:nvPr>
            <p:ph type="title"/>
          </p:nvPr>
        </p:nvSpPr>
        <p:spPr/>
        <p:txBody>
          <a:bodyPr/>
          <a:lstStyle/>
          <a:p>
            <a:r>
              <a:rPr lang="en-US" dirty="0"/>
              <a:t>Frontend step 2: Syntactic Analysis (Parsing)</a:t>
            </a:r>
          </a:p>
        </p:txBody>
      </p:sp>
      <p:sp>
        <p:nvSpPr>
          <p:cNvPr id="3" name="Content Placeholder 2">
            <a:extLst>
              <a:ext uri="{FF2B5EF4-FFF2-40B4-BE49-F238E27FC236}">
                <a16:creationId xmlns:a16="http://schemas.microsoft.com/office/drawing/2014/main" id="{37E38407-D89D-7342-A57E-1A29C3869B48}"/>
              </a:ext>
            </a:extLst>
          </p:cNvPr>
          <p:cNvSpPr>
            <a:spLocks noGrp="1"/>
          </p:cNvSpPr>
          <p:nvPr>
            <p:ph idx="1"/>
          </p:nvPr>
        </p:nvSpPr>
        <p:spPr>
          <a:xfrm>
            <a:off x="152400" y="495301"/>
            <a:ext cx="8991600" cy="838199"/>
          </a:xfrm>
        </p:spPr>
        <p:txBody>
          <a:bodyPr/>
          <a:lstStyle/>
          <a:p>
            <a:r>
              <a:rPr lang="en-US" b="1" dirty="0"/>
              <a:t>parsing </a:t>
            </a:r>
            <a:r>
              <a:rPr lang="en-US" dirty="0"/>
              <a:t>takes the </a:t>
            </a:r>
            <a:r>
              <a:rPr lang="en-US" dirty="0" err="1"/>
              <a:t>lexed</a:t>
            </a:r>
            <a:r>
              <a:rPr lang="en-US" dirty="0"/>
              <a:t> tokens and extracts </a:t>
            </a:r>
            <a:r>
              <a:rPr lang="en-US" b="1" dirty="0"/>
              <a:t>structure </a:t>
            </a:r>
            <a:r>
              <a:rPr lang="en-US" dirty="0"/>
              <a:t>from them.</a:t>
            </a:r>
          </a:p>
          <a:p>
            <a:r>
              <a:rPr lang="en-US" dirty="0"/>
              <a:t>a language's </a:t>
            </a:r>
            <a:r>
              <a:rPr lang="en-US" b="1" dirty="0"/>
              <a:t>grammar </a:t>
            </a:r>
            <a:r>
              <a:rPr lang="en-US" dirty="0"/>
              <a:t>defines the rules of these structures.</a:t>
            </a:r>
          </a:p>
        </p:txBody>
      </p:sp>
      <p:sp>
        <p:nvSpPr>
          <p:cNvPr id="4" name="Slide Number Placeholder 3">
            <a:extLst>
              <a:ext uri="{FF2B5EF4-FFF2-40B4-BE49-F238E27FC236}">
                <a16:creationId xmlns:a16="http://schemas.microsoft.com/office/drawing/2014/main" id="{17BBEC1C-31E3-C04D-868A-BF6D23E1F219}"/>
              </a:ext>
            </a:extLst>
          </p:cNvPr>
          <p:cNvSpPr>
            <a:spLocks noGrp="1"/>
          </p:cNvSpPr>
          <p:nvPr>
            <p:ph type="sldNum" sz="quarter" idx="12"/>
          </p:nvPr>
        </p:nvSpPr>
        <p:spPr/>
        <p:txBody>
          <a:bodyPr/>
          <a:lstStyle/>
          <a:p>
            <a:fld id="{3552B95B-556F-44BD-91A5-D80C1B9E2BB3}" type="slidenum">
              <a:rPr lang="en-US" smtClean="0"/>
              <a:pPr/>
              <a:t>23</a:t>
            </a:fld>
            <a:endParaRPr lang="en-US"/>
          </a:p>
        </p:txBody>
      </p:sp>
      <p:sp>
        <p:nvSpPr>
          <p:cNvPr id="7" name="TextBox 6">
            <a:extLst>
              <a:ext uri="{FF2B5EF4-FFF2-40B4-BE49-F238E27FC236}">
                <a16:creationId xmlns:a16="http://schemas.microsoft.com/office/drawing/2014/main" id="{F2C47055-4966-9742-9D16-74474EA6B8D9}"/>
              </a:ext>
            </a:extLst>
          </p:cNvPr>
          <p:cNvSpPr txBox="1"/>
          <p:nvPr/>
        </p:nvSpPr>
        <p:spPr>
          <a:xfrm>
            <a:off x="0" y="3364713"/>
            <a:ext cx="4101590" cy="584775"/>
          </a:xfrm>
          <a:prstGeom prst="rect">
            <a:avLst/>
          </a:prstGeom>
          <a:noFill/>
        </p:spPr>
        <p:txBody>
          <a:bodyPr wrap="square" rtlCol="0">
            <a:spAutoFit/>
          </a:bodyPr>
          <a:lstStyle/>
          <a:p>
            <a:pPr algn="ctr"/>
            <a:r>
              <a:rPr lang="en-US" sz="3200" dirty="0"/>
              <a:t>The cat stares at me.</a:t>
            </a:r>
          </a:p>
        </p:txBody>
      </p:sp>
      <p:grpSp>
        <p:nvGrpSpPr>
          <p:cNvPr id="43" name="Group 42">
            <a:extLst>
              <a:ext uri="{FF2B5EF4-FFF2-40B4-BE49-F238E27FC236}">
                <a16:creationId xmlns:a16="http://schemas.microsoft.com/office/drawing/2014/main" id="{A28B32F3-F031-D24E-8F24-D3FCF3A66B97}"/>
              </a:ext>
            </a:extLst>
          </p:cNvPr>
          <p:cNvGrpSpPr/>
          <p:nvPr/>
        </p:nvGrpSpPr>
        <p:grpSpPr>
          <a:xfrm>
            <a:off x="381000" y="3037454"/>
            <a:ext cx="3352753" cy="308418"/>
            <a:chOff x="533400" y="3138220"/>
            <a:chExt cx="3352753" cy="308418"/>
          </a:xfrm>
        </p:grpSpPr>
        <p:sp>
          <p:nvSpPr>
            <p:cNvPr id="10" name="TextBox 9">
              <a:extLst>
                <a:ext uri="{FF2B5EF4-FFF2-40B4-BE49-F238E27FC236}">
                  <a16:creationId xmlns:a16="http://schemas.microsoft.com/office/drawing/2014/main" id="{9F876B0D-8194-1B43-B7FD-3E02B132C67F}"/>
                </a:ext>
              </a:extLst>
            </p:cNvPr>
            <p:cNvSpPr txBox="1"/>
            <p:nvPr/>
          </p:nvSpPr>
          <p:spPr>
            <a:xfrm>
              <a:off x="2213762" y="3138220"/>
              <a:ext cx="296876" cy="308418"/>
            </a:xfrm>
            <a:prstGeom prst="rect">
              <a:avLst/>
            </a:prstGeom>
            <a:noFill/>
          </p:spPr>
          <p:txBody>
            <a:bodyPr wrap="none" rtlCol="0">
              <a:spAutoFit/>
            </a:bodyPr>
            <a:lstStyle/>
            <a:p>
              <a:r>
                <a:rPr lang="en-US" dirty="0"/>
                <a:t>V</a:t>
              </a:r>
            </a:p>
          </p:txBody>
        </p:sp>
        <p:sp>
          <p:nvSpPr>
            <p:cNvPr id="12" name="TextBox 11">
              <a:extLst>
                <a:ext uri="{FF2B5EF4-FFF2-40B4-BE49-F238E27FC236}">
                  <a16:creationId xmlns:a16="http://schemas.microsoft.com/office/drawing/2014/main" id="{580FF2EB-0E97-494D-97DA-9D80A00EA5D8}"/>
                </a:ext>
              </a:extLst>
            </p:cNvPr>
            <p:cNvSpPr txBox="1"/>
            <p:nvPr/>
          </p:nvSpPr>
          <p:spPr>
            <a:xfrm>
              <a:off x="2773027" y="3138220"/>
              <a:ext cx="585417" cy="308418"/>
            </a:xfrm>
            <a:prstGeom prst="rect">
              <a:avLst/>
            </a:prstGeom>
            <a:noFill/>
          </p:spPr>
          <p:txBody>
            <a:bodyPr wrap="none" rtlCol="0">
              <a:spAutoFit/>
            </a:bodyPr>
            <a:lstStyle/>
            <a:p>
              <a:r>
                <a:rPr lang="en-US" dirty="0"/>
                <a:t>PREP</a:t>
              </a:r>
            </a:p>
          </p:txBody>
        </p:sp>
        <p:sp>
          <p:nvSpPr>
            <p:cNvPr id="13" name="TextBox 12">
              <a:extLst>
                <a:ext uri="{FF2B5EF4-FFF2-40B4-BE49-F238E27FC236}">
                  <a16:creationId xmlns:a16="http://schemas.microsoft.com/office/drawing/2014/main" id="{EC525C13-3FDB-2F4C-9F8E-7B78EBB9B0F4}"/>
                </a:ext>
              </a:extLst>
            </p:cNvPr>
            <p:cNvSpPr txBox="1"/>
            <p:nvPr/>
          </p:nvSpPr>
          <p:spPr>
            <a:xfrm>
              <a:off x="3358444" y="3138220"/>
              <a:ext cx="527709" cy="308418"/>
            </a:xfrm>
            <a:prstGeom prst="rect">
              <a:avLst/>
            </a:prstGeom>
            <a:noFill/>
          </p:spPr>
          <p:txBody>
            <a:bodyPr wrap="none" rtlCol="0">
              <a:spAutoFit/>
            </a:bodyPr>
            <a:lstStyle/>
            <a:p>
              <a:r>
                <a:rPr lang="en-US" dirty="0"/>
                <a:t>PRN</a:t>
              </a:r>
            </a:p>
          </p:txBody>
        </p:sp>
        <p:sp>
          <p:nvSpPr>
            <p:cNvPr id="14" name="TextBox 13">
              <a:extLst>
                <a:ext uri="{FF2B5EF4-FFF2-40B4-BE49-F238E27FC236}">
                  <a16:creationId xmlns:a16="http://schemas.microsoft.com/office/drawing/2014/main" id="{B5264A1F-72F9-A741-B83C-392528DE8701}"/>
                </a:ext>
              </a:extLst>
            </p:cNvPr>
            <p:cNvSpPr txBox="1"/>
            <p:nvPr/>
          </p:nvSpPr>
          <p:spPr>
            <a:xfrm>
              <a:off x="533400" y="3138220"/>
              <a:ext cx="497380" cy="308418"/>
            </a:xfrm>
            <a:prstGeom prst="rect">
              <a:avLst/>
            </a:prstGeom>
            <a:noFill/>
          </p:spPr>
          <p:txBody>
            <a:bodyPr wrap="square" rtlCol="0">
              <a:spAutoFit/>
            </a:bodyPr>
            <a:lstStyle/>
            <a:p>
              <a:r>
                <a:rPr lang="en-US" dirty="0"/>
                <a:t>ART</a:t>
              </a:r>
            </a:p>
          </p:txBody>
        </p:sp>
        <p:sp>
          <p:nvSpPr>
            <p:cNvPr id="15" name="TextBox 14">
              <a:extLst>
                <a:ext uri="{FF2B5EF4-FFF2-40B4-BE49-F238E27FC236}">
                  <a16:creationId xmlns:a16="http://schemas.microsoft.com/office/drawing/2014/main" id="{F20F9FE2-59E0-9D4C-8068-E4214535C861}"/>
                </a:ext>
              </a:extLst>
            </p:cNvPr>
            <p:cNvSpPr txBox="1"/>
            <p:nvPr/>
          </p:nvSpPr>
          <p:spPr>
            <a:xfrm>
              <a:off x="1238565" y="3138220"/>
              <a:ext cx="319318" cy="308418"/>
            </a:xfrm>
            <a:prstGeom prst="rect">
              <a:avLst/>
            </a:prstGeom>
            <a:noFill/>
          </p:spPr>
          <p:txBody>
            <a:bodyPr wrap="none" rtlCol="0">
              <a:spAutoFit/>
            </a:bodyPr>
            <a:lstStyle/>
            <a:p>
              <a:r>
                <a:rPr lang="en-US" dirty="0"/>
                <a:t>N</a:t>
              </a:r>
            </a:p>
          </p:txBody>
        </p:sp>
      </p:grpSp>
      <p:grpSp>
        <p:nvGrpSpPr>
          <p:cNvPr id="44" name="Group 43">
            <a:extLst>
              <a:ext uri="{FF2B5EF4-FFF2-40B4-BE49-F238E27FC236}">
                <a16:creationId xmlns:a16="http://schemas.microsoft.com/office/drawing/2014/main" id="{D705A4D5-AA2F-484B-908B-93826D2D6A58}"/>
              </a:ext>
            </a:extLst>
          </p:cNvPr>
          <p:cNvGrpSpPr/>
          <p:nvPr/>
        </p:nvGrpSpPr>
        <p:grpSpPr>
          <a:xfrm>
            <a:off x="733124" y="1562100"/>
            <a:ext cx="2714324" cy="1513471"/>
            <a:chOff x="885524" y="1662866"/>
            <a:chExt cx="2714324" cy="1513471"/>
          </a:xfrm>
        </p:grpSpPr>
        <p:sp>
          <p:nvSpPr>
            <p:cNvPr id="8" name="TextBox 7">
              <a:extLst>
                <a:ext uri="{FF2B5EF4-FFF2-40B4-BE49-F238E27FC236}">
                  <a16:creationId xmlns:a16="http://schemas.microsoft.com/office/drawing/2014/main" id="{21EEBE6A-CECD-C94F-B3E3-0ADAFC79FBCB}"/>
                </a:ext>
              </a:extLst>
            </p:cNvPr>
            <p:cNvSpPr txBox="1"/>
            <p:nvPr/>
          </p:nvSpPr>
          <p:spPr>
            <a:xfrm>
              <a:off x="928024" y="2609069"/>
              <a:ext cx="420308" cy="308418"/>
            </a:xfrm>
            <a:prstGeom prst="rect">
              <a:avLst/>
            </a:prstGeom>
            <a:noFill/>
          </p:spPr>
          <p:txBody>
            <a:bodyPr wrap="none" rtlCol="0">
              <a:spAutoFit/>
            </a:bodyPr>
            <a:lstStyle/>
            <a:p>
              <a:r>
                <a:rPr lang="en-US" dirty="0"/>
                <a:t>NP</a:t>
              </a:r>
            </a:p>
          </p:txBody>
        </p:sp>
        <p:sp>
          <p:nvSpPr>
            <p:cNvPr id="9" name="TextBox 8">
              <a:extLst>
                <a:ext uri="{FF2B5EF4-FFF2-40B4-BE49-F238E27FC236}">
                  <a16:creationId xmlns:a16="http://schemas.microsoft.com/office/drawing/2014/main" id="{2FBBA4A9-8F1A-2148-834F-9D9B07B235ED}"/>
                </a:ext>
              </a:extLst>
            </p:cNvPr>
            <p:cNvSpPr txBox="1"/>
            <p:nvPr/>
          </p:nvSpPr>
          <p:spPr>
            <a:xfrm>
              <a:off x="2667869" y="2268362"/>
              <a:ext cx="397866" cy="308418"/>
            </a:xfrm>
            <a:prstGeom prst="rect">
              <a:avLst/>
            </a:prstGeom>
            <a:noFill/>
          </p:spPr>
          <p:txBody>
            <a:bodyPr wrap="none" rtlCol="0">
              <a:spAutoFit/>
            </a:bodyPr>
            <a:lstStyle/>
            <a:p>
              <a:r>
                <a:rPr lang="en-US" dirty="0"/>
                <a:t>VP</a:t>
              </a:r>
            </a:p>
          </p:txBody>
        </p:sp>
        <p:sp>
          <p:nvSpPr>
            <p:cNvPr id="11" name="TextBox 10">
              <a:extLst>
                <a:ext uri="{FF2B5EF4-FFF2-40B4-BE49-F238E27FC236}">
                  <a16:creationId xmlns:a16="http://schemas.microsoft.com/office/drawing/2014/main" id="{AEEC2408-3ACF-3647-BECF-E99B419770F4}"/>
                </a:ext>
              </a:extLst>
            </p:cNvPr>
            <p:cNvSpPr txBox="1"/>
            <p:nvPr/>
          </p:nvSpPr>
          <p:spPr>
            <a:xfrm>
              <a:off x="3165122" y="2609069"/>
              <a:ext cx="386644" cy="308418"/>
            </a:xfrm>
            <a:prstGeom prst="rect">
              <a:avLst/>
            </a:prstGeom>
            <a:noFill/>
          </p:spPr>
          <p:txBody>
            <a:bodyPr wrap="none" rtlCol="0">
              <a:spAutoFit/>
            </a:bodyPr>
            <a:lstStyle/>
            <a:p>
              <a:r>
                <a:rPr lang="en-US" dirty="0"/>
                <a:t>PP</a:t>
              </a:r>
            </a:p>
          </p:txBody>
        </p:sp>
        <p:sp>
          <p:nvSpPr>
            <p:cNvPr id="16" name="TextBox 15">
              <a:extLst>
                <a:ext uri="{FF2B5EF4-FFF2-40B4-BE49-F238E27FC236}">
                  <a16:creationId xmlns:a16="http://schemas.microsoft.com/office/drawing/2014/main" id="{00C9DDEC-917A-0D47-AC9F-04E55552688A}"/>
                </a:ext>
              </a:extLst>
            </p:cNvPr>
            <p:cNvSpPr txBox="1"/>
            <p:nvPr/>
          </p:nvSpPr>
          <p:spPr>
            <a:xfrm>
              <a:off x="1805329" y="1662866"/>
              <a:ext cx="280846" cy="308418"/>
            </a:xfrm>
            <a:prstGeom prst="rect">
              <a:avLst/>
            </a:prstGeom>
            <a:noFill/>
          </p:spPr>
          <p:txBody>
            <a:bodyPr wrap="none" rtlCol="0">
              <a:spAutoFit/>
            </a:bodyPr>
            <a:lstStyle/>
            <a:p>
              <a:r>
                <a:rPr lang="en-US" dirty="0"/>
                <a:t>S</a:t>
              </a:r>
            </a:p>
          </p:txBody>
        </p:sp>
        <p:cxnSp>
          <p:nvCxnSpPr>
            <p:cNvPr id="18" name="Straight Connector 17">
              <a:extLst>
                <a:ext uri="{FF2B5EF4-FFF2-40B4-BE49-F238E27FC236}">
                  <a16:creationId xmlns:a16="http://schemas.microsoft.com/office/drawing/2014/main" id="{E90DD858-5EF5-6C42-90C9-D01A4F8C278E}"/>
                </a:ext>
              </a:extLst>
            </p:cNvPr>
            <p:cNvCxnSpPr/>
            <p:nvPr/>
          </p:nvCxnSpPr>
          <p:spPr>
            <a:xfrm flipH="1">
              <a:off x="1280160" y="1971284"/>
              <a:ext cx="525169" cy="6179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9301A33-E538-2144-A505-C4B7DFF21F62}"/>
                </a:ext>
              </a:extLst>
            </p:cNvPr>
            <p:cNvCxnSpPr>
              <a:cxnSpLocks/>
            </p:cNvCxnSpPr>
            <p:nvPr/>
          </p:nvCxnSpPr>
          <p:spPr>
            <a:xfrm flipH="1">
              <a:off x="885524" y="2878192"/>
              <a:ext cx="165040" cy="2981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E6FA1B1-634F-964D-AABA-543114939500}"/>
                </a:ext>
              </a:extLst>
            </p:cNvPr>
            <p:cNvCxnSpPr>
              <a:cxnSpLocks/>
            </p:cNvCxnSpPr>
            <p:nvPr/>
          </p:nvCxnSpPr>
          <p:spPr>
            <a:xfrm>
              <a:off x="1232034" y="2849078"/>
              <a:ext cx="144379" cy="308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59ACFB2-7D3F-3D40-8EA6-ABA63A132369}"/>
                </a:ext>
              </a:extLst>
            </p:cNvPr>
            <p:cNvCxnSpPr>
              <a:cxnSpLocks/>
            </p:cNvCxnSpPr>
            <p:nvPr/>
          </p:nvCxnSpPr>
          <p:spPr>
            <a:xfrm>
              <a:off x="2079057" y="1934678"/>
              <a:ext cx="606391" cy="4042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B9AAA0FC-A6EA-B54D-8629-E5AE7F8EEE53}"/>
                </a:ext>
              </a:extLst>
            </p:cNvPr>
            <p:cNvCxnSpPr>
              <a:cxnSpLocks/>
            </p:cNvCxnSpPr>
            <p:nvPr/>
          </p:nvCxnSpPr>
          <p:spPr>
            <a:xfrm>
              <a:off x="2974206" y="2473693"/>
              <a:ext cx="279133" cy="1540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D1605CE-5AC1-7046-ADBB-4C0F208F74A7}"/>
                </a:ext>
              </a:extLst>
            </p:cNvPr>
            <p:cNvCxnSpPr>
              <a:cxnSpLocks/>
            </p:cNvCxnSpPr>
            <p:nvPr/>
          </p:nvCxnSpPr>
          <p:spPr>
            <a:xfrm flipH="1">
              <a:off x="2387065" y="2560320"/>
              <a:ext cx="385011" cy="55826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907C32-CFA5-F441-A0D5-A12361015133}"/>
                </a:ext>
              </a:extLst>
            </p:cNvPr>
            <p:cNvCxnSpPr>
              <a:cxnSpLocks/>
            </p:cNvCxnSpPr>
            <p:nvPr/>
          </p:nvCxnSpPr>
          <p:spPr>
            <a:xfrm flipH="1">
              <a:off x="3060835" y="2868328"/>
              <a:ext cx="202129" cy="2791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7540B6F-918F-604A-9590-DDC045FF60DE}"/>
                </a:ext>
              </a:extLst>
            </p:cNvPr>
            <p:cNvCxnSpPr>
              <a:cxnSpLocks/>
            </p:cNvCxnSpPr>
            <p:nvPr/>
          </p:nvCxnSpPr>
          <p:spPr>
            <a:xfrm>
              <a:off x="3426594" y="2877954"/>
              <a:ext cx="173254" cy="2983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5" name="TextBox 44">
            <a:extLst>
              <a:ext uri="{FF2B5EF4-FFF2-40B4-BE49-F238E27FC236}">
                <a16:creationId xmlns:a16="http://schemas.microsoft.com/office/drawing/2014/main" id="{49DE2F8F-3382-114F-B472-62DD2B0D89E3}"/>
              </a:ext>
            </a:extLst>
          </p:cNvPr>
          <p:cNvSpPr txBox="1"/>
          <p:nvPr/>
        </p:nvSpPr>
        <p:spPr>
          <a:xfrm>
            <a:off x="4267200" y="3365901"/>
            <a:ext cx="4724400" cy="584775"/>
          </a:xfrm>
          <a:prstGeom prst="rect">
            <a:avLst/>
          </a:prstGeom>
          <a:noFill/>
        </p:spPr>
        <p:txBody>
          <a:bodyPr wrap="square" rtlCol="0">
            <a:spAutoFit/>
          </a:bodyPr>
          <a:lstStyle/>
          <a:p>
            <a:r>
              <a:rPr lang="en-US" sz="3200" b="1" dirty="0">
                <a:solidFill>
                  <a:srgbClr val="FF0000"/>
                </a:solidFill>
                <a:latin typeface="Consolas" panose="020B0609020204030204" pitchFamily="49" charset="0"/>
                <a:cs typeface="Consolas" panose="020B0609020204030204" pitchFamily="49" charset="0"/>
              </a:rPr>
              <a:t>if</a:t>
            </a:r>
            <a:r>
              <a:rPr lang="en-US" sz="3200" b="1" dirty="0">
                <a:latin typeface="Consolas" panose="020B0609020204030204" pitchFamily="49" charset="0"/>
                <a:cs typeface="Consolas" panose="020B0609020204030204" pitchFamily="49" charset="0"/>
              </a:rPr>
              <a:t>(x) y(); </a:t>
            </a:r>
            <a:r>
              <a:rPr lang="en-US" sz="3200" b="1" dirty="0">
                <a:solidFill>
                  <a:srgbClr val="FF0000"/>
                </a:solidFill>
                <a:latin typeface="Consolas" panose="020B0609020204030204" pitchFamily="49" charset="0"/>
                <a:cs typeface="Consolas" panose="020B0609020204030204" pitchFamily="49" charset="0"/>
              </a:rPr>
              <a:t>else</a:t>
            </a:r>
            <a:r>
              <a:rPr lang="en-US" sz="3200" b="1" dirty="0">
                <a:latin typeface="Consolas" panose="020B0609020204030204" pitchFamily="49" charset="0"/>
                <a:cs typeface="Consolas" panose="020B0609020204030204" pitchFamily="49" charset="0"/>
              </a:rPr>
              <a:t> z();</a:t>
            </a:r>
          </a:p>
        </p:txBody>
      </p:sp>
      <p:grpSp>
        <p:nvGrpSpPr>
          <p:cNvPr id="74" name="Group 73">
            <a:extLst>
              <a:ext uri="{FF2B5EF4-FFF2-40B4-BE49-F238E27FC236}">
                <a16:creationId xmlns:a16="http://schemas.microsoft.com/office/drawing/2014/main" id="{EBAD16D3-92E0-434C-B333-E67A8E0B66D6}"/>
              </a:ext>
            </a:extLst>
          </p:cNvPr>
          <p:cNvGrpSpPr/>
          <p:nvPr/>
        </p:nvGrpSpPr>
        <p:grpSpPr>
          <a:xfrm>
            <a:off x="4911960" y="1525494"/>
            <a:ext cx="3643314" cy="1882666"/>
            <a:chOff x="4911960" y="1525494"/>
            <a:chExt cx="3643314" cy="1882666"/>
          </a:xfrm>
        </p:grpSpPr>
        <p:sp>
          <p:nvSpPr>
            <p:cNvPr id="47" name="TextBox 46">
              <a:extLst>
                <a:ext uri="{FF2B5EF4-FFF2-40B4-BE49-F238E27FC236}">
                  <a16:creationId xmlns:a16="http://schemas.microsoft.com/office/drawing/2014/main" id="{4A103A79-56F1-9D4D-B27C-3B5468B35B09}"/>
                </a:ext>
              </a:extLst>
            </p:cNvPr>
            <p:cNvSpPr txBox="1"/>
            <p:nvPr/>
          </p:nvSpPr>
          <p:spPr>
            <a:xfrm>
              <a:off x="4911960" y="3099742"/>
              <a:ext cx="359394" cy="308418"/>
            </a:xfrm>
            <a:prstGeom prst="rect">
              <a:avLst/>
            </a:prstGeom>
            <a:noFill/>
          </p:spPr>
          <p:txBody>
            <a:bodyPr wrap="none" rtlCol="0">
              <a:spAutoFit/>
            </a:bodyPr>
            <a:lstStyle/>
            <a:p>
              <a:pPr algn="ctr"/>
              <a:r>
                <a:rPr lang="en-US" dirty="0"/>
                <a:t>ID</a:t>
              </a:r>
            </a:p>
          </p:txBody>
        </p:sp>
        <p:sp>
          <p:nvSpPr>
            <p:cNvPr id="48" name="TextBox 47">
              <a:extLst>
                <a:ext uri="{FF2B5EF4-FFF2-40B4-BE49-F238E27FC236}">
                  <a16:creationId xmlns:a16="http://schemas.microsoft.com/office/drawing/2014/main" id="{C71A0B1C-C31A-2844-A771-7CEA3882F8ED}"/>
                </a:ext>
              </a:extLst>
            </p:cNvPr>
            <p:cNvSpPr txBox="1"/>
            <p:nvPr/>
          </p:nvSpPr>
          <p:spPr>
            <a:xfrm>
              <a:off x="5693480" y="2476014"/>
              <a:ext cx="582211" cy="308418"/>
            </a:xfrm>
            <a:prstGeom prst="rect">
              <a:avLst/>
            </a:prstGeom>
            <a:noFill/>
          </p:spPr>
          <p:txBody>
            <a:bodyPr wrap="none" rtlCol="0">
              <a:spAutoFit/>
            </a:bodyPr>
            <a:lstStyle/>
            <a:p>
              <a:r>
                <a:rPr lang="en-US" dirty="0"/>
                <a:t>CALL</a:t>
              </a:r>
            </a:p>
          </p:txBody>
        </p:sp>
        <p:sp>
          <p:nvSpPr>
            <p:cNvPr id="49" name="TextBox 48">
              <a:extLst>
                <a:ext uri="{FF2B5EF4-FFF2-40B4-BE49-F238E27FC236}">
                  <a16:creationId xmlns:a16="http://schemas.microsoft.com/office/drawing/2014/main" id="{271ACFA1-7A30-954E-9281-D653EBD18ECE}"/>
                </a:ext>
              </a:extLst>
            </p:cNvPr>
            <p:cNvSpPr txBox="1"/>
            <p:nvPr/>
          </p:nvSpPr>
          <p:spPr>
            <a:xfrm>
              <a:off x="5550170" y="3099742"/>
              <a:ext cx="359394" cy="308418"/>
            </a:xfrm>
            <a:prstGeom prst="rect">
              <a:avLst/>
            </a:prstGeom>
            <a:noFill/>
          </p:spPr>
          <p:txBody>
            <a:bodyPr wrap="none" rtlCol="0">
              <a:spAutoFit/>
            </a:bodyPr>
            <a:lstStyle/>
            <a:p>
              <a:pPr algn="ctr"/>
              <a:r>
                <a:rPr lang="en-US" dirty="0"/>
                <a:t>ID</a:t>
              </a:r>
            </a:p>
          </p:txBody>
        </p:sp>
        <p:cxnSp>
          <p:nvCxnSpPr>
            <p:cNvPr id="53" name="Straight Connector 52">
              <a:extLst>
                <a:ext uri="{FF2B5EF4-FFF2-40B4-BE49-F238E27FC236}">
                  <a16:creationId xmlns:a16="http://schemas.microsoft.com/office/drawing/2014/main" id="{6671F9A0-70A3-F94E-8331-3FCE6BBBFA71}"/>
                </a:ext>
              </a:extLst>
            </p:cNvPr>
            <p:cNvCxnSpPr>
              <a:cxnSpLocks/>
            </p:cNvCxnSpPr>
            <p:nvPr/>
          </p:nvCxnSpPr>
          <p:spPr>
            <a:xfrm flipH="1">
              <a:off x="5727032" y="2791326"/>
              <a:ext cx="173254" cy="2983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9B291611-C3C8-4E48-ACA0-BE0A4194C4F9}"/>
                </a:ext>
              </a:extLst>
            </p:cNvPr>
            <p:cNvCxnSpPr>
              <a:cxnSpLocks/>
            </p:cNvCxnSpPr>
            <p:nvPr/>
          </p:nvCxnSpPr>
          <p:spPr>
            <a:xfrm>
              <a:off x="6006164" y="2800952"/>
              <a:ext cx="115503" cy="308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B0FDAFCB-088C-3C4E-B6E1-30B61C1DE0BC}"/>
                </a:ext>
              </a:extLst>
            </p:cNvPr>
            <p:cNvSpPr txBox="1"/>
            <p:nvPr/>
          </p:nvSpPr>
          <p:spPr>
            <a:xfrm>
              <a:off x="5974832" y="3099742"/>
              <a:ext cx="293670" cy="308418"/>
            </a:xfrm>
            <a:prstGeom prst="rect">
              <a:avLst/>
            </a:prstGeom>
            <a:noFill/>
          </p:spPr>
          <p:txBody>
            <a:bodyPr wrap="none" rtlCol="0">
              <a:spAutoFit/>
            </a:bodyPr>
            <a:lstStyle/>
            <a:p>
              <a:pPr algn="ctr"/>
              <a:r>
                <a:rPr lang="en-US" dirty="0"/>
                <a:t>[]</a:t>
              </a:r>
            </a:p>
          </p:txBody>
        </p:sp>
        <p:sp>
          <p:nvSpPr>
            <p:cNvPr id="61" name="TextBox 60">
              <a:extLst>
                <a:ext uri="{FF2B5EF4-FFF2-40B4-BE49-F238E27FC236}">
                  <a16:creationId xmlns:a16="http://schemas.microsoft.com/office/drawing/2014/main" id="{958A09E8-0EF9-BE44-840F-503F453215C0}"/>
                </a:ext>
              </a:extLst>
            </p:cNvPr>
            <p:cNvSpPr txBox="1"/>
            <p:nvPr/>
          </p:nvSpPr>
          <p:spPr>
            <a:xfrm>
              <a:off x="7973063" y="2492534"/>
              <a:ext cx="582211" cy="308418"/>
            </a:xfrm>
            <a:prstGeom prst="rect">
              <a:avLst/>
            </a:prstGeom>
            <a:noFill/>
          </p:spPr>
          <p:txBody>
            <a:bodyPr wrap="none" rtlCol="0">
              <a:spAutoFit/>
            </a:bodyPr>
            <a:lstStyle/>
            <a:p>
              <a:r>
                <a:rPr lang="en-US" dirty="0"/>
                <a:t>CALL</a:t>
              </a:r>
            </a:p>
          </p:txBody>
        </p:sp>
        <p:sp>
          <p:nvSpPr>
            <p:cNvPr id="62" name="TextBox 61">
              <a:extLst>
                <a:ext uri="{FF2B5EF4-FFF2-40B4-BE49-F238E27FC236}">
                  <a16:creationId xmlns:a16="http://schemas.microsoft.com/office/drawing/2014/main" id="{F12E99AF-7CF6-E54C-8DB1-E70235DFC3C5}"/>
                </a:ext>
              </a:extLst>
            </p:cNvPr>
            <p:cNvSpPr txBox="1"/>
            <p:nvPr/>
          </p:nvSpPr>
          <p:spPr>
            <a:xfrm>
              <a:off x="7829753" y="3099742"/>
              <a:ext cx="359394" cy="308418"/>
            </a:xfrm>
            <a:prstGeom prst="rect">
              <a:avLst/>
            </a:prstGeom>
            <a:noFill/>
          </p:spPr>
          <p:txBody>
            <a:bodyPr wrap="none" rtlCol="0">
              <a:spAutoFit/>
            </a:bodyPr>
            <a:lstStyle/>
            <a:p>
              <a:pPr algn="ctr"/>
              <a:r>
                <a:rPr lang="en-US" dirty="0"/>
                <a:t>ID</a:t>
              </a:r>
            </a:p>
          </p:txBody>
        </p:sp>
        <p:cxnSp>
          <p:nvCxnSpPr>
            <p:cNvPr id="63" name="Straight Connector 62">
              <a:extLst>
                <a:ext uri="{FF2B5EF4-FFF2-40B4-BE49-F238E27FC236}">
                  <a16:creationId xmlns:a16="http://schemas.microsoft.com/office/drawing/2014/main" id="{6B2CFD7F-6FE7-AE4F-812F-3796E06F445F}"/>
                </a:ext>
              </a:extLst>
            </p:cNvPr>
            <p:cNvCxnSpPr>
              <a:cxnSpLocks/>
            </p:cNvCxnSpPr>
            <p:nvPr/>
          </p:nvCxnSpPr>
          <p:spPr>
            <a:xfrm flipH="1">
              <a:off x="8006615" y="2807846"/>
              <a:ext cx="173254" cy="2983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BC3DB2B-D374-DE4A-86EF-20AED29EA4C7}"/>
                </a:ext>
              </a:extLst>
            </p:cNvPr>
            <p:cNvCxnSpPr>
              <a:cxnSpLocks/>
            </p:cNvCxnSpPr>
            <p:nvPr/>
          </p:nvCxnSpPr>
          <p:spPr>
            <a:xfrm>
              <a:off x="8285747" y="2817472"/>
              <a:ext cx="115503" cy="3080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C92866DD-ECBF-DD4F-B3AF-01D73317AAA4}"/>
                </a:ext>
              </a:extLst>
            </p:cNvPr>
            <p:cNvSpPr txBox="1"/>
            <p:nvPr/>
          </p:nvSpPr>
          <p:spPr>
            <a:xfrm>
              <a:off x="8254415" y="3099742"/>
              <a:ext cx="293670" cy="308418"/>
            </a:xfrm>
            <a:prstGeom prst="rect">
              <a:avLst/>
            </a:prstGeom>
            <a:noFill/>
          </p:spPr>
          <p:txBody>
            <a:bodyPr wrap="none" rtlCol="0">
              <a:spAutoFit/>
            </a:bodyPr>
            <a:lstStyle/>
            <a:p>
              <a:pPr algn="ctr"/>
              <a:r>
                <a:rPr lang="en-US" dirty="0"/>
                <a:t>[]</a:t>
              </a:r>
            </a:p>
          </p:txBody>
        </p:sp>
        <p:sp>
          <p:nvSpPr>
            <p:cNvPr id="66" name="TextBox 65">
              <a:extLst>
                <a:ext uri="{FF2B5EF4-FFF2-40B4-BE49-F238E27FC236}">
                  <a16:creationId xmlns:a16="http://schemas.microsoft.com/office/drawing/2014/main" id="{F0B46093-E762-A347-AB44-A02ADE0BA750}"/>
                </a:ext>
              </a:extLst>
            </p:cNvPr>
            <p:cNvSpPr txBox="1"/>
            <p:nvPr/>
          </p:nvSpPr>
          <p:spPr>
            <a:xfrm>
              <a:off x="5719755" y="1525494"/>
              <a:ext cx="756938" cy="308418"/>
            </a:xfrm>
            <a:prstGeom prst="rect">
              <a:avLst/>
            </a:prstGeom>
            <a:noFill/>
          </p:spPr>
          <p:txBody>
            <a:bodyPr wrap="none" rtlCol="0">
              <a:spAutoFit/>
            </a:bodyPr>
            <a:lstStyle/>
            <a:p>
              <a:r>
                <a:rPr lang="en-US" dirty="0"/>
                <a:t>IF-ELSE</a:t>
              </a:r>
            </a:p>
          </p:txBody>
        </p:sp>
        <p:cxnSp>
          <p:nvCxnSpPr>
            <p:cNvPr id="67" name="Straight Connector 66">
              <a:extLst>
                <a:ext uri="{FF2B5EF4-FFF2-40B4-BE49-F238E27FC236}">
                  <a16:creationId xmlns:a16="http://schemas.microsoft.com/office/drawing/2014/main" id="{497D1791-06FB-894B-B3D4-4FCDA1808B44}"/>
                </a:ext>
              </a:extLst>
            </p:cNvPr>
            <p:cNvCxnSpPr>
              <a:cxnSpLocks/>
            </p:cNvCxnSpPr>
            <p:nvPr/>
          </p:nvCxnSpPr>
          <p:spPr>
            <a:xfrm flipH="1">
              <a:off x="5120640" y="1817223"/>
              <a:ext cx="693019" cy="12917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FE7388F-5235-1146-A6D5-3E63BDED690C}"/>
                </a:ext>
              </a:extLst>
            </p:cNvPr>
            <p:cNvCxnSpPr>
              <a:cxnSpLocks/>
            </p:cNvCxnSpPr>
            <p:nvPr/>
          </p:nvCxnSpPr>
          <p:spPr>
            <a:xfrm flipH="1">
              <a:off x="5948413" y="1833743"/>
              <a:ext cx="96944" cy="6688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04EABFF2-4527-2048-AE7C-EF4EFAC9A400}"/>
                </a:ext>
              </a:extLst>
            </p:cNvPr>
            <p:cNvCxnSpPr>
              <a:cxnSpLocks/>
            </p:cNvCxnSpPr>
            <p:nvPr/>
          </p:nvCxnSpPr>
          <p:spPr>
            <a:xfrm>
              <a:off x="6231477" y="1819743"/>
              <a:ext cx="1805618" cy="7309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5" name="TextBox 74">
            <a:extLst>
              <a:ext uri="{FF2B5EF4-FFF2-40B4-BE49-F238E27FC236}">
                <a16:creationId xmlns:a16="http://schemas.microsoft.com/office/drawing/2014/main" id="{1B237C4F-9058-D04E-8B8F-FF56C9A5F88F}"/>
              </a:ext>
            </a:extLst>
          </p:cNvPr>
          <p:cNvSpPr txBox="1"/>
          <p:nvPr/>
        </p:nvSpPr>
        <p:spPr>
          <a:xfrm>
            <a:off x="840606" y="4040742"/>
            <a:ext cx="7467600" cy="769441"/>
          </a:xfrm>
          <a:prstGeom prst="rect">
            <a:avLst/>
          </a:prstGeom>
          <a:noFill/>
        </p:spPr>
        <p:txBody>
          <a:bodyPr wrap="square" rtlCol="0">
            <a:spAutoFit/>
          </a:bodyPr>
          <a:lstStyle/>
          <a:p>
            <a:pPr algn="ctr"/>
            <a:r>
              <a:rPr lang="en-US" sz="2200" dirty="0"/>
              <a:t>this is where you get syntactic errors, like "missing semicolon" or "unexpected closing </a:t>
            </a:r>
            <a:r>
              <a:rPr lang="en-US" sz="2200" dirty="0" err="1"/>
              <a:t>paren</a:t>
            </a:r>
            <a:r>
              <a:rPr lang="en-US" sz="2200" dirty="0"/>
              <a:t>" or whatever.</a:t>
            </a:r>
          </a:p>
        </p:txBody>
      </p:sp>
      <p:sp>
        <p:nvSpPr>
          <p:cNvPr id="76" name="TextBox 75">
            <a:extLst>
              <a:ext uri="{FF2B5EF4-FFF2-40B4-BE49-F238E27FC236}">
                <a16:creationId xmlns:a16="http://schemas.microsoft.com/office/drawing/2014/main" id="{5F8BBCB7-22E2-0346-9572-483B3AAEE895}"/>
              </a:ext>
            </a:extLst>
          </p:cNvPr>
          <p:cNvSpPr txBox="1"/>
          <p:nvPr/>
        </p:nvSpPr>
        <p:spPr>
          <a:xfrm>
            <a:off x="1676400" y="4814619"/>
            <a:ext cx="5943600" cy="769441"/>
          </a:xfrm>
          <a:prstGeom prst="rect">
            <a:avLst/>
          </a:prstGeom>
          <a:noFill/>
        </p:spPr>
        <p:txBody>
          <a:bodyPr wrap="square" rtlCol="0">
            <a:spAutoFit/>
          </a:bodyPr>
          <a:lstStyle/>
          <a:p>
            <a:pPr algn="ctr"/>
            <a:r>
              <a:rPr lang="en-US" sz="2200" dirty="0"/>
              <a:t>the result is an </a:t>
            </a:r>
            <a:r>
              <a:rPr lang="en-US" sz="2200" b="1" dirty="0"/>
              <a:t>AST: Abstract Syntax Tree. </a:t>
            </a:r>
            <a:r>
              <a:rPr lang="en-US" sz="2200" dirty="0"/>
              <a:t>but this just </a:t>
            </a:r>
            <a:r>
              <a:rPr lang="en-US" sz="2200" i="1" dirty="0"/>
              <a:t>looks</a:t>
            </a:r>
            <a:r>
              <a:rPr lang="en-US" sz="2200" dirty="0"/>
              <a:t> like a program. is it one?</a:t>
            </a:r>
          </a:p>
        </p:txBody>
      </p:sp>
    </p:spTree>
    <p:extLst>
      <p:ext uri="{BB962C8B-B14F-4D97-AF65-F5344CB8AC3E}">
        <p14:creationId xmlns:p14="http://schemas.microsoft.com/office/powerpoint/2010/main" val="121951975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1" nodeType="clickEffect">
                                  <p:stCondLst>
                                    <p:cond delay="0"/>
                                  </p:stCondLst>
                                  <p:childTnLst>
                                    <p:set>
                                      <p:cBhvr>
                                        <p:cTn id="26" dur="1" fill="hold">
                                          <p:stCondLst>
                                            <p:cond delay="0"/>
                                          </p:stCondLst>
                                        </p:cTn>
                                        <p:tgtEl>
                                          <p:spTgt spid="7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1" nodeType="clickEffect">
                                  <p:stCondLst>
                                    <p:cond delay="0"/>
                                  </p:stCondLst>
                                  <p:childTnLst>
                                    <p:set>
                                      <p:cBhvr>
                                        <p:cTn id="30"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1"/>
      <p:bldP spid="45" grpId="1"/>
      <p:bldP spid="75" grpId="1"/>
      <p:bldP spid="76"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F3BE9-244E-9543-B90B-1642AE6BE8F6}"/>
              </a:ext>
            </a:extLst>
          </p:cNvPr>
          <p:cNvSpPr>
            <a:spLocks noGrp="1"/>
          </p:cNvSpPr>
          <p:nvPr>
            <p:ph type="title"/>
          </p:nvPr>
        </p:nvSpPr>
        <p:spPr/>
        <p:txBody>
          <a:bodyPr/>
          <a:lstStyle/>
          <a:p>
            <a:r>
              <a:rPr lang="en-US" dirty="0"/>
              <a:t>Frontend step 3: Semantic Analysis</a:t>
            </a:r>
          </a:p>
        </p:txBody>
      </p:sp>
      <p:sp>
        <p:nvSpPr>
          <p:cNvPr id="3" name="Content Placeholder 2">
            <a:extLst>
              <a:ext uri="{FF2B5EF4-FFF2-40B4-BE49-F238E27FC236}">
                <a16:creationId xmlns:a16="http://schemas.microsoft.com/office/drawing/2014/main" id="{3E72B847-B0B0-3E49-9E14-64B20C24BA9C}"/>
              </a:ext>
            </a:extLst>
          </p:cNvPr>
          <p:cNvSpPr>
            <a:spLocks noGrp="1"/>
          </p:cNvSpPr>
          <p:nvPr>
            <p:ph idx="1"/>
          </p:nvPr>
        </p:nvSpPr>
        <p:spPr>
          <a:xfrm>
            <a:off x="152400" y="495301"/>
            <a:ext cx="8991600" cy="838199"/>
          </a:xfrm>
        </p:spPr>
        <p:txBody>
          <a:bodyPr/>
          <a:lstStyle/>
          <a:p>
            <a:r>
              <a:rPr lang="en-US" dirty="0"/>
              <a:t>this checks for "correctness" according to the rules of the language.</a:t>
            </a:r>
          </a:p>
          <a:p>
            <a:pPr lvl="1"/>
            <a:r>
              <a:rPr lang="en-US" dirty="0"/>
              <a:t>things like type checking, name usage, privacy…</a:t>
            </a:r>
          </a:p>
        </p:txBody>
      </p:sp>
      <p:sp>
        <p:nvSpPr>
          <p:cNvPr id="4" name="Slide Number Placeholder 3">
            <a:extLst>
              <a:ext uri="{FF2B5EF4-FFF2-40B4-BE49-F238E27FC236}">
                <a16:creationId xmlns:a16="http://schemas.microsoft.com/office/drawing/2014/main" id="{E6D3CFA6-7545-C547-B870-DD85B4734771}"/>
              </a:ext>
            </a:extLst>
          </p:cNvPr>
          <p:cNvSpPr>
            <a:spLocks noGrp="1"/>
          </p:cNvSpPr>
          <p:nvPr>
            <p:ph type="sldNum" sz="quarter" idx="12"/>
          </p:nvPr>
        </p:nvSpPr>
        <p:spPr/>
        <p:txBody>
          <a:bodyPr/>
          <a:lstStyle/>
          <a:p>
            <a:fld id="{3552B95B-556F-44BD-91A5-D80C1B9E2BB3}" type="slidenum">
              <a:rPr lang="en-US" smtClean="0"/>
              <a:pPr/>
              <a:t>24</a:t>
            </a:fld>
            <a:endParaRPr lang="en-US"/>
          </a:p>
        </p:txBody>
      </p:sp>
      <p:sp>
        <p:nvSpPr>
          <p:cNvPr id="5" name="TextBox 4">
            <a:extLst>
              <a:ext uri="{FF2B5EF4-FFF2-40B4-BE49-F238E27FC236}">
                <a16:creationId xmlns:a16="http://schemas.microsoft.com/office/drawing/2014/main" id="{D28E7FBE-80A9-464F-A475-C315729AD18E}"/>
              </a:ext>
            </a:extLst>
          </p:cNvPr>
          <p:cNvSpPr txBox="1"/>
          <p:nvPr/>
        </p:nvSpPr>
        <p:spPr>
          <a:xfrm>
            <a:off x="1524000" y="1333500"/>
            <a:ext cx="6096000" cy="461665"/>
          </a:xfrm>
          <a:prstGeom prst="rect">
            <a:avLst/>
          </a:prstGeom>
          <a:noFill/>
        </p:spPr>
        <p:txBody>
          <a:bodyPr wrap="square" rtlCol="0">
            <a:spAutoFit/>
          </a:bodyPr>
          <a:lstStyle/>
          <a:p>
            <a:pPr algn="ctr"/>
            <a:r>
              <a:rPr lang="en-US" sz="2400" b="1" dirty="0"/>
              <a:t>Colorless green dreams sleep furiously.</a:t>
            </a:r>
          </a:p>
        </p:txBody>
      </p:sp>
      <p:sp>
        <p:nvSpPr>
          <p:cNvPr id="7" name="TextBox 6">
            <a:extLst>
              <a:ext uri="{FF2B5EF4-FFF2-40B4-BE49-F238E27FC236}">
                <a16:creationId xmlns:a16="http://schemas.microsoft.com/office/drawing/2014/main" id="{5D963D53-736B-E947-B6CF-07A95B888E04}"/>
              </a:ext>
            </a:extLst>
          </p:cNvPr>
          <p:cNvSpPr txBox="1"/>
          <p:nvPr/>
        </p:nvSpPr>
        <p:spPr>
          <a:xfrm>
            <a:off x="1752600" y="1739104"/>
            <a:ext cx="5638800" cy="430887"/>
          </a:xfrm>
          <a:prstGeom prst="rect">
            <a:avLst/>
          </a:prstGeom>
          <a:noFill/>
        </p:spPr>
        <p:txBody>
          <a:bodyPr wrap="square" rtlCol="0">
            <a:spAutoFit/>
          </a:bodyPr>
          <a:lstStyle/>
          <a:p>
            <a:pPr algn="ctr"/>
            <a:r>
              <a:rPr lang="en-US" sz="2200" i="1" dirty="0"/>
              <a:t>(syntactically correct, but nonsense.)</a:t>
            </a:r>
          </a:p>
        </p:txBody>
      </p:sp>
      <p:sp>
        <p:nvSpPr>
          <p:cNvPr id="8" name="TextBox 7">
            <a:extLst>
              <a:ext uri="{FF2B5EF4-FFF2-40B4-BE49-F238E27FC236}">
                <a16:creationId xmlns:a16="http://schemas.microsoft.com/office/drawing/2014/main" id="{2894821A-F6E0-7D44-81D3-E829457A28AF}"/>
              </a:ext>
            </a:extLst>
          </p:cNvPr>
          <p:cNvSpPr txBox="1"/>
          <p:nvPr/>
        </p:nvSpPr>
        <p:spPr>
          <a:xfrm>
            <a:off x="622810" y="2230711"/>
            <a:ext cx="2729990" cy="523220"/>
          </a:xfrm>
          <a:prstGeom prst="rect">
            <a:avLst/>
          </a:prstGeom>
          <a:noFill/>
        </p:spPr>
        <p:txBody>
          <a:bodyPr wrap="square" rtlCol="0">
            <a:spAutoFit/>
          </a:bodyPr>
          <a:lstStyle/>
          <a:p>
            <a:r>
              <a:rPr lang="en-US" sz="2800" b="1" dirty="0">
                <a:latin typeface="Consolas" panose="020B0609020204030204" pitchFamily="49" charset="0"/>
                <a:cs typeface="Consolas" panose="020B0609020204030204" pitchFamily="49" charset="0"/>
              </a:rPr>
              <a:t>x = </a:t>
            </a:r>
            <a:r>
              <a:rPr lang="en-US" sz="2800" b="1" dirty="0">
                <a:solidFill>
                  <a:schemeClr val="accent3">
                    <a:lumMod val="75000"/>
                  </a:schemeClr>
                </a:solidFill>
                <a:latin typeface="Consolas" panose="020B0609020204030204" pitchFamily="49" charset="0"/>
                <a:cs typeface="Consolas" panose="020B0609020204030204" pitchFamily="49" charset="0"/>
              </a:rPr>
              <a:t>10</a:t>
            </a:r>
            <a:r>
              <a:rPr lang="en-US" sz="2800" b="1" dirty="0">
                <a:latin typeface="Consolas" panose="020B0609020204030204" pitchFamily="49" charset="0"/>
                <a:cs typeface="Consolas" panose="020B0609020204030204" pitchFamily="49" charset="0"/>
              </a:rPr>
              <a:t>;</a:t>
            </a:r>
          </a:p>
        </p:txBody>
      </p:sp>
      <p:sp>
        <p:nvSpPr>
          <p:cNvPr id="9" name="TextBox 8">
            <a:extLst>
              <a:ext uri="{FF2B5EF4-FFF2-40B4-BE49-F238E27FC236}">
                <a16:creationId xmlns:a16="http://schemas.microsoft.com/office/drawing/2014/main" id="{A27F00BE-0DDD-C941-83A4-4000AEB49B70}"/>
              </a:ext>
            </a:extLst>
          </p:cNvPr>
          <p:cNvSpPr txBox="1"/>
          <p:nvPr/>
        </p:nvSpPr>
        <p:spPr>
          <a:xfrm>
            <a:off x="4272772" y="2261489"/>
            <a:ext cx="4724400" cy="461665"/>
          </a:xfrm>
          <a:prstGeom prst="rect">
            <a:avLst/>
          </a:prstGeom>
          <a:noFill/>
        </p:spPr>
        <p:txBody>
          <a:bodyPr wrap="square" rtlCol="0">
            <a:spAutoFit/>
          </a:bodyPr>
          <a:lstStyle/>
          <a:p>
            <a:r>
              <a:rPr lang="en-US" sz="2400" b="1" dirty="0">
                <a:solidFill>
                  <a:srgbClr val="FF0000"/>
                </a:solidFill>
              </a:rPr>
              <a:t>error:</a:t>
            </a:r>
            <a:r>
              <a:rPr lang="en-US" sz="2400" dirty="0"/>
              <a:t> undefined reference to 'x'</a:t>
            </a:r>
          </a:p>
        </p:txBody>
      </p:sp>
      <p:sp>
        <p:nvSpPr>
          <p:cNvPr id="10" name="Right Arrow 9">
            <a:extLst>
              <a:ext uri="{FF2B5EF4-FFF2-40B4-BE49-F238E27FC236}">
                <a16:creationId xmlns:a16="http://schemas.microsoft.com/office/drawing/2014/main" id="{C2B10578-6840-0F4B-99D4-002AFF42663C}"/>
              </a:ext>
            </a:extLst>
          </p:cNvPr>
          <p:cNvSpPr/>
          <p:nvPr/>
        </p:nvSpPr>
        <p:spPr>
          <a:xfrm>
            <a:off x="3124200" y="2340294"/>
            <a:ext cx="990600" cy="304057"/>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C330E8D-CF32-994A-A0D5-62FB7755BB0E}"/>
              </a:ext>
            </a:extLst>
          </p:cNvPr>
          <p:cNvSpPr txBox="1"/>
          <p:nvPr/>
        </p:nvSpPr>
        <p:spPr>
          <a:xfrm>
            <a:off x="612383" y="2788806"/>
            <a:ext cx="2729990" cy="523220"/>
          </a:xfrm>
          <a:prstGeom prst="rect">
            <a:avLst/>
          </a:prstGeom>
          <a:noFill/>
        </p:spPr>
        <p:txBody>
          <a:bodyPr wrap="square" rtlCol="0">
            <a:spAutoFit/>
          </a:bodyPr>
          <a:lstStyle/>
          <a:p>
            <a:r>
              <a:rPr lang="en-US" sz="2800" b="1" dirty="0">
                <a:solidFill>
                  <a:srgbClr val="FF0000"/>
                </a:solidFill>
                <a:latin typeface="Consolas" panose="020B0609020204030204" pitchFamily="49" charset="0"/>
                <a:cs typeface="Consolas" panose="020B0609020204030204" pitchFamily="49" charset="0"/>
              </a:rPr>
              <a:t>int</a:t>
            </a:r>
            <a:r>
              <a:rPr lang="en-US" sz="2800" b="1" dirty="0">
                <a:latin typeface="Consolas" panose="020B0609020204030204" pitchFamily="49" charset="0"/>
                <a:cs typeface="Consolas" panose="020B0609020204030204" pitchFamily="49" charset="0"/>
              </a:rPr>
              <a:t> x = </a:t>
            </a:r>
            <a:r>
              <a:rPr lang="en-US" sz="2800" b="1" dirty="0">
                <a:solidFill>
                  <a:schemeClr val="accent3">
                    <a:lumMod val="75000"/>
                  </a:schemeClr>
                </a:solidFill>
                <a:latin typeface="Consolas" panose="020B0609020204030204" pitchFamily="49" charset="0"/>
                <a:cs typeface="Consolas" panose="020B0609020204030204" pitchFamily="49" charset="0"/>
              </a:rPr>
              <a:t>1.0</a:t>
            </a:r>
            <a:r>
              <a:rPr lang="en-US" sz="2800" b="1" dirty="0">
                <a:latin typeface="Consolas" panose="020B0609020204030204" pitchFamily="49" charset="0"/>
                <a:cs typeface="Consolas" panose="020B0609020204030204" pitchFamily="49" charset="0"/>
              </a:rPr>
              <a:t>;</a:t>
            </a:r>
          </a:p>
        </p:txBody>
      </p:sp>
      <p:sp>
        <p:nvSpPr>
          <p:cNvPr id="12" name="TextBox 11">
            <a:extLst>
              <a:ext uri="{FF2B5EF4-FFF2-40B4-BE49-F238E27FC236}">
                <a16:creationId xmlns:a16="http://schemas.microsoft.com/office/drawing/2014/main" id="{A1CF6540-F11C-5D41-BF21-F63C0ACB43C7}"/>
              </a:ext>
            </a:extLst>
          </p:cNvPr>
          <p:cNvSpPr txBox="1"/>
          <p:nvPr/>
        </p:nvSpPr>
        <p:spPr>
          <a:xfrm>
            <a:off x="4272772" y="2819584"/>
            <a:ext cx="4724400" cy="461665"/>
          </a:xfrm>
          <a:prstGeom prst="rect">
            <a:avLst/>
          </a:prstGeom>
          <a:noFill/>
        </p:spPr>
        <p:txBody>
          <a:bodyPr wrap="square" rtlCol="0">
            <a:spAutoFit/>
          </a:bodyPr>
          <a:lstStyle/>
          <a:p>
            <a:r>
              <a:rPr lang="en-US" sz="2400" b="1" dirty="0">
                <a:solidFill>
                  <a:srgbClr val="FF0000"/>
                </a:solidFill>
              </a:rPr>
              <a:t>error:</a:t>
            </a:r>
            <a:r>
              <a:rPr lang="en-US" sz="2400" dirty="0"/>
              <a:t> possible loss of precision</a:t>
            </a:r>
          </a:p>
        </p:txBody>
      </p:sp>
      <p:sp>
        <p:nvSpPr>
          <p:cNvPr id="13" name="Right Arrow 12">
            <a:extLst>
              <a:ext uri="{FF2B5EF4-FFF2-40B4-BE49-F238E27FC236}">
                <a16:creationId xmlns:a16="http://schemas.microsoft.com/office/drawing/2014/main" id="{D0964D4D-07D3-CD4C-AC2B-C47F986B8611}"/>
              </a:ext>
            </a:extLst>
          </p:cNvPr>
          <p:cNvSpPr/>
          <p:nvPr/>
        </p:nvSpPr>
        <p:spPr>
          <a:xfrm>
            <a:off x="3124200" y="2898389"/>
            <a:ext cx="990600" cy="304057"/>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0FAFA5C-66C9-6D4B-8EAE-04BB2C44F104}"/>
              </a:ext>
            </a:extLst>
          </p:cNvPr>
          <p:cNvSpPr txBox="1"/>
          <p:nvPr/>
        </p:nvSpPr>
        <p:spPr>
          <a:xfrm>
            <a:off x="612383" y="3331328"/>
            <a:ext cx="2729990" cy="523220"/>
          </a:xfrm>
          <a:prstGeom prst="rect">
            <a:avLst/>
          </a:prstGeom>
          <a:noFill/>
        </p:spPr>
        <p:txBody>
          <a:bodyPr wrap="square" rtlCol="0">
            <a:spAutoFit/>
          </a:bodyPr>
          <a:lstStyle/>
          <a:p>
            <a:r>
              <a:rPr lang="en-US" sz="2800" b="1" dirty="0">
                <a:solidFill>
                  <a:srgbClr val="FF0000"/>
                </a:solidFill>
                <a:latin typeface="Consolas" panose="020B0609020204030204" pitchFamily="49" charset="0"/>
                <a:cs typeface="Consolas" panose="020B0609020204030204" pitchFamily="49" charset="0"/>
              </a:rPr>
              <a:t>int</a:t>
            </a:r>
            <a:r>
              <a:rPr lang="en-US" sz="2800" b="1" dirty="0">
                <a:latin typeface="Consolas" panose="020B0609020204030204" pitchFamily="49" charset="0"/>
                <a:cs typeface="Consolas" panose="020B0609020204030204" pitchFamily="49" charset="0"/>
              </a:rPr>
              <a:t> x = </a:t>
            </a:r>
            <a:r>
              <a:rPr lang="en-US" sz="2800" b="1" dirty="0">
                <a:solidFill>
                  <a:schemeClr val="accent3">
                    <a:lumMod val="75000"/>
                  </a:schemeClr>
                </a:solidFill>
                <a:latin typeface="Consolas" panose="020B0609020204030204" pitchFamily="49" charset="0"/>
                <a:cs typeface="Consolas" panose="020B0609020204030204" pitchFamily="49" charset="0"/>
              </a:rPr>
              <a:t>1</a:t>
            </a:r>
            <a:r>
              <a:rPr lang="en-US" sz="2800" b="1" dirty="0">
                <a:latin typeface="Consolas" panose="020B0609020204030204" pitchFamily="49" charset="0"/>
                <a:cs typeface="Consolas" panose="020B0609020204030204" pitchFamily="49" charset="0"/>
              </a:rPr>
              <a:t>;</a:t>
            </a:r>
          </a:p>
        </p:txBody>
      </p:sp>
      <p:sp>
        <p:nvSpPr>
          <p:cNvPr id="15" name="TextBox 14">
            <a:extLst>
              <a:ext uri="{FF2B5EF4-FFF2-40B4-BE49-F238E27FC236}">
                <a16:creationId xmlns:a16="http://schemas.microsoft.com/office/drawing/2014/main" id="{8112F6BB-3474-774F-8AC1-9139BD5A640F}"/>
              </a:ext>
            </a:extLst>
          </p:cNvPr>
          <p:cNvSpPr txBox="1"/>
          <p:nvPr/>
        </p:nvSpPr>
        <p:spPr>
          <a:xfrm>
            <a:off x="4272772" y="3362106"/>
            <a:ext cx="4724400" cy="461665"/>
          </a:xfrm>
          <a:prstGeom prst="rect">
            <a:avLst/>
          </a:prstGeom>
          <a:noFill/>
        </p:spPr>
        <p:txBody>
          <a:bodyPr wrap="square" rtlCol="0">
            <a:spAutoFit/>
          </a:bodyPr>
          <a:lstStyle/>
          <a:p>
            <a:r>
              <a:rPr lang="en-US" sz="2400" dirty="0"/>
              <a:t>👍</a:t>
            </a:r>
          </a:p>
        </p:txBody>
      </p:sp>
      <p:sp>
        <p:nvSpPr>
          <p:cNvPr id="16" name="Right Arrow 15">
            <a:extLst>
              <a:ext uri="{FF2B5EF4-FFF2-40B4-BE49-F238E27FC236}">
                <a16:creationId xmlns:a16="http://schemas.microsoft.com/office/drawing/2014/main" id="{73BEBA75-7840-344D-81C8-F813AC3B5EF4}"/>
              </a:ext>
            </a:extLst>
          </p:cNvPr>
          <p:cNvSpPr/>
          <p:nvPr/>
        </p:nvSpPr>
        <p:spPr>
          <a:xfrm>
            <a:off x="3124200" y="3440911"/>
            <a:ext cx="990600" cy="304057"/>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7C569ACC-8C1C-AB48-BE8D-1CAB1FBE0B92}"/>
              </a:ext>
            </a:extLst>
          </p:cNvPr>
          <p:cNvSpPr txBox="1"/>
          <p:nvPr/>
        </p:nvSpPr>
        <p:spPr>
          <a:xfrm>
            <a:off x="685800" y="3950664"/>
            <a:ext cx="7772400" cy="769441"/>
          </a:xfrm>
          <a:prstGeom prst="rect">
            <a:avLst/>
          </a:prstGeom>
          <a:noFill/>
        </p:spPr>
        <p:txBody>
          <a:bodyPr wrap="square" rtlCol="0">
            <a:spAutoFit/>
          </a:bodyPr>
          <a:lstStyle/>
          <a:p>
            <a:pPr algn="ctr"/>
            <a:r>
              <a:rPr lang="en-US" sz="2200" dirty="0"/>
              <a:t>I keep quoting "correctness" because it's </a:t>
            </a:r>
            <a:r>
              <a:rPr lang="en-US" sz="2200" i="1" dirty="0"/>
              <a:t>absolutely</a:t>
            </a:r>
            <a:r>
              <a:rPr lang="en-US" sz="2200" dirty="0"/>
              <a:t> possible to write </a:t>
            </a:r>
            <a:r>
              <a:rPr lang="en-US" sz="2200" b="1" dirty="0"/>
              <a:t>incorrect programs</a:t>
            </a:r>
            <a:r>
              <a:rPr lang="en-US" sz="2200" dirty="0"/>
              <a:t> that pass these checks.</a:t>
            </a:r>
          </a:p>
        </p:txBody>
      </p:sp>
      <p:sp>
        <p:nvSpPr>
          <p:cNvPr id="18" name="TextBox 17">
            <a:extLst>
              <a:ext uri="{FF2B5EF4-FFF2-40B4-BE49-F238E27FC236}">
                <a16:creationId xmlns:a16="http://schemas.microsoft.com/office/drawing/2014/main" id="{7C47190A-41A4-9C4F-8E21-C3D8BEB4FA6C}"/>
              </a:ext>
            </a:extLst>
          </p:cNvPr>
          <p:cNvSpPr txBox="1"/>
          <p:nvPr/>
        </p:nvSpPr>
        <p:spPr>
          <a:xfrm>
            <a:off x="762000" y="4817656"/>
            <a:ext cx="7772400" cy="430887"/>
          </a:xfrm>
          <a:prstGeom prst="rect">
            <a:avLst/>
          </a:prstGeom>
          <a:noFill/>
        </p:spPr>
        <p:txBody>
          <a:bodyPr wrap="square" rtlCol="0">
            <a:spAutoFit/>
          </a:bodyPr>
          <a:lstStyle/>
          <a:p>
            <a:pPr algn="ctr"/>
            <a:r>
              <a:rPr lang="en-US" sz="2200" dirty="0"/>
              <a:t>much PL research is about making these checks better!</a:t>
            </a:r>
          </a:p>
        </p:txBody>
      </p:sp>
    </p:spTree>
    <p:extLst>
      <p:ext uri="{BB962C8B-B14F-4D97-AF65-F5344CB8AC3E}">
        <p14:creationId xmlns:p14="http://schemas.microsoft.com/office/powerpoint/2010/main" val="39991751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0" grpId="0" animBg="1"/>
      <p:bldP spid="11" grpId="0"/>
      <p:bldP spid="12" grpId="0"/>
      <p:bldP spid="13" grpId="0" animBg="1"/>
      <p:bldP spid="14" grpId="0"/>
      <p:bldP spid="15" grpId="0"/>
      <p:bldP spid="16" grpId="0" animBg="1"/>
      <p:bldP spid="17" grpId="0"/>
      <p:bldP spid="1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C0060-B44C-C84D-A8E4-A469D55F2BBC}"/>
              </a:ext>
            </a:extLst>
          </p:cNvPr>
          <p:cNvSpPr>
            <a:spLocks noGrp="1"/>
          </p:cNvSpPr>
          <p:nvPr>
            <p:ph type="title"/>
          </p:nvPr>
        </p:nvSpPr>
        <p:spPr/>
        <p:txBody>
          <a:bodyPr/>
          <a:lstStyle/>
          <a:p>
            <a:r>
              <a:rPr lang="en-US" dirty="0"/>
              <a:t>Backend: optimization and code generation</a:t>
            </a:r>
          </a:p>
        </p:txBody>
      </p:sp>
      <p:sp>
        <p:nvSpPr>
          <p:cNvPr id="3" name="Content Placeholder 2">
            <a:extLst>
              <a:ext uri="{FF2B5EF4-FFF2-40B4-BE49-F238E27FC236}">
                <a16:creationId xmlns:a16="http://schemas.microsoft.com/office/drawing/2014/main" id="{512C14D8-8856-A248-8D8E-23C96CB5CB3E}"/>
              </a:ext>
            </a:extLst>
          </p:cNvPr>
          <p:cNvSpPr>
            <a:spLocks noGrp="1"/>
          </p:cNvSpPr>
          <p:nvPr>
            <p:ph idx="1"/>
          </p:nvPr>
        </p:nvSpPr>
        <p:spPr>
          <a:xfrm>
            <a:off x="152400" y="495301"/>
            <a:ext cx="8991600" cy="838199"/>
          </a:xfrm>
        </p:spPr>
        <p:txBody>
          <a:bodyPr/>
          <a:lstStyle/>
          <a:p>
            <a:r>
              <a:rPr lang="en-US" b="1" dirty="0"/>
              <a:t>optimization </a:t>
            </a:r>
            <a:r>
              <a:rPr lang="en-US" dirty="0"/>
              <a:t>rewrites the program to do the same things but faster.</a:t>
            </a:r>
          </a:p>
          <a:p>
            <a:r>
              <a:rPr lang="en-US" b="1" dirty="0" err="1"/>
              <a:t>codegen</a:t>
            </a:r>
            <a:r>
              <a:rPr lang="en-US" b="1" dirty="0"/>
              <a:t> </a:t>
            </a:r>
            <a:r>
              <a:rPr lang="en-US" dirty="0"/>
              <a:t>produces the target language code from the IR.</a:t>
            </a:r>
          </a:p>
        </p:txBody>
      </p:sp>
      <p:sp>
        <p:nvSpPr>
          <p:cNvPr id="4" name="Slide Number Placeholder 3">
            <a:extLst>
              <a:ext uri="{FF2B5EF4-FFF2-40B4-BE49-F238E27FC236}">
                <a16:creationId xmlns:a16="http://schemas.microsoft.com/office/drawing/2014/main" id="{A93B5926-EAD1-6B46-A670-3F187A739418}"/>
              </a:ext>
            </a:extLst>
          </p:cNvPr>
          <p:cNvSpPr>
            <a:spLocks noGrp="1"/>
          </p:cNvSpPr>
          <p:nvPr>
            <p:ph type="sldNum" sz="quarter" idx="12"/>
          </p:nvPr>
        </p:nvSpPr>
        <p:spPr/>
        <p:txBody>
          <a:bodyPr/>
          <a:lstStyle/>
          <a:p>
            <a:fld id="{3552B95B-556F-44BD-91A5-D80C1B9E2BB3}" type="slidenum">
              <a:rPr lang="en-US" smtClean="0"/>
              <a:pPr/>
              <a:t>25</a:t>
            </a:fld>
            <a:endParaRPr lang="en-US"/>
          </a:p>
        </p:txBody>
      </p:sp>
      <p:sp>
        <p:nvSpPr>
          <p:cNvPr id="6" name="TextBox 5">
            <a:extLst>
              <a:ext uri="{FF2B5EF4-FFF2-40B4-BE49-F238E27FC236}">
                <a16:creationId xmlns:a16="http://schemas.microsoft.com/office/drawing/2014/main" id="{89DD87FF-8203-884D-AE78-D24A21CAA399}"/>
              </a:ext>
            </a:extLst>
          </p:cNvPr>
          <p:cNvSpPr txBox="1"/>
          <p:nvPr/>
        </p:nvSpPr>
        <p:spPr>
          <a:xfrm>
            <a:off x="381000" y="1485900"/>
            <a:ext cx="3657600" cy="769441"/>
          </a:xfrm>
          <a:prstGeom prst="rect">
            <a:avLst/>
          </a:prstGeom>
          <a:noFill/>
        </p:spPr>
        <p:txBody>
          <a:bodyPr wrap="square" rtlCol="0">
            <a:spAutoFit/>
          </a:bodyPr>
          <a:lstStyle/>
          <a:p>
            <a:r>
              <a:rPr lang="en-US" sz="2200" b="1" dirty="0">
                <a:solidFill>
                  <a:srgbClr val="FF0000"/>
                </a:solidFill>
                <a:latin typeface="Consolas" panose="020B0609020204030204" pitchFamily="49" charset="0"/>
                <a:cs typeface="Consolas" panose="020B0609020204030204" pitchFamily="49" charset="0"/>
              </a:rPr>
              <a:t>for</a:t>
            </a:r>
            <a:r>
              <a:rPr lang="en-US" sz="2200" b="1" dirty="0">
                <a:latin typeface="Consolas" panose="020B0609020204030204" pitchFamily="49" charset="0"/>
                <a:cs typeface="Consolas" panose="020B0609020204030204" pitchFamily="49" charset="0"/>
              </a:rPr>
              <a:t>(i = </a:t>
            </a:r>
            <a:r>
              <a:rPr lang="en-US" sz="2200" b="1" dirty="0">
                <a:solidFill>
                  <a:schemeClr val="accent3">
                    <a:lumMod val="75000"/>
                  </a:schemeClr>
                </a:solidFill>
                <a:latin typeface="Consolas" panose="020B0609020204030204" pitchFamily="49" charset="0"/>
                <a:cs typeface="Consolas" panose="020B0609020204030204" pitchFamily="49" charset="0"/>
              </a:rPr>
              <a:t>0</a:t>
            </a:r>
            <a:r>
              <a:rPr lang="en-US" sz="2200" b="1" dirty="0">
                <a:latin typeface="Consolas" panose="020B0609020204030204" pitchFamily="49" charset="0"/>
                <a:cs typeface="Consolas" panose="020B0609020204030204" pitchFamily="49" charset="0"/>
              </a:rPr>
              <a:t>; i &lt; </a:t>
            </a:r>
            <a:r>
              <a:rPr lang="en-US" sz="2200" b="1" dirty="0">
                <a:solidFill>
                  <a:schemeClr val="accent3">
                    <a:lumMod val="75000"/>
                  </a:schemeClr>
                </a:solidFill>
                <a:latin typeface="Consolas" panose="020B0609020204030204" pitchFamily="49" charset="0"/>
                <a:cs typeface="Consolas" panose="020B0609020204030204" pitchFamily="49" charset="0"/>
              </a:rPr>
              <a:t>4</a:t>
            </a:r>
            <a:r>
              <a:rPr lang="en-US" sz="2200" b="1" dirty="0">
                <a:latin typeface="Consolas" panose="020B0609020204030204" pitchFamily="49" charset="0"/>
                <a:cs typeface="Consolas" panose="020B0609020204030204" pitchFamily="49" charset="0"/>
              </a:rPr>
              <a:t>; i++)</a:t>
            </a:r>
          </a:p>
          <a:p>
            <a:r>
              <a:rPr lang="en-US" sz="2200" b="1" dirty="0">
                <a:latin typeface="Consolas" panose="020B0609020204030204" pitchFamily="49" charset="0"/>
                <a:cs typeface="Consolas" panose="020B0609020204030204" pitchFamily="49" charset="0"/>
              </a:rPr>
              <a:t>  A[i] = B[i] + C[i];</a:t>
            </a:r>
          </a:p>
        </p:txBody>
      </p:sp>
      <p:sp>
        <p:nvSpPr>
          <p:cNvPr id="7" name="TextBox 6">
            <a:extLst>
              <a:ext uri="{FF2B5EF4-FFF2-40B4-BE49-F238E27FC236}">
                <a16:creationId xmlns:a16="http://schemas.microsoft.com/office/drawing/2014/main" id="{AA2CEEBC-8D5A-9744-B38F-F9EB497BB761}"/>
              </a:ext>
            </a:extLst>
          </p:cNvPr>
          <p:cNvSpPr txBox="1"/>
          <p:nvPr/>
        </p:nvSpPr>
        <p:spPr>
          <a:xfrm>
            <a:off x="609600" y="3009900"/>
            <a:ext cx="3200400" cy="1446550"/>
          </a:xfrm>
          <a:prstGeom prst="rect">
            <a:avLst/>
          </a:prstGeom>
          <a:noFill/>
        </p:spPr>
        <p:txBody>
          <a:bodyPr wrap="square" rtlCol="0">
            <a:spAutoFit/>
          </a:bodyPr>
          <a:lstStyle/>
          <a:p>
            <a:r>
              <a:rPr lang="en-US" sz="2200" b="1" dirty="0">
                <a:latin typeface="Consolas" panose="020B0609020204030204" pitchFamily="49" charset="0"/>
                <a:cs typeface="Consolas" panose="020B0609020204030204" pitchFamily="49" charset="0"/>
              </a:rPr>
              <a:t>A[</a:t>
            </a:r>
            <a:r>
              <a:rPr lang="en-US" sz="2200" b="1" dirty="0">
                <a:solidFill>
                  <a:schemeClr val="accent3">
                    <a:lumMod val="75000"/>
                  </a:schemeClr>
                </a:solidFill>
                <a:latin typeface="Consolas" panose="020B0609020204030204" pitchFamily="49" charset="0"/>
                <a:cs typeface="Consolas" panose="020B0609020204030204" pitchFamily="49" charset="0"/>
              </a:rPr>
              <a:t>0</a:t>
            </a:r>
            <a:r>
              <a:rPr lang="en-US" sz="2200" b="1" dirty="0">
                <a:latin typeface="Consolas" panose="020B0609020204030204" pitchFamily="49" charset="0"/>
                <a:cs typeface="Consolas" panose="020B0609020204030204" pitchFamily="49" charset="0"/>
              </a:rPr>
              <a:t>] = B[</a:t>
            </a:r>
            <a:r>
              <a:rPr lang="en-US" sz="2200" b="1" dirty="0">
                <a:solidFill>
                  <a:schemeClr val="accent3">
                    <a:lumMod val="75000"/>
                  </a:schemeClr>
                </a:solidFill>
                <a:latin typeface="Consolas" panose="020B0609020204030204" pitchFamily="49" charset="0"/>
                <a:cs typeface="Consolas" panose="020B0609020204030204" pitchFamily="49" charset="0"/>
              </a:rPr>
              <a:t>0</a:t>
            </a:r>
            <a:r>
              <a:rPr lang="en-US" sz="2200" b="1" dirty="0">
                <a:latin typeface="Consolas" panose="020B0609020204030204" pitchFamily="49" charset="0"/>
                <a:cs typeface="Consolas" panose="020B0609020204030204" pitchFamily="49" charset="0"/>
              </a:rPr>
              <a:t>] + C[</a:t>
            </a:r>
            <a:r>
              <a:rPr lang="en-US" sz="2200" b="1" dirty="0">
                <a:solidFill>
                  <a:schemeClr val="accent3">
                    <a:lumMod val="75000"/>
                  </a:schemeClr>
                </a:solidFill>
                <a:latin typeface="Consolas" panose="020B0609020204030204" pitchFamily="49" charset="0"/>
                <a:cs typeface="Consolas" panose="020B0609020204030204" pitchFamily="49" charset="0"/>
              </a:rPr>
              <a:t>0</a:t>
            </a:r>
            <a:r>
              <a:rPr lang="en-US" sz="2200" b="1" dirty="0">
                <a:latin typeface="Consolas" panose="020B0609020204030204" pitchFamily="49" charset="0"/>
                <a:cs typeface="Consolas" panose="020B0609020204030204" pitchFamily="49" charset="0"/>
              </a:rPr>
              <a:t>];</a:t>
            </a:r>
          </a:p>
          <a:p>
            <a:r>
              <a:rPr lang="en-US" sz="2200" b="1" dirty="0">
                <a:latin typeface="Consolas" panose="020B0609020204030204" pitchFamily="49" charset="0"/>
                <a:cs typeface="Consolas" panose="020B0609020204030204" pitchFamily="49" charset="0"/>
              </a:rPr>
              <a:t>A[</a:t>
            </a:r>
            <a:r>
              <a:rPr lang="en-US" sz="2200" b="1" dirty="0">
                <a:solidFill>
                  <a:schemeClr val="accent3">
                    <a:lumMod val="75000"/>
                  </a:schemeClr>
                </a:solidFill>
                <a:latin typeface="Consolas" panose="020B0609020204030204" pitchFamily="49" charset="0"/>
                <a:cs typeface="Consolas" panose="020B0609020204030204" pitchFamily="49" charset="0"/>
              </a:rPr>
              <a:t>1</a:t>
            </a:r>
            <a:r>
              <a:rPr lang="en-US" sz="2200" b="1" dirty="0">
                <a:latin typeface="Consolas" panose="020B0609020204030204" pitchFamily="49" charset="0"/>
                <a:cs typeface="Consolas" panose="020B0609020204030204" pitchFamily="49" charset="0"/>
              </a:rPr>
              <a:t>] = B[</a:t>
            </a:r>
            <a:r>
              <a:rPr lang="en-US" sz="2200" b="1" dirty="0">
                <a:solidFill>
                  <a:schemeClr val="accent3">
                    <a:lumMod val="75000"/>
                  </a:schemeClr>
                </a:solidFill>
                <a:latin typeface="Consolas" panose="020B0609020204030204" pitchFamily="49" charset="0"/>
                <a:cs typeface="Consolas" panose="020B0609020204030204" pitchFamily="49" charset="0"/>
              </a:rPr>
              <a:t>1</a:t>
            </a:r>
            <a:r>
              <a:rPr lang="en-US" sz="2200" b="1" dirty="0">
                <a:latin typeface="Consolas" panose="020B0609020204030204" pitchFamily="49" charset="0"/>
                <a:cs typeface="Consolas" panose="020B0609020204030204" pitchFamily="49" charset="0"/>
              </a:rPr>
              <a:t>] + C[</a:t>
            </a:r>
            <a:r>
              <a:rPr lang="en-US" sz="2200" b="1" dirty="0">
                <a:solidFill>
                  <a:schemeClr val="accent3">
                    <a:lumMod val="75000"/>
                  </a:schemeClr>
                </a:solidFill>
                <a:latin typeface="Consolas" panose="020B0609020204030204" pitchFamily="49" charset="0"/>
                <a:cs typeface="Consolas" panose="020B0609020204030204" pitchFamily="49" charset="0"/>
              </a:rPr>
              <a:t>1</a:t>
            </a:r>
            <a:r>
              <a:rPr lang="en-US" sz="2200" b="1" dirty="0">
                <a:latin typeface="Consolas" panose="020B0609020204030204" pitchFamily="49" charset="0"/>
                <a:cs typeface="Consolas" panose="020B0609020204030204" pitchFamily="49" charset="0"/>
              </a:rPr>
              <a:t>];</a:t>
            </a:r>
          </a:p>
          <a:p>
            <a:r>
              <a:rPr lang="en-US" sz="2200" b="1" dirty="0">
                <a:latin typeface="Consolas" panose="020B0609020204030204" pitchFamily="49" charset="0"/>
                <a:cs typeface="Consolas" panose="020B0609020204030204" pitchFamily="49" charset="0"/>
              </a:rPr>
              <a:t>A[</a:t>
            </a:r>
            <a:r>
              <a:rPr lang="en-US" sz="2200" b="1" dirty="0">
                <a:solidFill>
                  <a:schemeClr val="accent3">
                    <a:lumMod val="75000"/>
                  </a:schemeClr>
                </a:solidFill>
                <a:latin typeface="Consolas" panose="020B0609020204030204" pitchFamily="49" charset="0"/>
                <a:cs typeface="Consolas" panose="020B0609020204030204" pitchFamily="49" charset="0"/>
              </a:rPr>
              <a:t>2</a:t>
            </a:r>
            <a:r>
              <a:rPr lang="en-US" sz="2200" b="1" dirty="0">
                <a:latin typeface="Consolas" panose="020B0609020204030204" pitchFamily="49" charset="0"/>
                <a:cs typeface="Consolas" panose="020B0609020204030204" pitchFamily="49" charset="0"/>
              </a:rPr>
              <a:t>] = B[</a:t>
            </a:r>
            <a:r>
              <a:rPr lang="en-US" sz="2200" b="1" dirty="0">
                <a:solidFill>
                  <a:schemeClr val="accent3">
                    <a:lumMod val="75000"/>
                  </a:schemeClr>
                </a:solidFill>
                <a:latin typeface="Consolas" panose="020B0609020204030204" pitchFamily="49" charset="0"/>
                <a:cs typeface="Consolas" panose="020B0609020204030204" pitchFamily="49" charset="0"/>
              </a:rPr>
              <a:t>2</a:t>
            </a:r>
            <a:r>
              <a:rPr lang="en-US" sz="2200" b="1" dirty="0">
                <a:latin typeface="Consolas" panose="020B0609020204030204" pitchFamily="49" charset="0"/>
                <a:cs typeface="Consolas" panose="020B0609020204030204" pitchFamily="49" charset="0"/>
              </a:rPr>
              <a:t>] + C[</a:t>
            </a:r>
            <a:r>
              <a:rPr lang="en-US" sz="2200" b="1" dirty="0">
                <a:solidFill>
                  <a:schemeClr val="accent3">
                    <a:lumMod val="75000"/>
                  </a:schemeClr>
                </a:solidFill>
                <a:latin typeface="Consolas" panose="020B0609020204030204" pitchFamily="49" charset="0"/>
                <a:cs typeface="Consolas" panose="020B0609020204030204" pitchFamily="49" charset="0"/>
              </a:rPr>
              <a:t>2</a:t>
            </a:r>
            <a:r>
              <a:rPr lang="en-US" sz="2200" b="1" dirty="0">
                <a:latin typeface="Consolas" panose="020B0609020204030204" pitchFamily="49" charset="0"/>
                <a:cs typeface="Consolas" panose="020B0609020204030204" pitchFamily="49" charset="0"/>
              </a:rPr>
              <a:t>];</a:t>
            </a:r>
          </a:p>
          <a:p>
            <a:r>
              <a:rPr lang="en-US" sz="2200" b="1" dirty="0">
                <a:latin typeface="Consolas" panose="020B0609020204030204" pitchFamily="49" charset="0"/>
                <a:cs typeface="Consolas" panose="020B0609020204030204" pitchFamily="49" charset="0"/>
              </a:rPr>
              <a:t>A[</a:t>
            </a:r>
            <a:r>
              <a:rPr lang="en-US" sz="2200" b="1" dirty="0">
                <a:solidFill>
                  <a:schemeClr val="accent3">
                    <a:lumMod val="75000"/>
                  </a:schemeClr>
                </a:solidFill>
                <a:latin typeface="Consolas" panose="020B0609020204030204" pitchFamily="49" charset="0"/>
                <a:cs typeface="Consolas" panose="020B0609020204030204" pitchFamily="49" charset="0"/>
              </a:rPr>
              <a:t>3</a:t>
            </a:r>
            <a:r>
              <a:rPr lang="en-US" sz="2200" b="1" dirty="0">
                <a:latin typeface="Consolas" panose="020B0609020204030204" pitchFamily="49" charset="0"/>
                <a:cs typeface="Consolas" panose="020B0609020204030204" pitchFamily="49" charset="0"/>
              </a:rPr>
              <a:t>] = B[</a:t>
            </a:r>
            <a:r>
              <a:rPr lang="en-US" sz="2200" b="1" dirty="0">
                <a:solidFill>
                  <a:schemeClr val="accent3">
                    <a:lumMod val="75000"/>
                  </a:schemeClr>
                </a:solidFill>
                <a:latin typeface="Consolas" panose="020B0609020204030204" pitchFamily="49" charset="0"/>
                <a:cs typeface="Consolas" panose="020B0609020204030204" pitchFamily="49" charset="0"/>
              </a:rPr>
              <a:t>3</a:t>
            </a:r>
            <a:r>
              <a:rPr lang="en-US" sz="2200" b="1" dirty="0">
                <a:latin typeface="Consolas" panose="020B0609020204030204" pitchFamily="49" charset="0"/>
                <a:cs typeface="Consolas" panose="020B0609020204030204" pitchFamily="49" charset="0"/>
              </a:rPr>
              <a:t>] + C[</a:t>
            </a:r>
            <a:r>
              <a:rPr lang="en-US" sz="2200" b="1" dirty="0">
                <a:solidFill>
                  <a:schemeClr val="accent3">
                    <a:lumMod val="75000"/>
                  </a:schemeClr>
                </a:solidFill>
                <a:latin typeface="Consolas" panose="020B0609020204030204" pitchFamily="49" charset="0"/>
                <a:cs typeface="Consolas" panose="020B0609020204030204" pitchFamily="49" charset="0"/>
              </a:rPr>
              <a:t>3</a:t>
            </a:r>
            <a:r>
              <a:rPr lang="en-US" sz="2200" b="1" dirty="0">
                <a:latin typeface="Consolas" panose="020B0609020204030204" pitchFamily="49" charset="0"/>
                <a:cs typeface="Consolas" panose="020B0609020204030204" pitchFamily="49" charset="0"/>
              </a:rPr>
              <a:t>];</a:t>
            </a:r>
          </a:p>
        </p:txBody>
      </p:sp>
      <p:sp>
        <p:nvSpPr>
          <p:cNvPr id="8" name="Right Arrow 7">
            <a:extLst>
              <a:ext uri="{FF2B5EF4-FFF2-40B4-BE49-F238E27FC236}">
                <a16:creationId xmlns:a16="http://schemas.microsoft.com/office/drawing/2014/main" id="{0D3A9D76-FEE0-0C44-BBB9-0661CFE0A277}"/>
              </a:ext>
            </a:extLst>
          </p:cNvPr>
          <p:cNvSpPr/>
          <p:nvPr/>
        </p:nvSpPr>
        <p:spPr>
          <a:xfrm rot="5400000">
            <a:off x="1943100" y="2228541"/>
            <a:ext cx="533400" cy="876918"/>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ight Arrow 8">
            <a:extLst>
              <a:ext uri="{FF2B5EF4-FFF2-40B4-BE49-F238E27FC236}">
                <a16:creationId xmlns:a16="http://schemas.microsoft.com/office/drawing/2014/main" id="{D1519232-A3CA-FD40-92C9-1F6C85C1CC25}"/>
              </a:ext>
            </a:extLst>
          </p:cNvPr>
          <p:cNvSpPr/>
          <p:nvPr/>
        </p:nvSpPr>
        <p:spPr>
          <a:xfrm>
            <a:off x="3771900" y="3294716"/>
            <a:ext cx="533400" cy="876918"/>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B4810A7-C8A8-F14D-BB13-C621DBD69653}"/>
              </a:ext>
            </a:extLst>
          </p:cNvPr>
          <p:cNvSpPr txBox="1"/>
          <p:nvPr/>
        </p:nvSpPr>
        <p:spPr>
          <a:xfrm>
            <a:off x="4496272" y="1301015"/>
            <a:ext cx="1675459" cy="4185761"/>
          </a:xfrm>
          <a:prstGeom prst="rect">
            <a:avLst/>
          </a:prstGeom>
          <a:noFill/>
        </p:spPr>
        <p:txBody>
          <a:bodyPr wrap="none" rtlCol="0">
            <a:spAutoFit/>
          </a:bodyPr>
          <a:lstStyle/>
          <a:p>
            <a:r>
              <a:rPr lang="fr" sz="1400" b="1" dirty="0">
                <a:solidFill>
                  <a:srgbClr val="FF0000"/>
                </a:solidFill>
                <a:latin typeface="Consolas" panose="020B0609020204030204" pitchFamily="49" charset="0"/>
                <a:cs typeface="Consolas" panose="020B0609020204030204" pitchFamily="49" charset="0"/>
              </a:rPr>
              <a:t>la</a:t>
            </a:r>
            <a:r>
              <a:rPr lang="fr" sz="1400" b="1" dirty="0">
                <a:latin typeface="Consolas" panose="020B0609020204030204" pitchFamily="49" charset="0"/>
                <a:cs typeface="Consolas" panose="020B0609020204030204" pitchFamily="49" charset="0"/>
              </a:rPr>
              <a:t>   t0, A</a:t>
            </a:r>
          </a:p>
          <a:p>
            <a:r>
              <a:rPr lang="fr" sz="1400" b="1" dirty="0">
                <a:solidFill>
                  <a:srgbClr val="FF0000"/>
                </a:solidFill>
                <a:latin typeface="Consolas" panose="020B0609020204030204" pitchFamily="49" charset="0"/>
                <a:cs typeface="Consolas" panose="020B0609020204030204" pitchFamily="49" charset="0"/>
              </a:rPr>
              <a:t>la</a:t>
            </a:r>
            <a:r>
              <a:rPr lang="fr" sz="1400" b="1" dirty="0">
                <a:latin typeface="Consolas" panose="020B0609020204030204" pitchFamily="49" charset="0"/>
                <a:cs typeface="Consolas" panose="020B0609020204030204" pitchFamily="49" charset="0"/>
              </a:rPr>
              <a:t>   t1, B</a:t>
            </a:r>
          </a:p>
          <a:p>
            <a:r>
              <a:rPr lang="fr" sz="1400" b="1" dirty="0">
                <a:solidFill>
                  <a:srgbClr val="FF0000"/>
                </a:solidFill>
                <a:latin typeface="Consolas" panose="020B0609020204030204" pitchFamily="49" charset="0"/>
                <a:cs typeface="Consolas" panose="020B0609020204030204" pitchFamily="49" charset="0"/>
              </a:rPr>
              <a:t>la</a:t>
            </a:r>
            <a:r>
              <a:rPr lang="fr" sz="1400" b="1" dirty="0">
                <a:latin typeface="Consolas" panose="020B0609020204030204" pitchFamily="49" charset="0"/>
                <a:cs typeface="Consolas" panose="020B0609020204030204" pitchFamily="49" charset="0"/>
              </a:rPr>
              <a:t>   t2, C</a:t>
            </a:r>
          </a:p>
          <a:p>
            <a:r>
              <a:rPr lang="fr" sz="1400" b="1" dirty="0" err="1">
                <a:solidFill>
                  <a:srgbClr val="FF0000"/>
                </a:solidFill>
                <a:latin typeface="Consolas" panose="020B0609020204030204" pitchFamily="49" charset="0"/>
                <a:cs typeface="Consolas" panose="020B0609020204030204" pitchFamily="49" charset="0"/>
              </a:rPr>
              <a:t>lw</a:t>
            </a:r>
            <a:r>
              <a:rPr lang="fr" sz="1400" b="1" dirty="0">
                <a:latin typeface="Consolas" panose="020B0609020204030204" pitchFamily="49" charset="0"/>
                <a:cs typeface="Consolas" panose="020B0609020204030204" pitchFamily="49" charset="0"/>
              </a:rPr>
              <a:t>   t3, </a:t>
            </a:r>
            <a:r>
              <a:rPr lang="fr" sz="1400" b="1" dirty="0">
                <a:solidFill>
                  <a:schemeClr val="accent3">
                    <a:lumMod val="75000"/>
                  </a:schemeClr>
                </a:solidFill>
                <a:latin typeface="Consolas" panose="020B0609020204030204" pitchFamily="49" charset="0"/>
                <a:cs typeface="Consolas" panose="020B0609020204030204" pitchFamily="49" charset="0"/>
              </a:rPr>
              <a:t>0</a:t>
            </a:r>
            <a:r>
              <a:rPr lang="fr" sz="1400" b="1" dirty="0">
                <a:latin typeface="Consolas" panose="020B0609020204030204" pitchFamily="49" charset="0"/>
                <a:cs typeface="Consolas" panose="020B0609020204030204" pitchFamily="49" charset="0"/>
              </a:rPr>
              <a:t>(t1)</a:t>
            </a:r>
          </a:p>
          <a:p>
            <a:r>
              <a:rPr lang="fr" sz="1400" b="1" dirty="0" err="1">
                <a:solidFill>
                  <a:srgbClr val="FF0000"/>
                </a:solidFill>
                <a:latin typeface="Consolas" panose="020B0609020204030204" pitchFamily="49" charset="0"/>
                <a:cs typeface="Consolas" panose="020B0609020204030204" pitchFamily="49" charset="0"/>
              </a:rPr>
              <a:t>lw</a:t>
            </a:r>
            <a:r>
              <a:rPr lang="fr" sz="1400" b="1" dirty="0">
                <a:latin typeface="Consolas" panose="020B0609020204030204" pitchFamily="49" charset="0"/>
                <a:cs typeface="Consolas" panose="020B0609020204030204" pitchFamily="49" charset="0"/>
              </a:rPr>
              <a:t>   t4, </a:t>
            </a:r>
            <a:r>
              <a:rPr lang="fr" sz="1400" b="1" dirty="0">
                <a:solidFill>
                  <a:schemeClr val="accent3">
                    <a:lumMod val="75000"/>
                  </a:schemeClr>
                </a:solidFill>
                <a:latin typeface="Consolas" panose="020B0609020204030204" pitchFamily="49" charset="0"/>
                <a:cs typeface="Consolas" panose="020B0609020204030204" pitchFamily="49" charset="0"/>
              </a:rPr>
              <a:t>0</a:t>
            </a:r>
            <a:r>
              <a:rPr lang="fr" sz="1400" b="1" dirty="0">
                <a:latin typeface="Consolas" panose="020B0609020204030204" pitchFamily="49" charset="0"/>
                <a:cs typeface="Consolas" panose="020B0609020204030204" pitchFamily="49" charset="0"/>
              </a:rPr>
              <a:t>(t2)</a:t>
            </a:r>
          </a:p>
          <a:p>
            <a:r>
              <a:rPr lang="fr" sz="1400" b="1" dirty="0" err="1">
                <a:solidFill>
                  <a:srgbClr val="FF0000"/>
                </a:solidFill>
                <a:latin typeface="Consolas" panose="020B0609020204030204" pitchFamily="49" charset="0"/>
                <a:cs typeface="Consolas" panose="020B0609020204030204" pitchFamily="49" charset="0"/>
              </a:rPr>
              <a:t>add</a:t>
            </a:r>
            <a:r>
              <a:rPr lang="fr" sz="1400" b="1" dirty="0">
                <a:latin typeface="Consolas" panose="020B0609020204030204" pitchFamily="49" charset="0"/>
                <a:cs typeface="Consolas" panose="020B0609020204030204" pitchFamily="49" charset="0"/>
              </a:rPr>
              <a:t>  t3, t3, t4</a:t>
            </a:r>
          </a:p>
          <a:p>
            <a:r>
              <a:rPr lang="fr" sz="1400" b="1" dirty="0" err="1">
                <a:solidFill>
                  <a:srgbClr val="FF0000"/>
                </a:solidFill>
                <a:latin typeface="Consolas" panose="020B0609020204030204" pitchFamily="49" charset="0"/>
                <a:cs typeface="Consolas" panose="020B0609020204030204" pitchFamily="49" charset="0"/>
              </a:rPr>
              <a:t>sw</a:t>
            </a:r>
            <a:r>
              <a:rPr lang="fr" sz="1400" b="1" dirty="0">
                <a:latin typeface="Consolas" panose="020B0609020204030204" pitchFamily="49" charset="0"/>
                <a:cs typeface="Consolas" panose="020B0609020204030204" pitchFamily="49" charset="0"/>
              </a:rPr>
              <a:t>   t3, </a:t>
            </a:r>
            <a:r>
              <a:rPr lang="fr" sz="1400" b="1" dirty="0">
                <a:solidFill>
                  <a:schemeClr val="accent3">
                    <a:lumMod val="75000"/>
                  </a:schemeClr>
                </a:solidFill>
                <a:latin typeface="Consolas" panose="020B0609020204030204" pitchFamily="49" charset="0"/>
                <a:cs typeface="Consolas" panose="020B0609020204030204" pitchFamily="49" charset="0"/>
              </a:rPr>
              <a:t>0</a:t>
            </a:r>
            <a:r>
              <a:rPr lang="fr" sz="1400" b="1" dirty="0">
                <a:latin typeface="Consolas" panose="020B0609020204030204" pitchFamily="49" charset="0"/>
                <a:cs typeface="Consolas" panose="020B0609020204030204" pitchFamily="49" charset="0"/>
              </a:rPr>
              <a:t>(t0)</a:t>
            </a:r>
          </a:p>
          <a:p>
            <a:r>
              <a:rPr lang="fr" sz="1400" b="1" dirty="0" err="1">
                <a:solidFill>
                  <a:srgbClr val="FF0000"/>
                </a:solidFill>
                <a:latin typeface="Consolas" panose="020B0609020204030204" pitchFamily="49" charset="0"/>
                <a:cs typeface="Consolas" panose="020B0609020204030204" pitchFamily="49" charset="0"/>
              </a:rPr>
              <a:t>lw</a:t>
            </a:r>
            <a:r>
              <a:rPr lang="fr" sz="1400" b="1" dirty="0">
                <a:latin typeface="Consolas" panose="020B0609020204030204" pitchFamily="49" charset="0"/>
                <a:cs typeface="Consolas" panose="020B0609020204030204" pitchFamily="49" charset="0"/>
              </a:rPr>
              <a:t>   t3, </a:t>
            </a:r>
            <a:r>
              <a:rPr lang="fr" sz="1400" b="1" dirty="0">
                <a:solidFill>
                  <a:schemeClr val="accent3">
                    <a:lumMod val="75000"/>
                  </a:schemeClr>
                </a:solidFill>
                <a:latin typeface="Consolas" panose="020B0609020204030204" pitchFamily="49" charset="0"/>
                <a:cs typeface="Consolas" panose="020B0609020204030204" pitchFamily="49" charset="0"/>
              </a:rPr>
              <a:t>4</a:t>
            </a:r>
            <a:r>
              <a:rPr lang="fr" sz="1400" b="1" dirty="0">
                <a:latin typeface="Consolas" panose="020B0609020204030204" pitchFamily="49" charset="0"/>
                <a:cs typeface="Consolas" panose="020B0609020204030204" pitchFamily="49" charset="0"/>
              </a:rPr>
              <a:t>(t1)</a:t>
            </a:r>
          </a:p>
          <a:p>
            <a:r>
              <a:rPr lang="fr" sz="1400" b="1" dirty="0" err="1">
                <a:solidFill>
                  <a:srgbClr val="FF0000"/>
                </a:solidFill>
                <a:latin typeface="Consolas" panose="020B0609020204030204" pitchFamily="49" charset="0"/>
                <a:cs typeface="Consolas" panose="020B0609020204030204" pitchFamily="49" charset="0"/>
              </a:rPr>
              <a:t>lw</a:t>
            </a:r>
            <a:r>
              <a:rPr lang="fr" sz="1400" b="1" dirty="0">
                <a:latin typeface="Consolas" panose="020B0609020204030204" pitchFamily="49" charset="0"/>
                <a:cs typeface="Consolas" panose="020B0609020204030204" pitchFamily="49" charset="0"/>
              </a:rPr>
              <a:t>   t4, </a:t>
            </a:r>
            <a:r>
              <a:rPr lang="fr" sz="1400" b="1" dirty="0">
                <a:solidFill>
                  <a:schemeClr val="accent3">
                    <a:lumMod val="75000"/>
                  </a:schemeClr>
                </a:solidFill>
                <a:latin typeface="Consolas" panose="020B0609020204030204" pitchFamily="49" charset="0"/>
                <a:cs typeface="Consolas" panose="020B0609020204030204" pitchFamily="49" charset="0"/>
              </a:rPr>
              <a:t>4</a:t>
            </a:r>
            <a:r>
              <a:rPr lang="fr" sz="1400" b="1" dirty="0">
                <a:latin typeface="Consolas" panose="020B0609020204030204" pitchFamily="49" charset="0"/>
                <a:cs typeface="Consolas" panose="020B0609020204030204" pitchFamily="49" charset="0"/>
              </a:rPr>
              <a:t>(t2)</a:t>
            </a:r>
          </a:p>
          <a:p>
            <a:r>
              <a:rPr lang="fr" sz="1400" b="1" dirty="0" err="1">
                <a:solidFill>
                  <a:srgbClr val="FF0000"/>
                </a:solidFill>
                <a:latin typeface="Consolas" panose="020B0609020204030204" pitchFamily="49" charset="0"/>
                <a:cs typeface="Consolas" panose="020B0609020204030204" pitchFamily="49" charset="0"/>
              </a:rPr>
              <a:t>add</a:t>
            </a:r>
            <a:r>
              <a:rPr lang="fr" sz="1400" b="1" dirty="0">
                <a:latin typeface="Consolas" panose="020B0609020204030204" pitchFamily="49" charset="0"/>
                <a:cs typeface="Consolas" panose="020B0609020204030204" pitchFamily="49" charset="0"/>
              </a:rPr>
              <a:t>  t3, t3, t4</a:t>
            </a:r>
          </a:p>
          <a:p>
            <a:r>
              <a:rPr lang="fr" sz="1400" b="1" dirty="0" err="1">
                <a:solidFill>
                  <a:srgbClr val="FF0000"/>
                </a:solidFill>
                <a:latin typeface="Consolas" panose="020B0609020204030204" pitchFamily="49" charset="0"/>
                <a:cs typeface="Consolas" panose="020B0609020204030204" pitchFamily="49" charset="0"/>
              </a:rPr>
              <a:t>sw</a:t>
            </a:r>
            <a:r>
              <a:rPr lang="fr" sz="1400" b="1" dirty="0">
                <a:latin typeface="Consolas" panose="020B0609020204030204" pitchFamily="49" charset="0"/>
                <a:cs typeface="Consolas" panose="020B0609020204030204" pitchFamily="49" charset="0"/>
              </a:rPr>
              <a:t>   t3, </a:t>
            </a:r>
            <a:r>
              <a:rPr lang="fr" sz="1400" b="1" dirty="0">
                <a:solidFill>
                  <a:schemeClr val="accent3">
                    <a:lumMod val="75000"/>
                  </a:schemeClr>
                </a:solidFill>
                <a:latin typeface="Consolas" panose="020B0609020204030204" pitchFamily="49" charset="0"/>
                <a:cs typeface="Consolas" panose="020B0609020204030204" pitchFamily="49" charset="0"/>
              </a:rPr>
              <a:t>4</a:t>
            </a:r>
            <a:r>
              <a:rPr lang="fr" sz="1400" b="1" dirty="0">
                <a:latin typeface="Consolas" panose="020B0609020204030204" pitchFamily="49" charset="0"/>
                <a:cs typeface="Consolas" panose="020B0609020204030204" pitchFamily="49" charset="0"/>
              </a:rPr>
              <a:t>(t0)</a:t>
            </a:r>
          </a:p>
          <a:p>
            <a:r>
              <a:rPr lang="fr" sz="1400" b="1" dirty="0" err="1">
                <a:solidFill>
                  <a:srgbClr val="FF0000"/>
                </a:solidFill>
                <a:latin typeface="Consolas" panose="020B0609020204030204" pitchFamily="49" charset="0"/>
                <a:cs typeface="Consolas" panose="020B0609020204030204" pitchFamily="49" charset="0"/>
              </a:rPr>
              <a:t>lw</a:t>
            </a:r>
            <a:r>
              <a:rPr lang="fr" sz="1400" b="1" dirty="0">
                <a:latin typeface="Consolas" panose="020B0609020204030204" pitchFamily="49" charset="0"/>
                <a:cs typeface="Consolas" panose="020B0609020204030204" pitchFamily="49" charset="0"/>
              </a:rPr>
              <a:t>   t3, </a:t>
            </a:r>
            <a:r>
              <a:rPr lang="fr" sz="1400" b="1" dirty="0">
                <a:solidFill>
                  <a:schemeClr val="accent3">
                    <a:lumMod val="75000"/>
                  </a:schemeClr>
                </a:solidFill>
                <a:latin typeface="Consolas" panose="020B0609020204030204" pitchFamily="49" charset="0"/>
                <a:cs typeface="Consolas" panose="020B0609020204030204" pitchFamily="49" charset="0"/>
              </a:rPr>
              <a:t>8</a:t>
            </a:r>
            <a:r>
              <a:rPr lang="fr" sz="1400" b="1" dirty="0">
                <a:latin typeface="Consolas" panose="020B0609020204030204" pitchFamily="49" charset="0"/>
                <a:cs typeface="Consolas" panose="020B0609020204030204" pitchFamily="49" charset="0"/>
              </a:rPr>
              <a:t>(t1)</a:t>
            </a:r>
          </a:p>
          <a:p>
            <a:r>
              <a:rPr lang="fr" sz="1400" b="1" dirty="0" err="1">
                <a:solidFill>
                  <a:srgbClr val="FF0000"/>
                </a:solidFill>
                <a:latin typeface="Consolas" panose="020B0609020204030204" pitchFamily="49" charset="0"/>
                <a:cs typeface="Consolas" panose="020B0609020204030204" pitchFamily="49" charset="0"/>
              </a:rPr>
              <a:t>lw</a:t>
            </a:r>
            <a:r>
              <a:rPr lang="fr" sz="1400" b="1" dirty="0">
                <a:latin typeface="Consolas" panose="020B0609020204030204" pitchFamily="49" charset="0"/>
                <a:cs typeface="Consolas" panose="020B0609020204030204" pitchFamily="49" charset="0"/>
              </a:rPr>
              <a:t>   t4, </a:t>
            </a:r>
            <a:r>
              <a:rPr lang="fr" sz="1400" b="1" dirty="0">
                <a:solidFill>
                  <a:schemeClr val="accent3">
                    <a:lumMod val="75000"/>
                  </a:schemeClr>
                </a:solidFill>
                <a:latin typeface="Consolas" panose="020B0609020204030204" pitchFamily="49" charset="0"/>
                <a:cs typeface="Consolas" panose="020B0609020204030204" pitchFamily="49" charset="0"/>
              </a:rPr>
              <a:t>8</a:t>
            </a:r>
            <a:r>
              <a:rPr lang="fr" sz="1400" b="1" dirty="0">
                <a:latin typeface="Consolas" panose="020B0609020204030204" pitchFamily="49" charset="0"/>
                <a:cs typeface="Consolas" panose="020B0609020204030204" pitchFamily="49" charset="0"/>
              </a:rPr>
              <a:t>(t2)</a:t>
            </a:r>
          </a:p>
          <a:p>
            <a:r>
              <a:rPr lang="fr" sz="1400" b="1" dirty="0" err="1">
                <a:solidFill>
                  <a:srgbClr val="FF0000"/>
                </a:solidFill>
                <a:latin typeface="Consolas" panose="020B0609020204030204" pitchFamily="49" charset="0"/>
                <a:cs typeface="Consolas" panose="020B0609020204030204" pitchFamily="49" charset="0"/>
              </a:rPr>
              <a:t>add</a:t>
            </a:r>
            <a:r>
              <a:rPr lang="fr" sz="1400" b="1" dirty="0">
                <a:latin typeface="Consolas" panose="020B0609020204030204" pitchFamily="49" charset="0"/>
                <a:cs typeface="Consolas" panose="020B0609020204030204" pitchFamily="49" charset="0"/>
              </a:rPr>
              <a:t>  t3, t3, t4</a:t>
            </a:r>
          </a:p>
          <a:p>
            <a:r>
              <a:rPr lang="fr" sz="1400" b="1" dirty="0" err="1">
                <a:solidFill>
                  <a:srgbClr val="FF0000"/>
                </a:solidFill>
                <a:latin typeface="Consolas" panose="020B0609020204030204" pitchFamily="49" charset="0"/>
                <a:cs typeface="Consolas" panose="020B0609020204030204" pitchFamily="49" charset="0"/>
              </a:rPr>
              <a:t>sw</a:t>
            </a:r>
            <a:r>
              <a:rPr lang="fr" sz="1400" b="1" dirty="0">
                <a:latin typeface="Consolas" panose="020B0609020204030204" pitchFamily="49" charset="0"/>
                <a:cs typeface="Consolas" panose="020B0609020204030204" pitchFamily="49" charset="0"/>
              </a:rPr>
              <a:t>   t3, </a:t>
            </a:r>
            <a:r>
              <a:rPr lang="fr" sz="1400" b="1" dirty="0">
                <a:solidFill>
                  <a:schemeClr val="accent3">
                    <a:lumMod val="75000"/>
                  </a:schemeClr>
                </a:solidFill>
                <a:latin typeface="Consolas" panose="020B0609020204030204" pitchFamily="49" charset="0"/>
                <a:cs typeface="Consolas" panose="020B0609020204030204" pitchFamily="49" charset="0"/>
              </a:rPr>
              <a:t>12</a:t>
            </a:r>
            <a:r>
              <a:rPr lang="fr" sz="1400" b="1" dirty="0">
                <a:latin typeface="Consolas" panose="020B0609020204030204" pitchFamily="49" charset="0"/>
                <a:cs typeface="Consolas" panose="020B0609020204030204" pitchFamily="49" charset="0"/>
              </a:rPr>
              <a:t>(t0)</a:t>
            </a:r>
          </a:p>
          <a:p>
            <a:r>
              <a:rPr lang="fr" sz="1400" b="1" dirty="0" err="1">
                <a:solidFill>
                  <a:srgbClr val="FF0000"/>
                </a:solidFill>
                <a:latin typeface="Consolas" panose="020B0609020204030204" pitchFamily="49" charset="0"/>
                <a:cs typeface="Consolas" panose="020B0609020204030204" pitchFamily="49" charset="0"/>
              </a:rPr>
              <a:t>lw</a:t>
            </a:r>
            <a:r>
              <a:rPr lang="fr" sz="1400" b="1" dirty="0">
                <a:latin typeface="Consolas" panose="020B0609020204030204" pitchFamily="49" charset="0"/>
                <a:cs typeface="Consolas" panose="020B0609020204030204" pitchFamily="49" charset="0"/>
              </a:rPr>
              <a:t>   t3, </a:t>
            </a:r>
            <a:r>
              <a:rPr lang="fr" sz="1400" b="1" dirty="0">
                <a:solidFill>
                  <a:schemeClr val="accent3">
                    <a:lumMod val="75000"/>
                  </a:schemeClr>
                </a:solidFill>
                <a:latin typeface="Consolas" panose="020B0609020204030204" pitchFamily="49" charset="0"/>
                <a:cs typeface="Consolas" panose="020B0609020204030204" pitchFamily="49" charset="0"/>
              </a:rPr>
              <a:t>12</a:t>
            </a:r>
            <a:r>
              <a:rPr lang="fr" sz="1400" b="1" dirty="0">
                <a:latin typeface="Consolas" panose="020B0609020204030204" pitchFamily="49" charset="0"/>
                <a:cs typeface="Consolas" panose="020B0609020204030204" pitchFamily="49" charset="0"/>
              </a:rPr>
              <a:t>(t1)</a:t>
            </a:r>
          </a:p>
          <a:p>
            <a:r>
              <a:rPr lang="fr" sz="1400" b="1" dirty="0" err="1">
                <a:solidFill>
                  <a:srgbClr val="FF0000"/>
                </a:solidFill>
                <a:latin typeface="Consolas" panose="020B0609020204030204" pitchFamily="49" charset="0"/>
                <a:cs typeface="Consolas" panose="020B0609020204030204" pitchFamily="49" charset="0"/>
              </a:rPr>
              <a:t>lw</a:t>
            </a:r>
            <a:r>
              <a:rPr lang="fr" sz="1400" b="1" dirty="0">
                <a:latin typeface="Consolas" panose="020B0609020204030204" pitchFamily="49" charset="0"/>
                <a:cs typeface="Consolas" panose="020B0609020204030204" pitchFamily="49" charset="0"/>
              </a:rPr>
              <a:t>   t4, </a:t>
            </a:r>
            <a:r>
              <a:rPr lang="fr" sz="1400" b="1" dirty="0">
                <a:solidFill>
                  <a:schemeClr val="accent3">
                    <a:lumMod val="75000"/>
                  </a:schemeClr>
                </a:solidFill>
                <a:latin typeface="Consolas" panose="020B0609020204030204" pitchFamily="49" charset="0"/>
                <a:cs typeface="Consolas" panose="020B0609020204030204" pitchFamily="49" charset="0"/>
              </a:rPr>
              <a:t>12</a:t>
            </a:r>
            <a:r>
              <a:rPr lang="fr" sz="1400" b="1" dirty="0">
                <a:latin typeface="Consolas" panose="020B0609020204030204" pitchFamily="49" charset="0"/>
                <a:cs typeface="Consolas" panose="020B0609020204030204" pitchFamily="49" charset="0"/>
              </a:rPr>
              <a:t>(t2)</a:t>
            </a:r>
          </a:p>
          <a:p>
            <a:r>
              <a:rPr lang="fr" sz="1400" b="1" dirty="0" err="1">
                <a:solidFill>
                  <a:srgbClr val="FF0000"/>
                </a:solidFill>
                <a:latin typeface="Consolas" panose="020B0609020204030204" pitchFamily="49" charset="0"/>
                <a:cs typeface="Consolas" panose="020B0609020204030204" pitchFamily="49" charset="0"/>
              </a:rPr>
              <a:t>add</a:t>
            </a:r>
            <a:r>
              <a:rPr lang="fr" sz="1400" b="1" dirty="0">
                <a:latin typeface="Consolas" panose="020B0609020204030204" pitchFamily="49" charset="0"/>
                <a:cs typeface="Consolas" panose="020B0609020204030204" pitchFamily="49" charset="0"/>
              </a:rPr>
              <a:t>  t3, t3, t4</a:t>
            </a:r>
          </a:p>
          <a:p>
            <a:r>
              <a:rPr lang="fr" sz="1400" b="1" dirty="0" err="1">
                <a:solidFill>
                  <a:srgbClr val="FF0000"/>
                </a:solidFill>
                <a:latin typeface="Consolas" panose="020B0609020204030204" pitchFamily="49" charset="0"/>
                <a:cs typeface="Consolas" panose="020B0609020204030204" pitchFamily="49" charset="0"/>
              </a:rPr>
              <a:t>sw</a:t>
            </a:r>
            <a:r>
              <a:rPr lang="fr" sz="1400" b="1" dirty="0">
                <a:latin typeface="Consolas" panose="020B0609020204030204" pitchFamily="49" charset="0"/>
                <a:cs typeface="Consolas" panose="020B0609020204030204" pitchFamily="49" charset="0"/>
              </a:rPr>
              <a:t>   t3, </a:t>
            </a:r>
            <a:r>
              <a:rPr lang="fr" sz="1400" b="1" dirty="0">
                <a:solidFill>
                  <a:schemeClr val="accent3">
                    <a:lumMod val="75000"/>
                  </a:schemeClr>
                </a:solidFill>
                <a:latin typeface="Consolas" panose="020B0609020204030204" pitchFamily="49" charset="0"/>
                <a:cs typeface="Consolas" panose="020B0609020204030204" pitchFamily="49" charset="0"/>
              </a:rPr>
              <a:t>12</a:t>
            </a:r>
            <a:r>
              <a:rPr lang="fr" sz="1400" b="1" dirty="0">
                <a:latin typeface="Consolas" panose="020B0609020204030204" pitchFamily="49" charset="0"/>
                <a:cs typeface="Consolas" panose="020B0609020204030204" pitchFamily="49" charset="0"/>
              </a:rPr>
              <a:t>(t0)</a:t>
            </a:r>
            <a:endParaRPr lang="en-US" sz="1400" b="1" dirty="0">
              <a:latin typeface="Consolas" panose="020B0609020204030204" pitchFamily="49" charset="0"/>
              <a:cs typeface="Consolas" panose="020B0609020204030204" pitchFamily="49" charset="0"/>
            </a:endParaRPr>
          </a:p>
        </p:txBody>
      </p:sp>
      <p:sp>
        <p:nvSpPr>
          <p:cNvPr id="11" name="TextBox 10">
            <a:extLst>
              <a:ext uri="{FF2B5EF4-FFF2-40B4-BE49-F238E27FC236}">
                <a16:creationId xmlns:a16="http://schemas.microsoft.com/office/drawing/2014/main" id="{0CEAB218-02C9-AD49-B34B-7DD85B1C1058}"/>
              </a:ext>
            </a:extLst>
          </p:cNvPr>
          <p:cNvSpPr txBox="1"/>
          <p:nvPr/>
        </p:nvSpPr>
        <p:spPr>
          <a:xfrm>
            <a:off x="6190179" y="2400300"/>
            <a:ext cx="2667470" cy="769441"/>
          </a:xfrm>
          <a:prstGeom prst="rect">
            <a:avLst/>
          </a:prstGeom>
          <a:noFill/>
        </p:spPr>
        <p:txBody>
          <a:bodyPr wrap="square" rtlCol="0">
            <a:spAutoFit/>
          </a:bodyPr>
          <a:lstStyle/>
          <a:p>
            <a:pPr algn="ctr"/>
            <a:r>
              <a:rPr lang="en-US" sz="2200" dirty="0"/>
              <a:t>and boom... we have a program!</a:t>
            </a:r>
          </a:p>
        </p:txBody>
      </p:sp>
    </p:spTree>
    <p:extLst>
      <p:ext uri="{BB962C8B-B14F-4D97-AF65-F5344CB8AC3E}">
        <p14:creationId xmlns:p14="http://schemas.microsoft.com/office/powerpoint/2010/main" val="44666014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animBg="1"/>
      <p:bldP spid="9" grpId="0" animBg="1"/>
      <p:bldP spid="10" grpId="0"/>
      <p:bldP spid="1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00CC9-CA2C-E440-88BC-BC24D4AF0B8F}"/>
              </a:ext>
            </a:extLst>
          </p:cNvPr>
          <p:cNvSpPr>
            <a:spLocks noGrp="1"/>
          </p:cNvSpPr>
          <p:nvPr>
            <p:ph type="title"/>
          </p:nvPr>
        </p:nvSpPr>
        <p:spPr/>
        <p:txBody>
          <a:bodyPr/>
          <a:lstStyle/>
          <a:p>
            <a:r>
              <a:rPr lang="en-US" dirty="0"/>
              <a:t>What we'll talk about along the way</a:t>
            </a:r>
          </a:p>
        </p:txBody>
      </p:sp>
      <p:sp>
        <p:nvSpPr>
          <p:cNvPr id="3" name="Content Placeholder 2">
            <a:extLst>
              <a:ext uri="{FF2B5EF4-FFF2-40B4-BE49-F238E27FC236}">
                <a16:creationId xmlns:a16="http://schemas.microsoft.com/office/drawing/2014/main" id="{B71D7C14-7E49-2440-B50C-4EBC92A37557}"/>
              </a:ext>
            </a:extLst>
          </p:cNvPr>
          <p:cNvSpPr>
            <a:spLocks noGrp="1"/>
          </p:cNvSpPr>
          <p:nvPr>
            <p:ph idx="1"/>
          </p:nvPr>
        </p:nvSpPr>
        <p:spPr/>
        <p:txBody>
          <a:bodyPr/>
          <a:lstStyle/>
          <a:p>
            <a:r>
              <a:rPr lang="en-US" b="1" dirty="0"/>
              <a:t>grammars</a:t>
            </a:r>
            <a:r>
              <a:rPr lang="en-US" dirty="0"/>
              <a:t> and </a:t>
            </a:r>
            <a:r>
              <a:rPr lang="en-US" b="1" dirty="0"/>
              <a:t>abstract syntax trees!</a:t>
            </a:r>
          </a:p>
          <a:p>
            <a:r>
              <a:rPr lang="en-US" b="1" dirty="0"/>
              <a:t>type theory</a:t>
            </a:r>
            <a:r>
              <a:rPr lang="en-US" dirty="0"/>
              <a:t> and </a:t>
            </a:r>
            <a:r>
              <a:rPr lang="en-US" b="1" dirty="0"/>
              <a:t>type systems!</a:t>
            </a:r>
          </a:p>
          <a:p>
            <a:pPr lvl="1"/>
            <a:r>
              <a:rPr lang="en-US" b="1" dirty="0"/>
              <a:t>static </a:t>
            </a:r>
            <a:r>
              <a:rPr lang="en-US" dirty="0"/>
              <a:t>and </a:t>
            </a:r>
            <a:r>
              <a:rPr lang="en-US" b="1" dirty="0"/>
              <a:t>dynamic </a:t>
            </a:r>
            <a:r>
              <a:rPr lang="en-US" dirty="0"/>
              <a:t>typing!</a:t>
            </a:r>
          </a:p>
          <a:p>
            <a:pPr lvl="1"/>
            <a:r>
              <a:rPr lang="en-US" b="1" dirty="0"/>
              <a:t>strong </a:t>
            </a:r>
            <a:r>
              <a:rPr lang="en-US" dirty="0"/>
              <a:t>and </a:t>
            </a:r>
            <a:r>
              <a:rPr lang="en-US" b="1" dirty="0"/>
              <a:t>weak </a:t>
            </a:r>
            <a:r>
              <a:rPr lang="en-US" dirty="0"/>
              <a:t>typing!</a:t>
            </a:r>
          </a:p>
          <a:p>
            <a:pPr lvl="1"/>
            <a:r>
              <a:rPr lang="en-US" b="1" dirty="0"/>
              <a:t>parametric types </a:t>
            </a:r>
            <a:r>
              <a:rPr lang="en-US" dirty="0"/>
              <a:t>and </a:t>
            </a:r>
            <a:r>
              <a:rPr lang="en-US" b="1" dirty="0"/>
              <a:t>generics!</a:t>
            </a:r>
          </a:p>
          <a:p>
            <a:r>
              <a:rPr lang="en-US" b="1" dirty="0"/>
              <a:t>runtime </a:t>
            </a:r>
            <a:r>
              <a:rPr lang="en-US" dirty="0"/>
              <a:t>representation!</a:t>
            </a:r>
          </a:p>
          <a:p>
            <a:r>
              <a:rPr lang="en-US" b="1" dirty="0"/>
              <a:t>memory management!</a:t>
            </a:r>
          </a:p>
          <a:p>
            <a:r>
              <a:rPr lang="en-US" b="1" dirty="0"/>
              <a:t>ABIs </a:t>
            </a:r>
            <a:r>
              <a:rPr lang="en-US" dirty="0"/>
              <a:t>and </a:t>
            </a:r>
            <a:r>
              <a:rPr lang="en-US" b="1" dirty="0"/>
              <a:t>linking!</a:t>
            </a:r>
          </a:p>
          <a:p>
            <a:r>
              <a:rPr lang="en-US" b="1" i="1" dirty="0"/>
              <a:t>and more!</a:t>
            </a:r>
          </a:p>
        </p:txBody>
      </p:sp>
      <p:sp>
        <p:nvSpPr>
          <p:cNvPr id="4" name="Slide Number Placeholder 3">
            <a:extLst>
              <a:ext uri="{FF2B5EF4-FFF2-40B4-BE49-F238E27FC236}">
                <a16:creationId xmlns:a16="http://schemas.microsoft.com/office/drawing/2014/main" id="{25962A6C-29B0-7546-8776-88DE366DE726}"/>
              </a:ext>
            </a:extLst>
          </p:cNvPr>
          <p:cNvSpPr>
            <a:spLocks noGrp="1"/>
          </p:cNvSpPr>
          <p:nvPr>
            <p:ph type="sldNum" sz="quarter" idx="12"/>
          </p:nvPr>
        </p:nvSpPr>
        <p:spPr/>
        <p:txBody>
          <a:bodyPr/>
          <a:lstStyle/>
          <a:p>
            <a:fld id="{3552B95B-556F-44BD-91A5-D80C1B9E2BB3}" type="slidenum">
              <a:rPr lang="en-US" smtClean="0"/>
              <a:pPr/>
              <a:t>26</a:t>
            </a:fld>
            <a:endParaRPr lang="en-US"/>
          </a:p>
        </p:txBody>
      </p:sp>
    </p:spTree>
    <p:extLst>
      <p:ext uri="{BB962C8B-B14F-4D97-AF65-F5344CB8AC3E}">
        <p14:creationId xmlns:p14="http://schemas.microsoft.com/office/powerpoint/2010/main" val="1842297784"/>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81620-5D02-454C-BE8B-9A4B832428B1}"/>
              </a:ext>
            </a:extLst>
          </p:cNvPr>
          <p:cNvSpPr>
            <a:spLocks noGrp="1"/>
          </p:cNvSpPr>
          <p:nvPr>
            <p:ph type="ctrTitle"/>
          </p:nvPr>
        </p:nvSpPr>
        <p:spPr/>
        <p:txBody>
          <a:bodyPr/>
          <a:lstStyle/>
          <a:p>
            <a:r>
              <a:rPr lang="en-US" dirty="0"/>
              <a:t>Rust</a:t>
            </a:r>
          </a:p>
        </p:txBody>
      </p:sp>
      <p:sp>
        <p:nvSpPr>
          <p:cNvPr id="3" name="Slide Number Placeholder 2">
            <a:extLst>
              <a:ext uri="{FF2B5EF4-FFF2-40B4-BE49-F238E27FC236}">
                <a16:creationId xmlns:a16="http://schemas.microsoft.com/office/drawing/2014/main" id="{00733AA7-ABCF-4F41-AC5D-A380F58D481F}"/>
              </a:ext>
            </a:extLst>
          </p:cNvPr>
          <p:cNvSpPr>
            <a:spLocks noGrp="1"/>
          </p:cNvSpPr>
          <p:nvPr>
            <p:ph type="sldNum" sz="quarter" idx="12"/>
          </p:nvPr>
        </p:nvSpPr>
        <p:spPr/>
        <p:txBody>
          <a:bodyPr/>
          <a:lstStyle/>
          <a:p>
            <a:fld id="{3552B95B-556F-44BD-91A5-D80C1B9E2BB3}" type="slidenum">
              <a:rPr lang="en-US" smtClean="0"/>
              <a:pPr/>
              <a:t>27</a:t>
            </a:fld>
            <a:endParaRPr lang="en-US"/>
          </a:p>
        </p:txBody>
      </p:sp>
    </p:spTree>
    <p:extLst>
      <p:ext uri="{BB962C8B-B14F-4D97-AF65-F5344CB8AC3E}">
        <p14:creationId xmlns:p14="http://schemas.microsoft.com/office/powerpoint/2010/main" val="2868913467"/>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D1404-94DB-E446-9526-2EE33EDCF609}"/>
              </a:ext>
            </a:extLst>
          </p:cNvPr>
          <p:cNvSpPr>
            <a:spLocks noGrp="1"/>
          </p:cNvSpPr>
          <p:nvPr>
            <p:ph type="title"/>
          </p:nvPr>
        </p:nvSpPr>
        <p:spPr/>
        <p:txBody>
          <a:bodyPr/>
          <a:lstStyle/>
          <a:p>
            <a:r>
              <a:rPr lang="en-US" dirty="0"/>
              <a:t>If you want to write a compiler…</a:t>
            </a:r>
          </a:p>
        </p:txBody>
      </p:sp>
      <p:sp>
        <p:nvSpPr>
          <p:cNvPr id="3" name="Content Placeholder 2">
            <a:extLst>
              <a:ext uri="{FF2B5EF4-FFF2-40B4-BE49-F238E27FC236}">
                <a16:creationId xmlns:a16="http://schemas.microsoft.com/office/drawing/2014/main" id="{3DF387FE-1510-C440-A138-B3E9BE7CEB7D}"/>
              </a:ext>
            </a:extLst>
          </p:cNvPr>
          <p:cNvSpPr>
            <a:spLocks noGrp="1"/>
          </p:cNvSpPr>
          <p:nvPr>
            <p:ph idx="1"/>
          </p:nvPr>
        </p:nvSpPr>
        <p:spPr>
          <a:xfrm>
            <a:off x="152400" y="495301"/>
            <a:ext cx="8991600" cy="838199"/>
          </a:xfrm>
        </p:spPr>
        <p:txBody>
          <a:bodyPr/>
          <a:lstStyle/>
          <a:p>
            <a:r>
              <a:rPr lang="en-US" dirty="0"/>
              <a:t>different problems require </a:t>
            </a:r>
            <a:r>
              <a:rPr lang="en-US" b="1" dirty="0"/>
              <a:t>different tools.</a:t>
            </a:r>
          </a:p>
          <a:p>
            <a:r>
              <a:rPr lang="en-US" dirty="0"/>
              <a:t>when writing compilers, some language features will be very useful:</a:t>
            </a:r>
          </a:p>
        </p:txBody>
      </p:sp>
      <p:sp>
        <p:nvSpPr>
          <p:cNvPr id="4" name="Slide Number Placeholder 3">
            <a:extLst>
              <a:ext uri="{FF2B5EF4-FFF2-40B4-BE49-F238E27FC236}">
                <a16:creationId xmlns:a16="http://schemas.microsoft.com/office/drawing/2014/main" id="{A216F24A-8781-3C47-9369-5D0876D150EE}"/>
              </a:ext>
            </a:extLst>
          </p:cNvPr>
          <p:cNvSpPr>
            <a:spLocks noGrp="1"/>
          </p:cNvSpPr>
          <p:nvPr>
            <p:ph type="sldNum" sz="quarter" idx="12"/>
          </p:nvPr>
        </p:nvSpPr>
        <p:spPr>
          <a:xfrm>
            <a:off x="8458200" y="5296960"/>
            <a:ext cx="685800" cy="304271"/>
          </a:xfrm>
        </p:spPr>
        <p:txBody>
          <a:bodyPr/>
          <a:lstStyle/>
          <a:p>
            <a:fld id="{3552B95B-556F-44BD-91A5-D80C1B9E2BB3}" type="slidenum">
              <a:rPr lang="en-US" smtClean="0"/>
              <a:pPr/>
              <a:t>28</a:t>
            </a:fld>
            <a:endParaRPr lang="en-US"/>
          </a:p>
        </p:txBody>
      </p:sp>
      <p:sp>
        <p:nvSpPr>
          <p:cNvPr id="5" name="TextBox 4">
            <a:extLst>
              <a:ext uri="{FF2B5EF4-FFF2-40B4-BE49-F238E27FC236}">
                <a16:creationId xmlns:a16="http://schemas.microsoft.com/office/drawing/2014/main" id="{01378D2E-1F7F-3240-A507-4B69C2846364}"/>
              </a:ext>
            </a:extLst>
          </p:cNvPr>
          <p:cNvSpPr txBox="1"/>
          <p:nvPr/>
        </p:nvSpPr>
        <p:spPr>
          <a:xfrm>
            <a:off x="152400" y="1768006"/>
            <a:ext cx="4285649" cy="430887"/>
          </a:xfrm>
          <a:prstGeom prst="rect">
            <a:avLst/>
          </a:prstGeom>
          <a:noFill/>
        </p:spPr>
        <p:txBody>
          <a:bodyPr wrap="square" rtlCol="0">
            <a:spAutoFit/>
          </a:bodyPr>
          <a:lstStyle/>
          <a:p>
            <a:pPr algn="r"/>
            <a:r>
              <a:rPr lang="en-US" sz="2200" dirty="0"/>
              <a:t>Good string manipulation</a:t>
            </a:r>
          </a:p>
        </p:txBody>
      </p:sp>
      <p:sp>
        <p:nvSpPr>
          <p:cNvPr id="6" name="TextBox 5">
            <a:extLst>
              <a:ext uri="{FF2B5EF4-FFF2-40B4-BE49-F238E27FC236}">
                <a16:creationId xmlns:a16="http://schemas.microsoft.com/office/drawing/2014/main" id="{25261153-DFED-4D48-AA59-FF4D0EB03160}"/>
              </a:ext>
            </a:extLst>
          </p:cNvPr>
          <p:cNvSpPr txBox="1"/>
          <p:nvPr/>
        </p:nvSpPr>
        <p:spPr>
          <a:xfrm>
            <a:off x="152400" y="2255687"/>
            <a:ext cx="4285649" cy="430887"/>
          </a:xfrm>
          <a:prstGeom prst="rect">
            <a:avLst/>
          </a:prstGeom>
          <a:noFill/>
        </p:spPr>
        <p:txBody>
          <a:bodyPr wrap="square" rtlCol="0">
            <a:spAutoFit/>
          </a:bodyPr>
          <a:lstStyle/>
          <a:p>
            <a:pPr algn="r"/>
            <a:r>
              <a:rPr lang="en-US" sz="2200" dirty="0"/>
              <a:t>Automatic memory management</a:t>
            </a:r>
          </a:p>
        </p:txBody>
      </p:sp>
      <p:sp>
        <p:nvSpPr>
          <p:cNvPr id="7" name="TextBox 6">
            <a:extLst>
              <a:ext uri="{FF2B5EF4-FFF2-40B4-BE49-F238E27FC236}">
                <a16:creationId xmlns:a16="http://schemas.microsoft.com/office/drawing/2014/main" id="{2CF6DAF2-30E2-C44F-8D7E-161ED9F12A78}"/>
              </a:ext>
            </a:extLst>
          </p:cNvPr>
          <p:cNvSpPr txBox="1"/>
          <p:nvPr/>
        </p:nvSpPr>
        <p:spPr>
          <a:xfrm>
            <a:off x="152400" y="2743367"/>
            <a:ext cx="4285649" cy="430887"/>
          </a:xfrm>
          <a:prstGeom prst="rect">
            <a:avLst/>
          </a:prstGeom>
          <a:noFill/>
        </p:spPr>
        <p:txBody>
          <a:bodyPr wrap="square" rtlCol="0">
            <a:spAutoFit/>
          </a:bodyPr>
          <a:lstStyle/>
          <a:p>
            <a:pPr algn="r"/>
            <a:r>
              <a:rPr lang="en-US" sz="2200" dirty="0"/>
              <a:t>Generics (types and code)</a:t>
            </a:r>
          </a:p>
        </p:txBody>
      </p:sp>
      <p:sp>
        <p:nvSpPr>
          <p:cNvPr id="8" name="TextBox 7">
            <a:extLst>
              <a:ext uri="{FF2B5EF4-FFF2-40B4-BE49-F238E27FC236}">
                <a16:creationId xmlns:a16="http://schemas.microsoft.com/office/drawing/2014/main" id="{C5CE22B0-0144-5D4F-AD90-BB40A1D9D85B}"/>
              </a:ext>
            </a:extLst>
          </p:cNvPr>
          <p:cNvSpPr txBox="1"/>
          <p:nvPr/>
        </p:nvSpPr>
        <p:spPr>
          <a:xfrm>
            <a:off x="152400" y="3231047"/>
            <a:ext cx="4285649" cy="430887"/>
          </a:xfrm>
          <a:prstGeom prst="rect">
            <a:avLst/>
          </a:prstGeom>
          <a:noFill/>
        </p:spPr>
        <p:txBody>
          <a:bodyPr wrap="square" rtlCol="0">
            <a:spAutoFit/>
          </a:bodyPr>
          <a:lstStyle/>
          <a:p>
            <a:pPr algn="r"/>
            <a:r>
              <a:rPr lang="en-US" sz="2200" dirty="0"/>
              <a:t>Functional programming style</a:t>
            </a:r>
          </a:p>
        </p:txBody>
      </p:sp>
      <p:sp>
        <p:nvSpPr>
          <p:cNvPr id="9" name="TextBox 8">
            <a:extLst>
              <a:ext uri="{FF2B5EF4-FFF2-40B4-BE49-F238E27FC236}">
                <a16:creationId xmlns:a16="http://schemas.microsoft.com/office/drawing/2014/main" id="{EF5E8E57-BEF6-7340-8B1D-DE22789F9EAD}"/>
              </a:ext>
            </a:extLst>
          </p:cNvPr>
          <p:cNvSpPr txBox="1"/>
          <p:nvPr/>
        </p:nvSpPr>
        <p:spPr>
          <a:xfrm>
            <a:off x="152400" y="3718728"/>
            <a:ext cx="4285649" cy="430887"/>
          </a:xfrm>
          <a:prstGeom prst="rect">
            <a:avLst/>
          </a:prstGeom>
          <a:noFill/>
        </p:spPr>
        <p:txBody>
          <a:bodyPr wrap="square" rtlCol="0">
            <a:spAutoFit/>
          </a:bodyPr>
          <a:lstStyle/>
          <a:p>
            <a:pPr algn="r"/>
            <a:r>
              <a:rPr lang="en-US" sz="2200" dirty="0"/>
              <a:t>Algebraic data types</a:t>
            </a:r>
          </a:p>
        </p:txBody>
      </p:sp>
      <p:sp>
        <p:nvSpPr>
          <p:cNvPr id="10" name="TextBox 9">
            <a:extLst>
              <a:ext uri="{FF2B5EF4-FFF2-40B4-BE49-F238E27FC236}">
                <a16:creationId xmlns:a16="http://schemas.microsoft.com/office/drawing/2014/main" id="{2FB2E92A-9C67-E742-8FC8-5CB717FE785F}"/>
              </a:ext>
            </a:extLst>
          </p:cNvPr>
          <p:cNvSpPr txBox="1"/>
          <p:nvPr/>
        </p:nvSpPr>
        <p:spPr>
          <a:xfrm>
            <a:off x="152400" y="4206406"/>
            <a:ext cx="4285649" cy="430887"/>
          </a:xfrm>
          <a:prstGeom prst="rect">
            <a:avLst/>
          </a:prstGeom>
          <a:noFill/>
        </p:spPr>
        <p:txBody>
          <a:bodyPr wrap="square" rtlCol="0">
            <a:spAutoFit/>
          </a:bodyPr>
          <a:lstStyle/>
          <a:p>
            <a:pPr algn="r"/>
            <a:r>
              <a:rPr lang="en-US" sz="2200" dirty="0"/>
              <a:t>Less repetitive boilerplate</a:t>
            </a:r>
          </a:p>
        </p:txBody>
      </p:sp>
      <p:cxnSp>
        <p:nvCxnSpPr>
          <p:cNvPr id="12" name="Straight Connector 11">
            <a:extLst>
              <a:ext uri="{FF2B5EF4-FFF2-40B4-BE49-F238E27FC236}">
                <a16:creationId xmlns:a16="http://schemas.microsoft.com/office/drawing/2014/main" id="{60F4DA04-0F99-B445-9597-9518AE64A32D}"/>
              </a:ext>
            </a:extLst>
          </p:cNvPr>
          <p:cNvCxnSpPr/>
          <p:nvPr/>
        </p:nvCxnSpPr>
        <p:spPr>
          <a:xfrm>
            <a:off x="762000" y="2227290"/>
            <a:ext cx="8077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C35D84C-1315-9F4A-BDEE-9FF40606E4ED}"/>
              </a:ext>
            </a:extLst>
          </p:cNvPr>
          <p:cNvCxnSpPr/>
          <p:nvPr/>
        </p:nvCxnSpPr>
        <p:spPr>
          <a:xfrm>
            <a:off x="762000" y="2714970"/>
            <a:ext cx="8077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C5C44AA-EB12-AA40-91C5-40AE9659287C}"/>
              </a:ext>
            </a:extLst>
          </p:cNvPr>
          <p:cNvCxnSpPr/>
          <p:nvPr/>
        </p:nvCxnSpPr>
        <p:spPr>
          <a:xfrm>
            <a:off x="762000" y="3202650"/>
            <a:ext cx="8077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773BB91-924B-3B42-AE2D-DC8F43BF8454}"/>
              </a:ext>
            </a:extLst>
          </p:cNvPr>
          <p:cNvCxnSpPr/>
          <p:nvPr/>
        </p:nvCxnSpPr>
        <p:spPr>
          <a:xfrm>
            <a:off x="762000" y="3690331"/>
            <a:ext cx="8077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9116B28-FD39-6649-9C5E-0BD5807D593C}"/>
              </a:ext>
            </a:extLst>
          </p:cNvPr>
          <p:cNvCxnSpPr/>
          <p:nvPr/>
        </p:nvCxnSpPr>
        <p:spPr>
          <a:xfrm>
            <a:off x="762000" y="4178011"/>
            <a:ext cx="8077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B29A4EE-C0C6-774B-A81C-2FDA7369ECEE}"/>
              </a:ext>
            </a:extLst>
          </p:cNvPr>
          <p:cNvSpPr txBox="1"/>
          <p:nvPr/>
        </p:nvSpPr>
        <p:spPr>
          <a:xfrm>
            <a:off x="4720392" y="1333500"/>
            <a:ext cx="877504" cy="430887"/>
          </a:xfrm>
          <a:prstGeom prst="rect">
            <a:avLst/>
          </a:prstGeom>
          <a:noFill/>
        </p:spPr>
        <p:txBody>
          <a:bodyPr wrap="square" rtlCol="0">
            <a:spAutoFit/>
          </a:bodyPr>
          <a:lstStyle/>
          <a:p>
            <a:pPr algn="ctr"/>
            <a:r>
              <a:rPr lang="en-US" sz="2200" b="1" dirty="0"/>
              <a:t>Java</a:t>
            </a:r>
          </a:p>
        </p:txBody>
      </p:sp>
      <p:sp>
        <p:nvSpPr>
          <p:cNvPr id="18" name="TextBox 17">
            <a:extLst>
              <a:ext uri="{FF2B5EF4-FFF2-40B4-BE49-F238E27FC236}">
                <a16:creationId xmlns:a16="http://schemas.microsoft.com/office/drawing/2014/main" id="{FE3ACF2D-8FE4-0747-B597-ACBF2508EA5F}"/>
              </a:ext>
            </a:extLst>
          </p:cNvPr>
          <p:cNvSpPr txBox="1"/>
          <p:nvPr/>
        </p:nvSpPr>
        <p:spPr>
          <a:xfrm>
            <a:off x="6074344" y="1333500"/>
            <a:ext cx="877504" cy="430887"/>
          </a:xfrm>
          <a:prstGeom prst="rect">
            <a:avLst/>
          </a:prstGeom>
          <a:noFill/>
        </p:spPr>
        <p:txBody>
          <a:bodyPr wrap="square" rtlCol="0">
            <a:spAutoFit/>
          </a:bodyPr>
          <a:lstStyle/>
          <a:p>
            <a:pPr algn="ctr"/>
            <a:r>
              <a:rPr lang="en-US" sz="2200" b="1" dirty="0"/>
              <a:t>C</a:t>
            </a:r>
          </a:p>
        </p:txBody>
      </p:sp>
      <p:sp>
        <p:nvSpPr>
          <p:cNvPr id="19" name="TextBox 18">
            <a:extLst>
              <a:ext uri="{FF2B5EF4-FFF2-40B4-BE49-F238E27FC236}">
                <a16:creationId xmlns:a16="http://schemas.microsoft.com/office/drawing/2014/main" id="{0F7F309A-49DB-5143-BF94-BFAC7A14A017}"/>
              </a:ext>
            </a:extLst>
          </p:cNvPr>
          <p:cNvSpPr txBox="1"/>
          <p:nvPr/>
        </p:nvSpPr>
        <p:spPr>
          <a:xfrm>
            <a:off x="7428296" y="1333500"/>
            <a:ext cx="877504" cy="430887"/>
          </a:xfrm>
          <a:prstGeom prst="rect">
            <a:avLst/>
          </a:prstGeom>
          <a:noFill/>
        </p:spPr>
        <p:txBody>
          <a:bodyPr wrap="square" rtlCol="0">
            <a:spAutoFit/>
          </a:bodyPr>
          <a:lstStyle/>
          <a:p>
            <a:pPr algn="ctr"/>
            <a:r>
              <a:rPr lang="en-US" sz="2200" b="1" dirty="0"/>
              <a:t>Rust</a:t>
            </a:r>
          </a:p>
        </p:txBody>
      </p:sp>
      <p:sp>
        <p:nvSpPr>
          <p:cNvPr id="20" name="TextBox 19">
            <a:extLst>
              <a:ext uri="{FF2B5EF4-FFF2-40B4-BE49-F238E27FC236}">
                <a16:creationId xmlns:a16="http://schemas.microsoft.com/office/drawing/2014/main" id="{BF8BA9BE-A07C-D34D-810A-2F11D1663229}"/>
              </a:ext>
            </a:extLst>
          </p:cNvPr>
          <p:cNvSpPr txBox="1"/>
          <p:nvPr/>
        </p:nvSpPr>
        <p:spPr>
          <a:xfrm>
            <a:off x="4842390" y="1764387"/>
            <a:ext cx="633508" cy="430887"/>
          </a:xfrm>
          <a:prstGeom prst="rect">
            <a:avLst/>
          </a:prstGeom>
          <a:noFill/>
        </p:spPr>
        <p:txBody>
          <a:bodyPr wrap="none" rtlCol="0">
            <a:spAutoFit/>
          </a:bodyPr>
          <a:lstStyle/>
          <a:p>
            <a:pPr algn="ctr"/>
            <a:r>
              <a:rPr lang="en-US" sz="2200" b="1" dirty="0">
                <a:solidFill>
                  <a:srgbClr val="8DB000"/>
                </a:solidFill>
              </a:rPr>
              <a:t>4/5</a:t>
            </a:r>
          </a:p>
        </p:txBody>
      </p:sp>
      <p:sp>
        <p:nvSpPr>
          <p:cNvPr id="23" name="TextBox 22">
            <a:extLst>
              <a:ext uri="{FF2B5EF4-FFF2-40B4-BE49-F238E27FC236}">
                <a16:creationId xmlns:a16="http://schemas.microsoft.com/office/drawing/2014/main" id="{8FFC685C-FBD9-544F-AA43-032C19A0EC1B}"/>
              </a:ext>
            </a:extLst>
          </p:cNvPr>
          <p:cNvSpPr txBox="1"/>
          <p:nvPr/>
        </p:nvSpPr>
        <p:spPr>
          <a:xfrm>
            <a:off x="6196342" y="1764386"/>
            <a:ext cx="633508" cy="430887"/>
          </a:xfrm>
          <a:prstGeom prst="rect">
            <a:avLst/>
          </a:prstGeom>
          <a:noFill/>
        </p:spPr>
        <p:txBody>
          <a:bodyPr wrap="none" rtlCol="0">
            <a:spAutoFit/>
          </a:bodyPr>
          <a:lstStyle/>
          <a:p>
            <a:pPr algn="ctr"/>
            <a:r>
              <a:rPr lang="en-US" sz="2200" b="1" dirty="0"/>
              <a:t>0/5</a:t>
            </a:r>
          </a:p>
        </p:txBody>
      </p:sp>
      <p:sp>
        <p:nvSpPr>
          <p:cNvPr id="24" name="TextBox 23">
            <a:extLst>
              <a:ext uri="{FF2B5EF4-FFF2-40B4-BE49-F238E27FC236}">
                <a16:creationId xmlns:a16="http://schemas.microsoft.com/office/drawing/2014/main" id="{D8D539FD-30C1-AC45-9ED4-0F695C86FA29}"/>
              </a:ext>
            </a:extLst>
          </p:cNvPr>
          <p:cNvSpPr txBox="1"/>
          <p:nvPr/>
        </p:nvSpPr>
        <p:spPr>
          <a:xfrm>
            <a:off x="7550294" y="1764385"/>
            <a:ext cx="633508" cy="430887"/>
          </a:xfrm>
          <a:prstGeom prst="rect">
            <a:avLst/>
          </a:prstGeom>
          <a:noFill/>
        </p:spPr>
        <p:txBody>
          <a:bodyPr wrap="none" rtlCol="0">
            <a:spAutoFit/>
          </a:bodyPr>
          <a:lstStyle/>
          <a:p>
            <a:pPr algn="ctr"/>
            <a:r>
              <a:rPr lang="en-US" sz="2200" b="1" dirty="0">
                <a:solidFill>
                  <a:srgbClr val="00B050"/>
                </a:solidFill>
              </a:rPr>
              <a:t>5/5</a:t>
            </a:r>
          </a:p>
        </p:txBody>
      </p:sp>
      <p:sp>
        <p:nvSpPr>
          <p:cNvPr id="25" name="TextBox 24">
            <a:extLst>
              <a:ext uri="{FF2B5EF4-FFF2-40B4-BE49-F238E27FC236}">
                <a16:creationId xmlns:a16="http://schemas.microsoft.com/office/drawing/2014/main" id="{D9030A85-F641-594C-B9E8-25DE69352021}"/>
              </a:ext>
            </a:extLst>
          </p:cNvPr>
          <p:cNvSpPr txBox="1"/>
          <p:nvPr/>
        </p:nvSpPr>
        <p:spPr>
          <a:xfrm>
            <a:off x="4842390" y="2259308"/>
            <a:ext cx="633508" cy="430887"/>
          </a:xfrm>
          <a:prstGeom prst="rect">
            <a:avLst/>
          </a:prstGeom>
          <a:noFill/>
        </p:spPr>
        <p:txBody>
          <a:bodyPr wrap="none" rtlCol="0">
            <a:spAutoFit/>
          </a:bodyPr>
          <a:lstStyle/>
          <a:p>
            <a:pPr algn="ctr"/>
            <a:r>
              <a:rPr lang="en-US" sz="2200" b="1" dirty="0">
                <a:solidFill>
                  <a:srgbClr val="00B050"/>
                </a:solidFill>
              </a:rPr>
              <a:t>5/5</a:t>
            </a:r>
          </a:p>
        </p:txBody>
      </p:sp>
      <p:sp>
        <p:nvSpPr>
          <p:cNvPr id="26" name="TextBox 25">
            <a:extLst>
              <a:ext uri="{FF2B5EF4-FFF2-40B4-BE49-F238E27FC236}">
                <a16:creationId xmlns:a16="http://schemas.microsoft.com/office/drawing/2014/main" id="{994F23FA-07C8-7A46-94A0-5FB3CD9C6C8E}"/>
              </a:ext>
            </a:extLst>
          </p:cNvPr>
          <p:cNvSpPr txBox="1"/>
          <p:nvPr/>
        </p:nvSpPr>
        <p:spPr>
          <a:xfrm>
            <a:off x="6196342" y="2259307"/>
            <a:ext cx="633508" cy="430887"/>
          </a:xfrm>
          <a:prstGeom prst="rect">
            <a:avLst/>
          </a:prstGeom>
          <a:noFill/>
        </p:spPr>
        <p:txBody>
          <a:bodyPr wrap="none" rtlCol="0">
            <a:spAutoFit/>
          </a:bodyPr>
          <a:lstStyle/>
          <a:p>
            <a:pPr algn="ctr"/>
            <a:r>
              <a:rPr lang="en-US" sz="2200" b="1" dirty="0"/>
              <a:t>0/5</a:t>
            </a:r>
          </a:p>
        </p:txBody>
      </p:sp>
      <p:sp>
        <p:nvSpPr>
          <p:cNvPr id="27" name="TextBox 26">
            <a:extLst>
              <a:ext uri="{FF2B5EF4-FFF2-40B4-BE49-F238E27FC236}">
                <a16:creationId xmlns:a16="http://schemas.microsoft.com/office/drawing/2014/main" id="{6ECBE060-2D45-F640-B8A6-3AE71F000ADD}"/>
              </a:ext>
            </a:extLst>
          </p:cNvPr>
          <p:cNvSpPr txBox="1"/>
          <p:nvPr/>
        </p:nvSpPr>
        <p:spPr>
          <a:xfrm>
            <a:off x="7550294" y="2259306"/>
            <a:ext cx="633508" cy="430887"/>
          </a:xfrm>
          <a:prstGeom prst="rect">
            <a:avLst/>
          </a:prstGeom>
          <a:noFill/>
        </p:spPr>
        <p:txBody>
          <a:bodyPr wrap="none" rtlCol="0">
            <a:spAutoFit/>
          </a:bodyPr>
          <a:lstStyle/>
          <a:p>
            <a:pPr algn="ctr"/>
            <a:r>
              <a:rPr lang="en-US" sz="2200" b="1" dirty="0">
                <a:solidFill>
                  <a:srgbClr val="00B050"/>
                </a:solidFill>
              </a:rPr>
              <a:t>5/5</a:t>
            </a:r>
          </a:p>
        </p:txBody>
      </p:sp>
      <p:sp>
        <p:nvSpPr>
          <p:cNvPr id="28" name="TextBox 27">
            <a:extLst>
              <a:ext uri="{FF2B5EF4-FFF2-40B4-BE49-F238E27FC236}">
                <a16:creationId xmlns:a16="http://schemas.microsoft.com/office/drawing/2014/main" id="{C7878D83-C869-154F-A558-32AE7D9A7077}"/>
              </a:ext>
            </a:extLst>
          </p:cNvPr>
          <p:cNvSpPr txBox="1"/>
          <p:nvPr/>
        </p:nvSpPr>
        <p:spPr>
          <a:xfrm>
            <a:off x="4837512" y="2743369"/>
            <a:ext cx="633508" cy="430887"/>
          </a:xfrm>
          <a:prstGeom prst="rect">
            <a:avLst/>
          </a:prstGeom>
          <a:noFill/>
        </p:spPr>
        <p:txBody>
          <a:bodyPr wrap="none" rtlCol="0">
            <a:spAutoFit/>
          </a:bodyPr>
          <a:lstStyle/>
          <a:p>
            <a:pPr algn="ctr"/>
            <a:r>
              <a:rPr lang="en-US" sz="2200" b="1" dirty="0">
                <a:solidFill>
                  <a:srgbClr val="8DB000"/>
                </a:solidFill>
              </a:rPr>
              <a:t>4/5</a:t>
            </a:r>
          </a:p>
        </p:txBody>
      </p:sp>
      <p:sp>
        <p:nvSpPr>
          <p:cNvPr id="29" name="TextBox 28">
            <a:extLst>
              <a:ext uri="{FF2B5EF4-FFF2-40B4-BE49-F238E27FC236}">
                <a16:creationId xmlns:a16="http://schemas.microsoft.com/office/drawing/2014/main" id="{1AC01A37-F8A3-E24A-A711-8A80AC1C9355}"/>
              </a:ext>
            </a:extLst>
          </p:cNvPr>
          <p:cNvSpPr txBox="1"/>
          <p:nvPr/>
        </p:nvSpPr>
        <p:spPr>
          <a:xfrm>
            <a:off x="6191464" y="2743368"/>
            <a:ext cx="633508" cy="430887"/>
          </a:xfrm>
          <a:prstGeom prst="rect">
            <a:avLst/>
          </a:prstGeom>
          <a:noFill/>
        </p:spPr>
        <p:txBody>
          <a:bodyPr wrap="none" rtlCol="0">
            <a:spAutoFit/>
          </a:bodyPr>
          <a:lstStyle/>
          <a:p>
            <a:pPr algn="ctr"/>
            <a:r>
              <a:rPr lang="en-US" sz="2200" b="1" dirty="0">
                <a:solidFill>
                  <a:srgbClr val="FF3200"/>
                </a:solidFill>
              </a:rPr>
              <a:t>1/5</a:t>
            </a:r>
          </a:p>
        </p:txBody>
      </p:sp>
      <p:sp>
        <p:nvSpPr>
          <p:cNvPr id="30" name="TextBox 29">
            <a:extLst>
              <a:ext uri="{FF2B5EF4-FFF2-40B4-BE49-F238E27FC236}">
                <a16:creationId xmlns:a16="http://schemas.microsoft.com/office/drawing/2014/main" id="{033C0DF7-4BEE-B243-A81E-2C05401109BC}"/>
              </a:ext>
            </a:extLst>
          </p:cNvPr>
          <p:cNvSpPr txBox="1"/>
          <p:nvPr/>
        </p:nvSpPr>
        <p:spPr>
          <a:xfrm>
            <a:off x="7545416" y="2743367"/>
            <a:ext cx="633508" cy="430887"/>
          </a:xfrm>
          <a:prstGeom prst="rect">
            <a:avLst/>
          </a:prstGeom>
          <a:noFill/>
        </p:spPr>
        <p:txBody>
          <a:bodyPr wrap="none" rtlCol="0">
            <a:spAutoFit/>
          </a:bodyPr>
          <a:lstStyle/>
          <a:p>
            <a:pPr algn="ctr"/>
            <a:r>
              <a:rPr lang="en-US" sz="2200" b="1" dirty="0">
                <a:solidFill>
                  <a:srgbClr val="8DB000"/>
                </a:solidFill>
              </a:rPr>
              <a:t>4/5</a:t>
            </a:r>
          </a:p>
        </p:txBody>
      </p:sp>
      <p:sp>
        <p:nvSpPr>
          <p:cNvPr id="31" name="TextBox 30">
            <a:extLst>
              <a:ext uri="{FF2B5EF4-FFF2-40B4-BE49-F238E27FC236}">
                <a16:creationId xmlns:a16="http://schemas.microsoft.com/office/drawing/2014/main" id="{030325C9-28C9-DA41-9D6B-F3D34738C43A}"/>
              </a:ext>
            </a:extLst>
          </p:cNvPr>
          <p:cNvSpPr txBox="1"/>
          <p:nvPr/>
        </p:nvSpPr>
        <p:spPr>
          <a:xfrm>
            <a:off x="4837512" y="3238290"/>
            <a:ext cx="633508" cy="430887"/>
          </a:xfrm>
          <a:prstGeom prst="rect">
            <a:avLst/>
          </a:prstGeom>
          <a:noFill/>
        </p:spPr>
        <p:txBody>
          <a:bodyPr wrap="none" rtlCol="0">
            <a:spAutoFit/>
          </a:bodyPr>
          <a:lstStyle/>
          <a:p>
            <a:pPr algn="ctr"/>
            <a:r>
              <a:rPr lang="en-US" sz="2200" b="1" dirty="0">
                <a:solidFill>
                  <a:srgbClr val="FFC000"/>
                </a:solidFill>
              </a:rPr>
              <a:t>3/5</a:t>
            </a:r>
          </a:p>
        </p:txBody>
      </p:sp>
      <p:sp>
        <p:nvSpPr>
          <p:cNvPr id="32" name="TextBox 31">
            <a:extLst>
              <a:ext uri="{FF2B5EF4-FFF2-40B4-BE49-F238E27FC236}">
                <a16:creationId xmlns:a16="http://schemas.microsoft.com/office/drawing/2014/main" id="{5BACCBD5-6FDA-0F4C-A449-2A2290C9C35C}"/>
              </a:ext>
            </a:extLst>
          </p:cNvPr>
          <p:cNvSpPr txBox="1"/>
          <p:nvPr/>
        </p:nvSpPr>
        <p:spPr>
          <a:xfrm>
            <a:off x="6191464" y="3238289"/>
            <a:ext cx="633508" cy="430887"/>
          </a:xfrm>
          <a:prstGeom prst="rect">
            <a:avLst/>
          </a:prstGeom>
          <a:noFill/>
        </p:spPr>
        <p:txBody>
          <a:bodyPr wrap="none" rtlCol="0">
            <a:spAutoFit/>
          </a:bodyPr>
          <a:lstStyle/>
          <a:p>
            <a:pPr algn="ctr"/>
            <a:r>
              <a:rPr lang="en-US" sz="2200" b="1" dirty="0"/>
              <a:t>0/5</a:t>
            </a:r>
          </a:p>
        </p:txBody>
      </p:sp>
      <p:sp>
        <p:nvSpPr>
          <p:cNvPr id="33" name="TextBox 32">
            <a:extLst>
              <a:ext uri="{FF2B5EF4-FFF2-40B4-BE49-F238E27FC236}">
                <a16:creationId xmlns:a16="http://schemas.microsoft.com/office/drawing/2014/main" id="{AAF9EAFF-61FF-FB46-BCE7-C0C8435CF319}"/>
              </a:ext>
            </a:extLst>
          </p:cNvPr>
          <p:cNvSpPr txBox="1"/>
          <p:nvPr/>
        </p:nvSpPr>
        <p:spPr>
          <a:xfrm>
            <a:off x="7545416" y="3238288"/>
            <a:ext cx="633508" cy="430887"/>
          </a:xfrm>
          <a:prstGeom prst="rect">
            <a:avLst/>
          </a:prstGeom>
          <a:noFill/>
        </p:spPr>
        <p:txBody>
          <a:bodyPr wrap="none" rtlCol="0">
            <a:spAutoFit/>
          </a:bodyPr>
          <a:lstStyle/>
          <a:p>
            <a:pPr algn="ctr"/>
            <a:r>
              <a:rPr lang="en-US" sz="2200" b="1" dirty="0">
                <a:solidFill>
                  <a:srgbClr val="8DB000"/>
                </a:solidFill>
              </a:rPr>
              <a:t>4/5</a:t>
            </a:r>
          </a:p>
        </p:txBody>
      </p:sp>
      <p:sp>
        <p:nvSpPr>
          <p:cNvPr id="35" name="TextBox 34">
            <a:extLst>
              <a:ext uri="{FF2B5EF4-FFF2-40B4-BE49-F238E27FC236}">
                <a16:creationId xmlns:a16="http://schemas.microsoft.com/office/drawing/2014/main" id="{B4566EB4-31AF-A147-8B2B-F2D9077C948B}"/>
              </a:ext>
            </a:extLst>
          </p:cNvPr>
          <p:cNvSpPr txBox="1"/>
          <p:nvPr/>
        </p:nvSpPr>
        <p:spPr>
          <a:xfrm>
            <a:off x="6191464" y="3725002"/>
            <a:ext cx="633508" cy="430887"/>
          </a:xfrm>
          <a:prstGeom prst="rect">
            <a:avLst/>
          </a:prstGeom>
          <a:noFill/>
        </p:spPr>
        <p:txBody>
          <a:bodyPr wrap="none" rtlCol="0">
            <a:spAutoFit/>
          </a:bodyPr>
          <a:lstStyle/>
          <a:p>
            <a:pPr algn="ctr"/>
            <a:r>
              <a:rPr lang="en-US" sz="2200" b="1" dirty="0">
                <a:solidFill>
                  <a:srgbClr val="FF3200"/>
                </a:solidFill>
              </a:rPr>
              <a:t>1/5</a:t>
            </a:r>
          </a:p>
        </p:txBody>
      </p:sp>
      <p:sp>
        <p:nvSpPr>
          <p:cNvPr id="36" name="TextBox 35">
            <a:extLst>
              <a:ext uri="{FF2B5EF4-FFF2-40B4-BE49-F238E27FC236}">
                <a16:creationId xmlns:a16="http://schemas.microsoft.com/office/drawing/2014/main" id="{B251B306-4A60-F74D-B55A-E6DD41B35B1C}"/>
              </a:ext>
            </a:extLst>
          </p:cNvPr>
          <p:cNvSpPr txBox="1"/>
          <p:nvPr/>
        </p:nvSpPr>
        <p:spPr>
          <a:xfrm>
            <a:off x="7545416" y="3725001"/>
            <a:ext cx="633508" cy="430887"/>
          </a:xfrm>
          <a:prstGeom prst="rect">
            <a:avLst/>
          </a:prstGeom>
          <a:noFill/>
        </p:spPr>
        <p:txBody>
          <a:bodyPr wrap="none" rtlCol="0">
            <a:spAutoFit/>
          </a:bodyPr>
          <a:lstStyle/>
          <a:p>
            <a:pPr algn="ctr"/>
            <a:r>
              <a:rPr lang="en-US" sz="2200" b="1" dirty="0">
                <a:solidFill>
                  <a:srgbClr val="00B050"/>
                </a:solidFill>
              </a:rPr>
              <a:t>5/5</a:t>
            </a:r>
          </a:p>
        </p:txBody>
      </p:sp>
      <p:sp>
        <p:nvSpPr>
          <p:cNvPr id="37" name="TextBox 36">
            <a:extLst>
              <a:ext uri="{FF2B5EF4-FFF2-40B4-BE49-F238E27FC236}">
                <a16:creationId xmlns:a16="http://schemas.microsoft.com/office/drawing/2014/main" id="{AB4F2A4F-DDC5-6546-9039-62F5554EDC17}"/>
              </a:ext>
            </a:extLst>
          </p:cNvPr>
          <p:cNvSpPr txBox="1"/>
          <p:nvPr/>
        </p:nvSpPr>
        <p:spPr>
          <a:xfrm>
            <a:off x="4837512" y="4219924"/>
            <a:ext cx="633508" cy="430887"/>
          </a:xfrm>
          <a:prstGeom prst="rect">
            <a:avLst/>
          </a:prstGeom>
          <a:noFill/>
        </p:spPr>
        <p:txBody>
          <a:bodyPr wrap="none" rtlCol="0">
            <a:spAutoFit/>
          </a:bodyPr>
          <a:lstStyle/>
          <a:p>
            <a:pPr algn="ctr"/>
            <a:r>
              <a:rPr lang="en-US" sz="2200" b="1" dirty="0"/>
              <a:t>0/5</a:t>
            </a:r>
          </a:p>
        </p:txBody>
      </p:sp>
      <p:sp>
        <p:nvSpPr>
          <p:cNvPr id="38" name="TextBox 37">
            <a:extLst>
              <a:ext uri="{FF2B5EF4-FFF2-40B4-BE49-F238E27FC236}">
                <a16:creationId xmlns:a16="http://schemas.microsoft.com/office/drawing/2014/main" id="{94FE5FAD-09B1-624B-BB06-508B5CC38938}"/>
              </a:ext>
            </a:extLst>
          </p:cNvPr>
          <p:cNvSpPr txBox="1"/>
          <p:nvPr/>
        </p:nvSpPr>
        <p:spPr>
          <a:xfrm>
            <a:off x="6191464" y="4219923"/>
            <a:ext cx="633508" cy="430887"/>
          </a:xfrm>
          <a:prstGeom prst="rect">
            <a:avLst/>
          </a:prstGeom>
          <a:noFill/>
        </p:spPr>
        <p:txBody>
          <a:bodyPr wrap="none" rtlCol="0">
            <a:spAutoFit/>
          </a:bodyPr>
          <a:lstStyle/>
          <a:p>
            <a:pPr algn="ctr"/>
            <a:r>
              <a:rPr lang="en-US" sz="2200" b="1" dirty="0"/>
              <a:t>0/5</a:t>
            </a:r>
          </a:p>
        </p:txBody>
      </p:sp>
      <p:sp>
        <p:nvSpPr>
          <p:cNvPr id="39" name="TextBox 38">
            <a:extLst>
              <a:ext uri="{FF2B5EF4-FFF2-40B4-BE49-F238E27FC236}">
                <a16:creationId xmlns:a16="http://schemas.microsoft.com/office/drawing/2014/main" id="{8E9C3005-81AB-8D47-9C4D-3692F33A0A87}"/>
              </a:ext>
            </a:extLst>
          </p:cNvPr>
          <p:cNvSpPr txBox="1"/>
          <p:nvPr/>
        </p:nvSpPr>
        <p:spPr>
          <a:xfrm>
            <a:off x="7545416" y="4219922"/>
            <a:ext cx="633508" cy="430887"/>
          </a:xfrm>
          <a:prstGeom prst="rect">
            <a:avLst/>
          </a:prstGeom>
          <a:noFill/>
        </p:spPr>
        <p:txBody>
          <a:bodyPr wrap="none" rtlCol="0">
            <a:spAutoFit/>
          </a:bodyPr>
          <a:lstStyle/>
          <a:p>
            <a:pPr algn="ctr"/>
            <a:r>
              <a:rPr lang="en-US" sz="2200" b="1" dirty="0">
                <a:solidFill>
                  <a:srgbClr val="8DB000"/>
                </a:solidFill>
              </a:rPr>
              <a:t>4/5</a:t>
            </a:r>
          </a:p>
        </p:txBody>
      </p:sp>
      <p:sp>
        <p:nvSpPr>
          <p:cNvPr id="40" name="TextBox 39">
            <a:extLst>
              <a:ext uri="{FF2B5EF4-FFF2-40B4-BE49-F238E27FC236}">
                <a16:creationId xmlns:a16="http://schemas.microsoft.com/office/drawing/2014/main" id="{5444E72D-2D46-634D-9E93-1C3AF1200F0B}"/>
              </a:ext>
            </a:extLst>
          </p:cNvPr>
          <p:cNvSpPr txBox="1"/>
          <p:nvPr/>
        </p:nvSpPr>
        <p:spPr>
          <a:xfrm>
            <a:off x="4839116" y="3735620"/>
            <a:ext cx="633508" cy="430887"/>
          </a:xfrm>
          <a:prstGeom prst="rect">
            <a:avLst/>
          </a:prstGeom>
          <a:noFill/>
        </p:spPr>
        <p:txBody>
          <a:bodyPr wrap="none" rtlCol="0">
            <a:spAutoFit/>
          </a:bodyPr>
          <a:lstStyle/>
          <a:p>
            <a:pPr algn="ctr"/>
            <a:r>
              <a:rPr lang="en-US" sz="2200" b="1" dirty="0">
                <a:solidFill>
                  <a:srgbClr val="FF3200"/>
                </a:solidFill>
              </a:rPr>
              <a:t>1/5</a:t>
            </a:r>
          </a:p>
        </p:txBody>
      </p:sp>
      <p:sp>
        <p:nvSpPr>
          <p:cNvPr id="41" name="TextBox 40">
            <a:extLst>
              <a:ext uri="{FF2B5EF4-FFF2-40B4-BE49-F238E27FC236}">
                <a16:creationId xmlns:a16="http://schemas.microsoft.com/office/drawing/2014/main" id="{3C3B0618-F8A3-A140-9940-268E9A71B1C9}"/>
              </a:ext>
            </a:extLst>
          </p:cNvPr>
          <p:cNvSpPr txBox="1"/>
          <p:nvPr/>
        </p:nvSpPr>
        <p:spPr>
          <a:xfrm>
            <a:off x="2286000" y="5219699"/>
            <a:ext cx="6553200" cy="276999"/>
          </a:xfrm>
          <a:prstGeom prst="rect">
            <a:avLst/>
          </a:prstGeom>
          <a:noFill/>
        </p:spPr>
        <p:txBody>
          <a:bodyPr wrap="square" rtlCol="0">
            <a:spAutoFit/>
          </a:bodyPr>
          <a:lstStyle/>
          <a:p>
            <a:pPr algn="r"/>
            <a:r>
              <a:rPr lang="en-US" sz="1200" i="1" dirty="0"/>
              <a:t>ratings are my opinion based on experience. this is a limited view of their strengths/weaknesses.</a:t>
            </a:r>
          </a:p>
        </p:txBody>
      </p:sp>
      <p:sp>
        <p:nvSpPr>
          <p:cNvPr id="42" name="TextBox 41">
            <a:extLst>
              <a:ext uri="{FF2B5EF4-FFF2-40B4-BE49-F238E27FC236}">
                <a16:creationId xmlns:a16="http://schemas.microsoft.com/office/drawing/2014/main" id="{0B89093C-B6A5-0641-8249-8B9B421078D2}"/>
              </a:ext>
            </a:extLst>
          </p:cNvPr>
          <p:cNvSpPr txBox="1"/>
          <p:nvPr/>
        </p:nvSpPr>
        <p:spPr>
          <a:xfrm>
            <a:off x="152400" y="4665687"/>
            <a:ext cx="4285649" cy="430887"/>
          </a:xfrm>
          <a:prstGeom prst="rect">
            <a:avLst/>
          </a:prstGeom>
          <a:noFill/>
        </p:spPr>
        <p:txBody>
          <a:bodyPr wrap="square" rtlCol="0">
            <a:spAutoFit/>
          </a:bodyPr>
          <a:lstStyle/>
          <a:p>
            <a:pPr algn="r"/>
            <a:r>
              <a:rPr lang="en-US" sz="2200" dirty="0"/>
              <a:t>Strong, expressive type system</a:t>
            </a:r>
          </a:p>
        </p:txBody>
      </p:sp>
      <p:cxnSp>
        <p:nvCxnSpPr>
          <p:cNvPr id="43" name="Straight Connector 42">
            <a:extLst>
              <a:ext uri="{FF2B5EF4-FFF2-40B4-BE49-F238E27FC236}">
                <a16:creationId xmlns:a16="http://schemas.microsoft.com/office/drawing/2014/main" id="{E57D44AC-0C30-9042-9749-FD290BEBFEC3}"/>
              </a:ext>
            </a:extLst>
          </p:cNvPr>
          <p:cNvCxnSpPr/>
          <p:nvPr/>
        </p:nvCxnSpPr>
        <p:spPr>
          <a:xfrm>
            <a:off x="762000" y="4637292"/>
            <a:ext cx="8077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CCE701E9-64CE-EB40-B9E2-3CC9811EB5D8}"/>
              </a:ext>
            </a:extLst>
          </p:cNvPr>
          <p:cNvSpPr txBox="1"/>
          <p:nvPr/>
        </p:nvSpPr>
        <p:spPr>
          <a:xfrm>
            <a:off x="6191464" y="4679204"/>
            <a:ext cx="633508" cy="430887"/>
          </a:xfrm>
          <a:prstGeom prst="rect">
            <a:avLst/>
          </a:prstGeom>
          <a:noFill/>
        </p:spPr>
        <p:txBody>
          <a:bodyPr wrap="none" rtlCol="0">
            <a:spAutoFit/>
          </a:bodyPr>
          <a:lstStyle/>
          <a:p>
            <a:pPr algn="ctr"/>
            <a:r>
              <a:rPr lang="en-US" sz="2200" b="1" dirty="0"/>
              <a:t>0/5</a:t>
            </a:r>
          </a:p>
        </p:txBody>
      </p:sp>
      <p:sp>
        <p:nvSpPr>
          <p:cNvPr id="47" name="TextBox 46">
            <a:extLst>
              <a:ext uri="{FF2B5EF4-FFF2-40B4-BE49-F238E27FC236}">
                <a16:creationId xmlns:a16="http://schemas.microsoft.com/office/drawing/2014/main" id="{616DCB02-106B-7A41-A6D5-50CC7562D5C8}"/>
              </a:ext>
            </a:extLst>
          </p:cNvPr>
          <p:cNvSpPr txBox="1"/>
          <p:nvPr/>
        </p:nvSpPr>
        <p:spPr>
          <a:xfrm>
            <a:off x="4837512" y="4679203"/>
            <a:ext cx="633508" cy="430887"/>
          </a:xfrm>
          <a:prstGeom prst="rect">
            <a:avLst/>
          </a:prstGeom>
          <a:noFill/>
        </p:spPr>
        <p:txBody>
          <a:bodyPr wrap="none" rtlCol="0">
            <a:spAutoFit/>
          </a:bodyPr>
          <a:lstStyle/>
          <a:p>
            <a:pPr algn="ctr"/>
            <a:r>
              <a:rPr lang="en-US" sz="2200" b="1" dirty="0">
                <a:solidFill>
                  <a:schemeClr val="accent6">
                    <a:lumMod val="75000"/>
                  </a:schemeClr>
                </a:solidFill>
              </a:rPr>
              <a:t>2/5</a:t>
            </a:r>
          </a:p>
        </p:txBody>
      </p:sp>
      <p:sp>
        <p:nvSpPr>
          <p:cNvPr id="48" name="TextBox 47">
            <a:extLst>
              <a:ext uri="{FF2B5EF4-FFF2-40B4-BE49-F238E27FC236}">
                <a16:creationId xmlns:a16="http://schemas.microsoft.com/office/drawing/2014/main" id="{506CA390-2BE4-C746-B783-2285F2C1F32C}"/>
              </a:ext>
            </a:extLst>
          </p:cNvPr>
          <p:cNvSpPr txBox="1"/>
          <p:nvPr/>
        </p:nvSpPr>
        <p:spPr>
          <a:xfrm>
            <a:off x="7545416" y="4679203"/>
            <a:ext cx="633508" cy="430887"/>
          </a:xfrm>
          <a:prstGeom prst="rect">
            <a:avLst/>
          </a:prstGeom>
          <a:noFill/>
        </p:spPr>
        <p:txBody>
          <a:bodyPr wrap="none" rtlCol="0">
            <a:spAutoFit/>
          </a:bodyPr>
          <a:lstStyle/>
          <a:p>
            <a:pPr algn="ctr"/>
            <a:r>
              <a:rPr lang="en-US" sz="2200" b="1" dirty="0">
                <a:solidFill>
                  <a:srgbClr val="00B050"/>
                </a:solidFill>
              </a:rPr>
              <a:t>5/5</a:t>
            </a:r>
          </a:p>
        </p:txBody>
      </p:sp>
    </p:spTree>
    <p:extLst>
      <p:ext uri="{BB962C8B-B14F-4D97-AF65-F5344CB8AC3E}">
        <p14:creationId xmlns:p14="http://schemas.microsoft.com/office/powerpoint/2010/main" val="167347960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7"/>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47"/>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9"/>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2"/>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5"/>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38"/>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5"/>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24"/>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27"/>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30"/>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33"/>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36"/>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39"/>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7" grpId="0"/>
      <p:bldP spid="18" grpId="0"/>
      <p:bldP spid="19" grpId="0"/>
      <p:bldP spid="20" grpId="0"/>
      <p:bldP spid="23" grpId="0"/>
      <p:bldP spid="24" grpId="0"/>
      <p:bldP spid="25" grpId="0"/>
      <p:bldP spid="26" grpId="0"/>
      <p:bldP spid="27" grpId="0"/>
      <p:bldP spid="28" grpId="0"/>
      <p:bldP spid="29" grpId="0"/>
      <p:bldP spid="30" grpId="0"/>
      <p:bldP spid="31" grpId="0"/>
      <p:bldP spid="32" grpId="0"/>
      <p:bldP spid="33" grpId="0"/>
      <p:bldP spid="35" grpId="0"/>
      <p:bldP spid="36" grpId="0"/>
      <p:bldP spid="37" grpId="0"/>
      <p:bldP spid="38" grpId="0"/>
      <p:bldP spid="39" grpId="0"/>
      <p:bldP spid="40" grpId="0"/>
      <p:bldP spid="41" grpId="0"/>
      <p:bldP spid="42" grpId="0"/>
      <p:bldP spid="45" grpId="0"/>
      <p:bldP spid="47" grpId="0"/>
      <p:bldP spid="4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B4DE6-622E-2A4C-B50A-A5B5BB7C1499}"/>
              </a:ext>
            </a:extLst>
          </p:cNvPr>
          <p:cNvSpPr>
            <a:spLocks noGrp="1"/>
          </p:cNvSpPr>
          <p:nvPr>
            <p:ph type="title"/>
          </p:nvPr>
        </p:nvSpPr>
        <p:spPr/>
        <p:txBody>
          <a:bodyPr/>
          <a:lstStyle/>
          <a:p>
            <a:r>
              <a:rPr lang="en-US" dirty="0"/>
              <a:t>What is Rust?</a:t>
            </a:r>
          </a:p>
        </p:txBody>
      </p:sp>
      <p:sp>
        <p:nvSpPr>
          <p:cNvPr id="3" name="Content Placeholder 2">
            <a:extLst>
              <a:ext uri="{FF2B5EF4-FFF2-40B4-BE49-F238E27FC236}">
                <a16:creationId xmlns:a16="http://schemas.microsoft.com/office/drawing/2014/main" id="{50424A57-B8C9-8344-BB7C-0D4F0FCE8637}"/>
              </a:ext>
            </a:extLst>
          </p:cNvPr>
          <p:cNvSpPr>
            <a:spLocks noGrp="1"/>
          </p:cNvSpPr>
          <p:nvPr>
            <p:ph idx="1"/>
          </p:nvPr>
        </p:nvSpPr>
        <p:spPr>
          <a:xfrm>
            <a:off x="152400" y="495301"/>
            <a:ext cx="8991600" cy="1142999"/>
          </a:xfrm>
        </p:spPr>
        <p:txBody>
          <a:bodyPr/>
          <a:lstStyle/>
          <a:p>
            <a:r>
              <a:rPr lang="en-US" dirty="0"/>
              <a:t>it's a </a:t>
            </a:r>
            <a:r>
              <a:rPr lang="en-US" b="1" dirty="0"/>
              <a:t>systems language </a:t>
            </a:r>
            <a:r>
              <a:rPr lang="en-US" dirty="0"/>
              <a:t>like C, but designed to not be terrible.</a:t>
            </a:r>
          </a:p>
          <a:p>
            <a:r>
              <a:rPr lang="en-US" dirty="0"/>
              <a:t>it's rigorously defined and borrows many features from PL theory…</a:t>
            </a:r>
          </a:p>
          <a:p>
            <a:r>
              <a:rPr lang="en-US" dirty="0"/>
              <a:t>…but also tries to be a practical language for writing real programs.</a:t>
            </a:r>
          </a:p>
        </p:txBody>
      </p:sp>
      <p:sp>
        <p:nvSpPr>
          <p:cNvPr id="4" name="Slide Number Placeholder 3">
            <a:extLst>
              <a:ext uri="{FF2B5EF4-FFF2-40B4-BE49-F238E27FC236}">
                <a16:creationId xmlns:a16="http://schemas.microsoft.com/office/drawing/2014/main" id="{A407EB2F-C8B6-EB41-A25E-141D72901BBD}"/>
              </a:ext>
            </a:extLst>
          </p:cNvPr>
          <p:cNvSpPr>
            <a:spLocks noGrp="1"/>
          </p:cNvSpPr>
          <p:nvPr>
            <p:ph type="sldNum" sz="quarter" idx="12"/>
          </p:nvPr>
        </p:nvSpPr>
        <p:spPr/>
        <p:txBody>
          <a:bodyPr/>
          <a:lstStyle/>
          <a:p>
            <a:fld id="{3552B95B-556F-44BD-91A5-D80C1B9E2BB3}" type="slidenum">
              <a:rPr lang="en-US" smtClean="0"/>
              <a:pPr/>
              <a:t>29</a:t>
            </a:fld>
            <a:endParaRPr lang="en-US"/>
          </a:p>
        </p:txBody>
      </p:sp>
      <p:sp>
        <p:nvSpPr>
          <p:cNvPr id="5" name="TextBox 4">
            <a:extLst>
              <a:ext uri="{FF2B5EF4-FFF2-40B4-BE49-F238E27FC236}">
                <a16:creationId xmlns:a16="http://schemas.microsoft.com/office/drawing/2014/main" id="{18F239FB-848C-BB46-9B4B-B072BE179B2C}"/>
              </a:ext>
            </a:extLst>
          </p:cNvPr>
          <p:cNvSpPr txBox="1"/>
          <p:nvPr/>
        </p:nvSpPr>
        <p:spPr>
          <a:xfrm>
            <a:off x="174057" y="1638300"/>
            <a:ext cx="3581400" cy="1107996"/>
          </a:xfrm>
          <a:prstGeom prst="rect">
            <a:avLst/>
          </a:prstGeom>
          <a:noFill/>
        </p:spPr>
        <p:txBody>
          <a:bodyPr wrap="square" rtlCol="0">
            <a:spAutoFit/>
          </a:bodyPr>
          <a:lstStyle/>
          <a:p>
            <a:pPr algn="ctr"/>
            <a:r>
              <a:rPr lang="en-US" sz="2200" dirty="0"/>
              <a:t>you might have heard that it's complex and confusing. and it sure can be!</a:t>
            </a:r>
          </a:p>
        </p:txBody>
      </p:sp>
      <p:sp>
        <p:nvSpPr>
          <p:cNvPr id="6" name="Rectangle 5">
            <a:extLst>
              <a:ext uri="{FF2B5EF4-FFF2-40B4-BE49-F238E27FC236}">
                <a16:creationId xmlns:a16="http://schemas.microsoft.com/office/drawing/2014/main" id="{79908D10-62FC-8F46-8A2D-22AE8D03717B}"/>
              </a:ext>
            </a:extLst>
          </p:cNvPr>
          <p:cNvSpPr/>
          <p:nvPr/>
        </p:nvSpPr>
        <p:spPr>
          <a:xfrm>
            <a:off x="3755457" y="1776799"/>
            <a:ext cx="5236143" cy="830997"/>
          </a:xfrm>
          <a:prstGeom prst="rect">
            <a:avLst/>
          </a:prstGeom>
        </p:spPr>
        <p:txBody>
          <a:bodyPr wrap="square">
            <a:spAutoFit/>
          </a:bodyPr>
          <a:lstStyle/>
          <a:p>
            <a:r>
              <a:rPr lang="en-US" sz="1200" b="1" dirty="0" err="1">
                <a:solidFill>
                  <a:srgbClr val="FF0000"/>
                </a:solidFill>
                <a:latin typeface="Consolas" panose="020B0609020204030204" pitchFamily="49" charset="0"/>
                <a:cs typeface="Consolas" panose="020B0609020204030204" pitchFamily="49" charset="0"/>
              </a:rPr>
              <a:t>fn</a:t>
            </a:r>
            <a:r>
              <a:rPr lang="en-US" sz="1200" b="1" dirty="0">
                <a:latin typeface="Consolas" panose="020B0609020204030204" pitchFamily="49" charset="0"/>
                <a:cs typeface="Consolas" panose="020B0609020204030204" pitchFamily="49" charset="0"/>
              </a:rPr>
              <a:t> </a:t>
            </a:r>
            <a:r>
              <a:rPr lang="en-US" sz="1200" b="1" dirty="0" err="1">
                <a:latin typeface="Consolas" panose="020B0609020204030204" pitchFamily="49" charset="0"/>
                <a:cs typeface="Consolas" panose="020B0609020204030204" pitchFamily="49" charset="0"/>
              </a:rPr>
              <a:t>err_context</a:t>
            </a:r>
            <a:r>
              <a:rPr lang="en-US" sz="1200" b="1" dirty="0">
                <a:latin typeface="Consolas" panose="020B0609020204030204" pitchFamily="49" charset="0"/>
                <a:cs typeface="Consolas" panose="020B0609020204030204" pitchFamily="49" charset="0"/>
              </a:rPr>
              <a:t>&lt;</a:t>
            </a:r>
            <a:r>
              <a:rPr lang="en-US" sz="1200" b="1" dirty="0">
                <a:solidFill>
                  <a:srgbClr val="FF0000"/>
                </a:solidFill>
                <a:latin typeface="Consolas" panose="020B0609020204030204" pitchFamily="49" charset="0"/>
                <a:cs typeface="Consolas" panose="020B0609020204030204" pitchFamily="49" charset="0"/>
              </a:rPr>
              <a:t>'a</a:t>
            </a:r>
            <a:r>
              <a:rPr lang="en-US" sz="1200" b="1" dirty="0">
                <a:latin typeface="Consolas" panose="020B0609020204030204" pitchFamily="49" charset="0"/>
                <a:cs typeface="Consolas" panose="020B0609020204030204" pitchFamily="49" charset="0"/>
              </a:rPr>
              <a:t>, O, F&gt;(kind: </a:t>
            </a:r>
            <a:r>
              <a:rPr lang="en-US" sz="1200" b="1" dirty="0" err="1">
                <a:latin typeface="Consolas" panose="020B0609020204030204" pitchFamily="49" charset="0"/>
                <a:cs typeface="Consolas" panose="020B0609020204030204" pitchFamily="49" charset="0"/>
              </a:rPr>
              <a:t>LexErrorKind</a:t>
            </a:r>
            <a:r>
              <a:rPr lang="en-US" sz="1200" b="1" dirty="0">
                <a:latin typeface="Consolas" panose="020B0609020204030204" pitchFamily="49" charset="0"/>
                <a:cs typeface="Consolas" panose="020B0609020204030204" pitchFamily="49" charset="0"/>
              </a:rPr>
              <a:t>, parser: F) -&gt;</a:t>
            </a:r>
          </a:p>
          <a:p>
            <a:r>
              <a:rPr lang="en-US" sz="1200" b="1" dirty="0">
                <a:latin typeface="Consolas" panose="020B0609020204030204" pitchFamily="49" charset="0"/>
                <a:cs typeface="Consolas" panose="020B0609020204030204" pitchFamily="49" charset="0"/>
              </a:rPr>
              <a:t>  </a:t>
            </a:r>
            <a:r>
              <a:rPr lang="en-US" sz="1200" b="1" dirty="0" err="1">
                <a:solidFill>
                  <a:srgbClr val="FF0000"/>
                </a:solidFill>
                <a:latin typeface="Consolas" panose="020B0609020204030204" pitchFamily="49" charset="0"/>
                <a:cs typeface="Consolas" panose="020B0609020204030204" pitchFamily="49" charset="0"/>
              </a:rPr>
              <a:t>impl</a:t>
            </a:r>
            <a:r>
              <a:rPr lang="en-US" sz="1200" b="1" dirty="0">
                <a:latin typeface="Consolas" panose="020B0609020204030204" pitchFamily="49" charset="0"/>
                <a:cs typeface="Consolas" panose="020B0609020204030204" pitchFamily="49" charset="0"/>
              </a:rPr>
              <a:t> </a:t>
            </a:r>
            <a:r>
              <a:rPr lang="en-US" sz="1200" b="1" dirty="0" err="1">
                <a:latin typeface="Consolas" panose="020B0609020204030204" pitchFamily="49" charset="0"/>
                <a:cs typeface="Consolas" panose="020B0609020204030204" pitchFamily="49" charset="0"/>
              </a:rPr>
              <a:t>Fn</a:t>
            </a:r>
            <a:r>
              <a:rPr lang="en-US" sz="1200" b="1" dirty="0">
                <a:latin typeface="Consolas" panose="020B0609020204030204" pitchFamily="49" charset="0"/>
                <a:cs typeface="Consolas" panose="020B0609020204030204" pitchFamily="49" charset="0"/>
              </a:rPr>
              <a:t>(Span&lt;</a:t>
            </a:r>
            <a:r>
              <a:rPr lang="en-US" sz="1200" b="1" dirty="0">
                <a:solidFill>
                  <a:srgbClr val="FF0000"/>
                </a:solidFill>
                <a:latin typeface="Consolas" panose="020B0609020204030204" pitchFamily="49" charset="0"/>
                <a:cs typeface="Consolas" panose="020B0609020204030204" pitchFamily="49" charset="0"/>
              </a:rPr>
              <a:t>'a</a:t>
            </a:r>
            <a:r>
              <a:rPr lang="en-US" sz="1200" b="1" dirty="0">
                <a:latin typeface="Consolas" panose="020B0609020204030204" pitchFamily="49" charset="0"/>
                <a:cs typeface="Consolas" panose="020B0609020204030204" pitchFamily="49" charset="0"/>
              </a:rPr>
              <a:t>&gt;) -&gt; </a:t>
            </a:r>
            <a:r>
              <a:rPr lang="en-US" sz="1200" b="1" dirty="0" err="1">
                <a:latin typeface="Consolas" panose="020B0609020204030204" pitchFamily="49" charset="0"/>
                <a:cs typeface="Consolas" panose="020B0609020204030204" pitchFamily="49" charset="0"/>
              </a:rPr>
              <a:t>LResult</a:t>
            </a:r>
            <a:r>
              <a:rPr lang="en-US" sz="1200" b="1" dirty="0">
                <a:latin typeface="Consolas" panose="020B0609020204030204" pitchFamily="49" charset="0"/>
                <a:cs typeface="Consolas" panose="020B0609020204030204" pitchFamily="49" charset="0"/>
              </a:rPr>
              <a:t>&lt;</a:t>
            </a:r>
            <a:r>
              <a:rPr lang="en-US" sz="1200" b="1" dirty="0">
                <a:solidFill>
                  <a:srgbClr val="FF0000"/>
                </a:solidFill>
                <a:latin typeface="Consolas" panose="020B0609020204030204" pitchFamily="49" charset="0"/>
                <a:cs typeface="Consolas" panose="020B0609020204030204" pitchFamily="49" charset="0"/>
              </a:rPr>
              <a:t>'a</a:t>
            </a:r>
            <a:r>
              <a:rPr lang="en-US" sz="1200" b="1" dirty="0">
                <a:latin typeface="Consolas" panose="020B0609020204030204" pitchFamily="49" charset="0"/>
                <a:cs typeface="Consolas" panose="020B0609020204030204" pitchFamily="49" charset="0"/>
              </a:rPr>
              <a:t>, O&gt;</a:t>
            </a:r>
          </a:p>
          <a:p>
            <a:r>
              <a:rPr lang="en-US" sz="1200" b="1" dirty="0">
                <a:solidFill>
                  <a:srgbClr val="FF0000"/>
                </a:solidFill>
                <a:latin typeface="Consolas" panose="020B0609020204030204" pitchFamily="49" charset="0"/>
                <a:cs typeface="Consolas" panose="020B0609020204030204" pitchFamily="49" charset="0"/>
              </a:rPr>
              <a:t>where</a:t>
            </a:r>
          </a:p>
          <a:p>
            <a:r>
              <a:rPr lang="en-US" sz="1200" b="1" dirty="0">
                <a:latin typeface="Consolas" panose="020B0609020204030204" pitchFamily="49" charset="0"/>
                <a:cs typeface="Consolas" panose="020B0609020204030204" pitchFamily="49" charset="0"/>
              </a:rPr>
              <a:t>  F: </a:t>
            </a:r>
            <a:r>
              <a:rPr lang="en-US" sz="1200" b="1" dirty="0" err="1">
                <a:latin typeface="Consolas" panose="020B0609020204030204" pitchFamily="49" charset="0"/>
                <a:cs typeface="Consolas" panose="020B0609020204030204" pitchFamily="49" charset="0"/>
              </a:rPr>
              <a:t>Fn</a:t>
            </a:r>
            <a:r>
              <a:rPr lang="en-US" sz="1200" b="1" dirty="0">
                <a:latin typeface="Consolas" panose="020B0609020204030204" pitchFamily="49" charset="0"/>
                <a:cs typeface="Consolas" panose="020B0609020204030204" pitchFamily="49" charset="0"/>
              </a:rPr>
              <a:t>(Span&lt;</a:t>
            </a:r>
            <a:r>
              <a:rPr lang="en-US" sz="1200" b="1" dirty="0">
                <a:solidFill>
                  <a:srgbClr val="FF0000"/>
                </a:solidFill>
                <a:latin typeface="Consolas" panose="020B0609020204030204" pitchFamily="49" charset="0"/>
                <a:cs typeface="Consolas" panose="020B0609020204030204" pitchFamily="49" charset="0"/>
              </a:rPr>
              <a:t>'a</a:t>
            </a:r>
            <a:r>
              <a:rPr lang="en-US" sz="1200" b="1" dirty="0">
                <a:latin typeface="Consolas" panose="020B0609020204030204" pitchFamily="49" charset="0"/>
                <a:cs typeface="Consolas" panose="020B0609020204030204" pitchFamily="49" charset="0"/>
              </a:rPr>
              <a:t>&gt;) -&gt; </a:t>
            </a:r>
            <a:r>
              <a:rPr lang="en-US" sz="1200" b="1" dirty="0" err="1">
                <a:latin typeface="Consolas" panose="020B0609020204030204" pitchFamily="49" charset="0"/>
                <a:cs typeface="Consolas" panose="020B0609020204030204" pitchFamily="49" charset="0"/>
              </a:rPr>
              <a:t>IResult</a:t>
            </a:r>
            <a:r>
              <a:rPr lang="en-US" sz="1200" b="1" dirty="0">
                <a:latin typeface="Consolas" panose="020B0609020204030204" pitchFamily="49" charset="0"/>
                <a:cs typeface="Consolas" panose="020B0609020204030204" pitchFamily="49" charset="0"/>
              </a:rPr>
              <a:t>&lt;Span&lt;</a:t>
            </a:r>
            <a:r>
              <a:rPr lang="en-US" sz="1200" b="1" dirty="0">
                <a:solidFill>
                  <a:srgbClr val="FF0000"/>
                </a:solidFill>
                <a:latin typeface="Consolas" panose="020B0609020204030204" pitchFamily="49" charset="0"/>
                <a:cs typeface="Consolas" panose="020B0609020204030204" pitchFamily="49" charset="0"/>
              </a:rPr>
              <a:t>'a</a:t>
            </a:r>
            <a:r>
              <a:rPr lang="en-US" sz="1200" b="1" dirty="0">
                <a:latin typeface="Consolas" panose="020B0609020204030204" pitchFamily="49" charset="0"/>
                <a:cs typeface="Consolas" panose="020B0609020204030204" pitchFamily="49" charset="0"/>
              </a:rPr>
              <a:t>&gt;, O, </a:t>
            </a:r>
            <a:r>
              <a:rPr lang="en-US" sz="1200" b="1" dirty="0" err="1">
                <a:latin typeface="Consolas" panose="020B0609020204030204" pitchFamily="49" charset="0"/>
                <a:cs typeface="Consolas" panose="020B0609020204030204" pitchFamily="49" charset="0"/>
              </a:rPr>
              <a:t>LexError</a:t>
            </a:r>
            <a:r>
              <a:rPr lang="en-US" sz="1200" b="1" dirty="0">
                <a:latin typeface="Consolas" panose="020B0609020204030204" pitchFamily="49" charset="0"/>
                <a:cs typeface="Consolas" panose="020B0609020204030204" pitchFamily="49" charset="0"/>
              </a:rPr>
              <a:t>&gt;,</a:t>
            </a:r>
          </a:p>
        </p:txBody>
      </p:sp>
      <p:sp>
        <p:nvSpPr>
          <p:cNvPr id="7" name="Rectangle 6">
            <a:extLst>
              <a:ext uri="{FF2B5EF4-FFF2-40B4-BE49-F238E27FC236}">
                <a16:creationId xmlns:a16="http://schemas.microsoft.com/office/drawing/2014/main" id="{7098B092-25F9-E34F-A199-13E14E6FE4D0}"/>
              </a:ext>
            </a:extLst>
          </p:cNvPr>
          <p:cNvSpPr/>
          <p:nvPr/>
        </p:nvSpPr>
        <p:spPr>
          <a:xfrm>
            <a:off x="3755457" y="2813605"/>
            <a:ext cx="5083743" cy="2554545"/>
          </a:xfrm>
          <a:prstGeom prst="rect">
            <a:avLst/>
          </a:prstGeom>
        </p:spPr>
        <p:txBody>
          <a:bodyPr wrap="square">
            <a:spAutoFit/>
          </a:bodyPr>
          <a:lstStyle/>
          <a:p>
            <a:r>
              <a:rPr lang="en-US" sz="1600" b="1" dirty="0" err="1">
                <a:solidFill>
                  <a:srgbClr val="FF0000"/>
                </a:solidFill>
                <a:latin typeface="Consolas" panose="020B0609020204030204" pitchFamily="49" charset="0"/>
                <a:cs typeface="Consolas" panose="020B0609020204030204" pitchFamily="49" charset="0"/>
              </a:rPr>
              <a:t>fn</a:t>
            </a:r>
            <a:r>
              <a:rPr lang="en-US" sz="1600" b="1" dirty="0">
                <a:latin typeface="Consolas" panose="020B0609020204030204" pitchFamily="49" charset="0"/>
                <a:cs typeface="Consolas" panose="020B0609020204030204" pitchFamily="49" charset="0"/>
              </a:rPr>
              <a:t> main() {</a:t>
            </a:r>
          </a:p>
          <a:p>
            <a:r>
              <a:rPr lang="en-US" sz="1600" b="1" dirty="0">
                <a:latin typeface="Consolas" panose="020B0609020204030204" pitchFamily="49" charset="0"/>
                <a:cs typeface="Consolas" panose="020B0609020204030204" pitchFamily="49" charset="0"/>
              </a:rPr>
              <a:t>  </a:t>
            </a:r>
            <a:r>
              <a:rPr lang="en-US" sz="1600" b="1" dirty="0">
                <a:solidFill>
                  <a:srgbClr val="FF0000"/>
                </a:solidFill>
                <a:latin typeface="Consolas" panose="020B0609020204030204" pitchFamily="49" charset="0"/>
                <a:cs typeface="Consolas" panose="020B0609020204030204" pitchFamily="49" charset="0"/>
              </a:rPr>
              <a:t>let</a:t>
            </a:r>
            <a:r>
              <a:rPr lang="en-US" sz="1600" b="1" dirty="0">
                <a:latin typeface="Consolas" panose="020B0609020204030204" pitchFamily="49" charset="0"/>
                <a:cs typeface="Consolas" panose="020B0609020204030204" pitchFamily="49" charset="0"/>
              </a:rPr>
              <a:t> </a:t>
            </a:r>
            <a:r>
              <a:rPr lang="en-US" sz="1600" b="1" dirty="0" err="1">
                <a:latin typeface="Consolas" panose="020B0609020204030204" pitchFamily="49" charset="0"/>
                <a:cs typeface="Consolas" panose="020B0609020204030204" pitchFamily="49" charset="0"/>
              </a:rPr>
              <a:t>nums</a:t>
            </a:r>
            <a:r>
              <a:rPr lang="en-US" sz="1600" b="1" dirty="0">
                <a:latin typeface="Consolas" panose="020B0609020204030204" pitchFamily="49" charset="0"/>
                <a:cs typeface="Consolas" panose="020B0609020204030204" pitchFamily="49" charset="0"/>
              </a:rPr>
              <a:t> = </a:t>
            </a:r>
            <a:r>
              <a:rPr lang="en-US" sz="1600" b="1" dirty="0" err="1">
                <a:latin typeface="Consolas" panose="020B0609020204030204" pitchFamily="49" charset="0"/>
                <a:cs typeface="Consolas" panose="020B0609020204030204" pitchFamily="49" charset="0"/>
              </a:rPr>
              <a:t>vec</a:t>
            </a:r>
            <a:r>
              <a:rPr lang="en-US" sz="1600" b="1" dirty="0">
                <a:latin typeface="Consolas" panose="020B0609020204030204" pitchFamily="49" charset="0"/>
                <a:cs typeface="Consolas" panose="020B0609020204030204" pitchFamily="49" charset="0"/>
              </a:rPr>
              <a:t>![</a:t>
            </a:r>
            <a:r>
              <a:rPr lang="en-US" sz="1600" b="1" dirty="0">
                <a:solidFill>
                  <a:schemeClr val="accent3">
                    <a:lumMod val="75000"/>
                  </a:schemeClr>
                </a:solidFill>
                <a:latin typeface="Consolas" panose="020B0609020204030204" pitchFamily="49" charset="0"/>
                <a:cs typeface="Consolas" panose="020B0609020204030204" pitchFamily="49" charset="0"/>
              </a:rPr>
              <a:t>1</a:t>
            </a:r>
            <a:r>
              <a:rPr lang="en-US" sz="1600" b="1" dirty="0">
                <a:latin typeface="Consolas" panose="020B0609020204030204" pitchFamily="49" charset="0"/>
                <a:cs typeface="Consolas" panose="020B0609020204030204" pitchFamily="49" charset="0"/>
              </a:rPr>
              <a:t>, </a:t>
            </a:r>
            <a:r>
              <a:rPr lang="en-US" sz="1600" b="1" dirty="0">
                <a:solidFill>
                  <a:schemeClr val="accent3">
                    <a:lumMod val="75000"/>
                  </a:schemeClr>
                </a:solidFill>
                <a:latin typeface="Consolas" panose="020B0609020204030204" pitchFamily="49" charset="0"/>
                <a:cs typeface="Consolas" panose="020B0609020204030204" pitchFamily="49" charset="0"/>
              </a:rPr>
              <a:t>3</a:t>
            </a:r>
            <a:r>
              <a:rPr lang="en-US" sz="1600" b="1" dirty="0">
                <a:latin typeface="Consolas" panose="020B0609020204030204" pitchFamily="49" charset="0"/>
                <a:cs typeface="Consolas" panose="020B0609020204030204" pitchFamily="49" charset="0"/>
              </a:rPr>
              <a:t>, </a:t>
            </a:r>
            <a:r>
              <a:rPr lang="en-US" sz="1600" b="1" dirty="0">
                <a:solidFill>
                  <a:schemeClr val="accent3">
                    <a:lumMod val="75000"/>
                  </a:schemeClr>
                </a:solidFill>
                <a:latin typeface="Consolas" panose="020B0609020204030204" pitchFamily="49" charset="0"/>
                <a:cs typeface="Consolas" panose="020B0609020204030204" pitchFamily="49" charset="0"/>
              </a:rPr>
              <a:t>5</a:t>
            </a:r>
            <a:r>
              <a:rPr lang="en-US" sz="1600" b="1" dirty="0">
                <a:latin typeface="Consolas" panose="020B0609020204030204" pitchFamily="49" charset="0"/>
                <a:cs typeface="Consolas" panose="020B0609020204030204" pitchFamily="49" charset="0"/>
              </a:rPr>
              <a:t>, </a:t>
            </a:r>
            <a:r>
              <a:rPr lang="en-US" sz="1600" b="1" dirty="0">
                <a:solidFill>
                  <a:schemeClr val="accent3">
                    <a:lumMod val="75000"/>
                  </a:schemeClr>
                </a:solidFill>
                <a:latin typeface="Consolas" panose="020B0609020204030204" pitchFamily="49" charset="0"/>
                <a:cs typeface="Consolas" panose="020B0609020204030204" pitchFamily="49" charset="0"/>
              </a:rPr>
              <a:t>7</a:t>
            </a:r>
            <a:r>
              <a:rPr lang="en-US" sz="1600" b="1" dirty="0">
                <a:latin typeface="Consolas" panose="020B0609020204030204" pitchFamily="49" charset="0"/>
                <a:cs typeface="Consolas" panose="020B0609020204030204" pitchFamily="49" charset="0"/>
              </a:rPr>
              <a:t>, </a:t>
            </a:r>
            <a:r>
              <a:rPr lang="en-US" sz="1600" b="1" dirty="0">
                <a:solidFill>
                  <a:schemeClr val="accent3">
                    <a:lumMod val="75000"/>
                  </a:schemeClr>
                </a:solidFill>
                <a:latin typeface="Consolas" panose="020B0609020204030204" pitchFamily="49" charset="0"/>
                <a:cs typeface="Consolas" panose="020B0609020204030204" pitchFamily="49" charset="0"/>
              </a:rPr>
              <a:t>10</a:t>
            </a:r>
            <a:r>
              <a:rPr lang="en-US" sz="1600" b="1" dirty="0">
                <a:latin typeface="Consolas" panose="020B0609020204030204" pitchFamily="49" charset="0"/>
                <a:cs typeface="Consolas" panose="020B0609020204030204" pitchFamily="49" charset="0"/>
              </a:rPr>
              <a:t>];</a:t>
            </a:r>
          </a:p>
          <a:p>
            <a:endParaRPr lang="en-US" sz="1600" b="1" dirty="0">
              <a:latin typeface="Consolas" panose="020B0609020204030204" pitchFamily="49" charset="0"/>
              <a:cs typeface="Consolas" panose="020B0609020204030204" pitchFamily="49" charset="0"/>
            </a:endParaRPr>
          </a:p>
          <a:p>
            <a:r>
              <a:rPr lang="en-US" sz="1600" b="1" dirty="0">
                <a:latin typeface="Consolas" panose="020B0609020204030204" pitchFamily="49" charset="0"/>
                <a:cs typeface="Consolas" panose="020B0609020204030204" pitchFamily="49" charset="0"/>
              </a:rPr>
              <a:t>  </a:t>
            </a:r>
            <a:r>
              <a:rPr lang="en-US" sz="1600" b="1" dirty="0">
                <a:solidFill>
                  <a:srgbClr val="FF0000"/>
                </a:solidFill>
                <a:latin typeface="Consolas" panose="020B0609020204030204" pitchFamily="49" charset="0"/>
                <a:cs typeface="Consolas" panose="020B0609020204030204" pitchFamily="49" charset="0"/>
              </a:rPr>
              <a:t>for</a:t>
            </a:r>
            <a:r>
              <a:rPr lang="en-US" sz="1600" b="1" dirty="0">
                <a:latin typeface="Consolas" panose="020B0609020204030204" pitchFamily="49" charset="0"/>
                <a:cs typeface="Consolas" panose="020B0609020204030204" pitchFamily="49" charset="0"/>
              </a:rPr>
              <a:t> (i, n) </a:t>
            </a:r>
            <a:r>
              <a:rPr lang="en-US" sz="1600" b="1" dirty="0">
                <a:solidFill>
                  <a:srgbClr val="FF0000"/>
                </a:solidFill>
                <a:latin typeface="Consolas" panose="020B0609020204030204" pitchFamily="49" charset="0"/>
                <a:cs typeface="Consolas" panose="020B0609020204030204" pitchFamily="49" charset="0"/>
              </a:rPr>
              <a:t>in</a:t>
            </a:r>
            <a:r>
              <a:rPr lang="en-US" sz="1600" b="1" dirty="0">
                <a:latin typeface="Consolas" panose="020B0609020204030204" pitchFamily="49" charset="0"/>
                <a:cs typeface="Consolas" panose="020B0609020204030204" pitchFamily="49" charset="0"/>
              </a:rPr>
              <a:t> </a:t>
            </a:r>
            <a:r>
              <a:rPr lang="en-US" sz="1600" b="1" dirty="0" err="1">
                <a:latin typeface="Consolas" panose="020B0609020204030204" pitchFamily="49" charset="0"/>
                <a:cs typeface="Consolas" panose="020B0609020204030204" pitchFamily="49" charset="0"/>
              </a:rPr>
              <a:t>nums.iter</a:t>
            </a:r>
            <a:r>
              <a:rPr lang="en-US" sz="1600" b="1" dirty="0">
                <a:latin typeface="Consolas" panose="020B0609020204030204" pitchFamily="49" charset="0"/>
                <a:cs typeface="Consolas" panose="020B0609020204030204" pitchFamily="49" charset="0"/>
              </a:rPr>
              <a:t>().enumerate() {</a:t>
            </a:r>
          </a:p>
          <a:p>
            <a:r>
              <a:rPr lang="en-US" sz="1600" b="1" dirty="0">
                <a:latin typeface="Consolas" panose="020B0609020204030204" pitchFamily="49" charset="0"/>
                <a:cs typeface="Consolas" panose="020B0609020204030204" pitchFamily="49" charset="0"/>
              </a:rPr>
              <a:t>    </a:t>
            </a:r>
            <a:r>
              <a:rPr lang="en-US" sz="1600" b="1" dirty="0" err="1">
                <a:latin typeface="Consolas" panose="020B0609020204030204" pitchFamily="49" charset="0"/>
                <a:cs typeface="Consolas" panose="020B0609020204030204" pitchFamily="49" charset="0"/>
              </a:rPr>
              <a:t>println</a:t>
            </a:r>
            <a:r>
              <a:rPr lang="en-US" sz="1600" b="1" dirty="0">
                <a:latin typeface="Consolas" panose="020B0609020204030204" pitchFamily="49" charset="0"/>
                <a:cs typeface="Consolas" panose="020B0609020204030204" pitchFamily="49" charset="0"/>
              </a:rPr>
              <a:t>!(</a:t>
            </a:r>
            <a:r>
              <a:rPr lang="en-US" sz="1600" b="1" dirty="0">
                <a:solidFill>
                  <a:schemeClr val="accent6">
                    <a:lumMod val="75000"/>
                  </a:schemeClr>
                </a:solidFill>
                <a:latin typeface="Consolas" panose="020B0609020204030204" pitchFamily="49" charset="0"/>
                <a:cs typeface="Consolas" panose="020B0609020204030204" pitchFamily="49" charset="0"/>
              </a:rPr>
              <a:t>"</a:t>
            </a:r>
            <a:r>
              <a:rPr lang="en-US" sz="1600" b="1" dirty="0" err="1">
                <a:solidFill>
                  <a:schemeClr val="accent6">
                    <a:lumMod val="75000"/>
                  </a:schemeClr>
                </a:solidFill>
                <a:latin typeface="Consolas" panose="020B0609020204030204" pitchFamily="49" charset="0"/>
                <a:cs typeface="Consolas" panose="020B0609020204030204" pitchFamily="49" charset="0"/>
              </a:rPr>
              <a:t>nums</a:t>
            </a:r>
            <a:r>
              <a:rPr lang="en-US" sz="1600" b="1" dirty="0">
                <a:solidFill>
                  <a:schemeClr val="accent6">
                    <a:lumMod val="75000"/>
                  </a:schemeClr>
                </a:solidFill>
                <a:latin typeface="Consolas" panose="020B0609020204030204" pitchFamily="49" charset="0"/>
                <a:cs typeface="Consolas" panose="020B0609020204030204" pitchFamily="49" charset="0"/>
              </a:rPr>
              <a:t>[{}] = {}"</a:t>
            </a:r>
            <a:r>
              <a:rPr lang="en-US" sz="1600" b="1" dirty="0">
                <a:latin typeface="Consolas" panose="020B0609020204030204" pitchFamily="49" charset="0"/>
                <a:cs typeface="Consolas" panose="020B0609020204030204" pitchFamily="49" charset="0"/>
              </a:rPr>
              <a:t>, i, n);</a:t>
            </a:r>
          </a:p>
          <a:p>
            <a:r>
              <a:rPr lang="en-US" sz="1600" b="1" dirty="0">
                <a:latin typeface="Consolas" panose="020B0609020204030204" pitchFamily="49" charset="0"/>
                <a:cs typeface="Consolas" panose="020B0609020204030204" pitchFamily="49" charset="0"/>
              </a:rPr>
              <a:t>  }</a:t>
            </a:r>
          </a:p>
          <a:p>
            <a:r>
              <a:rPr lang="en-US" sz="1600" b="1" dirty="0">
                <a:latin typeface="Consolas" panose="020B0609020204030204" pitchFamily="49" charset="0"/>
                <a:cs typeface="Consolas" panose="020B0609020204030204" pitchFamily="49" charset="0"/>
              </a:rPr>
              <a:t>  </a:t>
            </a:r>
          </a:p>
          <a:p>
            <a:r>
              <a:rPr lang="en-US" sz="1600" b="1" dirty="0">
                <a:latin typeface="Consolas" panose="020B0609020204030204" pitchFamily="49" charset="0"/>
                <a:cs typeface="Consolas" panose="020B0609020204030204" pitchFamily="49" charset="0"/>
              </a:rPr>
              <a:t>  </a:t>
            </a:r>
            <a:r>
              <a:rPr lang="en-US" sz="1600" b="1" dirty="0">
                <a:solidFill>
                  <a:srgbClr val="FF0000"/>
                </a:solidFill>
                <a:latin typeface="Consolas" panose="020B0609020204030204" pitchFamily="49" charset="0"/>
                <a:cs typeface="Consolas" panose="020B0609020204030204" pitchFamily="49" charset="0"/>
              </a:rPr>
              <a:t>let</a:t>
            </a:r>
            <a:r>
              <a:rPr lang="en-US" sz="1600" b="1" dirty="0">
                <a:latin typeface="Consolas" panose="020B0609020204030204" pitchFamily="49" charset="0"/>
                <a:cs typeface="Consolas" panose="020B0609020204030204" pitchFamily="49" charset="0"/>
              </a:rPr>
              <a:t> sum: </a:t>
            </a:r>
            <a:r>
              <a:rPr lang="en-US" sz="1600" b="1" dirty="0">
                <a:solidFill>
                  <a:srgbClr val="FF0000"/>
                </a:solidFill>
                <a:latin typeface="Consolas" panose="020B0609020204030204" pitchFamily="49" charset="0"/>
                <a:cs typeface="Consolas" panose="020B0609020204030204" pitchFamily="49" charset="0"/>
              </a:rPr>
              <a:t>i32</a:t>
            </a:r>
            <a:r>
              <a:rPr lang="en-US" sz="1600" b="1" dirty="0">
                <a:latin typeface="Consolas" panose="020B0609020204030204" pitchFamily="49" charset="0"/>
                <a:cs typeface="Consolas" panose="020B0609020204030204" pitchFamily="49" charset="0"/>
              </a:rPr>
              <a:t> = </a:t>
            </a:r>
            <a:r>
              <a:rPr lang="en-US" sz="1600" b="1" dirty="0" err="1">
                <a:latin typeface="Consolas" panose="020B0609020204030204" pitchFamily="49" charset="0"/>
                <a:cs typeface="Consolas" panose="020B0609020204030204" pitchFamily="49" charset="0"/>
              </a:rPr>
              <a:t>nums.iter</a:t>
            </a:r>
            <a:r>
              <a:rPr lang="en-US" sz="1600" b="1" dirty="0">
                <a:latin typeface="Consolas" panose="020B0609020204030204" pitchFamily="49" charset="0"/>
                <a:cs typeface="Consolas" panose="020B0609020204030204" pitchFamily="49" charset="0"/>
              </a:rPr>
              <a:t>().sum();</a:t>
            </a:r>
          </a:p>
          <a:p>
            <a:r>
              <a:rPr lang="en-US" sz="1600" b="1" dirty="0">
                <a:latin typeface="Consolas" panose="020B0609020204030204" pitchFamily="49" charset="0"/>
                <a:cs typeface="Consolas" panose="020B0609020204030204" pitchFamily="49" charset="0"/>
              </a:rPr>
              <a:t>  </a:t>
            </a:r>
            <a:r>
              <a:rPr lang="en-US" sz="1600" b="1" dirty="0" err="1">
                <a:latin typeface="Consolas" panose="020B0609020204030204" pitchFamily="49" charset="0"/>
                <a:cs typeface="Consolas" panose="020B0609020204030204" pitchFamily="49" charset="0"/>
              </a:rPr>
              <a:t>println</a:t>
            </a:r>
            <a:r>
              <a:rPr lang="en-US" sz="1600" b="1" dirty="0">
                <a:latin typeface="Consolas" panose="020B0609020204030204" pitchFamily="49" charset="0"/>
                <a:cs typeface="Consolas" panose="020B0609020204030204" pitchFamily="49" charset="0"/>
              </a:rPr>
              <a:t>!(</a:t>
            </a:r>
            <a:r>
              <a:rPr lang="en-US" sz="1600" b="1" dirty="0">
                <a:solidFill>
                  <a:schemeClr val="accent6">
                    <a:lumMod val="75000"/>
                  </a:schemeClr>
                </a:solidFill>
                <a:latin typeface="Consolas" panose="020B0609020204030204" pitchFamily="49" charset="0"/>
                <a:cs typeface="Consolas" panose="020B0609020204030204" pitchFamily="49" charset="0"/>
              </a:rPr>
              <a:t>"sum of </a:t>
            </a:r>
            <a:r>
              <a:rPr lang="en-US" sz="1600" b="1" dirty="0" err="1">
                <a:solidFill>
                  <a:schemeClr val="accent6">
                    <a:lumMod val="75000"/>
                  </a:schemeClr>
                </a:solidFill>
                <a:latin typeface="Consolas" panose="020B0609020204030204" pitchFamily="49" charset="0"/>
                <a:cs typeface="Consolas" panose="020B0609020204030204" pitchFamily="49" charset="0"/>
              </a:rPr>
              <a:t>nums</a:t>
            </a:r>
            <a:r>
              <a:rPr lang="en-US" sz="1600" b="1" dirty="0">
                <a:solidFill>
                  <a:schemeClr val="accent6">
                    <a:lumMod val="75000"/>
                  </a:schemeClr>
                </a:solidFill>
                <a:latin typeface="Consolas" panose="020B0609020204030204" pitchFamily="49" charset="0"/>
                <a:cs typeface="Consolas" panose="020B0609020204030204" pitchFamily="49" charset="0"/>
              </a:rPr>
              <a:t> = {}"</a:t>
            </a:r>
            <a:r>
              <a:rPr lang="en-US" sz="1600" b="1" dirty="0">
                <a:latin typeface="Consolas" panose="020B0609020204030204" pitchFamily="49" charset="0"/>
                <a:cs typeface="Consolas" panose="020B0609020204030204" pitchFamily="49" charset="0"/>
              </a:rPr>
              <a:t>, sum);</a:t>
            </a:r>
          </a:p>
          <a:p>
            <a:r>
              <a:rPr lang="en-US" sz="1600" b="1" dirty="0">
                <a:latin typeface="Consolas" panose="020B0609020204030204" pitchFamily="49" charset="0"/>
                <a:cs typeface="Consolas" panose="020B0609020204030204" pitchFamily="49" charset="0"/>
              </a:rPr>
              <a:t>}</a:t>
            </a:r>
          </a:p>
        </p:txBody>
      </p:sp>
      <p:sp>
        <p:nvSpPr>
          <p:cNvPr id="8" name="TextBox 7">
            <a:extLst>
              <a:ext uri="{FF2B5EF4-FFF2-40B4-BE49-F238E27FC236}">
                <a16:creationId xmlns:a16="http://schemas.microsoft.com/office/drawing/2014/main" id="{4DB68B17-342E-BE4C-B87F-EFD81C5493AE}"/>
              </a:ext>
            </a:extLst>
          </p:cNvPr>
          <p:cNvSpPr txBox="1"/>
          <p:nvPr/>
        </p:nvSpPr>
        <p:spPr>
          <a:xfrm>
            <a:off x="152400" y="3619500"/>
            <a:ext cx="3581400" cy="769441"/>
          </a:xfrm>
          <a:prstGeom prst="rect">
            <a:avLst/>
          </a:prstGeom>
          <a:noFill/>
        </p:spPr>
        <p:txBody>
          <a:bodyPr wrap="square" rtlCol="0">
            <a:spAutoFit/>
          </a:bodyPr>
          <a:lstStyle/>
          <a:p>
            <a:pPr algn="ctr"/>
            <a:r>
              <a:rPr lang="en-US" sz="2200" dirty="0"/>
              <a:t>but it can also be simple, elegant, and readable.</a:t>
            </a:r>
          </a:p>
        </p:txBody>
      </p:sp>
    </p:spTree>
    <p:extLst>
      <p:ext uri="{BB962C8B-B14F-4D97-AF65-F5344CB8AC3E}">
        <p14:creationId xmlns:p14="http://schemas.microsoft.com/office/powerpoint/2010/main" val="40266957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6FA67-7DB1-B648-949D-5CED6CA75327}"/>
              </a:ext>
            </a:extLst>
          </p:cNvPr>
          <p:cNvSpPr>
            <a:spLocks noGrp="1"/>
          </p:cNvSpPr>
          <p:nvPr>
            <p:ph type="title"/>
          </p:nvPr>
        </p:nvSpPr>
        <p:spPr/>
        <p:txBody>
          <a:bodyPr/>
          <a:lstStyle/>
          <a:p>
            <a:r>
              <a:rPr lang="en-US" dirty="0"/>
              <a:t>Basic tools and vocabulary</a:t>
            </a:r>
          </a:p>
        </p:txBody>
      </p:sp>
      <p:sp>
        <p:nvSpPr>
          <p:cNvPr id="3" name="Content Placeholder 2">
            <a:extLst>
              <a:ext uri="{FF2B5EF4-FFF2-40B4-BE49-F238E27FC236}">
                <a16:creationId xmlns:a16="http://schemas.microsoft.com/office/drawing/2014/main" id="{6A37A58C-1E8F-CC46-972C-EDF8966431B9}"/>
              </a:ext>
            </a:extLst>
          </p:cNvPr>
          <p:cNvSpPr>
            <a:spLocks noGrp="1"/>
          </p:cNvSpPr>
          <p:nvPr>
            <p:ph idx="1"/>
          </p:nvPr>
        </p:nvSpPr>
        <p:spPr/>
        <p:txBody>
          <a:bodyPr/>
          <a:lstStyle/>
          <a:p>
            <a:r>
              <a:rPr lang="en-US" b="1" dirty="0" err="1"/>
              <a:t>rustup</a:t>
            </a:r>
            <a:r>
              <a:rPr lang="en-US" b="1" dirty="0"/>
              <a:t> </a:t>
            </a:r>
            <a:r>
              <a:rPr lang="en-US" dirty="0"/>
              <a:t>is the tool to install the Rust toolchain.</a:t>
            </a:r>
          </a:p>
          <a:p>
            <a:r>
              <a:rPr lang="en-US" b="1" dirty="0"/>
              <a:t>cargo </a:t>
            </a:r>
            <a:r>
              <a:rPr lang="en-US" dirty="0"/>
              <a:t>is the "swiss army knife" for creating and building programs.</a:t>
            </a:r>
          </a:p>
          <a:p>
            <a:pPr lvl="1"/>
            <a:r>
              <a:rPr lang="en-US" dirty="0"/>
              <a:t>it lets you create new Rust projects with some basic features.</a:t>
            </a:r>
          </a:p>
          <a:p>
            <a:pPr lvl="1"/>
            <a:r>
              <a:rPr lang="en-US" dirty="0"/>
              <a:t>it acts as a build tool like </a:t>
            </a:r>
            <a:r>
              <a:rPr lang="en-US" b="1" dirty="0"/>
              <a:t>make.</a:t>
            </a:r>
          </a:p>
          <a:p>
            <a:pPr lvl="1"/>
            <a:r>
              <a:rPr lang="en-US" dirty="0"/>
              <a:t>it lets you run tests, build documentation, and so on.</a:t>
            </a:r>
          </a:p>
          <a:p>
            <a:pPr lvl="1"/>
            <a:r>
              <a:rPr lang="en-US" dirty="0"/>
              <a:t>it lets you specify dependencies on external libraries (crates).</a:t>
            </a:r>
          </a:p>
          <a:p>
            <a:pPr lvl="1"/>
            <a:r>
              <a:rPr lang="en-US" dirty="0"/>
              <a:t>it automatically downloads, builds, and installs those libraries.</a:t>
            </a:r>
          </a:p>
          <a:p>
            <a:r>
              <a:rPr lang="en-US" dirty="0"/>
              <a:t>a </a:t>
            </a:r>
            <a:r>
              <a:rPr lang="en-US" b="1" dirty="0"/>
              <a:t>crate </a:t>
            </a:r>
            <a:r>
              <a:rPr lang="en-US" dirty="0"/>
              <a:t>is like a Java </a:t>
            </a:r>
            <a:r>
              <a:rPr lang="en-US" b="1" dirty="0"/>
              <a:t>package: </a:t>
            </a:r>
            <a:r>
              <a:rPr lang="en-US" dirty="0"/>
              <a:t>a self-contained program or library.</a:t>
            </a:r>
          </a:p>
          <a:p>
            <a:pPr lvl="1"/>
            <a:r>
              <a:rPr lang="en-US" b="1" dirty="0" err="1"/>
              <a:t>crates.io</a:t>
            </a:r>
            <a:r>
              <a:rPr lang="en-US" b="1" dirty="0"/>
              <a:t> </a:t>
            </a:r>
            <a:r>
              <a:rPr lang="en-US" dirty="0"/>
              <a:t>is the website where you can search for crates.</a:t>
            </a:r>
          </a:p>
          <a:p>
            <a:pPr lvl="1"/>
            <a:r>
              <a:rPr lang="en-US" dirty="0"/>
              <a:t>each Rust program you make is its own crate.</a:t>
            </a:r>
            <a:endParaRPr lang="en-US" b="1" dirty="0">
              <a:latin typeface="Consolas" panose="020B0609020204030204" pitchFamily="49" charset="0"/>
              <a:cs typeface="Consolas" panose="020B0609020204030204" pitchFamily="49" charset="0"/>
            </a:endParaRPr>
          </a:p>
        </p:txBody>
      </p:sp>
      <p:sp>
        <p:nvSpPr>
          <p:cNvPr id="4" name="Slide Number Placeholder 3">
            <a:extLst>
              <a:ext uri="{FF2B5EF4-FFF2-40B4-BE49-F238E27FC236}">
                <a16:creationId xmlns:a16="http://schemas.microsoft.com/office/drawing/2014/main" id="{2DA43E82-8974-0B44-B7AF-FFC2FDB1D5A1}"/>
              </a:ext>
            </a:extLst>
          </p:cNvPr>
          <p:cNvSpPr>
            <a:spLocks noGrp="1"/>
          </p:cNvSpPr>
          <p:nvPr>
            <p:ph type="sldNum" sz="quarter" idx="12"/>
          </p:nvPr>
        </p:nvSpPr>
        <p:spPr/>
        <p:txBody>
          <a:bodyPr/>
          <a:lstStyle/>
          <a:p>
            <a:fld id="{3552B95B-556F-44BD-91A5-D80C1B9E2BB3}" type="slidenum">
              <a:rPr lang="en-US" smtClean="0"/>
              <a:pPr/>
              <a:t>30</a:t>
            </a:fld>
            <a:endParaRPr lang="en-US"/>
          </a:p>
        </p:txBody>
      </p:sp>
    </p:spTree>
    <p:extLst>
      <p:ext uri="{BB962C8B-B14F-4D97-AF65-F5344CB8AC3E}">
        <p14:creationId xmlns:p14="http://schemas.microsoft.com/office/powerpoint/2010/main" val="3110761998"/>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8158D-9688-594C-9CD1-400DF1BB7847}"/>
              </a:ext>
            </a:extLst>
          </p:cNvPr>
          <p:cNvSpPr>
            <a:spLocks noGrp="1"/>
          </p:cNvSpPr>
          <p:nvPr>
            <p:ph type="title"/>
          </p:nvPr>
        </p:nvSpPr>
        <p:spPr/>
        <p:txBody>
          <a:bodyPr/>
          <a:lstStyle/>
          <a:p>
            <a:r>
              <a:rPr lang="en-US" dirty="0"/>
              <a:t>Rust by Comparison</a:t>
            </a:r>
          </a:p>
        </p:txBody>
      </p:sp>
      <p:sp>
        <p:nvSpPr>
          <p:cNvPr id="3" name="Content Placeholder 2">
            <a:extLst>
              <a:ext uri="{FF2B5EF4-FFF2-40B4-BE49-F238E27FC236}">
                <a16:creationId xmlns:a16="http://schemas.microsoft.com/office/drawing/2014/main" id="{9BCB77EA-6C1C-B146-ABB2-CC11E34BB4D6}"/>
              </a:ext>
            </a:extLst>
          </p:cNvPr>
          <p:cNvSpPr>
            <a:spLocks noGrp="1"/>
          </p:cNvSpPr>
          <p:nvPr>
            <p:ph idx="1"/>
          </p:nvPr>
        </p:nvSpPr>
        <p:spPr>
          <a:xfrm>
            <a:off x="152400" y="495302"/>
            <a:ext cx="8991600" cy="495300"/>
          </a:xfrm>
        </p:spPr>
        <p:txBody>
          <a:bodyPr/>
          <a:lstStyle/>
          <a:p>
            <a:r>
              <a:rPr lang="en-US" dirty="0"/>
              <a:t>here is a simple program written in Java and Rust.</a:t>
            </a:r>
          </a:p>
        </p:txBody>
      </p:sp>
      <p:sp>
        <p:nvSpPr>
          <p:cNvPr id="4" name="Slide Number Placeholder 3">
            <a:extLst>
              <a:ext uri="{FF2B5EF4-FFF2-40B4-BE49-F238E27FC236}">
                <a16:creationId xmlns:a16="http://schemas.microsoft.com/office/drawing/2014/main" id="{C411CF76-2E83-1545-A157-3B9C32B6DCB6}"/>
              </a:ext>
            </a:extLst>
          </p:cNvPr>
          <p:cNvSpPr>
            <a:spLocks noGrp="1"/>
          </p:cNvSpPr>
          <p:nvPr>
            <p:ph type="sldNum" sz="quarter" idx="12"/>
          </p:nvPr>
        </p:nvSpPr>
        <p:spPr/>
        <p:txBody>
          <a:bodyPr/>
          <a:lstStyle/>
          <a:p>
            <a:fld id="{3552B95B-556F-44BD-91A5-D80C1B9E2BB3}" type="slidenum">
              <a:rPr lang="en-US" smtClean="0"/>
              <a:pPr/>
              <a:t>31</a:t>
            </a:fld>
            <a:endParaRPr lang="en-US"/>
          </a:p>
        </p:txBody>
      </p:sp>
      <p:sp>
        <p:nvSpPr>
          <p:cNvPr id="5" name="Rectangle 4">
            <a:extLst>
              <a:ext uri="{FF2B5EF4-FFF2-40B4-BE49-F238E27FC236}">
                <a16:creationId xmlns:a16="http://schemas.microsoft.com/office/drawing/2014/main" id="{C37909A6-E0EE-B449-B3F3-6F559D78C7A6}"/>
              </a:ext>
            </a:extLst>
          </p:cNvPr>
          <p:cNvSpPr/>
          <p:nvPr/>
        </p:nvSpPr>
        <p:spPr>
          <a:xfrm>
            <a:off x="4780548" y="1006716"/>
            <a:ext cx="5083743" cy="3785652"/>
          </a:xfrm>
          <a:prstGeom prst="rect">
            <a:avLst/>
          </a:prstGeom>
        </p:spPr>
        <p:txBody>
          <a:bodyPr wrap="square">
            <a:spAutoFit/>
          </a:bodyPr>
          <a:lstStyle/>
          <a:p>
            <a:endParaRPr lang="en-US" sz="1600" b="1" dirty="0">
              <a:solidFill>
                <a:srgbClr val="FF0000"/>
              </a:solidFill>
              <a:latin typeface="Consolas" panose="020B0609020204030204" pitchFamily="49" charset="0"/>
              <a:cs typeface="Consolas" panose="020B0609020204030204" pitchFamily="49" charset="0"/>
            </a:endParaRPr>
          </a:p>
          <a:p>
            <a:r>
              <a:rPr lang="en-US" sz="1600" b="1" dirty="0" err="1">
                <a:solidFill>
                  <a:srgbClr val="FF0000"/>
                </a:solidFill>
                <a:latin typeface="Consolas" panose="020B0609020204030204" pitchFamily="49" charset="0"/>
                <a:cs typeface="Consolas" panose="020B0609020204030204" pitchFamily="49" charset="0"/>
              </a:rPr>
              <a:t>fn</a:t>
            </a:r>
            <a:r>
              <a:rPr lang="en-US" sz="1600" b="1" dirty="0">
                <a:latin typeface="Consolas" panose="020B0609020204030204" pitchFamily="49" charset="0"/>
                <a:cs typeface="Consolas" panose="020B0609020204030204" pitchFamily="49" charset="0"/>
              </a:rPr>
              <a:t> main() {</a:t>
            </a:r>
          </a:p>
          <a:p>
            <a:r>
              <a:rPr lang="en-US" sz="1600" b="1" dirty="0">
                <a:latin typeface="Consolas" panose="020B0609020204030204" pitchFamily="49" charset="0"/>
                <a:cs typeface="Consolas" panose="020B0609020204030204" pitchFamily="49" charset="0"/>
              </a:rPr>
              <a:t>  </a:t>
            </a:r>
            <a:r>
              <a:rPr lang="en-US" sz="1600" b="1" dirty="0">
                <a:solidFill>
                  <a:srgbClr val="FF0000"/>
                </a:solidFill>
                <a:latin typeface="Consolas" panose="020B0609020204030204" pitchFamily="49" charset="0"/>
                <a:cs typeface="Consolas" panose="020B0609020204030204" pitchFamily="49" charset="0"/>
              </a:rPr>
              <a:t>for</a:t>
            </a:r>
            <a:r>
              <a:rPr lang="en-US" sz="1600" b="1" dirty="0">
                <a:latin typeface="Consolas" panose="020B0609020204030204" pitchFamily="49" charset="0"/>
                <a:cs typeface="Consolas" panose="020B0609020204030204" pitchFamily="49" charset="0"/>
              </a:rPr>
              <a:t> i </a:t>
            </a:r>
            <a:r>
              <a:rPr lang="en-US" sz="1600" b="1" dirty="0">
                <a:solidFill>
                  <a:srgbClr val="FF0000"/>
                </a:solidFill>
                <a:latin typeface="Consolas" panose="020B0609020204030204" pitchFamily="49" charset="0"/>
                <a:cs typeface="Consolas" panose="020B0609020204030204" pitchFamily="49" charset="0"/>
              </a:rPr>
              <a:t>in</a:t>
            </a:r>
            <a:r>
              <a:rPr lang="en-US" sz="1600" b="1" dirty="0">
                <a:latin typeface="Consolas" panose="020B0609020204030204" pitchFamily="49" charset="0"/>
                <a:cs typeface="Consolas" panose="020B0609020204030204" pitchFamily="49" charset="0"/>
              </a:rPr>
              <a:t> </a:t>
            </a:r>
            <a:r>
              <a:rPr lang="en-US" sz="1600" b="1" dirty="0">
                <a:solidFill>
                  <a:schemeClr val="accent3">
                    <a:lumMod val="75000"/>
                  </a:schemeClr>
                </a:solidFill>
                <a:latin typeface="Consolas" panose="020B0609020204030204" pitchFamily="49" charset="0"/>
                <a:cs typeface="Consolas" panose="020B0609020204030204" pitchFamily="49" charset="0"/>
              </a:rPr>
              <a:t>1</a:t>
            </a:r>
            <a:r>
              <a:rPr lang="en-US" sz="1600" b="1" dirty="0">
                <a:latin typeface="Consolas" panose="020B0609020204030204" pitchFamily="49" charset="0"/>
                <a:cs typeface="Consolas" panose="020B0609020204030204" pitchFamily="49" charset="0"/>
              </a:rPr>
              <a:t> ..= </a:t>
            </a:r>
            <a:r>
              <a:rPr lang="en-US" sz="1600" b="1" dirty="0">
                <a:solidFill>
                  <a:schemeClr val="accent3">
                    <a:lumMod val="75000"/>
                  </a:schemeClr>
                </a:solidFill>
                <a:latin typeface="Consolas" panose="020B0609020204030204" pitchFamily="49" charset="0"/>
                <a:cs typeface="Consolas" panose="020B0609020204030204" pitchFamily="49" charset="0"/>
              </a:rPr>
              <a:t>100</a:t>
            </a:r>
            <a:r>
              <a:rPr lang="en-US" sz="1600" b="1" dirty="0">
                <a:latin typeface="Consolas" panose="020B0609020204030204" pitchFamily="49" charset="0"/>
                <a:cs typeface="Consolas" panose="020B0609020204030204" pitchFamily="49" charset="0"/>
              </a:rPr>
              <a:t> {</a:t>
            </a:r>
          </a:p>
          <a:p>
            <a:r>
              <a:rPr lang="en-US" sz="1600" b="1" dirty="0">
                <a:latin typeface="Consolas" panose="020B0609020204030204" pitchFamily="49" charset="0"/>
                <a:cs typeface="Consolas" panose="020B0609020204030204" pitchFamily="49" charset="0"/>
              </a:rPr>
              <a:t>    </a:t>
            </a:r>
            <a:r>
              <a:rPr lang="en-US" sz="1600" b="1" dirty="0">
                <a:solidFill>
                  <a:srgbClr val="FF0000"/>
                </a:solidFill>
                <a:latin typeface="Consolas" panose="020B0609020204030204" pitchFamily="49" charset="0"/>
                <a:cs typeface="Consolas" panose="020B0609020204030204" pitchFamily="49" charset="0"/>
              </a:rPr>
              <a:t>if</a:t>
            </a:r>
            <a:r>
              <a:rPr lang="en-US" sz="1600" b="1" dirty="0">
                <a:latin typeface="Consolas" panose="020B0609020204030204" pitchFamily="49" charset="0"/>
                <a:cs typeface="Consolas" panose="020B0609020204030204" pitchFamily="49" charset="0"/>
              </a:rPr>
              <a:t> (i % </a:t>
            </a:r>
            <a:r>
              <a:rPr lang="en-US" sz="1600" b="1" dirty="0">
                <a:solidFill>
                  <a:schemeClr val="accent3">
                    <a:lumMod val="75000"/>
                  </a:schemeClr>
                </a:solidFill>
                <a:latin typeface="Consolas" panose="020B0609020204030204" pitchFamily="49" charset="0"/>
                <a:cs typeface="Consolas" panose="020B0609020204030204" pitchFamily="49" charset="0"/>
              </a:rPr>
              <a:t>3</a:t>
            </a:r>
            <a:r>
              <a:rPr lang="en-US" sz="1600" b="1" dirty="0">
                <a:latin typeface="Consolas" panose="020B0609020204030204" pitchFamily="49" charset="0"/>
                <a:cs typeface="Consolas" panose="020B0609020204030204" pitchFamily="49" charset="0"/>
              </a:rPr>
              <a:t>) == </a:t>
            </a:r>
            <a:r>
              <a:rPr lang="en-US" sz="1600" b="1" dirty="0">
                <a:solidFill>
                  <a:schemeClr val="accent3">
                    <a:lumMod val="75000"/>
                  </a:schemeClr>
                </a:solidFill>
                <a:latin typeface="Consolas" panose="020B0609020204030204" pitchFamily="49" charset="0"/>
                <a:cs typeface="Consolas" panose="020B0609020204030204" pitchFamily="49" charset="0"/>
              </a:rPr>
              <a:t>0</a:t>
            </a:r>
            <a:r>
              <a:rPr lang="en-US" sz="1600" b="1" dirty="0">
                <a:latin typeface="Consolas" panose="020B0609020204030204" pitchFamily="49" charset="0"/>
                <a:cs typeface="Consolas" panose="020B0609020204030204" pitchFamily="49" charset="0"/>
              </a:rPr>
              <a:t> {</a:t>
            </a:r>
          </a:p>
          <a:p>
            <a:r>
              <a:rPr lang="en-US" sz="1600" b="1" dirty="0">
                <a:latin typeface="Consolas" panose="020B0609020204030204" pitchFamily="49" charset="0"/>
                <a:cs typeface="Consolas" panose="020B0609020204030204" pitchFamily="49" charset="0"/>
              </a:rPr>
              <a:t>      print!(</a:t>
            </a:r>
            <a:r>
              <a:rPr lang="en-US" sz="1600" b="1" dirty="0">
                <a:solidFill>
                  <a:schemeClr val="accent6">
                    <a:lumMod val="75000"/>
                  </a:schemeClr>
                </a:solidFill>
                <a:latin typeface="Consolas" panose="020B0609020204030204" pitchFamily="49" charset="0"/>
                <a:cs typeface="Consolas" panose="020B0609020204030204" pitchFamily="49" charset="0"/>
              </a:rPr>
              <a:t>"Fizz"</a:t>
            </a:r>
            <a:r>
              <a:rPr lang="en-US" sz="1600" b="1" dirty="0">
                <a:latin typeface="Consolas" panose="020B0609020204030204" pitchFamily="49" charset="0"/>
                <a:cs typeface="Consolas" panose="020B0609020204030204" pitchFamily="49" charset="0"/>
              </a:rPr>
              <a:t>);</a:t>
            </a:r>
          </a:p>
          <a:p>
            <a:r>
              <a:rPr lang="en-US" sz="1600" b="1" dirty="0">
                <a:latin typeface="Consolas" panose="020B0609020204030204" pitchFamily="49" charset="0"/>
                <a:cs typeface="Consolas" panose="020B0609020204030204" pitchFamily="49" charset="0"/>
              </a:rPr>
              <a:t>    }</a:t>
            </a:r>
          </a:p>
          <a:p>
            <a:r>
              <a:rPr lang="en-US" sz="1600" b="1" dirty="0">
                <a:latin typeface="Consolas" panose="020B0609020204030204" pitchFamily="49" charset="0"/>
                <a:cs typeface="Consolas" panose="020B0609020204030204" pitchFamily="49" charset="0"/>
              </a:rPr>
              <a:t>    </a:t>
            </a:r>
            <a:r>
              <a:rPr lang="en-US" sz="1600" b="1" dirty="0">
                <a:solidFill>
                  <a:srgbClr val="FF0000"/>
                </a:solidFill>
                <a:latin typeface="Consolas" panose="020B0609020204030204" pitchFamily="49" charset="0"/>
                <a:cs typeface="Consolas" panose="020B0609020204030204" pitchFamily="49" charset="0"/>
              </a:rPr>
              <a:t>if</a:t>
            </a:r>
            <a:r>
              <a:rPr lang="en-US" sz="1600" b="1" dirty="0">
                <a:latin typeface="Consolas" panose="020B0609020204030204" pitchFamily="49" charset="0"/>
                <a:cs typeface="Consolas" panose="020B0609020204030204" pitchFamily="49" charset="0"/>
              </a:rPr>
              <a:t> (i % </a:t>
            </a:r>
            <a:r>
              <a:rPr lang="en-US" sz="1600" b="1" dirty="0">
                <a:solidFill>
                  <a:schemeClr val="accent3">
                    <a:lumMod val="75000"/>
                  </a:schemeClr>
                </a:solidFill>
                <a:latin typeface="Consolas" panose="020B0609020204030204" pitchFamily="49" charset="0"/>
                <a:cs typeface="Consolas" panose="020B0609020204030204" pitchFamily="49" charset="0"/>
              </a:rPr>
              <a:t>5</a:t>
            </a:r>
            <a:r>
              <a:rPr lang="en-US" sz="1600" b="1" dirty="0">
                <a:latin typeface="Consolas" panose="020B0609020204030204" pitchFamily="49" charset="0"/>
                <a:cs typeface="Consolas" panose="020B0609020204030204" pitchFamily="49" charset="0"/>
              </a:rPr>
              <a:t>) == </a:t>
            </a:r>
            <a:r>
              <a:rPr lang="en-US" sz="1600" b="1" dirty="0">
                <a:solidFill>
                  <a:schemeClr val="accent3">
                    <a:lumMod val="75000"/>
                  </a:schemeClr>
                </a:solidFill>
                <a:latin typeface="Consolas" panose="020B0609020204030204" pitchFamily="49" charset="0"/>
                <a:cs typeface="Consolas" panose="020B0609020204030204" pitchFamily="49" charset="0"/>
              </a:rPr>
              <a:t>0</a:t>
            </a:r>
            <a:r>
              <a:rPr lang="en-US" sz="1600" b="1" dirty="0">
                <a:latin typeface="Consolas" panose="020B0609020204030204" pitchFamily="49" charset="0"/>
                <a:cs typeface="Consolas" panose="020B0609020204030204" pitchFamily="49" charset="0"/>
              </a:rPr>
              <a:t> {</a:t>
            </a:r>
          </a:p>
          <a:p>
            <a:r>
              <a:rPr lang="en-US" sz="1600" b="1" dirty="0">
                <a:latin typeface="Consolas" panose="020B0609020204030204" pitchFamily="49" charset="0"/>
                <a:cs typeface="Consolas" panose="020B0609020204030204" pitchFamily="49" charset="0"/>
              </a:rPr>
              <a:t>      print!(</a:t>
            </a:r>
            <a:r>
              <a:rPr lang="en-US" sz="1600" b="1" dirty="0">
                <a:solidFill>
                  <a:schemeClr val="accent6">
                    <a:lumMod val="75000"/>
                  </a:schemeClr>
                </a:solidFill>
                <a:latin typeface="Consolas" panose="020B0609020204030204" pitchFamily="49" charset="0"/>
                <a:cs typeface="Consolas" panose="020B0609020204030204" pitchFamily="49" charset="0"/>
              </a:rPr>
              <a:t>"Buzz"</a:t>
            </a:r>
            <a:r>
              <a:rPr lang="en-US" sz="1600" b="1" dirty="0">
                <a:latin typeface="Consolas" panose="020B0609020204030204" pitchFamily="49" charset="0"/>
                <a:cs typeface="Consolas" panose="020B0609020204030204" pitchFamily="49" charset="0"/>
              </a:rPr>
              <a:t>);</a:t>
            </a:r>
          </a:p>
          <a:p>
            <a:r>
              <a:rPr lang="en-US" sz="1600" b="1" dirty="0">
                <a:latin typeface="Consolas" panose="020B0609020204030204" pitchFamily="49" charset="0"/>
                <a:cs typeface="Consolas" panose="020B0609020204030204" pitchFamily="49" charset="0"/>
              </a:rPr>
              <a:t>    }</a:t>
            </a:r>
          </a:p>
          <a:p>
            <a:r>
              <a:rPr lang="en-US" sz="1600" b="1" dirty="0">
                <a:latin typeface="Consolas" panose="020B0609020204030204" pitchFamily="49" charset="0"/>
                <a:cs typeface="Consolas" panose="020B0609020204030204" pitchFamily="49" charset="0"/>
              </a:rPr>
              <a:t>    </a:t>
            </a:r>
            <a:r>
              <a:rPr lang="en-US" sz="1600" b="1" dirty="0">
                <a:solidFill>
                  <a:srgbClr val="FF0000"/>
                </a:solidFill>
                <a:latin typeface="Consolas" panose="020B0609020204030204" pitchFamily="49" charset="0"/>
                <a:cs typeface="Consolas" panose="020B0609020204030204" pitchFamily="49" charset="0"/>
              </a:rPr>
              <a:t>if</a:t>
            </a:r>
            <a:r>
              <a:rPr lang="en-US" sz="1600" b="1" dirty="0">
                <a:latin typeface="Consolas" panose="020B0609020204030204" pitchFamily="49" charset="0"/>
                <a:cs typeface="Consolas" panose="020B0609020204030204" pitchFamily="49" charset="0"/>
              </a:rPr>
              <a:t> (i % </a:t>
            </a:r>
            <a:r>
              <a:rPr lang="en-US" sz="1600" b="1" dirty="0">
                <a:solidFill>
                  <a:schemeClr val="accent3">
                    <a:lumMod val="75000"/>
                  </a:schemeClr>
                </a:solidFill>
                <a:latin typeface="Consolas" panose="020B0609020204030204" pitchFamily="49" charset="0"/>
                <a:cs typeface="Consolas" panose="020B0609020204030204" pitchFamily="49" charset="0"/>
              </a:rPr>
              <a:t>3</a:t>
            </a:r>
            <a:r>
              <a:rPr lang="en-US" sz="1600" b="1" dirty="0">
                <a:latin typeface="Consolas" panose="020B0609020204030204" pitchFamily="49" charset="0"/>
                <a:cs typeface="Consolas" panose="020B0609020204030204" pitchFamily="49" charset="0"/>
              </a:rPr>
              <a:t>) != </a:t>
            </a:r>
            <a:r>
              <a:rPr lang="en-US" sz="1600" b="1" dirty="0">
                <a:solidFill>
                  <a:schemeClr val="accent3">
                    <a:lumMod val="75000"/>
                  </a:schemeClr>
                </a:solidFill>
                <a:latin typeface="Consolas" panose="020B0609020204030204" pitchFamily="49" charset="0"/>
                <a:cs typeface="Consolas" panose="020B0609020204030204" pitchFamily="49" charset="0"/>
              </a:rPr>
              <a:t>0</a:t>
            </a:r>
            <a:r>
              <a:rPr lang="en-US" sz="1600" b="1" dirty="0">
                <a:latin typeface="Consolas" panose="020B0609020204030204" pitchFamily="49" charset="0"/>
                <a:cs typeface="Consolas" panose="020B0609020204030204" pitchFamily="49" charset="0"/>
              </a:rPr>
              <a:t> &amp;&amp; (i % </a:t>
            </a:r>
            <a:r>
              <a:rPr lang="en-US" sz="1600" b="1" dirty="0">
                <a:solidFill>
                  <a:schemeClr val="accent3">
                    <a:lumMod val="75000"/>
                  </a:schemeClr>
                </a:solidFill>
                <a:latin typeface="Consolas" panose="020B0609020204030204" pitchFamily="49" charset="0"/>
                <a:cs typeface="Consolas" panose="020B0609020204030204" pitchFamily="49" charset="0"/>
              </a:rPr>
              <a:t>5</a:t>
            </a:r>
            <a:r>
              <a:rPr lang="en-US" sz="1600" b="1" dirty="0">
                <a:latin typeface="Consolas" panose="020B0609020204030204" pitchFamily="49" charset="0"/>
                <a:cs typeface="Consolas" panose="020B0609020204030204" pitchFamily="49" charset="0"/>
              </a:rPr>
              <a:t>) != </a:t>
            </a:r>
            <a:r>
              <a:rPr lang="en-US" sz="1600" b="1" dirty="0">
                <a:solidFill>
                  <a:schemeClr val="accent3">
                    <a:lumMod val="75000"/>
                  </a:schemeClr>
                </a:solidFill>
                <a:latin typeface="Consolas" panose="020B0609020204030204" pitchFamily="49" charset="0"/>
                <a:cs typeface="Consolas" panose="020B0609020204030204" pitchFamily="49" charset="0"/>
              </a:rPr>
              <a:t>0</a:t>
            </a:r>
            <a:r>
              <a:rPr lang="en-US" sz="1600" b="1" dirty="0">
                <a:latin typeface="Consolas" panose="020B0609020204030204" pitchFamily="49" charset="0"/>
                <a:cs typeface="Consolas" panose="020B0609020204030204" pitchFamily="49" charset="0"/>
              </a:rPr>
              <a:t> {</a:t>
            </a:r>
          </a:p>
          <a:p>
            <a:r>
              <a:rPr lang="en-US" sz="1600" b="1" dirty="0">
                <a:latin typeface="Consolas" panose="020B0609020204030204" pitchFamily="49" charset="0"/>
                <a:cs typeface="Consolas" panose="020B0609020204030204" pitchFamily="49" charset="0"/>
              </a:rPr>
              <a:t>      print!(</a:t>
            </a:r>
            <a:r>
              <a:rPr lang="en-US" sz="1600" b="1" dirty="0">
                <a:solidFill>
                  <a:schemeClr val="accent6">
                    <a:lumMod val="75000"/>
                  </a:schemeClr>
                </a:solidFill>
                <a:latin typeface="Consolas" panose="020B0609020204030204" pitchFamily="49" charset="0"/>
                <a:cs typeface="Consolas" panose="020B0609020204030204" pitchFamily="49" charset="0"/>
              </a:rPr>
              <a:t>"{}"</a:t>
            </a:r>
            <a:r>
              <a:rPr lang="en-US" sz="1600" b="1" dirty="0">
                <a:latin typeface="Consolas" panose="020B0609020204030204" pitchFamily="49" charset="0"/>
                <a:cs typeface="Consolas" panose="020B0609020204030204" pitchFamily="49" charset="0"/>
              </a:rPr>
              <a:t>, i);</a:t>
            </a:r>
          </a:p>
          <a:p>
            <a:r>
              <a:rPr lang="en-US" sz="1600" b="1" dirty="0">
                <a:latin typeface="Consolas" panose="020B0609020204030204" pitchFamily="49" charset="0"/>
                <a:cs typeface="Consolas" panose="020B0609020204030204" pitchFamily="49" charset="0"/>
              </a:rPr>
              <a:t>    }</a:t>
            </a:r>
          </a:p>
          <a:p>
            <a:r>
              <a:rPr lang="en-US" sz="1600" b="1" dirty="0">
                <a:latin typeface="Consolas" panose="020B0609020204030204" pitchFamily="49" charset="0"/>
                <a:cs typeface="Consolas" panose="020B0609020204030204" pitchFamily="49" charset="0"/>
              </a:rPr>
              <a:t>    </a:t>
            </a:r>
            <a:r>
              <a:rPr lang="en-US" sz="1600" b="1" dirty="0" err="1">
                <a:latin typeface="Consolas" panose="020B0609020204030204" pitchFamily="49" charset="0"/>
                <a:cs typeface="Consolas" panose="020B0609020204030204" pitchFamily="49" charset="0"/>
              </a:rPr>
              <a:t>println</a:t>
            </a:r>
            <a:r>
              <a:rPr lang="en-US" sz="1600" b="1" dirty="0">
                <a:latin typeface="Consolas" panose="020B0609020204030204" pitchFamily="49" charset="0"/>
                <a:cs typeface="Consolas" panose="020B0609020204030204" pitchFamily="49" charset="0"/>
              </a:rPr>
              <a:t>!();</a:t>
            </a:r>
          </a:p>
          <a:p>
            <a:r>
              <a:rPr lang="en-US" sz="1600" b="1" dirty="0">
                <a:latin typeface="Consolas" panose="020B0609020204030204" pitchFamily="49" charset="0"/>
                <a:cs typeface="Consolas" panose="020B0609020204030204" pitchFamily="49" charset="0"/>
              </a:rPr>
              <a:t>  }</a:t>
            </a:r>
          </a:p>
          <a:p>
            <a:r>
              <a:rPr lang="en-US" sz="1600" b="1" dirty="0">
                <a:latin typeface="Consolas" panose="020B0609020204030204" pitchFamily="49" charset="0"/>
                <a:cs typeface="Consolas" panose="020B0609020204030204" pitchFamily="49" charset="0"/>
              </a:rPr>
              <a:t>}</a:t>
            </a:r>
          </a:p>
        </p:txBody>
      </p:sp>
      <p:sp>
        <p:nvSpPr>
          <p:cNvPr id="6" name="Rectangle 5">
            <a:extLst>
              <a:ext uri="{FF2B5EF4-FFF2-40B4-BE49-F238E27FC236}">
                <a16:creationId xmlns:a16="http://schemas.microsoft.com/office/drawing/2014/main" id="{F23E69FA-7022-4A40-966C-132F5111E19C}"/>
              </a:ext>
            </a:extLst>
          </p:cNvPr>
          <p:cNvSpPr/>
          <p:nvPr/>
        </p:nvSpPr>
        <p:spPr>
          <a:xfrm>
            <a:off x="187693" y="1007045"/>
            <a:ext cx="4592855" cy="4031873"/>
          </a:xfrm>
          <a:prstGeom prst="rect">
            <a:avLst/>
          </a:prstGeom>
        </p:spPr>
        <p:txBody>
          <a:bodyPr wrap="square">
            <a:spAutoFit/>
          </a:bodyPr>
          <a:lstStyle/>
          <a:p>
            <a:r>
              <a:rPr lang="en-US" sz="1600" b="1" dirty="0">
                <a:solidFill>
                  <a:srgbClr val="FF0000"/>
                </a:solidFill>
                <a:latin typeface="Consolas" panose="020B0609020204030204" pitchFamily="49" charset="0"/>
                <a:cs typeface="Consolas" panose="020B0609020204030204" pitchFamily="49" charset="0"/>
              </a:rPr>
              <a:t>public class </a:t>
            </a:r>
            <a:r>
              <a:rPr lang="en-US" sz="1600" b="1" dirty="0">
                <a:latin typeface="Consolas" panose="020B0609020204030204" pitchFamily="49" charset="0"/>
                <a:cs typeface="Consolas" panose="020B0609020204030204" pitchFamily="49" charset="0"/>
              </a:rPr>
              <a:t>Code {</a:t>
            </a:r>
          </a:p>
          <a:p>
            <a:r>
              <a:rPr lang="en-US" sz="1600" b="1" dirty="0">
                <a:solidFill>
                  <a:srgbClr val="FF0000"/>
                </a:solidFill>
                <a:latin typeface="Consolas" panose="020B0609020204030204" pitchFamily="49" charset="0"/>
                <a:cs typeface="Consolas" panose="020B0609020204030204" pitchFamily="49" charset="0"/>
              </a:rPr>
              <a:t>  public static void </a:t>
            </a:r>
            <a:r>
              <a:rPr lang="en-US" sz="1600" b="1" dirty="0">
                <a:latin typeface="Consolas" panose="020B0609020204030204" pitchFamily="49" charset="0"/>
                <a:cs typeface="Consolas" panose="020B0609020204030204" pitchFamily="49" charset="0"/>
              </a:rPr>
              <a:t>main(String[] a) {</a:t>
            </a:r>
          </a:p>
          <a:p>
            <a:r>
              <a:rPr lang="en-US" sz="1600" b="1" dirty="0">
                <a:solidFill>
                  <a:srgbClr val="FF0000"/>
                </a:solidFill>
                <a:latin typeface="Consolas" panose="020B0609020204030204" pitchFamily="49" charset="0"/>
                <a:cs typeface="Consolas" panose="020B0609020204030204" pitchFamily="49" charset="0"/>
              </a:rPr>
              <a:t>    for</a:t>
            </a:r>
            <a:r>
              <a:rPr lang="en-US" sz="1600" b="1" dirty="0">
                <a:latin typeface="Consolas" panose="020B0609020204030204" pitchFamily="49" charset="0"/>
                <a:cs typeface="Consolas" panose="020B0609020204030204" pitchFamily="49" charset="0"/>
              </a:rPr>
              <a:t>(</a:t>
            </a:r>
            <a:r>
              <a:rPr lang="en-US" sz="1600" b="1" dirty="0">
                <a:solidFill>
                  <a:srgbClr val="FF0000"/>
                </a:solidFill>
                <a:latin typeface="Consolas" panose="020B0609020204030204" pitchFamily="49" charset="0"/>
                <a:cs typeface="Consolas" panose="020B0609020204030204" pitchFamily="49" charset="0"/>
              </a:rPr>
              <a:t>int</a:t>
            </a:r>
            <a:r>
              <a:rPr lang="en-US" sz="1600" b="1" dirty="0">
                <a:latin typeface="Consolas" panose="020B0609020204030204" pitchFamily="49" charset="0"/>
                <a:cs typeface="Consolas" panose="020B0609020204030204" pitchFamily="49" charset="0"/>
              </a:rPr>
              <a:t> i = </a:t>
            </a:r>
            <a:r>
              <a:rPr lang="en-US" sz="1600" b="1" dirty="0">
                <a:solidFill>
                  <a:schemeClr val="accent3">
                    <a:lumMod val="75000"/>
                  </a:schemeClr>
                </a:solidFill>
                <a:latin typeface="Consolas" panose="020B0609020204030204" pitchFamily="49" charset="0"/>
                <a:cs typeface="Consolas" panose="020B0609020204030204" pitchFamily="49" charset="0"/>
              </a:rPr>
              <a:t>1</a:t>
            </a:r>
            <a:r>
              <a:rPr lang="en-US" sz="1600" b="1" dirty="0">
                <a:latin typeface="Consolas" panose="020B0609020204030204" pitchFamily="49" charset="0"/>
                <a:cs typeface="Consolas" panose="020B0609020204030204" pitchFamily="49" charset="0"/>
              </a:rPr>
              <a:t>; i &lt;= </a:t>
            </a:r>
            <a:r>
              <a:rPr lang="en-US" sz="1600" b="1" dirty="0">
                <a:solidFill>
                  <a:schemeClr val="accent3">
                    <a:lumMod val="75000"/>
                  </a:schemeClr>
                </a:solidFill>
                <a:latin typeface="Consolas" panose="020B0609020204030204" pitchFamily="49" charset="0"/>
                <a:cs typeface="Consolas" panose="020B0609020204030204" pitchFamily="49" charset="0"/>
              </a:rPr>
              <a:t>100</a:t>
            </a:r>
            <a:r>
              <a:rPr lang="en-US" sz="1600" b="1" dirty="0">
                <a:latin typeface="Consolas" panose="020B0609020204030204" pitchFamily="49" charset="0"/>
                <a:cs typeface="Consolas" panose="020B0609020204030204" pitchFamily="49" charset="0"/>
              </a:rPr>
              <a:t>; i++) {</a:t>
            </a:r>
          </a:p>
          <a:p>
            <a:r>
              <a:rPr lang="en-US" sz="1600" b="1" dirty="0">
                <a:solidFill>
                  <a:srgbClr val="FF0000"/>
                </a:solidFill>
                <a:latin typeface="Consolas" panose="020B0609020204030204" pitchFamily="49" charset="0"/>
                <a:cs typeface="Consolas" panose="020B0609020204030204" pitchFamily="49" charset="0"/>
              </a:rPr>
              <a:t>      if</a:t>
            </a:r>
            <a:r>
              <a:rPr lang="en-US" sz="1600" b="1" dirty="0">
                <a:latin typeface="Consolas" panose="020B0609020204030204" pitchFamily="49" charset="0"/>
                <a:cs typeface="Consolas" panose="020B0609020204030204" pitchFamily="49" charset="0"/>
              </a:rPr>
              <a:t>((i % </a:t>
            </a:r>
            <a:r>
              <a:rPr lang="en-US" sz="1600" b="1" dirty="0">
                <a:solidFill>
                  <a:schemeClr val="accent3">
                    <a:lumMod val="75000"/>
                  </a:schemeClr>
                </a:solidFill>
                <a:latin typeface="Consolas" panose="020B0609020204030204" pitchFamily="49" charset="0"/>
                <a:cs typeface="Consolas" panose="020B0609020204030204" pitchFamily="49" charset="0"/>
              </a:rPr>
              <a:t>3</a:t>
            </a:r>
            <a:r>
              <a:rPr lang="en-US" sz="1600" b="1" dirty="0">
                <a:latin typeface="Consolas" panose="020B0609020204030204" pitchFamily="49" charset="0"/>
                <a:cs typeface="Consolas" panose="020B0609020204030204" pitchFamily="49" charset="0"/>
              </a:rPr>
              <a:t>) == </a:t>
            </a:r>
            <a:r>
              <a:rPr lang="en-US" sz="1600" b="1" dirty="0">
                <a:solidFill>
                  <a:schemeClr val="accent3">
                    <a:lumMod val="75000"/>
                  </a:schemeClr>
                </a:solidFill>
                <a:latin typeface="Consolas" panose="020B0609020204030204" pitchFamily="49" charset="0"/>
                <a:cs typeface="Consolas" panose="020B0609020204030204" pitchFamily="49" charset="0"/>
              </a:rPr>
              <a:t>0</a:t>
            </a:r>
            <a:r>
              <a:rPr lang="en-US" sz="1600" b="1" dirty="0">
                <a:latin typeface="Consolas" panose="020B0609020204030204" pitchFamily="49" charset="0"/>
                <a:cs typeface="Consolas" panose="020B0609020204030204" pitchFamily="49" charset="0"/>
              </a:rPr>
              <a:t>)</a:t>
            </a:r>
          </a:p>
          <a:p>
            <a:r>
              <a:rPr lang="en-US" sz="1600" b="1" dirty="0">
                <a:solidFill>
                  <a:srgbClr val="FF0000"/>
                </a:solidFill>
                <a:latin typeface="Consolas" panose="020B0609020204030204" pitchFamily="49" charset="0"/>
                <a:cs typeface="Consolas" panose="020B0609020204030204" pitchFamily="49" charset="0"/>
              </a:rPr>
              <a:t>        </a:t>
            </a:r>
            <a:r>
              <a:rPr lang="en-US" sz="1600" b="1" dirty="0">
                <a:latin typeface="Consolas" panose="020B0609020204030204" pitchFamily="49" charset="0"/>
                <a:cs typeface="Consolas" panose="020B0609020204030204" pitchFamily="49" charset="0"/>
              </a:rPr>
              <a:t>System.out.print(</a:t>
            </a:r>
            <a:r>
              <a:rPr lang="en-US" sz="1600" b="1" dirty="0">
                <a:solidFill>
                  <a:schemeClr val="accent6">
                    <a:lumMod val="75000"/>
                  </a:schemeClr>
                </a:solidFill>
                <a:latin typeface="Consolas" panose="020B0609020204030204" pitchFamily="49" charset="0"/>
                <a:cs typeface="Consolas" panose="020B0609020204030204" pitchFamily="49" charset="0"/>
              </a:rPr>
              <a:t>"Fizz"</a:t>
            </a:r>
            <a:r>
              <a:rPr lang="en-US" sz="1600" b="1" dirty="0">
                <a:latin typeface="Consolas" panose="020B0609020204030204" pitchFamily="49" charset="0"/>
                <a:cs typeface="Consolas" panose="020B0609020204030204" pitchFamily="49" charset="0"/>
              </a:rPr>
              <a:t>);</a:t>
            </a:r>
          </a:p>
          <a:p>
            <a:endParaRPr lang="en-US" sz="1600" b="1" dirty="0">
              <a:latin typeface="Consolas" panose="020B0609020204030204" pitchFamily="49" charset="0"/>
              <a:cs typeface="Consolas" panose="020B0609020204030204" pitchFamily="49" charset="0"/>
            </a:endParaRPr>
          </a:p>
          <a:p>
            <a:r>
              <a:rPr lang="en-US" sz="1600" b="1" dirty="0">
                <a:solidFill>
                  <a:srgbClr val="FF0000"/>
                </a:solidFill>
                <a:latin typeface="Consolas" panose="020B0609020204030204" pitchFamily="49" charset="0"/>
                <a:cs typeface="Consolas" panose="020B0609020204030204" pitchFamily="49" charset="0"/>
              </a:rPr>
              <a:t>      if</a:t>
            </a:r>
            <a:r>
              <a:rPr lang="en-US" sz="1600" b="1" dirty="0">
                <a:latin typeface="Consolas" panose="020B0609020204030204" pitchFamily="49" charset="0"/>
                <a:cs typeface="Consolas" panose="020B0609020204030204" pitchFamily="49" charset="0"/>
              </a:rPr>
              <a:t>((i % </a:t>
            </a:r>
            <a:r>
              <a:rPr lang="en-US" sz="1600" b="1" dirty="0">
                <a:solidFill>
                  <a:schemeClr val="accent3">
                    <a:lumMod val="75000"/>
                  </a:schemeClr>
                </a:solidFill>
                <a:latin typeface="Consolas" panose="020B0609020204030204" pitchFamily="49" charset="0"/>
                <a:cs typeface="Consolas" panose="020B0609020204030204" pitchFamily="49" charset="0"/>
              </a:rPr>
              <a:t>5</a:t>
            </a:r>
            <a:r>
              <a:rPr lang="en-US" sz="1600" b="1" dirty="0">
                <a:latin typeface="Consolas" panose="020B0609020204030204" pitchFamily="49" charset="0"/>
                <a:cs typeface="Consolas" panose="020B0609020204030204" pitchFamily="49" charset="0"/>
              </a:rPr>
              <a:t>) == </a:t>
            </a:r>
            <a:r>
              <a:rPr lang="en-US" sz="1600" b="1" dirty="0">
                <a:solidFill>
                  <a:schemeClr val="accent3">
                    <a:lumMod val="75000"/>
                  </a:schemeClr>
                </a:solidFill>
                <a:latin typeface="Consolas" panose="020B0609020204030204" pitchFamily="49" charset="0"/>
                <a:cs typeface="Consolas" panose="020B0609020204030204" pitchFamily="49" charset="0"/>
              </a:rPr>
              <a:t>0</a:t>
            </a:r>
            <a:r>
              <a:rPr lang="en-US" sz="1600" b="1" dirty="0">
                <a:latin typeface="Consolas" panose="020B0609020204030204" pitchFamily="49" charset="0"/>
                <a:cs typeface="Consolas" panose="020B0609020204030204" pitchFamily="49" charset="0"/>
              </a:rPr>
              <a:t>)</a:t>
            </a:r>
          </a:p>
          <a:p>
            <a:r>
              <a:rPr lang="en-US" sz="1600" b="1" dirty="0">
                <a:solidFill>
                  <a:srgbClr val="FF0000"/>
                </a:solidFill>
                <a:latin typeface="Consolas" panose="020B0609020204030204" pitchFamily="49" charset="0"/>
                <a:cs typeface="Consolas" panose="020B0609020204030204" pitchFamily="49" charset="0"/>
              </a:rPr>
              <a:t>        </a:t>
            </a:r>
            <a:r>
              <a:rPr lang="en-US" sz="1600" b="1" dirty="0">
                <a:latin typeface="Consolas" panose="020B0609020204030204" pitchFamily="49" charset="0"/>
                <a:cs typeface="Consolas" panose="020B0609020204030204" pitchFamily="49" charset="0"/>
              </a:rPr>
              <a:t>System.out.print(</a:t>
            </a:r>
            <a:r>
              <a:rPr lang="en-US" sz="1600" b="1" dirty="0">
                <a:solidFill>
                  <a:schemeClr val="accent6">
                    <a:lumMod val="75000"/>
                  </a:schemeClr>
                </a:solidFill>
                <a:latin typeface="Consolas" panose="020B0609020204030204" pitchFamily="49" charset="0"/>
                <a:cs typeface="Consolas" panose="020B0609020204030204" pitchFamily="49" charset="0"/>
              </a:rPr>
              <a:t>"Buzz"</a:t>
            </a:r>
            <a:r>
              <a:rPr lang="en-US" sz="1600" b="1" dirty="0">
                <a:latin typeface="Consolas" panose="020B0609020204030204" pitchFamily="49" charset="0"/>
                <a:cs typeface="Consolas" panose="020B0609020204030204" pitchFamily="49" charset="0"/>
              </a:rPr>
              <a:t>);</a:t>
            </a:r>
          </a:p>
          <a:p>
            <a:endParaRPr lang="en-US" sz="1600" b="1" dirty="0">
              <a:latin typeface="Consolas" panose="020B0609020204030204" pitchFamily="49" charset="0"/>
              <a:cs typeface="Consolas" panose="020B0609020204030204" pitchFamily="49" charset="0"/>
            </a:endParaRPr>
          </a:p>
          <a:p>
            <a:r>
              <a:rPr lang="en-US" sz="1600" b="1" dirty="0">
                <a:solidFill>
                  <a:srgbClr val="FF0000"/>
                </a:solidFill>
                <a:latin typeface="Consolas" panose="020B0609020204030204" pitchFamily="49" charset="0"/>
                <a:cs typeface="Consolas" panose="020B0609020204030204" pitchFamily="49" charset="0"/>
              </a:rPr>
              <a:t>      if</a:t>
            </a:r>
            <a:r>
              <a:rPr lang="en-US" sz="1600" b="1" dirty="0">
                <a:latin typeface="Consolas" panose="020B0609020204030204" pitchFamily="49" charset="0"/>
                <a:cs typeface="Consolas" panose="020B0609020204030204" pitchFamily="49" charset="0"/>
              </a:rPr>
              <a:t>((i % </a:t>
            </a:r>
            <a:r>
              <a:rPr lang="en-US" sz="1600" b="1" dirty="0">
                <a:solidFill>
                  <a:schemeClr val="accent3">
                    <a:lumMod val="75000"/>
                  </a:schemeClr>
                </a:solidFill>
                <a:latin typeface="Consolas" panose="020B0609020204030204" pitchFamily="49" charset="0"/>
                <a:cs typeface="Consolas" panose="020B0609020204030204" pitchFamily="49" charset="0"/>
              </a:rPr>
              <a:t>3</a:t>
            </a:r>
            <a:r>
              <a:rPr lang="en-US" sz="1600" b="1" dirty="0">
                <a:latin typeface="Consolas" panose="020B0609020204030204" pitchFamily="49" charset="0"/>
                <a:cs typeface="Consolas" panose="020B0609020204030204" pitchFamily="49" charset="0"/>
              </a:rPr>
              <a:t>) != </a:t>
            </a:r>
            <a:r>
              <a:rPr lang="en-US" sz="1600" b="1" dirty="0">
                <a:solidFill>
                  <a:schemeClr val="accent3">
                    <a:lumMod val="75000"/>
                  </a:schemeClr>
                </a:solidFill>
                <a:latin typeface="Consolas" panose="020B0609020204030204" pitchFamily="49" charset="0"/>
                <a:cs typeface="Consolas" panose="020B0609020204030204" pitchFamily="49" charset="0"/>
              </a:rPr>
              <a:t>0</a:t>
            </a:r>
            <a:r>
              <a:rPr lang="en-US" sz="1600" b="1" dirty="0">
                <a:latin typeface="Consolas" panose="020B0609020204030204" pitchFamily="49" charset="0"/>
                <a:cs typeface="Consolas" panose="020B0609020204030204" pitchFamily="49" charset="0"/>
              </a:rPr>
              <a:t> &amp;&amp; (i % </a:t>
            </a:r>
            <a:r>
              <a:rPr lang="en-US" sz="1600" b="1" dirty="0">
                <a:solidFill>
                  <a:schemeClr val="accent3">
                    <a:lumMod val="75000"/>
                  </a:schemeClr>
                </a:solidFill>
                <a:latin typeface="Consolas" panose="020B0609020204030204" pitchFamily="49" charset="0"/>
                <a:cs typeface="Consolas" panose="020B0609020204030204" pitchFamily="49" charset="0"/>
              </a:rPr>
              <a:t>5</a:t>
            </a:r>
            <a:r>
              <a:rPr lang="en-US" sz="1600" b="1" dirty="0">
                <a:latin typeface="Consolas" panose="020B0609020204030204" pitchFamily="49" charset="0"/>
                <a:cs typeface="Consolas" panose="020B0609020204030204" pitchFamily="49" charset="0"/>
              </a:rPr>
              <a:t>) != </a:t>
            </a:r>
            <a:r>
              <a:rPr lang="en-US" sz="1600" b="1" dirty="0">
                <a:solidFill>
                  <a:schemeClr val="accent3">
                    <a:lumMod val="75000"/>
                  </a:schemeClr>
                </a:solidFill>
                <a:latin typeface="Consolas" panose="020B0609020204030204" pitchFamily="49" charset="0"/>
                <a:cs typeface="Consolas" panose="020B0609020204030204" pitchFamily="49" charset="0"/>
              </a:rPr>
              <a:t>0</a:t>
            </a:r>
            <a:r>
              <a:rPr lang="en-US" sz="1600" b="1" dirty="0">
                <a:latin typeface="Consolas" panose="020B0609020204030204" pitchFamily="49" charset="0"/>
                <a:cs typeface="Consolas" panose="020B0609020204030204" pitchFamily="49" charset="0"/>
              </a:rPr>
              <a:t>)</a:t>
            </a:r>
          </a:p>
          <a:p>
            <a:r>
              <a:rPr lang="en-US" sz="1600" b="1" dirty="0">
                <a:solidFill>
                  <a:srgbClr val="FF0000"/>
                </a:solidFill>
                <a:latin typeface="Consolas" panose="020B0609020204030204" pitchFamily="49" charset="0"/>
                <a:cs typeface="Consolas" panose="020B0609020204030204" pitchFamily="49" charset="0"/>
              </a:rPr>
              <a:t>        </a:t>
            </a:r>
            <a:r>
              <a:rPr lang="en-US" sz="1600" b="1" dirty="0">
                <a:latin typeface="Consolas" panose="020B0609020204030204" pitchFamily="49" charset="0"/>
                <a:cs typeface="Consolas" panose="020B0609020204030204" pitchFamily="49" charset="0"/>
              </a:rPr>
              <a:t>System.out.print(i);</a:t>
            </a:r>
          </a:p>
          <a:p>
            <a:endParaRPr lang="en-US" sz="1600" b="1" dirty="0">
              <a:latin typeface="Consolas" panose="020B0609020204030204" pitchFamily="49" charset="0"/>
              <a:cs typeface="Consolas" panose="020B0609020204030204" pitchFamily="49" charset="0"/>
            </a:endParaRPr>
          </a:p>
          <a:p>
            <a:r>
              <a:rPr lang="en-US" sz="1600" b="1" dirty="0">
                <a:solidFill>
                  <a:srgbClr val="FF0000"/>
                </a:solidFill>
                <a:latin typeface="Consolas" panose="020B0609020204030204" pitchFamily="49" charset="0"/>
                <a:cs typeface="Consolas" panose="020B0609020204030204" pitchFamily="49" charset="0"/>
              </a:rPr>
              <a:t>      </a:t>
            </a:r>
            <a:r>
              <a:rPr lang="en-US" sz="1600" b="1" dirty="0" err="1">
                <a:latin typeface="Consolas" panose="020B0609020204030204" pitchFamily="49" charset="0"/>
                <a:cs typeface="Consolas" panose="020B0609020204030204" pitchFamily="49" charset="0"/>
              </a:rPr>
              <a:t>System.out.println</a:t>
            </a:r>
            <a:r>
              <a:rPr lang="en-US" sz="1600" b="1" dirty="0">
                <a:latin typeface="Consolas" panose="020B0609020204030204" pitchFamily="49" charset="0"/>
                <a:cs typeface="Consolas" panose="020B0609020204030204" pitchFamily="49" charset="0"/>
              </a:rPr>
              <a:t>();</a:t>
            </a:r>
          </a:p>
          <a:p>
            <a:r>
              <a:rPr lang="en-US" sz="1600" b="1" dirty="0">
                <a:latin typeface="Consolas" panose="020B0609020204030204" pitchFamily="49" charset="0"/>
                <a:cs typeface="Consolas" panose="020B0609020204030204" pitchFamily="49" charset="0"/>
              </a:rPr>
              <a:t>    }</a:t>
            </a:r>
          </a:p>
          <a:p>
            <a:r>
              <a:rPr lang="en-US" sz="1600" b="1" dirty="0">
                <a:latin typeface="Consolas" panose="020B0609020204030204" pitchFamily="49" charset="0"/>
                <a:cs typeface="Consolas" panose="020B0609020204030204" pitchFamily="49" charset="0"/>
              </a:rPr>
              <a:t>  }</a:t>
            </a:r>
          </a:p>
          <a:p>
            <a:r>
              <a:rPr lang="en-US" sz="1600" b="1" dirty="0">
                <a:latin typeface="Consolas" panose="020B0609020204030204" pitchFamily="49" charset="0"/>
                <a:cs typeface="Consolas" panose="020B0609020204030204" pitchFamily="49" charset="0"/>
              </a:rPr>
              <a:t>}</a:t>
            </a:r>
          </a:p>
        </p:txBody>
      </p:sp>
      <p:cxnSp>
        <p:nvCxnSpPr>
          <p:cNvPr id="8" name="Straight Connector 7">
            <a:extLst>
              <a:ext uri="{FF2B5EF4-FFF2-40B4-BE49-F238E27FC236}">
                <a16:creationId xmlns:a16="http://schemas.microsoft.com/office/drawing/2014/main" id="{2EF6CC5C-0C20-1D43-BDCC-2D9EF9E93475}"/>
              </a:ext>
            </a:extLst>
          </p:cNvPr>
          <p:cNvCxnSpPr/>
          <p:nvPr/>
        </p:nvCxnSpPr>
        <p:spPr>
          <a:xfrm>
            <a:off x="4722797" y="1016671"/>
            <a:ext cx="0" cy="41364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B96F89D-718D-6946-8175-489D0A1391BE}"/>
              </a:ext>
            </a:extLst>
          </p:cNvPr>
          <p:cNvSpPr txBox="1"/>
          <p:nvPr/>
        </p:nvSpPr>
        <p:spPr>
          <a:xfrm>
            <a:off x="5029200" y="4906986"/>
            <a:ext cx="3581400" cy="615553"/>
          </a:xfrm>
          <a:prstGeom prst="rect">
            <a:avLst/>
          </a:prstGeom>
          <a:noFill/>
        </p:spPr>
        <p:txBody>
          <a:bodyPr wrap="square" rtlCol="0">
            <a:spAutoFit/>
          </a:bodyPr>
          <a:lstStyle/>
          <a:p>
            <a:pPr algn="ctr"/>
            <a:r>
              <a:rPr lang="en-US" sz="2200" dirty="0"/>
              <a:t>what are some differences? </a:t>
            </a:r>
            <a:r>
              <a:rPr lang="en-US" sz="1200" dirty="0"/>
              <a:t>(see slide notes for some answers)</a:t>
            </a:r>
          </a:p>
        </p:txBody>
      </p:sp>
    </p:spTree>
    <p:extLst>
      <p:ext uri="{BB962C8B-B14F-4D97-AF65-F5344CB8AC3E}">
        <p14:creationId xmlns:p14="http://schemas.microsoft.com/office/powerpoint/2010/main" val="31113785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8158D-9688-594C-9CD1-400DF1BB7847}"/>
              </a:ext>
            </a:extLst>
          </p:cNvPr>
          <p:cNvSpPr>
            <a:spLocks noGrp="1"/>
          </p:cNvSpPr>
          <p:nvPr>
            <p:ph type="title"/>
          </p:nvPr>
        </p:nvSpPr>
        <p:spPr/>
        <p:txBody>
          <a:bodyPr/>
          <a:lstStyle/>
          <a:p>
            <a:r>
              <a:rPr lang="en-US" dirty="0"/>
              <a:t>More Comparison</a:t>
            </a:r>
          </a:p>
        </p:txBody>
      </p:sp>
      <p:sp>
        <p:nvSpPr>
          <p:cNvPr id="3" name="Content Placeholder 2">
            <a:extLst>
              <a:ext uri="{FF2B5EF4-FFF2-40B4-BE49-F238E27FC236}">
                <a16:creationId xmlns:a16="http://schemas.microsoft.com/office/drawing/2014/main" id="{9BCB77EA-6C1C-B146-ABB2-CC11E34BB4D6}"/>
              </a:ext>
            </a:extLst>
          </p:cNvPr>
          <p:cNvSpPr>
            <a:spLocks noGrp="1"/>
          </p:cNvSpPr>
          <p:nvPr>
            <p:ph idx="1"/>
          </p:nvPr>
        </p:nvSpPr>
        <p:spPr>
          <a:xfrm>
            <a:off x="152400" y="495302"/>
            <a:ext cx="8991600" cy="495300"/>
          </a:xfrm>
        </p:spPr>
        <p:txBody>
          <a:bodyPr/>
          <a:lstStyle/>
          <a:p>
            <a:r>
              <a:rPr lang="en-US" dirty="0"/>
              <a:t>it really isn't THAT scary. </a:t>
            </a:r>
            <a:r>
              <a:rPr lang="en-US" sz="1400" dirty="0"/>
              <a:t>(class/main/</a:t>
            </a:r>
            <a:r>
              <a:rPr lang="en-US" sz="1400" dirty="0" err="1"/>
              <a:t>System.out</a:t>
            </a:r>
            <a:r>
              <a:rPr lang="en-US" sz="1400" dirty="0"/>
              <a:t> omitted for space)</a:t>
            </a:r>
            <a:endParaRPr lang="en-US" dirty="0"/>
          </a:p>
        </p:txBody>
      </p:sp>
      <p:sp>
        <p:nvSpPr>
          <p:cNvPr id="4" name="Slide Number Placeholder 3">
            <a:extLst>
              <a:ext uri="{FF2B5EF4-FFF2-40B4-BE49-F238E27FC236}">
                <a16:creationId xmlns:a16="http://schemas.microsoft.com/office/drawing/2014/main" id="{C411CF76-2E83-1545-A157-3B9C32B6DCB6}"/>
              </a:ext>
            </a:extLst>
          </p:cNvPr>
          <p:cNvSpPr>
            <a:spLocks noGrp="1"/>
          </p:cNvSpPr>
          <p:nvPr>
            <p:ph type="sldNum" sz="quarter" idx="12"/>
          </p:nvPr>
        </p:nvSpPr>
        <p:spPr/>
        <p:txBody>
          <a:bodyPr/>
          <a:lstStyle/>
          <a:p>
            <a:fld id="{3552B95B-556F-44BD-91A5-D80C1B9E2BB3}" type="slidenum">
              <a:rPr lang="en-US" smtClean="0"/>
              <a:pPr/>
              <a:t>32</a:t>
            </a:fld>
            <a:endParaRPr lang="en-US"/>
          </a:p>
        </p:txBody>
      </p:sp>
      <p:sp>
        <p:nvSpPr>
          <p:cNvPr id="5" name="Rectangle 4">
            <a:extLst>
              <a:ext uri="{FF2B5EF4-FFF2-40B4-BE49-F238E27FC236}">
                <a16:creationId xmlns:a16="http://schemas.microsoft.com/office/drawing/2014/main" id="{C37909A6-E0EE-B449-B3F3-6F559D78C7A6}"/>
              </a:ext>
            </a:extLst>
          </p:cNvPr>
          <p:cNvSpPr/>
          <p:nvPr/>
        </p:nvSpPr>
        <p:spPr>
          <a:xfrm>
            <a:off x="4631356" y="952498"/>
            <a:ext cx="5083743" cy="2062103"/>
          </a:xfrm>
          <a:prstGeom prst="rect">
            <a:avLst/>
          </a:prstGeom>
        </p:spPr>
        <p:txBody>
          <a:bodyPr wrap="square">
            <a:spAutoFit/>
          </a:bodyPr>
          <a:lstStyle/>
          <a:p>
            <a:r>
              <a:rPr lang="en-US" sz="1600" b="1" dirty="0">
                <a:solidFill>
                  <a:srgbClr val="FF0000"/>
                </a:solidFill>
                <a:latin typeface="Consolas" panose="020B0609020204030204" pitchFamily="49" charset="0"/>
                <a:cs typeface="Consolas" panose="020B0609020204030204" pitchFamily="49" charset="0"/>
              </a:rPr>
              <a:t>let</a:t>
            </a:r>
            <a:r>
              <a:rPr lang="en-US" sz="1600" b="1" dirty="0">
                <a:latin typeface="Consolas" panose="020B0609020204030204" pitchFamily="49" charset="0"/>
                <a:cs typeface="Consolas" panose="020B0609020204030204" pitchFamily="49" charset="0"/>
              </a:rPr>
              <a:t> </a:t>
            </a:r>
            <a:r>
              <a:rPr lang="en-US" sz="1600" b="1" dirty="0" err="1">
                <a:latin typeface="Consolas" panose="020B0609020204030204" pitchFamily="49" charset="0"/>
                <a:cs typeface="Consolas" panose="020B0609020204030204" pitchFamily="49" charset="0"/>
              </a:rPr>
              <a:t>nums</a:t>
            </a:r>
            <a:r>
              <a:rPr lang="en-US" sz="1600" b="1" dirty="0">
                <a:latin typeface="Consolas" panose="020B0609020204030204" pitchFamily="49" charset="0"/>
                <a:cs typeface="Consolas" panose="020B0609020204030204" pitchFamily="49" charset="0"/>
              </a:rPr>
              <a:t> = </a:t>
            </a:r>
            <a:r>
              <a:rPr lang="en-US" sz="1600" b="1" dirty="0" err="1">
                <a:latin typeface="Consolas" panose="020B0609020204030204" pitchFamily="49" charset="0"/>
                <a:cs typeface="Consolas" panose="020B0609020204030204" pitchFamily="49" charset="0"/>
              </a:rPr>
              <a:t>vec</a:t>
            </a:r>
            <a:r>
              <a:rPr lang="en-US" sz="1600" b="1" dirty="0">
                <a:latin typeface="Consolas" panose="020B0609020204030204" pitchFamily="49" charset="0"/>
                <a:cs typeface="Consolas" panose="020B0609020204030204" pitchFamily="49" charset="0"/>
              </a:rPr>
              <a:t>![</a:t>
            </a:r>
            <a:r>
              <a:rPr lang="en-US" sz="1600" b="1" dirty="0">
                <a:solidFill>
                  <a:schemeClr val="accent3">
                    <a:lumMod val="75000"/>
                  </a:schemeClr>
                </a:solidFill>
                <a:latin typeface="Consolas" panose="020B0609020204030204" pitchFamily="49" charset="0"/>
                <a:cs typeface="Consolas" panose="020B0609020204030204" pitchFamily="49" charset="0"/>
              </a:rPr>
              <a:t>1</a:t>
            </a:r>
            <a:r>
              <a:rPr lang="en-US" sz="1600" b="1" dirty="0">
                <a:latin typeface="Consolas" panose="020B0609020204030204" pitchFamily="49" charset="0"/>
                <a:cs typeface="Consolas" panose="020B0609020204030204" pitchFamily="49" charset="0"/>
              </a:rPr>
              <a:t>, </a:t>
            </a:r>
            <a:r>
              <a:rPr lang="en-US" sz="1600" b="1" dirty="0">
                <a:solidFill>
                  <a:schemeClr val="accent3">
                    <a:lumMod val="75000"/>
                  </a:schemeClr>
                </a:solidFill>
                <a:latin typeface="Consolas" panose="020B0609020204030204" pitchFamily="49" charset="0"/>
                <a:cs typeface="Consolas" panose="020B0609020204030204" pitchFamily="49" charset="0"/>
              </a:rPr>
              <a:t>3</a:t>
            </a:r>
            <a:r>
              <a:rPr lang="en-US" sz="1600" b="1" dirty="0">
                <a:latin typeface="Consolas" panose="020B0609020204030204" pitchFamily="49" charset="0"/>
                <a:cs typeface="Consolas" panose="020B0609020204030204" pitchFamily="49" charset="0"/>
              </a:rPr>
              <a:t>, </a:t>
            </a:r>
            <a:r>
              <a:rPr lang="en-US" sz="1600" b="1" dirty="0">
                <a:solidFill>
                  <a:schemeClr val="accent3">
                    <a:lumMod val="75000"/>
                  </a:schemeClr>
                </a:solidFill>
                <a:latin typeface="Consolas" panose="020B0609020204030204" pitchFamily="49" charset="0"/>
                <a:cs typeface="Consolas" panose="020B0609020204030204" pitchFamily="49" charset="0"/>
              </a:rPr>
              <a:t>5</a:t>
            </a:r>
            <a:r>
              <a:rPr lang="en-US" sz="1600" b="1" dirty="0">
                <a:latin typeface="Consolas" panose="020B0609020204030204" pitchFamily="49" charset="0"/>
                <a:cs typeface="Consolas" panose="020B0609020204030204" pitchFamily="49" charset="0"/>
              </a:rPr>
              <a:t>, </a:t>
            </a:r>
            <a:r>
              <a:rPr lang="en-US" sz="1600" b="1" dirty="0">
                <a:solidFill>
                  <a:schemeClr val="accent3">
                    <a:lumMod val="75000"/>
                  </a:schemeClr>
                </a:solidFill>
                <a:latin typeface="Consolas" panose="020B0609020204030204" pitchFamily="49" charset="0"/>
                <a:cs typeface="Consolas" panose="020B0609020204030204" pitchFamily="49" charset="0"/>
              </a:rPr>
              <a:t>7</a:t>
            </a:r>
            <a:r>
              <a:rPr lang="en-US" sz="1600" b="1" dirty="0">
                <a:latin typeface="Consolas" panose="020B0609020204030204" pitchFamily="49" charset="0"/>
                <a:cs typeface="Consolas" panose="020B0609020204030204" pitchFamily="49" charset="0"/>
              </a:rPr>
              <a:t>, </a:t>
            </a:r>
            <a:r>
              <a:rPr lang="en-US" sz="1600" b="1" dirty="0">
                <a:solidFill>
                  <a:schemeClr val="accent3">
                    <a:lumMod val="75000"/>
                  </a:schemeClr>
                </a:solidFill>
                <a:latin typeface="Consolas" panose="020B0609020204030204" pitchFamily="49" charset="0"/>
                <a:cs typeface="Consolas" panose="020B0609020204030204" pitchFamily="49" charset="0"/>
              </a:rPr>
              <a:t>10</a:t>
            </a:r>
            <a:r>
              <a:rPr lang="en-US" sz="1600" b="1" dirty="0">
                <a:latin typeface="Consolas" panose="020B0609020204030204" pitchFamily="49" charset="0"/>
                <a:cs typeface="Consolas" panose="020B0609020204030204" pitchFamily="49" charset="0"/>
              </a:rPr>
              <a:t>];</a:t>
            </a:r>
          </a:p>
          <a:p>
            <a:endParaRPr lang="en-US" sz="1600" b="1" dirty="0">
              <a:latin typeface="Consolas" panose="020B0609020204030204" pitchFamily="49" charset="0"/>
              <a:cs typeface="Consolas" panose="020B0609020204030204" pitchFamily="49" charset="0"/>
            </a:endParaRPr>
          </a:p>
          <a:p>
            <a:r>
              <a:rPr lang="en-US" sz="1600" b="1" dirty="0">
                <a:solidFill>
                  <a:srgbClr val="FF0000"/>
                </a:solidFill>
                <a:latin typeface="Consolas" panose="020B0609020204030204" pitchFamily="49" charset="0"/>
                <a:cs typeface="Consolas" panose="020B0609020204030204" pitchFamily="49" charset="0"/>
              </a:rPr>
              <a:t>for</a:t>
            </a:r>
            <a:r>
              <a:rPr lang="en-US" sz="1600" b="1" dirty="0">
                <a:latin typeface="Consolas" panose="020B0609020204030204" pitchFamily="49" charset="0"/>
                <a:cs typeface="Consolas" panose="020B0609020204030204" pitchFamily="49" charset="0"/>
              </a:rPr>
              <a:t> (i, n) </a:t>
            </a:r>
            <a:r>
              <a:rPr lang="en-US" sz="1600" b="1" dirty="0">
                <a:solidFill>
                  <a:srgbClr val="FF0000"/>
                </a:solidFill>
                <a:latin typeface="Consolas" panose="020B0609020204030204" pitchFamily="49" charset="0"/>
                <a:cs typeface="Consolas" panose="020B0609020204030204" pitchFamily="49" charset="0"/>
              </a:rPr>
              <a:t>in</a:t>
            </a:r>
            <a:r>
              <a:rPr lang="en-US" sz="1600" b="1" dirty="0">
                <a:latin typeface="Consolas" panose="020B0609020204030204" pitchFamily="49" charset="0"/>
                <a:cs typeface="Consolas" panose="020B0609020204030204" pitchFamily="49" charset="0"/>
              </a:rPr>
              <a:t> </a:t>
            </a:r>
            <a:r>
              <a:rPr lang="en-US" sz="1600" b="1" dirty="0" err="1">
                <a:latin typeface="Consolas" panose="020B0609020204030204" pitchFamily="49" charset="0"/>
                <a:cs typeface="Consolas" panose="020B0609020204030204" pitchFamily="49" charset="0"/>
              </a:rPr>
              <a:t>nums.iter</a:t>
            </a:r>
            <a:r>
              <a:rPr lang="en-US" sz="1600" b="1" dirty="0">
                <a:latin typeface="Consolas" panose="020B0609020204030204" pitchFamily="49" charset="0"/>
                <a:cs typeface="Consolas" panose="020B0609020204030204" pitchFamily="49" charset="0"/>
              </a:rPr>
              <a:t>().enumerate() {</a:t>
            </a:r>
          </a:p>
          <a:p>
            <a:r>
              <a:rPr lang="en-US" sz="1600" b="1" dirty="0">
                <a:latin typeface="Consolas" panose="020B0609020204030204" pitchFamily="49" charset="0"/>
                <a:cs typeface="Consolas" panose="020B0609020204030204" pitchFamily="49" charset="0"/>
              </a:rPr>
              <a:t>  </a:t>
            </a:r>
            <a:r>
              <a:rPr lang="en-US" sz="1600" b="1" dirty="0" err="1">
                <a:latin typeface="Consolas" panose="020B0609020204030204" pitchFamily="49" charset="0"/>
                <a:cs typeface="Consolas" panose="020B0609020204030204" pitchFamily="49" charset="0"/>
              </a:rPr>
              <a:t>println</a:t>
            </a:r>
            <a:r>
              <a:rPr lang="en-US" sz="1600" b="1" dirty="0">
                <a:latin typeface="Consolas" panose="020B0609020204030204" pitchFamily="49" charset="0"/>
                <a:cs typeface="Consolas" panose="020B0609020204030204" pitchFamily="49" charset="0"/>
              </a:rPr>
              <a:t>!(</a:t>
            </a:r>
            <a:r>
              <a:rPr lang="en-US" sz="1600" b="1" dirty="0">
                <a:solidFill>
                  <a:schemeClr val="accent6">
                    <a:lumMod val="75000"/>
                  </a:schemeClr>
                </a:solidFill>
                <a:latin typeface="Consolas" panose="020B0609020204030204" pitchFamily="49" charset="0"/>
                <a:cs typeface="Consolas" panose="020B0609020204030204" pitchFamily="49" charset="0"/>
              </a:rPr>
              <a:t>"</a:t>
            </a:r>
            <a:r>
              <a:rPr lang="en-US" sz="1600" b="1" dirty="0" err="1">
                <a:solidFill>
                  <a:schemeClr val="accent6">
                    <a:lumMod val="75000"/>
                  </a:schemeClr>
                </a:solidFill>
                <a:latin typeface="Consolas" panose="020B0609020204030204" pitchFamily="49" charset="0"/>
                <a:cs typeface="Consolas" panose="020B0609020204030204" pitchFamily="49" charset="0"/>
              </a:rPr>
              <a:t>nums</a:t>
            </a:r>
            <a:r>
              <a:rPr lang="en-US" sz="1600" b="1" dirty="0">
                <a:solidFill>
                  <a:schemeClr val="accent6">
                    <a:lumMod val="75000"/>
                  </a:schemeClr>
                </a:solidFill>
                <a:latin typeface="Consolas" panose="020B0609020204030204" pitchFamily="49" charset="0"/>
                <a:cs typeface="Consolas" panose="020B0609020204030204" pitchFamily="49" charset="0"/>
              </a:rPr>
              <a:t>[{}] = {}"</a:t>
            </a:r>
            <a:r>
              <a:rPr lang="en-US" sz="1600" b="1" dirty="0">
                <a:latin typeface="Consolas" panose="020B0609020204030204" pitchFamily="49" charset="0"/>
                <a:cs typeface="Consolas" panose="020B0609020204030204" pitchFamily="49" charset="0"/>
              </a:rPr>
              <a:t>, i, n);</a:t>
            </a:r>
          </a:p>
          <a:p>
            <a:r>
              <a:rPr lang="en-US" sz="1600" b="1" dirty="0">
                <a:latin typeface="Consolas" panose="020B0609020204030204" pitchFamily="49" charset="0"/>
                <a:cs typeface="Consolas" panose="020B0609020204030204" pitchFamily="49" charset="0"/>
              </a:rPr>
              <a:t>}</a:t>
            </a:r>
          </a:p>
          <a:p>
            <a:r>
              <a:rPr lang="en-US" sz="1600" b="1" dirty="0">
                <a:latin typeface="Consolas" panose="020B0609020204030204" pitchFamily="49" charset="0"/>
                <a:cs typeface="Consolas" panose="020B0609020204030204" pitchFamily="49" charset="0"/>
              </a:rPr>
              <a:t>  </a:t>
            </a:r>
          </a:p>
          <a:p>
            <a:r>
              <a:rPr lang="en-US" sz="1600" b="1" dirty="0">
                <a:solidFill>
                  <a:srgbClr val="FF0000"/>
                </a:solidFill>
                <a:latin typeface="Consolas" panose="020B0609020204030204" pitchFamily="49" charset="0"/>
                <a:cs typeface="Consolas" panose="020B0609020204030204" pitchFamily="49" charset="0"/>
              </a:rPr>
              <a:t>let</a:t>
            </a:r>
            <a:r>
              <a:rPr lang="en-US" sz="1600" b="1" dirty="0">
                <a:latin typeface="Consolas" panose="020B0609020204030204" pitchFamily="49" charset="0"/>
                <a:cs typeface="Consolas" panose="020B0609020204030204" pitchFamily="49" charset="0"/>
              </a:rPr>
              <a:t> sum: </a:t>
            </a:r>
            <a:r>
              <a:rPr lang="en-US" sz="1600" b="1" dirty="0">
                <a:solidFill>
                  <a:srgbClr val="FF0000"/>
                </a:solidFill>
                <a:latin typeface="Consolas" panose="020B0609020204030204" pitchFamily="49" charset="0"/>
                <a:cs typeface="Consolas" panose="020B0609020204030204" pitchFamily="49" charset="0"/>
              </a:rPr>
              <a:t>i32</a:t>
            </a:r>
            <a:r>
              <a:rPr lang="en-US" sz="1600" b="1" dirty="0">
                <a:latin typeface="Consolas" panose="020B0609020204030204" pitchFamily="49" charset="0"/>
                <a:cs typeface="Consolas" panose="020B0609020204030204" pitchFamily="49" charset="0"/>
              </a:rPr>
              <a:t> = </a:t>
            </a:r>
            <a:r>
              <a:rPr lang="en-US" sz="1600" b="1" dirty="0" err="1">
                <a:latin typeface="Consolas" panose="020B0609020204030204" pitchFamily="49" charset="0"/>
                <a:cs typeface="Consolas" panose="020B0609020204030204" pitchFamily="49" charset="0"/>
              </a:rPr>
              <a:t>nums.iter</a:t>
            </a:r>
            <a:r>
              <a:rPr lang="en-US" sz="1600" b="1" dirty="0">
                <a:latin typeface="Consolas" panose="020B0609020204030204" pitchFamily="49" charset="0"/>
                <a:cs typeface="Consolas" panose="020B0609020204030204" pitchFamily="49" charset="0"/>
              </a:rPr>
              <a:t>().sum();</a:t>
            </a:r>
          </a:p>
          <a:p>
            <a:r>
              <a:rPr lang="en-US" sz="1600" b="1" dirty="0" err="1">
                <a:latin typeface="Consolas" panose="020B0609020204030204" pitchFamily="49" charset="0"/>
                <a:cs typeface="Consolas" panose="020B0609020204030204" pitchFamily="49" charset="0"/>
              </a:rPr>
              <a:t>println</a:t>
            </a:r>
            <a:r>
              <a:rPr lang="en-US" sz="1600" b="1" dirty="0">
                <a:latin typeface="Consolas" panose="020B0609020204030204" pitchFamily="49" charset="0"/>
                <a:cs typeface="Consolas" panose="020B0609020204030204" pitchFamily="49" charset="0"/>
              </a:rPr>
              <a:t>!(</a:t>
            </a:r>
            <a:r>
              <a:rPr lang="en-US" sz="1600" b="1" dirty="0">
                <a:solidFill>
                  <a:schemeClr val="accent6">
                    <a:lumMod val="75000"/>
                  </a:schemeClr>
                </a:solidFill>
                <a:latin typeface="Consolas" panose="020B0609020204030204" pitchFamily="49" charset="0"/>
                <a:cs typeface="Consolas" panose="020B0609020204030204" pitchFamily="49" charset="0"/>
              </a:rPr>
              <a:t>"sum of </a:t>
            </a:r>
            <a:r>
              <a:rPr lang="en-US" sz="1600" b="1" dirty="0" err="1">
                <a:solidFill>
                  <a:schemeClr val="accent6">
                    <a:lumMod val="75000"/>
                  </a:schemeClr>
                </a:solidFill>
                <a:latin typeface="Consolas" panose="020B0609020204030204" pitchFamily="49" charset="0"/>
                <a:cs typeface="Consolas" panose="020B0609020204030204" pitchFamily="49" charset="0"/>
              </a:rPr>
              <a:t>nums</a:t>
            </a:r>
            <a:r>
              <a:rPr lang="en-US" sz="1600" b="1" dirty="0">
                <a:solidFill>
                  <a:schemeClr val="accent6">
                    <a:lumMod val="75000"/>
                  </a:schemeClr>
                </a:solidFill>
                <a:latin typeface="Consolas" panose="020B0609020204030204" pitchFamily="49" charset="0"/>
                <a:cs typeface="Consolas" panose="020B0609020204030204" pitchFamily="49" charset="0"/>
              </a:rPr>
              <a:t> = {}"</a:t>
            </a:r>
            <a:r>
              <a:rPr lang="en-US" sz="1600" b="1" dirty="0">
                <a:latin typeface="Consolas" panose="020B0609020204030204" pitchFamily="49" charset="0"/>
                <a:cs typeface="Consolas" panose="020B0609020204030204" pitchFamily="49" charset="0"/>
              </a:rPr>
              <a:t>, sum);</a:t>
            </a:r>
          </a:p>
        </p:txBody>
      </p:sp>
      <p:sp>
        <p:nvSpPr>
          <p:cNvPr id="6" name="Rectangle 5">
            <a:extLst>
              <a:ext uri="{FF2B5EF4-FFF2-40B4-BE49-F238E27FC236}">
                <a16:creationId xmlns:a16="http://schemas.microsoft.com/office/drawing/2014/main" id="{F23E69FA-7022-4A40-966C-132F5111E19C}"/>
              </a:ext>
            </a:extLst>
          </p:cNvPr>
          <p:cNvSpPr/>
          <p:nvPr/>
        </p:nvSpPr>
        <p:spPr>
          <a:xfrm>
            <a:off x="0" y="952500"/>
            <a:ext cx="4724400" cy="2062103"/>
          </a:xfrm>
          <a:prstGeom prst="rect">
            <a:avLst/>
          </a:prstGeom>
        </p:spPr>
        <p:txBody>
          <a:bodyPr wrap="square">
            <a:spAutoFit/>
          </a:bodyPr>
          <a:lstStyle/>
          <a:p>
            <a:r>
              <a:rPr lang="en-US" sz="1600" b="1" dirty="0">
                <a:solidFill>
                  <a:srgbClr val="FF0000"/>
                </a:solidFill>
                <a:latin typeface="Consolas" panose="020B0609020204030204" pitchFamily="49" charset="0"/>
                <a:cs typeface="Consolas" panose="020B0609020204030204" pitchFamily="49" charset="0"/>
              </a:rPr>
              <a:t>int</a:t>
            </a:r>
            <a:r>
              <a:rPr lang="en-US" sz="1600" b="1" dirty="0">
                <a:latin typeface="Consolas" panose="020B0609020204030204" pitchFamily="49" charset="0"/>
                <a:cs typeface="Consolas" panose="020B0609020204030204" pitchFamily="49" charset="0"/>
              </a:rPr>
              <a:t>[]</a:t>
            </a:r>
            <a:r>
              <a:rPr lang="en-US" sz="1600" b="1" dirty="0">
                <a:solidFill>
                  <a:srgbClr val="FF0000"/>
                </a:solidFill>
                <a:latin typeface="Consolas" panose="020B0609020204030204" pitchFamily="49" charset="0"/>
                <a:cs typeface="Consolas" panose="020B0609020204030204" pitchFamily="49" charset="0"/>
              </a:rPr>
              <a:t> </a:t>
            </a:r>
            <a:r>
              <a:rPr lang="en-US" sz="1600" b="1" dirty="0" err="1">
                <a:latin typeface="Consolas" panose="020B0609020204030204" pitchFamily="49" charset="0"/>
                <a:cs typeface="Consolas" panose="020B0609020204030204" pitchFamily="49" charset="0"/>
              </a:rPr>
              <a:t>nums</a:t>
            </a:r>
            <a:r>
              <a:rPr lang="en-US" sz="1600" b="1" dirty="0">
                <a:latin typeface="Consolas" panose="020B0609020204030204" pitchFamily="49" charset="0"/>
                <a:cs typeface="Consolas" panose="020B0609020204030204" pitchFamily="49" charset="0"/>
              </a:rPr>
              <a:t> = </a:t>
            </a:r>
            <a:r>
              <a:rPr lang="en-US" sz="1600" b="1" dirty="0">
                <a:solidFill>
                  <a:srgbClr val="FF0000"/>
                </a:solidFill>
                <a:latin typeface="Consolas" panose="020B0609020204030204" pitchFamily="49" charset="0"/>
                <a:cs typeface="Consolas" panose="020B0609020204030204" pitchFamily="49" charset="0"/>
              </a:rPr>
              <a:t>new int</a:t>
            </a:r>
            <a:r>
              <a:rPr lang="en-US" sz="1600" b="1" dirty="0">
                <a:latin typeface="Consolas" panose="020B0609020204030204" pitchFamily="49" charset="0"/>
                <a:cs typeface="Consolas" panose="020B0609020204030204" pitchFamily="49" charset="0"/>
              </a:rPr>
              <a:t>[]{</a:t>
            </a:r>
            <a:r>
              <a:rPr lang="en-US" sz="1600" b="1" dirty="0">
                <a:solidFill>
                  <a:schemeClr val="accent3">
                    <a:lumMod val="75000"/>
                  </a:schemeClr>
                </a:solidFill>
                <a:latin typeface="Consolas" panose="020B0609020204030204" pitchFamily="49" charset="0"/>
                <a:cs typeface="Consolas" panose="020B0609020204030204" pitchFamily="49" charset="0"/>
              </a:rPr>
              <a:t>1</a:t>
            </a:r>
            <a:r>
              <a:rPr lang="en-US" sz="1600" b="1" dirty="0">
                <a:latin typeface="Consolas" panose="020B0609020204030204" pitchFamily="49" charset="0"/>
                <a:cs typeface="Consolas" panose="020B0609020204030204" pitchFamily="49" charset="0"/>
              </a:rPr>
              <a:t>, </a:t>
            </a:r>
            <a:r>
              <a:rPr lang="en-US" sz="1600" b="1" dirty="0">
                <a:solidFill>
                  <a:schemeClr val="accent3">
                    <a:lumMod val="75000"/>
                  </a:schemeClr>
                </a:solidFill>
                <a:latin typeface="Consolas" panose="020B0609020204030204" pitchFamily="49" charset="0"/>
                <a:cs typeface="Consolas" panose="020B0609020204030204" pitchFamily="49" charset="0"/>
              </a:rPr>
              <a:t>3</a:t>
            </a:r>
            <a:r>
              <a:rPr lang="en-US" sz="1600" b="1" dirty="0">
                <a:latin typeface="Consolas" panose="020B0609020204030204" pitchFamily="49" charset="0"/>
                <a:cs typeface="Consolas" panose="020B0609020204030204" pitchFamily="49" charset="0"/>
              </a:rPr>
              <a:t>, </a:t>
            </a:r>
            <a:r>
              <a:rPr lang="en-US" sz="1600" b="1" dirty="0">
                <a:solidFill>
                  <a:schemeClr val="accent3">
                    <a:lumMod val="75000"/>
                  </a:schemeClr>
                </a:solidFill>
                <a:latin typeface="Consolas" panose="020B0609020204030204" pitchFamily="49" charset="0"/>
                <a:cs typeface="Consolas" panose="020B0609020204030204" pitchFamily="49" charset="0"/>
              </a:rPr>
              <a:t>5</a:t>
            </a:r>
            <a:r>
              <a:rPr lang="en-US" sz="1600" b="1" dirty="0">
                <a:latin typeface="Consolas" panose="020B0609020204030204" pitchFamily="49" charset="0"/>
                <a:cs typeface="Consolas" panose="020B0609020204030204" pitchFamily="49" charset="0"/>
              </a:rPr>
              <a:t>, </a:t>
            </a:r>
            <a:r>
              <a:rPr lang="en-US" sz="1600" b="1" dirty="0">
                <a:solidFill>
                  <a:schemeClr val="accent3">
                    <a:lumMod val="75000"/>
                  </a:schemeClr>
                </a:solidFill>
                <a:latin typeface="Consolas" panose="020B0609020204030204" pitchFamily="49" charset="0"/>
                <a:cs typeface="Consolas" panose="020B0609020204030204" pitchFamily="49" charset="0"/>
              </a:rPr>
              <a:t>7</a:t>
            </a:r>
            <a:r>
              <a:rPr lang="en-US" sz="1600" b="1" dirty="0">
                <a:latin typeface="Consolas" panose="020B0609020204030204" pitchFamily="49" charset="0"/>
                <a:cs typeface="Consolas" panose="020B0609020204030204" pitchFamily="49" charset="0"/>
              </a:rPr>
              <a:t>, </a:t>
            </a:r>
            <a:r>
              <a:rPr lang="en-US" sz="1600" b="1" dirty="0">
                <a:solidFill>
                  <a:schemeClr val="accent3">
                    <a:lumMod val="75000"/>
                  </a:schemeClr>
                </a:solidFill>
                <a:latin typeface="Consolas" panose="020B0609020204030204" pitchFamily="49" charset="0"/>
                <a:cs typeface="Consolas" panose="020B0609020204030204" pitchFamily="49" charset="0"/>
              </a:rPr>
              <a:t>10</a:t>
            </a:r>
            <a:r>
              <a:rPr lang="en-US" sz="1600" b="1" dirty="0">
                <a:latin typeface="Consolas" panose="020B0609020204030204" pitchFamily="49" charset="0"/>
                <a:cs typeface="Consolas" panose="020B0609020204030204" pitchFamily="49" charset="0"/>
              </a:rPr>
              <a:t>};</a:t>
            </a:r>
          </a:p>
          <a:p>
            <a:endParaRPr lang="en-US" sz="1600" b="1" dirty="0">
              <a:latin typeface="Consolas" panose="020B0609020204030204" pitchFamily="49" charset="0"/>
              <a:cs typeface="Consolas" panose="020B0609020204030204" pitchFamily="49" charset="0"/>
            </a:endParaRPr>
          </a:p>
          <a:p>
            <a:r>
              <a:rPr lang="en-US" sz="1600" b="1" dirty="0">
                <a:solidFill>
                  <a:srgbClr val="FF0000"/>
                </a:solidFill>
                <a:latin typeface="Consolas" panose="020B0609020204030204" pitchFamily="49" charset="0"/>
                <a:cs typeface="Consolas" panose="020B0609020204030204" pitchFamily="49" charset="0"/>
              </a:rPr>
              <a:t>for</a:t>
            </a:r>
            <a:r>
              <a:rPr lang="en-US" sz="1600" b="1" dirty="0">
                <a:latin typeface="Consolas" panose="020B0609020204030204" pitchFamily="49" charset="0"/>
                <a:cs typeface="Consolas" panose="020B0609020204030204" pitchFamily="49" charset="0"/>
              </a:rPr>
              <a:t>(</a:t>
            </a:r>
            <a:r>
              <a:rPr lang="en-US" sz="1600" b="1" dirty="0">
                <a:solidFill>
                  <a:srgbClr val="FF0000"/>
                </a:solidFill>
                <a:latin typeface="Consolas" panose="020B0609020204030204" pitchFamily="49" charset="0"/>
                <a:cs typeface="Consolas" panose="020B0609020204030204" pitchFamily="49" charset="0"/>
              </a:rPr>
              <a:t>int</a:t>
            </a:r>
            <a:r>
              <a:rPr lang="en-US" sz="1600" b="1" dirty="0">
                <a:latin typeface="Consolas" panose="020B0609020204030204" pitchFamily="49" charset="0"/>
                <a:cs typeface="Consolas" panose="020B0609020204030204" pitchFamily="49" charset="0"/>
              </a:rPr>
              <a:t> i = 0; i &lt; </a:t>
            </a:r>
            <a:r>
              <a:rPr lang="en-US" sz="1600" b="1" dirty="0" err="1">
                <a:latin typeface="Consolas" panose="020B0609020204030204" pitchFamily="49" charset="0"/>
                <a:cs typeface="Consolas" panose="020B0609020204030204" pitchFamily="49" charset="0"/>
              </a:rPr>
              <a:t>nums.length</a:t>
            </a:r>
            <a:r>
              <a:rPr lang="en-US" sz="1600" b="1" dirty="0">
                <a:latin typeface="Consolas" panose="020B0609020204030204" pitchFamily="49" charset="0"/>
                <a:cs typeface="Consolas" panose="020B0609020204030204" pitchFamily="49" charset="0"/>
              </a:rPr>
              <a:t>; i++) {</a:t>
            </a:r>
          </a:p>
          <a:p>
            <a:r>
              <a:rPr lang="en-US" sz="1600" b="1" dirty="0">
                <a:latin typeface="Consolas" panose="020B0609020204030204" pitchFamily="49" charset="0"/>
                <a:cs typeface="Consolas" panose="020B0609020204030204" pitchFamily="49" charset="0"/>
              </a:rPr>
              <a:t>  </a:t>
            </a:r>
            <a:r>
              <a:rPr lang="en-US" sz="1600" b="1" dirty="0" err="1">
                <a:latin typeface="Consolas" panose="020B0609020204030204" pitchFamily="49" charset="0"/>
                <a:cs typeface="Consolas" panose="020B0609020204030204" pitchFamily="49" charset="0"/>
              </a:rPr>
              <a:t>printf</a:t>
            </a:r>
            <a:r>
              <a:rPr lang="en-US" sz="1600" b="1" dirty="0">
                <a:latin typeface="Consolas" panose="020B0609020204030204" pitchFamily="49" charset="0"/>
                <a:cs typeface="Consolas" panose="020B0609020204030204" pitchFamily="49" charset="0"/>
              </a:rPr>
              <a:t>(</a:t>
            </a:r>
            <a:r>
              <a:rPr lang="en-US" sz="1600" b="1" dirty="0">
                <a:solidFill>
                  <a:schemeClr val="accent6">
                    <a:lumMod val="75000"/>
                  </a:schemeClr>
                </a:solidFill>
                <a:latin typeface="Consolas" panose="020B0609020204030204" pitchFamily="49" charset="0"/>
                <a:cs typeface="Consolas" panose="020B0609020204030204" pitchFamily="49" charset="0"/>
              </a:rPr>
              <a:t>"</a:t>
            </a:r>
            <a:r>
              <a:rPr lang="en-US" sz="1600" b="1" dirty="0" err="1">
                <a:solidFill>
                  <a:schemeClr val="accent6">
                    <a:lumMod val="75000"/>
                  </a:schemeClr>
                </a:solidFill>
                <a:latin typeface="Consolas" panose="020B0609020204030204" pitchFamily="49" charset="0"/>
                <a:cs typeface="Consolas" panose="020B0609020204030204" pitchFamily="49" charset="0"/>
              </a:rPr>
              <a:t>nums</a:t>
            </a:r>
            <a:r>
              <a:rPr lang="en-US" sz="1600" b="1" dirty="0">
                <a:solidFill>
                  <a:schemeClr val="accent6">
                    <a:lumMod val="75000"/>
                  </a:schemeClr>
                </a:solidFill>
                <a:latin typeface="Consolas" panose="020B0609020204030204" pitchFamily="49" charset="0"/>
                <a:cs typeface="Consolas" panose="020B0609020204030204" pitchFamily="49" charset="0"/>
              </a:rPr>
              <a:t>[%d] = %d\n"</a:t>
            </a:r>
            <a:r>
              <a:rPr lang="en-US" sz="1600" b="1" dirty="0">
                <a:latin typeface="Consolas" panose="020B0609020204030204" pitchFamily="49" charset="0"/>
                <a:cs typeface="Consolas" panose="020B0609020204030204" pitchFamily="49" charset="0"/>
              </a:rPr>
              <a:t>, i, </a:t>
            </a:r>
            <a:r>
              <a:rPr lang="en-US" sz="1600" b="1" dirty="0" err="1">
                <a:latin typeface="Consolas" panose="020B0609020204030204" pitchFamily="49" charset="0"/>
                <a:cs typeface="Consolas" panose="020B0609020204030204" pitchFamily="49" charset="0"/>
              </a:rPr>
              <a:t>nums</a:t>
            </a:r>
            <a:r>
              <a:rPr lang="en-US" sz="1600" b="1" dirty="0">
                <a:latin typeface="Consolas" panose="020B0609020204030204" pitchFamily="49" charset="0"/>
                <a:cs typeface="Consolas" panose="020B0609020204030204" pitchFamily="49" charset="0"/>
              </a:rPr>
              <a:t>[i]);</a:t>
            </a:r>
          </a:p>
          <a:p>
            <a:r>
              <a:rPr lang="en-US" sz="1600" b="1" dirty="0">
                <a:latin typeface="Consolas" panose="020B0609020204030204" pitchFamily="49" charset="0"/>
                <a:cs typeface="Consolas" panose="020B0609020204030204" pitchFamily="49" charset="0"/>
              </a:rPr>
              <a:t>}</a:t>
            </a:r>
          </a:p>
          <a:p>
            <a:endParaRPr lang="en-US" sz="1600" b="1" dirty="0">
              <a:latin typeface="Consolas" panose="020B0609020204030204" pitchFamily="49" charset="0"/>
              <a:cs typeface="Consolas" panose="020B0609020204030204" pitchFamily="49" charset="0"/>
            </a:endParaRPr>
          </a:p>
          <a:p>
            <a:r>
              <a:rPr lang="en-US" sz="1600" b="1" dirty="0">
                <a:solidFill>
                  <a:srgbClr val="FF0000"/>
                </a:solidFill>
                <a:latin typeface="Consolas" panose="020B0609020204030204" pitchFamily="49" charset="0"/>
                <a:cs typeface="Consolas" panose="020B0609020204030204" pitchFamily="49" charset="0"/>
              </a:rPr>
              <a:t>int</a:t>
            </a:r>
            <a:r>
              <a:rPr lang="en-US" sz="1600" b="1" dirty="0">
                <a:latin typeface="Consolas" panose="020B0609020204030204" pitchFamily="49" charset="0"/>
                <a:cs typeface="Consolas" panose="020B0609020204030204" pitchFamily="49" charset="0"/>
              </a:rPr>
              <a:t> sum = </a:t>
            </a:r>
            <a:r>
              <a:rPr lang="en-US" sz="1600" b="1" dirty="0" err="1">
                <a:latin typeface="Consolas" panose="020B0609020204030204" pitchFamily="49" charset="0"/>
                <a:cs typeface="Consolas" panose="020B0609020204030204" pitchFamily="49" charset="0"/>
              </a:rPr>
              <a:t>Arrays.stream</a:t>
            </a:r>
            <a:r>
              <a:rPr lang="en-US" sz="1600" b="1" dirty="0">
                <a:latin typeface="Consolas" panose="020B0609020204030204" pitchFamily="49" charset="0"/>
                <a:cs typeface="Consolas" panose="020B0609020204030204" pitchFamily="49" charset="0"/>
              </a:rPr>
              <a:t>(</a:t>
            </a:r>
            <a:r>
              <a:rPr lang="en-US" sz="1600" b="1" dirty="0" err="1">
                <a:latin typeface="Consolas" panose="020B0609020204030204" pitchFamily="49" charset="0"/>
                <a:cs typeface="Consolas" panose="020B0609020204030204" pitchFamily="49" charset="0"/>
              </a:rPr>
              <a:t>nums</a:t>
            </a:r>
            <a:r>
              <a:rPr lang="en-US" sz="1600" b="1" dirty="0">
                <a:latin typeface="Consolas" panose="020B0609020204030204" pitchFamily="49" charset="0"/>
                <a:cs typeface="Consolas" panose="020B0609020204030204" pitchFamily="49" charset="0"/>
              </a:rPr>
              <a:t>).sum();</a:t>
            </a:r>
          </a:p>
          <a:p>
            <a:r>
              <a:rPr lang="en-US" sz="1600" b="1" dirty="0" err="1">
                <a:latin typeface="Consolas" panose="020B0609020204030204" pitchFamily="49" charset="0"/>
                <a:cs typeface="Consolas" panose="020B0609020204030204" pitchFamily="49" charset="0"/>
              </a:rPr>
              <a:t>printf</a:t>
            </a:r>
            <a:r>
              <a:rPr lang="en-US" sz="1600" b="1" dirty="0">
                <a:latin typeface="Consolas" panose="020B0609020204030204" pitchFamily="49" charset="0"/>
                <a:cs typeface="Consolas" panose="020B0609020204030204" pitchFamily="49" charset="0"/>
              </a:rPr>
              <a:t>(</a:t>
            </a:r>
            <a:r>
              <a:rPr lang="en-US" sz="1600" b="1" dirty="0">
                <a:solidFill>
                  <a:schemeClr val="accent6">
                    <a:lumMod val="75000"/>
                  </a:schemeClr>
                </a:solidFill>
                <a:latin typeface="Consolas" panose="020B0609020204030204" pitchFamily="49" charset="0"/>
                <a:cs typeface="Consolas" panose="020B0609020204030204" pitchFamily="49" charset="0"/>
              </a:rPr>
              <a:t>"sum of </a:t>
            </a:r>
            <a:r>
              <a:rPr lang="en-US" sz="1600" b="1" dirty="0" err="1">
                <a:solidFill>
                  <a:schemeClr val="accent6">
                    <a:lumMod val="75000"/>
                  </a:schemeClr>
                </a:solidFill>
                <a:latin typeface="Consolas" panose="020B0609020204030204" pitchFamily="49" charset="0"/>
                <a:cs typeface="Consolas" panose="020B0609020204030204" pitchFamily="49" charset="0"/>
              </a:rPr>
              <a:t>nums</a:t>
            </a:r>
            <a:r>
              <a:rPr lang="en-US" sz="1600" b="1" dirty="0">
                <a:solidFill>
                  <a:schemeClr val="accent6">
                    <a:lumMod val="75000"/>
                  </a:schemeClr>
                </a:solidFill>
                <a:latin typeface="Consolas" panose="020B0609020204030204" pitchFamily="49" charset="0"/>
                <a:cs typeface="Consolas" panose="020B0609020204030204" pitchFamily="49" charset="0"/>
              </a:rPr>
              <a:t> = %d"</a:t>
            </a:r>
            <a:r>
              <a:rPr lang="en-US" sz="1600" b="1" dirty="0">
                <a:latin typeface="Consolas" panose="020B0609020204030204" pitchFamily="49" charset="0"/>
                <a:cs typeface="Consolas" panose="020B0609020204030204" pitchFamily="49" charset="0"/>
              </a:rPr>
              <a:t>, sum);</a:t>
            </a:r>
          </a:p>
        </p:txBody>
      </p:sp>
      <p:cxnSp>
        <p:nvCxnSpPr>
          <p:cNvPr id="8" name="Straight Connector 7">
            <a:extLst>
              <a:ext uri="{FF2B5EF4-FFF2-40B4-BE49-F238E27FC236}">
                <a16:creationId xmlns:a16="http://schemas.microsoft.com/office/drawing/2014/main" id="{E3BD133A-939C-5848-990D-8546FB6E3DEC}"/>
              </a:ext>
            </a:extLst>
          </p:cNvPr>
          <p:cNvCxnSpPr>
            <a:cxnSpLocks/>
          </p:cNvCxnSpPr>
          <p:nvPr/>
        </p:nvCxnSpPr>
        <p:spPr>
          <a:xfrm>
            <a:off x="4549542" y="946373"/>
            <a:ext cx="0" cy="20682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78CCF8C-9687-AB46-A6F7-7DF020BF865D}"/>
              </a:ext>
            </a:extLst>
          </p:cNvPr>
          <p:cNvSpPr txBox="1"/>
          <p:nvPr/>
        </p:nvSpPr>
        <p:spPr>
          <a:xfrm>
            <a:off x="228600" y="3086100"/>
            <a:ext cx="6248400" cy="2123658"/>
          </a:xfrm>
          <a:prstGeom prst="rect">
            <a:avLst/>
          </a:prstGeom>
          <a:noFill/>
        </p:spPr>
        <p:txBody>
          <a:bodyPr wrap="square" rtlCol="0">
            <a:spAutoFit/>
          </a:bodyPr>
          <a:lstStyle/>
          <a:p>
            <a:r>
              <a:rPr lang="en-US" sz="2200" dirty="0"/>
              <a:t>takeaways:</a:t>
            </a:r>
          </a:p>
          <a:p>
            <a:r>
              <a:rPr lang="en-US" sz="2200" dirty="0"/>
              <a:t>- variables declared with </a:t>
            </a:r>
            <a:r>
              <a:rPr lang="en-US" sz="2200" b="1" dirty="0">
                <a:solidFill>
                  <a:srgbClr val="FF0000"/>
                </a:solidFill>
                <a:latin typeface="Consolas" panose="020B0609020204030204" pitchFamily="49" charset="0"/>
                <a:cs typeface="Consolas" panose="020B0609020204030204" pitchFamily="49" charset="0"/>
              </a:rPr>
              <a:t>let</a:t>
            </a:r>
          </a:p>
          <a:p>
            <a:r>
              <a:rPr lang="en-US" sz="2200" dirty="0"/>
              <a:t>- arrays called "vectors"*</a:t>
            </a:r>
          </a:p>
          <a:p>
            <a:r>
              <a:rPr lang="en-US" sz="2200" dirty="0"/>
              <a:t>- </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iter</a:t>
            </a:r>
            <a:r>
              <a:rPr lang="en-US" sz="2200" b="1" dirty="0">
                <a:latin typeface="Consolas" panose="020B0609020204030204" pitchFamily="49" charset="0"/>
                <a:cs typeface="Consolas" panose="020B0609020204030204" pitchFamily="49" charset="0"/>
              </a:rPr>
              <a:t>()</a:t>
            </a:r>
            <a:r>
              <a:rPr lang="en-US" sz="2200" dirty="0"/>
              <a:t> seems to do Fun Iteration Things</a:t>
            </a:r>
          </a:p>
          <a:p>
            <a:r>
              <a:rPr lang="en-US" sz="2200" dirty="0"/>
              <a:t>- </a:t>
            </a:r>
            <a:r>
              <a:rPr lang="en-US" sz="2200" b="1" dirty="0">
                <a:solidFill>
                  <a:srgbClr val="FF0000"/>
                </a:solidFill>
                <a:latin typeface="Consolas" panose="020B0609020204030204" pitchFamily="49" charset="0"/>
                <a:cs typeface="Consolas" panose="020B0609020204030204" pitchFamily="49" charset="0"/>
              </a:rPr>
              <a:t>i32</a:t>
            </a:r>
            <a:r>
              <a:rPr lang="en-US" sz="2200" dirty="0"/>
              <a:t> instead of </a:t>
            </a:r>
            <a:r>
              <a:rPr lang="en-US" sz="2200" b="1" dirty="0">
                <a:solidFill>
                  <a:srgbClr val="FF0000"/>
                </a:solidFill>
                <a:latin typeface="Consolas" panose="020B0609020204030204" pitchFamily="49" charset="0"/>
                <a:cs typeface="Consolas" panose="020B0609020204030204" pitchFamily="49" charset="0"/>
              </a:rPr>
              <a:t>int</a:t>
            </a:r>
          </a:p>
          <a:p>
            <a:r>
              <a:rPr lang="en-US" sz="2200" dirty="0"/>
              <a:t>- print formatting done with </a:t>
            </a:r>
            <a:r>
              <a:rPr lang="en-US" sz="2200" b="1" dirty="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348291540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0"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666A4-9D76-3049-A249-1BF48FF529B0}"/>
              </a:ext>
            </a:extLst>
          </p:cNvPr>
          <p:cNvSpPr>
            <a:spLocks noGrp="1"/>
          </p:cNvSpPr>
          <p:nvPr>
            <p:ph type="title"/>
          </p:nvPr>
        </p:nvSpPr>
        <p:spPr>
          <a:xfrm>
            <a:off x="152400" y="0"/>
            <a:ext cx="9906000" cy="495300"/>
          </a:xfrm>
        </p:spPr>
        <p:txBody>
          <a:bodyPr/>
          <a:lstStyle/>
          <a:p>
            <a:r>
              <a:rPr lang="en-US" dirty="0"/>
              <a:t>oh no I'm not good with computer what does this mean</a:t>
            </a:r>
          </a:p>
        </p:txBody>
      </p:sp>
      <p:sp>
        <p:nvSpPr>
          <p:cNvPr id="3" name="Content Placeholder 2">
            <a:extLst>
              <a:ext uri="{FF2B5EF4-FFF2-40B4-BE49-F238E27FC236}">
                <a16:creationId xmlns:a16="http://schemas.microsoft.com/office/drawing/2014/main" id="{7B7067B5-BF75-4C42-8019-A860E2F7E5D3}"/>
              </a:ext>
            </a:extLst>
          </p:cNvPr>
          <p:cNvSpPr>
            <a:spLocks noGrp="1"/>
          </p:cNvSpPr>
          <p:nvPr>
            <p:ph idx="1"/>
          </p:nvPr>
        </p:nvSpPr>
        <p:spPr>
          <a:xfrm>
            <a:off x="152400" y="495301"/>
            <a:ext cx="8991600" cy="495301"/>
          </a:xfrm>
        </p:spPr>
        <p:txBody>
          <a:bodyPr/>
          <a:lstStyle/>
          <a:p>
            <a:r>
              <a:rPr lang="en-US" dirty="0"/>
              <a:t>let's try something.</a:t>
            </a:r>
          </a:p>
        </p:txBody>
      </p:sp>
      <p:sp>
        <p:nvSpPr>
          <p:cNvPr id="4" name="Slide Number Placeholder 3">
            <a:extLst>
              <a:ext uri="{FF2B5EF4-FFF2-40B4-BE49-F238E27FC236}">
                <a16:creationId xmlns:a16="http://schemas.microsoft.com/office/drawing/2014/main" id="{009C422A-0651-F943-AB2C-1EB6CA774AB7}"/>
              </a:ext>
            </a:extLst>
          </p:cNvPr>
          <p:cNvSpPr>
            <a:spLocks noGrp="1"/>
          </p:cNvSpPr>
          <p:nvPr>
            <p:ph type="sldNum" sz="quarter" idx="12"/>
          </p:nvPr>
        </p:nvSpPr>
        <p:spPr/>
        <p:txBody>
          <a:bodyPr/>
          <a:lstStyle/>
          <a:p>
            <a:fld id="{3552B95B-556F-44BD-91A5-D80C1B9E2BB3}" type="slidenum">
              <a:rPr lang="en-US" smtClean="0"/>
              <a:pPr/>
              <a:t>33</a:t>
            </a:fld>
            <a:endParaRPr lang="en-US"/>
          </a:p>
        </p:txBody>
      </p:sp>
      <p:sp>
        <p:nvSpPr>
          <p:cNvPr id="5" name="Rectangle 4">
            <a:extLst>
              <a:ext uri="{FF2B5EF4-FFF2-40B4-BE49-F238E27FC236}">
                <a16:creationId xmlns:a16="http://schemas.microsoft.com/office/drawing/2014/main" id="{6AC06ED3-6364-DF40-83CF-ED34D570FD4D}"/>
              </a:ext>
            </a:extLst>
          </p:cNvPr>
          <p:cNvSpPr/>
          <p:nvPr/>
        </p:nvSpPr>
        <p:spPr>
          <a:xfrm>
            <a:off x="228600" y="990602"/>
            <a:ext cx="5083743" cy="1323439"/>
          </a:xfrm>
          <a:prstGeom prst="rect">
            <a:avLst/>
          </a:prstGeom>
        </p:spPr>
        <p:txBody>
          <a:bodyPr wrap="square">
            <a:spAutoFit/>
          </a:bodyPr>
          <a:lstStyle/>
          <a:p>
            <a:r>
              <a:rPr lang="en-US" sz="1600" b="1" dirty="0">
                <a:solidFill>
                  <a:srgbClr val="FF0000"/>
                </a:solidFill>
                <a:latin typeface="Consolas" panose="020B0609020204030204" pitchFamily="49" charset="0"/>
                <a:cs typeface="Consolas" panose="020B0609020204030204" pitchFamily="49" charset="0"/>
              </a:rPr>
              <a:t>let</a:t>
            </a:r>
            <a:r>
              <a:rPr lang="en-US" sz="1600" b="1" dirty="0">
                <a:latin typeface="Consolas" panose="020B0609020204030204" pitchFamily="49" charset="0"/>
                <a:cs typeface="Consolas" panose="020B0609020204030204" pitchFamily="49" charset="0"/>
              </a:rPr>
              <a:t> </a:t>
            </a:r>
            <a:r>
              <a:rPr lang="en-US" sz="1600" b="1" dirty="0" err="1">
                <a:latin typeface="Consolas" panose="020B0609020204030204" pitchFamily="49" charset="0"/>
                <a:cs typeface="Consolas" panose="020B0609020204030204" pitchFamily="49" charset="0"/>
              </a:rPr>
              <a:t>nums</a:t>
            </a:r>
            <a:r>
              <a:rPr lang="en-US" sz="1600" b="1" dirty="0">
                <a:latin typeface="Consolas" panose="020B0609020204030204" pitchFamily="49" charset="0"/>
                <a:cs typeface="Consolas" panose="020B0609020204030204" pitchFamily="49" charset="0"/>
              </a:rPr>
              <a:t> = </a:t>
            </a:r>
            <a:r>
              <a:rPr lang="en-US" sz="1600" b="1" dirty="0" err="1">
                <a:latin typeface="Consolas" panose="020B0609020204030204" pitchFamily="49" charset="0"/>
                <a:cs typeface="Consolas" panose="020B0609020204030204" pitchFamily="49" charset="0"/>
              </a:rPr>
              <a:t>vec</a:t>
            </a:r>
            <a:r>
              <a:rPr lang="en-US" sz="1600" b="1" dirty="0">
                <a:latin typeface="Consolas" panose="020B0609020204030204" pitchFamily="49" charset="0"/>
                <a:cs typeface="Consolas" panose="020B0609020204030204" pitchFamily="49" charset="0"/>
              </a:rPr>
              <a:t>![</a:t>
            </a:r>
            <a:r>
              <a:rPr lang="en-US" sz="1600" b="1" dirty="0">
                <a:solidFill>
                  <a:schemeClr val="accent3">
                    <a:lumMod val="75000"/>
                  </a:schemeClr>
                </a:solidFill>
                <a:latin typeface="Consolas" panose="020B0609020204030204" pitchFamily="49" charset="0"/>
                <a:cs typeface="Consolas" panose="020B0609020204030204" pitchFamily="49" charset="0"/>
              </a:rPr>
              <a:t>1</a:t>
            </a:r>
            <a:r>
              <a:rPr lang="en-US" sz="1600" b="1" dirty="0">
                <a:latin typeface="Consolas" panose="020B0609020204030204" pitchFamily="49" charset="0"/>
                <a:cs typeface="Consolas" panose="020B0609020204030204" pitchFamily="49" charset="0"/>
              </a:rPr>
              <a:t>, </a:t>
            </a:r>
            <a:r>
              <a:rPr lang="en-US" sz="1600" b="1" dirty="0">
                <a:solidFill>
                  <a:schemeClr val="accent3">
                    <a:lumMod val="75000"/>
                  </a:schemeClr>
                </a:solidFill>
                <a:latin typeface="Consolas" panose="020B0609020204030204" pitchFamily="49" charset="0"/>
                <a:cs typeface="Consolas" panose="020B0609020204030204" pitchFamily="49" charset="0"/>
              </a:rPr>
              <a:t>3</a:t>
            </a:r>
            <a:r>
              <a:rPr lang="en-US" sz="1600" b="1" dirty="0">
                <a:latin typeface="Consolas" panose="020B0609020204030204" pitchFamily="49" charset="0"/>
                <a:cs typeface="Consolas" panose="020B0609020204030204" pitchFamily="49" charset="0"/>
              </a:rPr>
              <a:t>, </a:t>
            </a:r>
            <a:r>
              <a:rPr lang="en-US" sz="1600" b="1" dirty="0">
                <a:solidFill>
                  <a:schemeClr val="accent3">
                    <a:lumMod val="75000"/>
                  </a:schemeClr>
                </a:solidFill>
                <a:latin typeface="Consolas" panose="020B0609020204030204" pitchFamily="49" charset="0"/>
                <a:cs typeface="Consolas" panose="020B0609020204030204" pitchFamily="49" charset="0"/>
              </a:rPr>
              <a:t>5</a:t>
            </a:r>
            <a:r>
              <a:rPr lang="en-US" sz="1600" b="1" dirty="0">
                <a:latin typeface="Consolas" panose="020B0609020204030204" pitchFamily="49" charset="0"/>
                <a:cs typeface="Consolas" panose="020B0609020204030204" pitchFamily="49" charset="0"/>
              </a:rPr>
              <a:t>, </a:t>
            </a:r>
            <a:r>
              <a:rPr lang="en-US" sz="1600" b="1" dirty="0">
                <a:solidFill>
                  <a:schemeClr val="accent3">
                    <a:lumMod val="75000"/>
                  </a:schemeClr>
                </a:solidFill>
                <a:latin typeface="Consolas" panose="020B0609020204030204" pitchFamily="49" charset="0"/>
                <a:cs typeface="Consolas" panose="020B0609020204030204" pitchFamily="49" charset="0"/>
              </a:rPr>
              <a:t>7</a:t>
            </a:r>
            <a:r>
              <a:rPr lang="en-US" sz="1600" b="1" dirty="0">
                <a:latin typeface="Consolas" panose="020B0609020204030204" pitchFamily="49" charset="0"/>
                <a:cs typeface="Consolas" panose="020B0609020204030204" pitchFamily="49" charset="0"/>
              </a:rPr>
              <a:t>, </a:t>
            </a:r>
            <a:r>
              <a:rPr lang="en-US" sz="1600" b="1" dirty="0">
                <a:solidFill>
                  <a:schemeClr val="accent3">
                    <a:lumMod val="75000"/>
                  </a:schemeClr>
                </a:solidFill>
                <a:latin typeface="Consolas" panose="020B0609020204030204" pitchFamily="49" charset="0"/>
                <a:cs typeface="Consolas" panose="020B0609020204030204" pitchFamily="49" charset="0"/>
              </a:rPr>
              <a:t>10</a:t>
            </a:r>
            <a:r>
              <a:rPr lang="en-US" sz="1600" b="1" dirty="0">
                <a:latin typeface="Consolas" panose="020B0609020204030204" pitchFamily="49" charset="0"/>
                <a:cs typeface="Consolas" panose="020B0609020204030204" pitchFamily="49" charset="0"/>
              </a:rPr>
              <a:t>];</a:t>
            </a:r>
            <a:endParaRPr lang="en-US" sz="1600" b="1" dirty="0">
              <a:solidFill>
                <a:srgbClr val="FF0000"/>
              </a:solidFill>
              <a:latin typeface="Consolas" panose="020B0609020204030204" pitchFamily="49" charset="0"/>
              <a:cs typeface="Consolas" panose="020B0609020204030204" pitchFamily="49" charset="0"/>
            </a:endParaRPr>
          </a:p>
          <a:p>
            <a:r>
              <a:rPr lang="en-US" sz="1600" b="1" dirty="0">
                <a:solidFill>
                  <a:srgbClr val="FF0000"/>
                </a:solidFill>
                <a:latin typeface="Consolas" panose="020B0609020204030204" pitchFamily="49" charset="0"/>
                <a:cs typeface="Consolas" panose="020B0609020204030204" pitchFamily="49" charset="0"/>
              </a:rPr>
              <a:t>for</a:t>
            </a:r>
            <a:r>
              <a:rPr lang="en-US" sz="1600" b="1" dirty="0">
                <a:latin typeface="Consolas" panose="020B0609020204030204" pitchFamily="49" charset="0"/>
                <a:cs typeface="Consolas" panose="020B0609020204030204" pitchFamily="49" charset="0"/>
              </a:rPr>
              <a:t> n </a:t>
            </a:r>
            <a:r>
              <a:rPr lang="en-US" sz="1600" b="1" dirty="0">
                <a:solidFill>
                  <a:srgbClr val="FF0000"/>
                </a:solidFill>
                <a:latin typeface="Consolas" panose="020B0609020204030204" pitchFamily="49" charset="0"/>
                <a:cs typeface="Consolas" panose="020B0609020204030204" pitchFamily="49" charset="0"/>
              </a:rPr>
              <a:t>in</a:t>
            </a:r>
            <a:r>
              <a:rPr lang="en-US" sz="1600" b="1" dirty="0">
                <a:latin typeface="Consolas" panose="020B0609020204030204" pitchFamily="49" charset="0"/>
                <a:cs typeface="Consolas" panose="020B0609020204030204" pitchFamily="49" charset="0"/>
              </a:rPr>
              <a:t> </a:t>
            </a:r>
            <a:r>
              <a:rPr lang="en-US" sz="1600" b="1" dirty="0" err="1">
                <a:latin typeface="Consolas" panose="020B0609020204030204" pitchFamily="49" charset="0"/>
                <a:cs typeface="Consolas" panose="020B0609020204030204" pitchFamily="49" charset="0"/>
              </a:rPr>
              <a:t>nums</a:t>
            </a:r>
            <a:r>
              <a:rPr lang="en-US" sz="1600" b="1" dirty="0">
                <a:latin typeface="Consolas" panose="020B0609020204030204" pitchFamily="49" charset="0"/>
                <a:cs typeface="Consolas" panose="020B0609020204030204" pitchFamily="49" charset="0"/>
              </a:rPr>
              <a:t> { </a:t>
            </a:r>
            <a:r>
              <a:rPr lang="en-US" sz="1600" b="1" dirty="0" err="1">
                <a:latin typeface="Consolas" panose="020B0609020204030204" pitchFamily="49" charset="0"/>
                <a:cs typeface="Consolas" panose="020B0609020204030204" pitchFamily="49" charset="0"/>
              </a:rPr>
              <a:t>println</a:t>
            </a:r>
            <a:r>
              <a:rPr lang="en-US" sz="1600" b="1" dirty="0">
                <a:latin typeface="Consolas" panose="020B0609020204030204" pitchFamily="49" charset="0"/>
                <a:cs typeface="Consolas" panose="020B0609020204030204" pitchFamily="49" charset="0"/>
              </a:rPr>
              <a:t>!(</a:t>
            </a:r>
            <a:r>
              <a:rPr lang="en-US" sz="1600" b="1" dirty="0">
                <a:solidFill>
                  <a:schemeClr val="accent6">
                    <a:lumMod val="75000"/>
                  </a:schemeClr>
                </a:solidFill>
                <a:latin typeface="Consolas" panose="020B0609020204030204" pitchFamily="49" charset="0"/>
                <a:cs typeface="Consolas" panose="020B0609020204030204" pitchFamily="49" charset="0"/>
              </a:rPr>
              <a:t>"{}"</a:t>
            </a:r>
            <a:r>
              <a:rPr lang="en-US" sz="1600" b="1" dirty="0">
                <a:latin typeface="Consolas" panose="020B0609020204030204" pitchFamily="49" charset="0"/>
                <a:cs typeface="Consolas" panose="020B0609020204030204" pitchFamily="49" charset="0"/>
              </a:rPr>
              <a:t>, n); }</a:t>
            </a:r>
          </a:p>
          <a:p>
            <a:r>
              <a:rPr lang="en-US" sz="1600" b="1" dirty="0">
                <a:solidFill>
                  <a:srgbClr val="FF0000"/>
                </a:solidFill>
                <a:latin typeface="Consolas" panose="020B0609020204030204" pitchFamily="49" charset="0"/>
                <a:cs typeface="Consolas" panose="020B0609020204030204" pitchFamily="49" charset="0"/>
              </a:rPr>
              <a:t>for</a:t>
            </a:r>
            <a:r>
              <a:rPr lang="en-US" sz="1600" b="1" dirty="0">
                <a:latin typeface="Consolas" panose="020B0609020204030204" pitchFamily="49" charset="0"/>
                <a:cs typeface="Consolas" panose="020B0609020204030204" pitchFamily="49" charset="0"/>
              </a:rPr>
              <a:t> (i, n) </a:t>
            </a:r>
            <a:r>
              <a:rPr lang="en-US" sz="1600" b="1" dirty="0">
                <a:solidFill>
                  <a:srgbClr val="FF0000"/>
                </a:solidFill>
                <a:latin typeface="Consolas" panose="020B0609020204030204" pitchFamily="49" charset="0"/>
                <a:cs typeface="Consolas" panose="020B0609020204030204" pitchFamily="49" charset="0"/>
              </a:rPr>
              <a:t>in</a:t>
            </a:r>
            <a:r>
              <a:rPr lang="en-US" sz="1600" b="1" dirty="0">
                <a:latin typeface="Consolas" panose="020B0609020204030204" pitchFamily="49" charset="0"/>
                <a:cs typeface="Consolas" panose="020B0609020204030204" pitchFamily="49" charset="0"/>
              </a:rPr>
              <a:t> </a:t>
            </a:r>
            <a:r>
              <a:rPr lang="en-US" sz="1600" b="1" dirty="0" err="1">
                <a:latin typeface="Consolas" panose="020B0609020204030204" pitchFamily="49" charset="0"/>
                <a:cs typeface="Consolas" panose="020B0609020204030204" pitchFamily="49" charset="0"/>
              </a:rPr>
              <a:t>nums.iter</a:t>
            </a:r>
            <a:r>
              <a:rPr lang="en-US" sz="1600" b="1" dirty="0">
                <a:latin typeface="Consolas" panose="020B0609020204030204" pitchFamily="49" charset="0"/>
                <a:cs typeface="Consolas" panose="020B0609020204030204" pitchFamily="49" charset="0"/>
              </a:rPr>
              <a:t>().enumerate() {</a:t>
            </a:r>
          </a:p>
          <a:p>
            <a:r>
              <a:rPr lang="en-US" sz="1600" b="1" dirty="0">
                <a:latin typeface="Consolas" panose="020B0609020204030204" pitchFamily="49" charset="0"/>
                <a:cs typeface="Consolas" panose="020B0609020204030204" pitchFamily="49" charset="0"/>
              </a:rPr>
              <a:t>  </a:t>
            </a:r>
            <a:r>
              <a:rPr lang="en-US" sz="1600" b="1" dirty="0" err="1">
                <a:latin typeface="Consolas" panose="020B0609020204030204" pitchFamily="49" charset="0"/>
                <a:cs typeface="Consolas" panose="020B0609020204030204" pitchFamily="49" charset="0"/>
              </a:rPr>
              <a:t>println</a:t>
            </a:r>
            <a:r>
              <a:rPr lang="en-US" sz="1600" b="1" dirty="0">
                <a:latin typeface="Consolas" panose="020B0609020204030204" pitchFamily="49" charset="0"/>
                <a:cs typeface="Consolas" panose="020B0609020204030204" pitchFamily="49" charset="0"/>
              </a:rPr>
              <a:t>!(</a:t>
            </a:r>
            <a:r>
              <a:rPr lang="en-US" sz="1600" b="1" dirty="0">
                <a:solidFill>
                  <a:schemeClr val="accent6">
                    <a:lumMod val="75000"/>
                  </a:schemeClr>
                </a:solidFill>
                <a:latin typeface="Consolas" panose="020B0609020204030204" pitchFamily="49" charset="0"/>
                <a:cs typeface="Consolas" panose="020B0609020204030204" pitchFamily="49" charset="0"/>
              </a:rPr>
              <a:t>"</a:t>
            </a:r>
            <a:r>
              <a:rPr lang="en-US" sz="1600" b="1" dirty="0" err="1">
                <a:solidFill>
                  <a:schemeClr val="accent6">
                    <a:lumMod val="75000"/>
                  </a:schemeClr>
                </a:solidFill>
                <a:latin typeface="Consolas" panose="020B0609020204030204" pitchFamily="49" charset="0"/>
                <a:cs typeface="Consolas" panose="020B0609020204030204" pitchFamily="49" charset="0"/>
              </a:rPr>
              <a:t>nums</a:t>
            </a:r>
            <a:r>
              <a:rPr lang="en-US" sz="1600" b="1" dirty="0">
                <a:solidFill>
                  <a:schemeClr val="accent6">
                    <a:lumMod val="75000"/>
                  </a:schemeClr>
                </a:solidFill>
                <a:latin typeface="Consolas" panose="020B0609020204030204" pitchFamily="49" charset="0"/>
                <a:cs typeface="Consolas" panose="020B0609020204030204" pitchFamily="49" charset="0"/>
              </a:rPr>
              <a:t>[{}] = {}"</a:t>
            </a:r>
            <a:r>
              <a:rPr lang="en-US" sz="1600" b="1" dirty="0">
                <a:latin typeface="Consolas" panose="020B0609020204030204" pitchFamily="49" charset="0"/>
                <a:cs typeface="Consolas" panose="020B0609020204030204" pitchFamily="49" charset="0"/>
              </a:rPr>
              <a:t>, i, n);</a:t>
            </a:r>
          </a:p>
          <a:p>
            <a:r>
              <a:rPr lang="en-US" sz="1600" b="1" dirty="0">
                <a:latin typeface="Consolas" panose="020B0609020204030204" pitchFamily="49" charset="0"/>
                <a:cs typeface="Consolas" panose="020B0609020204030204" pitchFamily="49" charset="0"/>
              </a:rPr>
              <a:t>}</a:t>
            </a:r>
          </a:p>
        </p:txBody>
      </p:sp>
      <p:pic>
        <p:nvPicPr>
          <p:cNvPr id="7" name="Picture 6">
            <a:extLst>
              <a:ext uri="{FF2B5EF4-FFF2-40B4-BE49-F238E27FC236}">
                <a16:creationId xmlns:a16="http://schemas.microsoft.com/office/drawing/2014/main" id="{9E50CD9D-849D-DF4F-82B2-CC1BA483F7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403" y="2356230"/>
            <a:ext cx="8793686" cy="2368168"/>
          </a:xfrm>
          <a:prstGeom prst="rect">
            <a:avLst/>
          </a:prstGeom>
        </p:spPr>
      </p:pic>
      <p:sp>
        <p:nvSpPr>
          <p:cNvPr id="8" name="TextBox 7">
            <a:extLst>
              <a:ext uri="{FF2B5EF4-FFF2-40B4-BE49-F238E27FC236}">
                <a16:creationId xmlns:a16="http://schemas.microsoft.com/office/drawing/2014/main" id="{9CB75437-F0BC-0240-AA00-7AE4C3F67780}"/>
              </a:ext>
            </a:extLst>
          </p:cNvPr>
          <p:cNvSpPr txBox="1"/>
          <p:nvPr/>
        </p:nvSpPr>
        <p:spPr>
          <a:xfrm>
            <a:off x="5296509" y="630556"/>
            <a:ext cx="3581400" cy="1446550"/>
          </a:xfrm>
          <a:prstGeom prst="rect">
            <a:avLst/>
          </a:prstGeom>
          <a:noFill/>
        </p:spPr>
        <p:txBody>
          <a:bodyPr wrap="square" rtlCol="0">
            <a:spAutoFit/>
          </a:bodyPr>
          <a:lstStyle/>
          <a:p>
            <a:pPr algn="ctr"/>
            <a:r>
              <a:rPr lang="en-US" sz="2200" dirty="0"/>
              <a:t>Rust's compiler errors tend to be </a:t>
            </a:r>
            <a:r>
              <a:rPr lang="en-US" sz="2200" i="1" dirty="0"/>
              <a:t>very</a:t>
            </a:r>
            <a:r>
              <a:rPr lang="en-US" sz="2200" dirty="0"/>
              <a:t> verbose, but it's because </a:t>
            </a:r>
            <a:r>
              <a:rPr lang="en-US" sz="2200" b="1" dirty="0"/>
              <a:t>it actually tries to help you fix the error!</a:t>
            </a:r>
            <a:endParaRPr lang="en-US" sz="2200" dirty="0"/>
          </a:p>
        </p:txBody>
      </p:sp>
      <p:sp>
        <p:nvSpPr>
          <p:cNvPr id="13" name="TextBox 12">
            <a:extLst>
              <a:ext uri="{FF2B5EF4-FFF2-40B4-BE49-F238E27FC236}">
                <a16:creationId xmlns:a16="http://schemas.microsoft.com/office/drawing/2014/main" id="{5643D150-007F-A24E-B0EB-0FC30B95B9F8}"/>
              </a:ext>
            </a:extLst>
          </p:cNvPr>
          <p:cNvSpPr txBox="1"/>
          <p:nvPr/>
        </p:nvSpPr>
        <p:spPr>
          <a:xfrm>
            <a:off x="800100" y="4917311"/>
            <a:ext cx="7543800" cy="430887"/>
          </a:xfrm>
          <a:prstGeom prst="rect">
            <a:avLst/>
          </a:prstGeom>
          <a:noFill/>
        </p:spPr>
        <p:txBody>
          <a:bodyPr wrap="square" rtlCol="0">
            <a:spAutoFit/>
          </a:bodyPr>
          <a:lstStyle/>
          <a:p>
            <a:pPr algn="ctr"/>
            <a:r>
              <a:rPr lang="en-US" sz="2200" dirty="0"/>
              <a:t>following its help works here, and often does!</a:t>
            </a:r>
          </a:p>
        </p:txBody>
      </p:sp>
    </p:spTree>
    <p:extLst>
      <p:ext uri="{BB962C8B-B14F-4D97-AF65-F5344CB8AC3E}">
        <p14:creationId xmlns:p14="http://schemas.microsoft.com/office/powerpoint/2010/main" val="368640945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EBDC3-9C37-1E4A-B860-1B5E58F1EC46}"/>
              </a:ext>
            </a:extLst>
          </p:cNvPr>
          <p:cNvSpPr>
            <a:spLocks noGrp="1"/>
          </p:cNvSpPr>
          <p:nvPr>
            <p:ph type="ctrTitle"/>
          </p:nvPr>
        </p:nvSpPr>
        <p:spPr/>
        <p:txBody>
          <a:bodyPr/>
          <a:lstStyle/>
          <a:p>
            <a:r>
              <a:rPr lang="en-US" dirty="0"/>
              <a:t>What I want you to do!</a:t>
            </a:r>
          </a:p>
        </p:txBody>
      </p:sp>
      <p:sp>
        <p:nvSpPr>
          <p:cNvPr id="3" name="Slide Number Placeholder 2">
            <a:extLst>
              <a:ext uri="{FF2B5EF4-FFF2-40B4-BE49-F238E27FC236}">
                <a16:creationId xmlns:a16="http://schemas.microsoft.com/office/drawing/2014/main" id="{587CE232-0E40-4849-AEE2-75BE30A0592C}"/>
              </a:ext>
            </a:extLst>
          </p:cNvPr>
          <p:cNvSpPr>
            <a:spLocks noGrp="1"/>
          </p:cNvSpPr>
          <p:nvPr>
            <p:ph type="sldNum" sz="quarter" idx="12"/>
          </p:nvPr>
        </p:nvSpPr>
        <p:spPr/>
        <p:txBody>
          <a:bodyPr/>
          <a:lstStyle/>
          <a:p>
            <a:fld id="{3552B95B-556F-44BD-91A5-D80C1B9E2BB3}" type="slidenum">
              <a:rPr lang="en-US" smtClean="0"/>
              <a:pPr/>
              <a:t>34</a:t>
            </a:fld>
            <a:endParaRPr lang="en-US"/>
          </a:p>
        </p:txBody>
      </p:sp>
    </p:spTree>
    <p:extLst>
      <p:ext uri="{BB962C8B-B14F-4D97-AF65-F5344CB8AC3E}">
        <p14:creationId xmlns:p14="http://schemas.microsoft.com/office/powerpoint/2010/main" val="3211182496"/>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5C588-1E91-FE46-A5D3-C6DA12BC88A7}"/>
              </a:ext>
            </a:extLst>
          </p:cNvPr>
          <p:cNvSpPr>
            <a:spLocks noGrp="1"/>
          </p:cNvSpPr>
          <p:nvPr>
            <p:ph type="title"/>
          </p:nvPr>
        </p:nvSpPr>
        <p:spPr/>
        <p:txBody>
          <a:bodyPr/>
          <a:lstStyle/>
          <a:p>
            <a:r>
              <a:rPr lang="en-US" dirty="0"/>
              <a:t>For next class…</a:t>
            </a:r>
          </a:p>
        </p:txBody>
      </p:sp>
      <p:sp>
        <p:nvSpPr>
          <p:cNvPr id="3" name="Content Placeholder 2">
            <a:extLst>
              <a:ext uri="{FF2B5EF4-FFF2-40B4-BE49-F238E27FC236}">
                <a16:creationId xmlns:a16="http://schemas.microsoft.com/office/drawing/2014/main" id="{4DF7ACC1-A060-6D4B-A5CA-B22B22173B56}"/>
              </a:ext>
            </a:extLst>
          </p:cNvPr>
          <p:cNvSpPr>
            <a:spLocks noGrp="1"/>
          </p:cNvSpPr>
          <p:nvPr>
            <p:ph idx="1"/>
          </p:nvPr>
        </p:nvSpPr>
        <p:spPr/>
        <p:txBody>
          <a:bodyPr/>
          <a:lstStyle/>
          <a:p>
            <a:r>
              <a:rPr lang="en-US" dirty="0"/>
              <a:t>On the course info page, find the Rust Programming Language book.</a:t>
            </a:r>
          </a:p>
          <a:p>
            <a:r>
              <a:rPr lang="en-US" dirty="0"/>
              <a:t>follow along with chapters 1-3 to install and play around with Rust.</a:t>
            </a:r>
          </a:p>
          <a:p>
            <a:pPr lvl="1"/>
            <a:r>
              <a:rPr lang="en-US" b="1" dirty="0"/>
              <a:t>Windows users, </a:t>
            </a:r>
            <a:r>
              <a:rPr lang="en-US" dirty="0"/>
              <a:t>use PowerShell or WSL. </a:t>
            </a:r>
            <a:r>
              <a:rPr lang="en-US" dirty="0" err="1">
                <a:solidFill>
                  <a:srgbClr val="FF0000"/>
                </a:solidFill>
              </a:rPr>
              <a:t>cmd.exe</a:t>
            </a:r>
            <a:r>
              <a:rPr lang="en-US" dirty="0">
                <a:solidFill>
                  <a:srgbClr val="FF0000"/>
                </a:solidFill>
              </a:rPr>
              <a:t> is dead.</a:t>
            </a:r>
          </a:p>
          <a:p>
            <a:r>
              <a:rPr lang="en-US" dirty="0"/>
              <a:t>you're already programmers so a lot of things will be obvious to you!</a:t>
            </a:r>
          </a:p>
          <a:p>
            <a:r>
              <a:rPr lang="en-US" dirty="0"/>
              <a:t>try this: </a:t>
            </a:r>
            <a:r>
              <a:rPr lang="en-US" i="1" dirty="0"/>
              <a:t>just </a:t>
            </a:r>
            <a:r>
              <a:rPr lang="en-US" dirty="0"/>
              <a:t>read </a:t>
            </a:r>
            <a:r>
              <a:rPr lang="en-US" b="1" dirty="0"/>
              <a:t>the code examples </a:t>
            </a:r>
            <a:r>
              <a:rPr lang="en-US" dirty="0"/>
              <a:t>and if you're confused, </a:t>
            </a:r>
            <a:r>
              <a:rPr lang="en-US" b="1" dirty="0"/>
              <a:t>read the text before it. </a:t>
            </a:r>
            <a:r>
              <a:rPr lang="en-US" dirty="0"/>
              <a:t>that way you can skip the easy stuff.</a:t>
            </a:r>
          </a:p>
        </p:txBody>
      </p:sp>
      <p:sp>
        <p:nvSpPr>
          <p:cNvPr id="4" name="Slide Number Placeholder 3">
            <a:extLst>
              <a:ext uri="{FF2B5EF4-FFF2-40B4-BE49-F238E27FC236}">
                <a16:creationId xmlns:a16="http://schemas.microsoft.com/office/drawing/2014/main" id="{3290A38F-F4A6-D549-9861-B2C4953D0ED1}"/>
              </a:ext>
            </a:extLst>
          </p:cNvPr>
          <p:cNvSpPr>
            <a:spLocks noGrp="1"/>
          </p:cNvSpPr>
          <p:nvPr>
            <p:ph type="sldNum" sz="quarter" idx="12"/>
          </p:nvPr>
        </p:nvSpPr>
        <p:spPr/>
        <p:txBody>
          <a:bodyPr/>
          <a:lstStyle/>
          <a:p>
            <a:fld id="{3552B95B-556F-44BD-91A5-D80C1B9E2BB3}" type="slidenum">
              <a:rPr lang="en-US" smtClean="0"/>
              <a:pPr/>
              <a:t>35</a:t>
            </a:fld>
            <a:endParaRPr lang="en-US"/>
          </a:p>
        </p:txBody>
      </p:sp>
    </p:spTree>
    <p:extLst>
      <p:ext uri="{BB962C8B-B14F-4D97-AF65-F5344CB8AC3E}">
        <p14:creationId xmlns:p14="http://schemas.microsoft.com/office/powerpoint/2010/main" val="3750441849"/>
      </p:ext>
    </p:extLst>
  </p:cSld>
  <p:clrMapOvr>
    <a:masterClrMapping/>
  </p:clrMapOvr>
  <p:transition/>
</p:sld>
</file>

<file path=ppt/theme/theme1.xml><?xml version="1.0" encoding="utf-8"?>
<a:theme xmlns:a="http://schemas.openxmlformats.org/drawingml/2006/main" name="02 - C - Basics">
  <a:themeElements>
    <a:clrScheme name="Custom 2">
      <a:dk1>
        <a:srgbClr val="000000"/>
      </a:dk1>
      <a:lt1>
        <a:srgbClr val="FFFFFF"/>
      </a:lt1>
      <a:dk2>
        <a:srgbClr val="3B481E"/>
      </a:dk2>
      <a:lt2>
        <a:srgbClr val="FFFFFF"/>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Segoe WP Semibold"/>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lides_fall_2017" id="{93D034CE-FEB5-4D4D-96F7-6B7F8A5EB99A}" vid="{194AE869-5029-ED49-81EA-C574BDDBE6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01 - Welcome and Review</Template>
  <TotalTime>13365</TotalTime>
  <Words>4523</Words>
  <Application>Microsoft Macintosh PowerPoint</Application>
  <PresentationFormat>On-screen Show (16:10)</PresentationFormat>
  <Paragraphs>571</Paragraphs>
  <Slides>35</Slides>
  <Notes>25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35</vt:i4>
      </vt:variant>
    </vt:vector>
  </HeadingPairs>
  <TitlesOfParts>
    <vt:vector size="45" baseType="lpstr">
      <vt:lpstr>Arial</vt:lpstr>
      <vt:lpstr>Calibri</vt:lpstr>
      <vt:lpstr>Cambria Math</vt:lpstr>
      <vt:lpstr>Consolas</vt:lpstr>
      <vt:lpstr>Courier New</vt:lpstr>
      <vt:lpstr>Segoe UI</vt:lpstr>
      <vt:lpstr>Segoe WP Semibold</vt:lpstr>
      <vt:lpstr>Trebuchet MS</vt:lpstr>
      <vt:lpstr>Wingdings</vt:lpstr>
      <vt:lpstr>02 - C - Basics</vt:lpstr>
      <vt:lpstr>Intro and Rust</vt:lpstr>
      <vt:lpstr>Class announcements</vt:lpstr>
      <vt:lpstr>Administrivia</vt:lpstr>
      <vt:lpstr>hi</vt:lpstr>
      <vt:lpstr>Communication</vt:lpstr>
      <vt:lpstr>Textbooks???</vt:lpstr>
      <vt:lpstr>Grading</vt:lpstr>
      <vt:lpstr>Teaching philosophy</vt:lpstr>
      <vt:lpstr>I can tell when you cheat :^)</vt:lpstr>
      <vt:lpstr>Academic Integrity</vt:lpstr>
      <vt:lpstr>Intro</vt:lpstr>
      <vt:lpstr>What, Why, and How</vt:lpstr>
      <vt:lpstr>What is language?</vt:lpstr>
      <vt:lpstr>Computer languages</vt:lpstr>
      <vt:lpstr>Programming languages</vt:lpstr>
      <vt:lpstr>The Origin of (high-level programming) Languages</vt:lpstr>
      <vt:lpstr>Performance ∝ 1 / Abstraction</vt:lpstr>
      <vt:lpstr>Compilers</vt:lpstr>
      <vt:lpstr>What's a compiler?</vt:lpstr>
      <vt:lpstr>Ahead-of-time vs. Just-in-time (AOT vs JIT)</vt:lpstr>
      <vt:lpstr>Okay, okay: HOW does a compiler WORK</vt:lpstr>
      <vt:lpstr>Frontend step 1: Lexical Analysis (Lexing (or Scanning))</vt:lpstr>
      <vt:lpstr>Frontend step 2: Syntactic Analysis (Parsing)</vt:lpstr>
      <vt:lpstr>Frontend step 3: Semantic Analysis</vt:lpstr>
      <vt:lpstr>Backend: optimization and code generation</vt:lpstr>
      <vt:lpstr>What we'll talk about along the way</vt:lpstr>
      <vt:lpstr>Rust</vt:lpstr>
      <vt:lpstr>If you want to write a compiler…</vt:lpstr>
      <vt:lpstr>What is Rust?</vt:lpstr>
      <vt:lpstr>Basic tools and vocabulary</vt:lpstr>
      <vt:lpstr>Rust by Comparison</vt:lpstr>
      <vt:lpstr>More Comparison</vt:lpstr>
      <vt:lpstr>oh no I'm not good with computer what does this mean</vt:lpstr>
      <vt:lpstr>What I want you to do!</vt:lpstr>
      <vt:lpstr>For next class…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Intro to Computer Architecture!</dc:title>
  <dc:creator>me</dc:creator>
  <cp:lastModifiedBy>Billingsley, Jarrett F</cp:lastModifiedBy>
  <cp:revision>327</cp:revision>
  <dcterms:created xsi:type="dcterms:W3CDTF">2017-01-05T04:29:56Z</dcterms:created>
  <dcterms:modified xsi:type="dcterms:W3CDTF">2022-05-14T21:55:13Z</dcterms:modified>
</cp:coreProperties>
</file>