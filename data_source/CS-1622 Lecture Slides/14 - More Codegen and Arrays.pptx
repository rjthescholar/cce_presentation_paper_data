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32"/>
  </p:notesMasterIdLst>
  <p:sldIdLst>
    <p:sldId id="256" r:id="rId2"/>
    <p:sldId id="519" r:id="rId3"/>
    <p:sldId id="590" r:id="rId4"/>
    <p:sldId id="622" r:id="rId5"/>
    <p:sldId id="623" r:id="rId6"/>
    <p:sldId id="624" r:id="rId7"/>
    <p:sldId id="625" r:id="rId8"/>
    <p:sldId id="626" r:id="rId9"/>
    <p:sldId id="628" r:id="rId10"/>
    <p:sldId id="627" r:id="rId11"/>
    <p:sldId id="629" r:id="rId12"/>
    <p:sldId id="630" r:id="rId13"/>
    <p:sldId id="631" r:id="rId14"/>
    <p:sldId id="632" r:id="rId15"/>
    <p:sldId id="633" r:id="rId16"/>
    <p:sldId id="634" r:id="rId17"/>
    <p:sldId id="646" r:id="rId18"/>
    <p:sldId id="647" r:id="rId19"/>
    <p:sldId id="648" r:id="rId20"/>
    <p:sldId id="635" r:id="rId21"/>
    <p:sldId id="637" r:id="rId22"/>
    <p:sldId id="636" r:id="rId23"/>
    <p:sldId id="638" r:id="rId24"/>
    <p:sldId id="639" r:id="rId25"/>
    <p:sldId id="641" r:id="rId26"/>
    <p:sldId id="640" r:id="rId27"/>
    <p:sldId id="642" r:id="rId28"/>
    <p:sldId id="643" r:id="rId29"/>
    <p:sldId id="644" r:id="rId30"/>
    <p:sldId id="645" r:id="rId31"/>
  </p:sldIdLst>
  <p:sldSz cx="9144000" cy="5715000" type="screen16x1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12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9C5"/>
    <a:srgbClr val="8DB000"/>
    <a:srgbClr val="FF3200"/>
    <a:srgbClr val="FF5200"/>
    <a:srgbClr val="FF5C00"/>
    <a:srgbClr val="592A04"/>
    <a:srgbClr val="FCECD6"/>
    <a:srgbClr val="8BD5F4"/>
    <a:srgbClr val="FA0AB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04" autoAdjust="0"/>
    <p:restoredTop sz="87887" autoAdjust="0"/>
  </p:normalViewPr>
  <p:slideViewPr>
    <p:cSldViewPr>
      <p:cViewPr varScale="1">
        <p:scale>
          <a:sx n="129" d="100"/>
          <a:sy n="129" d="100"/>
        </p:scale>
        <p:origin x="1344" y="200"/>
      </p:cViewPr>
      <p:guideLst>
        <p:guide orient="horz" pos="1800"/>
        <p:guide pos="1296"/>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093253-51AE-4C40-AB6B-AA3A7DF4D210}" type="datetimeFigureOut">
              <a:rPr lang="en-US" smtClean="0"/>
              <a:pPr/>
              <a:t>7/12/22</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9729AB-B77D-48AE-AA10-D1BD2B4D03EA}" type="slidenum">
              <a:rPr lang="en-US" smtClean="0"/>
              <a:pPr/>
              <a:t>‹#›</a:t>
            </a:fld>
            <a:endParaRPr lang="en-US"/>
          </a:p>
        </p:txBody>
      </p:sp>
    </p:spTree>
    <p:extLst>
      <p:ext uri="{BB962C8B-B14F-4D97-AF65-F5344CB8AC3E}">
        <p14:creationId xmlns:p14="http://schemas.microsoft.com/office/powerpoint/2010/main" val="2560305392"/>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99729AB-B77D-48AE-AA10-D1BD2B4D03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4</a:t>
            </a:fld>
            <a:endParaRPr lang="en-US"/>
          </a:p>
        </p:txBody>
      </p:sp>
    </p:spTree>
    <p:extLst>
      <p:ext uri="{BB962C8B-B14F-4D97-AF65-F5344CB8AC3E}">
        <p14:creationId xmlns:p14="http://schemas.microsoft.com/office/powerpoint/2010/main" val="32109076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the stack frame for the function  “f” which has 2 arguments “x” and “y” and 2 locals “z” and “</a:t>
            </a:r>
            <a:r>
              <a:rPr lang="en-US" dirty="0" err="1"/>
              <a:t>i</a:t>
            </a:r>
            <a:r>
              <a:rPr lang="en-US" dirty="0"/>
              <a:t>”. From top to bottom the stack frame layout is “y, x, </a:t>
            </a:r>
            <a:r>
              <a:rPr lang="en-US" dirty="0" err="1"/>
              <a:t>fp</a:t>
            </a:r>
            <a:r>
              <a:rPr lang="en-US" dirty="0"/>
              <a:t>, </a:t>
            </a:r>
            <a:r>
              <a:rPr lang="en-US" dirty="0" err="1"/>
              <a:t>ra</a:t>
            </a:r>
            <a:r>
              <a:rPr lang="en-US" dirty="0"/>
              <a:t>, </a:t>
            </a:r>
            <a:r>
              <a:rPr lang="en-US" dirty="0" err="1"/>
              <a:t>i</a:t>
            </a:r>
            <a:r>
              <a:rPr lang="en-US" dirty="0"/>
              <a:t>, z.” </a:t>
            </a:r>
            <a:r>
              <a:rPr lang="en-US" dirty="0" err="1"/>
              <a:t>fp</a:t>
            </a:r>
            <a:r>
              <a:rPr lang="en-US" dirty="0"/>
              <a:t> is pointing at ”x”, and </a:t>
            </a:r>
            <a:r>
              <a:rPr lang="en-US" dirty="0" err="1"/>
              <a:t>sp</a:t>
            </a:r>
            <a:r>
              <a:rPr lang="en-US" dirty="0"/>
              <a:t> is pointing at “z”. “x” and “y” are at “</a:t>
            </a:r>
            <a:r>
              <a:rPr lang="en-US" dirty="0" err="1"/>
              <a:t>fp</a:t>
            </a:r>
            <a:r>
              <a:rPr lang="en-US" dirty="0"/>
              <a:t> + 0” and “</a:t>
            </a:r>
            <a:r>
              <a:rPr lang="en-US" dirty="0" err="1"/>
              <a:t>fp</a:t>
            </a:r>
            <a:r>
              <a:rPr lang="en-US" dirty="0"/>
              <a:t> + 4” respectively. “</a:t>
            </a:r>
            <a:r>
              <a:rPr lang="en-US" dirty="0" err="1"/>
              <a:t>i</a:t>
            </a:r>
            <a:r>
              <a:rPr lang="en-US" dirty="0"/>
              <a:t>” and “z” are at “</a:t>
            </a:r>
            <a:r>
              <a:rPr lang="en-US" dirty="0" err="1"/>
              <a:t>fp</a:t>
            </a:r>
            <a:r>
              <a:rPr lang="en-US" dirty="0"/>
              <a:t> - 12” and “</a:t>
            </a:r>
            <a:r>
              <a:rPr lang="en-US" dirty="0" err="1"/>
              <a:t>fp</a:t>
            </a:r>
            <a:r>
              <a:rPr lang="en-US" dirty="0"/>
              <a:t> - 16” respectively.]</a:t>
            </a:r>
          </a:p>
        </p:txBody>
      </p:sp>
      <p:sp>
        <p:nvSpPr>
          <p:cNvPr id="4" name="Slide Number Placeholder 3"/>
          <p:cNvSpPr>
            <a:spLocks noGrp="1"/>
          </p:cNvSpPr>
          <p:nvPr>
            <p:ph type="sldNum" sz="quarter" idx="5"/>
          </p:nvPr>
        </p:nvSpPr>
        <p:spPr/>
        <p:txBody>
          <a:bodyPr/>
          <a:lstStyle/>
          <a:p>
            <a:fld id="{999729AB-B77D-48AE-AA10-D1BD2B4D03EA}" type="slidenum">
              <a:rPr lang="en-US" smtClean="0"/>
              <a:pPr/>
              <a:t>5</a:t>
            </a:fld>
            <a:endParaRPr lang="en-US"/>
          </a:p>
        </p:txBody>
      </p:sp>
    </p:spTree>
    <p:extLst>
      <p:ext uri="{BB962C8B-B14F-4D97-AF65-F5344CB8AC3E}">
        <p14:creationId xmlns:p14="http://schemas.microsoft.com/office/powerpoint/2010/main" val="1350520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the prologue is the 4 instructions from last time that push </a:t>
            </a:r>
            <a:r>
              <a:rPr lang="en-US" dirty="0" err="1"/>
              <a:t>fp</a:t>
            </a:r>
            <a:r>
              <a:rPr lang="en-US" dirty="0"/>
              <a:t> and </a:t>
            </a:r>
            <a:r>
              <a:rPr lang="en-US" dirty="0" err="1"/>
              <a:t>ra</a:t>
            </a:r>
            <a:r>
              <a:rPr lang="en-US" dirty="0"/>
              <a:t>, set </a:t>
            </a:r>
            <a:r>
              <a:rPr lang="en-US" dirty="0" err="1"/>
              <a:t>fp</a:t>
            </a:r>
            <a:r>
              <a:rPr lang="en-US" dirty="0"/>
              <a:t> = </a:t>
            </a:r>
            <a:r>
              <a:rPr lang="en-US" dirty="0" err="1"/>
              <a:t>sp</a:t>
            </a:r>
            <a:r>
              <a:rPr lang="en-US" dirty="0"/>
              <a:t>, and move </a:t>
            </a:r>
            <a:r>
              <a:rPr lang="en-US" dirty="0" err="1"/>
              <a:t>sp</a:t>
            </a:r>
            <a:r>
              <a:rPr lang="en-US" dirty="0"/>
              <a:t> down by n, where n is the size in bytes of all locals and saved registers. the epilogue is the 4 instructions from last time that pop </a:t>
            </a:r>
            <a:r>
              <a:rPr lang="en-US" dirty="0" err="1"/>
              <a:t>ra</a:t>
            </a:r>
            <a:r>
              <a:rPr lang="en-US" dirty="0"/>
              <a:t> and </a:t>
            </a:r>
            <a:r>
              <a:rPr lang="en-US" dirty="0" err="1"/>
              <a:t>fp</a:t>
            </a:r>
            <a:r>
              <a:rPr lang="en-US" dirty="0"/>
              <a:t>, move </a:t>
            </a:r>
            <a:r>
              <a:rPr lang="en-US" dirty="0" err="1"/>
              <a:t>sp</a:t>
            </a:r>
            <a:r>
              <a:rPr lang="en-US" dirty="0"/>
              <a:t> up by x, where x is the size in bytes of all locals, saved registers, </a:t>
            </a:r>
            <a:r>
              <a:rPr lang="en-US" i="1" dirty="0"/>
              <a:t>and</a:t>
            </a:r>
            <a:r>
              <a:rPr lang="en-US" dirty="0"/>
              <a:t> arguments; then finally ”</a:t>
            </a:r>
            <a:r>
              <a:rPr lang="en-US" dirty="0" err="1"/>
              <a:t>jr</a:t>
            </a:r>
            <a:r>
              <a:rPr lang="en-US" dirty="0"/>
              <a:t> </a:t>
            </a:r>
            <a:r>
              <a:rPr lang="en-US" dirty="0" err="1"/>
              <a:t>ra</a:t>
            </a:r>
            <a:r>
              <a:rPr lang="en-US" dirty="0"/>
              <a:t>” which returns. x = n + a, where a is the number of bytes of arguments. between the prologue and epilogue is where we will put the code that appears inside functions.]</a:t>
            </a:r>
          </a:p>
        </p:txBody>
      </p:sp>
      <p:sp>
        <p:nvSpPr>
          <p:cNvPr id="4" name="Slide Number Placeholder 3"/>
          <p:cNvSpPr>
            <a:spLocks noGrp="1"/>
          </p:cNvSpPr>
          <p:nvPr>
            <p:ph type="sldNum" sz="quarter" idx="5"/>
          </p:nvPr>
        </p:nvSpPr>
        <p:spPr/>
        <p:txBody>
          <a:bodyPr/>
          <a:lstStyle/>
          <a:p>
            <a:fld id="{999729AB-B77D-48AE-AA10-D1BD2B4D03EA}" type="slidenum">
              <a:rPr lang="en-US" smtClean="0"/>
              <a:pPr/>
              <a:t>6</a:t>
            </a:fld>
            <a:endParaRPr lang="en-US"/>
          </a:p>
        </p:txBody>
      </p:sp>
    </p:spTree>
    <p:extLst>
      <p:ext uri="{BB962C8B-B14F-4D97-AF65-F5344CB8AC3E}">
        <p14:creationId xmlns:p14="http://schemas.microsoft.com/office/powerpoint/2010/main" val="19169494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a curly-brace block statement in Truss that has 3 statements. we simply generate the code for those 3 statements and concatenate it together.]</a:t>
            </a:r>
          </a:p>
        </p:txBody>
      </p:sp>
      <p:sp>
        <p:nvSpPr>
          <p:cNvPr id="4" name="Slide Number Placeholder 3"/>
          <p:cNvSpPr>
            <a:spLocks noGrp="1"/>
          </p:cNvSpPr>
          <p:nvPr>
            <p:ph type="sldNum" sz="quarter" idx="5"/>
          </p:nvPr>
        </p:nvSpPr>
        <p:spPr/>
        <p:txBody>
          <a:bodyPr/>
          <a:lstStyle/>
          <a:p>
            <a:fld id="{999729AB-B77D-48AE-AA10-D1BD2B4D03EA}" type="slidenum">
              <a:rPr lang="en-US" smtClean="0"/>
              <a:pPr/>
              <a:t>9</a:t>
            </a:fld>
            <a:endParaRPr lang="en-US"/>
          </a:p>
        </p:txBody>
      </p:sp>
    </p:spTree>
    <p:extLst>
      <p:ext uri="{BB962C8B-B14F-4D97-AF65-F5344CB8AC3E}">
        <p14:creationId xmlns:p14="http://schemas.microsoft.com/office/powerpoint/2010/main" val="144525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a:t>
            </a:r>
            <a:r>
              <a:rPr lang="en-US" b="1" dirty="0" err="1"/>
              <a:t>sw</a:t>
            </a:r>
            <a:r>
              <a:rPr lang="en-US" b="1" dirty="0"/>
              <a:t> t0, g</a:t>
            </a:r>
            <a:r>
              <a:rPr lang="en-US" dirty="0"/>
              <a:t> syntax is itself a bit of a lie – MIPS does not have a way to directly access variables.</a:t>
            </a:r>
          </a:p>
          <a:p>
            <a:r>
              <a:rPr lang="en-US" dirty="0"/>
              <a:t>	- but we're using it, because we're letting the assembler do some of the work.</a:t>
            </a:r>
          </a:p>
          <a:p>
            <a:endParaRPr lang="en-US" dirty="0"/>
          </a:p>
          <a:p>
            <a:r>
              <a:rPr lang="en-US" dirty="0"/>
              <a:t>[diagram: a piece of code which gets and sets the values of both local and global variables. what instructions those accesses turn into differs in all four cases. ”getting” means a load, and “setting” means a store. locals are accessed as negative offsets from </a:t>
            </a:r>
            <a:r>
              <a:rPr lang="en-US" dirty="0" err="1"/>
              <a:t>fp</a:t>
            </a:r>
            <a:r>
              <a:rPr lang="en-US" dirty="0"/>
              <a:t>, and </a:t>
            </a:r>
            <a:r>
              <a:rPr lang="en-US" dirty="0" err="1"/>
              <a:t>globals</a:t>
            </a:r>
            <a:r>
              <a:rPr lang="en-US" dirty="0"/>
              <a:t> are accessed by name.]</a:t>
            </a:r>
          </a:p>
        </p:txBody>
      </p:sp>
      <p:sp>
        <p:nvSpPr>
          <p:cNvPr id="4" name="Slide Number Placeholder 3"/>
          <p:cNvSpPr>
            <a:spLocks noGrp="1"/>
          </p:cNvSpPr>
          <p:nvPr>
            <p:ph type="sldNum" sz="quarter" idx="5"/>
          </p:nvPr>
        </p:nvSpPr>
        <p:spPr/>
        <p:txBody>
          <a:bodyPr/>
          <a:lstStyle/>
          <a:p>
            <a:fld id="{999729AB-B77D-48AE-AA10-D1BD2B4D03EA}" type="slidenum">
              <a:rPr lang="en-US" smtClean="0"/>
              <a:pPr/>
              <a:t>10</a:t>
            </a:fld>
            <a:endParaRPr lang="en-US"/>
          </a:p>
        </p:txBody>
      </p:sp>
    </p:spTree>
    <p:extLst>
      <p:ext uri="{BB962C8B-B14F-4D97-AF65-F5344CB8AC3E}">
        <p14:creationId xmlns:p14="http://schemas.microsoft.com/office/powerpoint/2010/main" val="1677668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of course, there are a limited number of registers, so if the complexity of our expressions is high enough…</a:t>
            </a:r>
          </a:p>
          <a:p>
            <a:r>
              <a:rPr lang="en-US" dirty="0"/>
              <a:t>	- well, we'll come back to that.</a:t>
            </a:r>
          </a:p>
          <a:p>
            <a:endParaRPr lang="en-US" dirty="0"/>
          </a:p>
          <a:p>
            <a:r>
              <a:rPr lang="en-US" dirty="0"/>
              <a:t>[diagram: for “g = x + y”, we have to load the values of the locals x and y, then add, then store the sum into the global g. but for “g = x + y + z”, we can evaluate it in two different orders, which will require different numbers of temporary registers. we could load x and y, add into t0, then load z into t1, add t0 and t1, then store that into g. or, we could load all 3 locals x, y, and z into t0, t1, and t2 up front, then do both adds, and store the result into g. the second strategy requires an extra temp register t2 that the first strategy does not.]</a:t>
            </a:r>
          </a:p>
        </p:txBody>
      </p:sp>
      <p:sp>
        <p:nvSpPr>
          <p:cNvPr id="4" name="Slide Number Placeholder 3"/>
          <p:cNvSpPr>
            <a:spLocks noGrp="1"/>
          </p:cNvSpPr>
          <p:nvPr>
            <p:ph type="sldNum" sz="quarter" idx="5"/>
          </p:nvPr>
        </p:nvSpPr>
        <p:spPr/>
        <p:txBody>
          <a:bodyPr/>
          <a:lstStyle/>
          <a:p>
            <a:fld id="{999729AB-B77D-48AE-AA10-D1BD2B4D03EA}" type="slidenum">
              <a:rPr lang="en-US" smtClean="0"/>
              <a:pPr/>
              <a:t>11</a:t>
            </a:fld>
            <a:endParaRPr lang="en-US"/>
          </a:p>
        </p:txBody>
      </p:sp>
    </p:spTree>
    <p:extLst>
      <p:ext uri="{BB962C8B-B14F-4D97-AF65-F5344CB8AC3E}">
        <p14:creationId xmlns:p14="http://schemas.microsoft.com/office/powerpoint/2010/main" val="12591948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using a t </a:t>
            </a:r>
            <a:r>
              <a:rPr lang="en-US" dirty="0" err="1"/>
              <a:t>reg</a:t>
            </a:r>
            <a:r>
              <a:rPr lang="en-US" dirty="0"/>
              <a:t> instead of an s </a:t>
            </a:r>
            <a:r>
              <a:rPr lang="en-US" dirty="0" err="1"/>
              <a:t>reg</a:t>
            </a:r>
            <a:r>
              <a:rPr lang="en-US" dirty="0"/>
              <a:t> is a code quality issue - not required for correctness, but can shorten the code if used properly.</a:t>
            </a:r>
          </a:p>
          <a:p>
            <a:pPr marL="171450" indent="-171450">
              <a:buFontTx/>
              <a:buChar char="-"/>
            </a:pPr>
            <a:r>
              <a:rPr lang="en-US" dirty="0"/>
              <a:t>for this case you might think “well we’ll just call f first and THEN load the value of x” but that solution doesn’t work in the general case. consider ”g = f1() + f2()”. now there is no order you can evaluate the addends that won’t require remembering a temporary across a call.</a:t>
            </a:r>
          </a:p>
          <a:p>
            <a:pPr marL="171450" indent="-171450">
              <a:buFontTx/>
              <a:buChar char="-"/>
            </a:pPr>
            <a:endParaRPr lang="en-US" dirty="0"/>
          </a:p>
          <a:p>
            <a:pPr marL="0" indent="0">
              <a:buFontTx/>
              <a:buNone/>
            </a:pPr>
            <a:r>
              <a:rPr lang="en-US" dirty="0"/>
              <a:t>[diagram: a mistaken </a:t>
            </a:r>
            <a:r>
              <a:rPr lang="en-US" dirty="0" err="1"/>
              <a:t>codegen</a:t>
            </a:r>
            <a:r>
              <a:rPr lang="en-US" dirty="0"/>
              <a:t> for “g = x + f()”. we load the value of x into t0, then call f, but then we try to add the return value of f (v0) to t0, which is bad because we can’t rely on t0 still containing the same value as it did before the call!]</a:t>
            </a:r>
          </a:p>
        </p:txBody>
      </p:sp>
      <p:sp>
        <p:nvSpPr>
          <p:cNvPr id="4" name="Slide Number Placeholder 3"/>
          <p:cNvSpPr>
            <a:spLocks noGrp="1"/>
          </p:cNvSpPr>
          <p:nvPr>
            <p:ph type="sldNum" sz="quarter" idx="5"/>
          </p:nvPr>
        </p:nvSpPr>
        <p:spPr/>
        <p:txBody>
          <a:bodyPr/>
          <a:lstStyle/>
          <a:p>
            <a:fld id="{999729AB-B77D-48AE-AA10-D1BD2B4D03EA}" type="slidenum">
              <a:rPr lang="en-US" smtClean="0"/>
              <a:pPr/>
              <a:t>12</a:t>
            </a:fld>
            <a:endParaRPr lang="en-US"/>
          </a:p>
        </p:txBody>
      </p:sp>
    </p:spTree>
    <p:extLst>
      <p:ext uri="{BB962C8B-B14F-4D97-AF65-F5344CB8AC3E}">
        <p14:creationId xmlns:p14="http://schemas.microsoft.com/office/powerpoint/2010/main" val="1314470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I said before that trees ❤️ recursion, and it's because recursion is based on a stack. ;o</a:t>
            </a:r>
          </a:p>
          <a:p>
            <a:pPr marL="171450" indent="-171450">
              <a:buFontTx/>
              <a:buChar char="-"/>
            </a:pPr>
            <a:endParaRPr lang="en-US" dirty="0"/>
          </a:p>
          <a:p>
            <a:pPr marL="0" indent="0">
              <a:buFontTx/>
              <a:buNone/>
            </a:pPr>
            <a:r>
              <a:rPr lang="en-US" dirty="0"/>
              <a:t>[diagram: the code “g = a + b” has an AST rooted at “=“, with “g” as its left child, and the “a + b” subtree as its right child. we focus on the “a + b” subtree first. we can evaluate it by recursively evaluating the left side, then the right side, then popping the two operands and pushing the sum. the left side “a” is evaluated by simply pushing ”a” onto the stack. the right side “b” is evaluated by pushing “b” onto the stack as well, so now the stack has “b” on top and “a” below. finally, we evaluate the addition by popping those two items and pushing the sum “a + b” onto the stack.]</a:t>
            </a:r>
          </a:p>
        </p:txBody>
      </p:sp>
      <p:sp>
        <p:nvSpPr>
          <p:cNvPr id="4" name="Slide Number Placeholder 3"/>
          <p:cNvSpPr>
            <a:spLocks noGrp="1"/>
          </p:cNvSpPr>
          <p:nvPr>
            <p:ph type="sldNum" sz="quarter" idx="5"/>
          </p:nvPr>
        </p:nvSpPr>
        <p:spPr/>
        <p:txBody>
          <a:bodyPr/>
          <a:lstStyle/>
          <a:p>
            <a:fld id="{999729AB-B77D-48AE-AA10-D1BD2B4D03EA}" type="slidenum">
              <a:rPr lang="en-US" smtClean="0"/>
              <a:pPr/>
              <a:t>13</a:t>
            </a:fld>
            <a:endParaRPr lang="en-US"/>
          </a:p>
        </p:txBody>
      </p:sp>
    </p:spTree>
    <p:extLst>
      <p:ext uri="{BB962C8B-B14F-4D97-AF65-F5344CB8AC3E}">
        <p14:creationId xmlns:p14="http://schemas.microsoft.com/office/powerpoint/2010/main" val="16588172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the same “g = a + b” AST, and the same sequence of stack operations to evaluate the expression. but the height of the stack directly tells us which register that stack item should go into! so “a” goes into “s0” because the stack height is 1. when we evaluate ”b”, the stack height is 2, so ”b” goes into “s1”. then when we want to do the addition, the two operands are “s0” and “s1”; we pop them off the stack; and we push the sum, which goes into “s0” because the stack height is 1 again. finally, we can finish the assignment by popping the sum off the stack (represented by “s0”) and storing it into g. to be clear, the expression stack is an imaginary construct that only exists during code generation to decide which registers are used; it’s not the call stack that is used at runtime.]</a:t>
            </a:r>
          </a:p>
        </p:txBody>
      </p:sp>
      <p:sp>
        <p:nvSpPr>
          <p:cNvPr id="4" name="Slide Number Placeholder 3"/>
          <p:cNvSpPr>
            <a:spLocks noGrp="1"/>
          </p:cNvSpPr>
          <p:nvPr>
            <p:ph type="sldNum" sz="quarter" idx="5"/>
          </p:nvPr>
        </p:nvSpPr>
        <p:spPr/>
        <p:txBody>
          <a:bodyPr/>
          <a:lstStyle/>
          <a:p>
            <a:fld id="{999729AB-B77D-48AE-AA10-D1BD2B4D03EA}" type="slidenum">
              <a:rPr lang="en-US" smtClean="0"/>
              <a:pPr/>
              <a:t>14</a:t>
            </a:fld>
            <a:endParaRPr lang="en-US"/>
          </a:p>
        </p:txBody>
      </p:sp>
    </p:spTree>
    <p:extLst>
      <p:ext uri="{BB962C8B-B14F-4D97-AF65-F5344CB8AC3E}">
        <p14:creationId xmlns:p14="http://schemas.microsoft.com/office/powerpoint/2010/main" val="17688861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the full stack frame of a function that has two arguments, two locals, and uses two s registers. from top to bottom it’s “argument y, argument x, </a:t>
            </a:r>
            <a:r>
              <a:rPr lang="en-US" dirty="0" err="1"/>
              <a:t>fp</a:t>
            </a:r>
            <a:r>
              <a:rPr lang="en-US" dirty="0"/>
              <a:t>, </a:t>
            </a:r>
            <a:r>
              <a:rPr lang="en-US" dirty="0" err="1"/>
              <a:t>ra</a:t>
            </a:r>
            <a:r>
              <a:rPr lang="en-US" dirty="0"/>
              <a:t>, local </a:t>
            </a:r>
            <a:r>
              <a:rPr lang="en-US" dirty="0" err="1"/>
              <a:t>i</a:t>
            </a:r>
            <a:r>
              <a:rPr lang="en-US" dirty="0"/>
              <a:t>, local z, s1, s0.” so the prologue will have two more stores that store the caller’s versions of s1 and s0, and the epilogue will have two more loads that restore them.]</a:t>
            </a:r>
          </a:p>
        </p:txBody>
      </p:sp>
      <p:sp>
        <p:nvSpPr>
          <p:cNvPr id="4" name="Slide Number Placeholder 3"/>
          <p:cNvSpPr>
            <a:spLocks noGrp="1"/>
          </p:cNvSpPr>
          <p:nvPr>
            <p:ph type="sldNum" sz="quarter" idx="5"/>
          </p:nvPr>
        </p:nvSpPr>
        <p:spPr/>
        <p:txBody>
          <a:bodyPr/>
          <a:lstStyle/>
          <a:p>
            <a:fld id="{999729AB-B77D-48AE-AA10-D1BD2B4D03EA}" type="slidenum">
              <a:rPr lang="en-US" smtClean="0"/>
              <a:pPr/>
              <a:t>15</a:t>
            </a:fld>
            <a:endParaRPr lang="en-US"/>
          </a:p>
        </p:txBody>
      </p:sp>
    </p:spTree>
    <p:extLst>
      <p:ext uri="{BB962C8B-B14F-4D97-AF65-F5344CB8AC3E}">
        <p14:creationId xmlns:p14="http://schemas.microsoft.com/office/powerpoint/2010/main" val="33705797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if we wanted to extend this to support more registers, we would have to implement </a:t>
            </a:r>
            <a:r>
              <a:rPr lang="en-US" b="1" dirty="0"/>
              <a:t>spilling</a:t>
            </a:r>
          </a:p>
          <a:p>
            <a:r>
              <a:rPr lang="en-US" b="0" i="0" dirty="0"/>
              <a:t>	- basically, making </a:t>
            </a:r>
            <a:r>
              <a:rPr lang="en-US" b="0" i="1" dirty="0"/>
              <a:t>even more</a:t>
            </a:r>
            <a:r>
              <a:rPr lang="en-US" b="0" i="0" dirty="0"/>
              <a:t> space in the stack frame, and saving/restoring registers to the stack when we run out</a:t>
            </a:r>
          </a:p>
          <a:p>
            <a:r>
              <a:rPr lang="en-US" b="0" i="0" dirty="0"/>
              <a:t>	- but </a:t>
            </a:r>
            <a:r>
              <a:rPr lang="en-US" b="0" i="1" dirty="0"/>
              <a:t>where</a:t>
            </a:r>
            <a:r>
              <a:rPr lang="en-US" b="0" i="0" dirty="0"/>
              <a:t> you need to spill – and how that affects performance – becomes a hugely complex problem</a:t>
            </a:r>
          </a:p>
          <a:p>
            <a:r>
              <a:rPr lang="en-US" b="0" i="0" dirty="0"/>
              <a:t>- so ultimately, </a:t>
            </a:r>
            <a:r>
              <a:rPr lang="en-US" b="1" i="0" dirty="0"/>
              <a:t>it's easier in the long run </a:t>
            </a:r>
            <a:r>
              <a:rPr lang="en-US" b="0" i="0" dirty="0"/>
              <a:t>to use the more sophisticated register allocation algorithm that we'll learn later.</a:t>
            </a:r>
          </a:p>
        </p:txBody>
      </p:sp>
      <p:sp>
        <p:nvSpPr>
          <p:cNvPr id="4" name="Slide Number Placeholder 3"/>
          <p:cNvSpPr>
            <a:spLocks noGrp="1"/>
          </p:cNvSpPr>
          <p:nvPr>
            <p:ph type="sldNum" sz="quarter" idx="5"/>
          </p:nvPr>
        </p:nvSpPr>
        <p:spPr/>
        <p:txBody>
          <a:bodyPr/>
          <a:lstStyle/>
          <a:p>
            <a:fld id="{999729AB-B77D-48AE-AA10-D1BD2B4D03EA}" type="slidenum">
              <a:rPr lang="en-US" smtClean="0"/>
              <a:pPr/>
              <a:t>16</a:t>
            </a:fld>
            <a:endParaRPr lang="en-US"/>
          </a:p>
        </p:txBody>
      </p:sp>
    </p:spTree>
    <p:extLst>
      <p:ext uri="{BB962C8B-B14F-4D97-AF65-F5344CB8AC3E}">
        <p14:creationId xmlns:p14="http://schemas.microsoft.com/office/powerpoint/2010/main" val="2632303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b="1" dirty="0" err="1"/>
              <a:t>slt</a:t>
            </a:r>
            <a:r>
              <a:rPr lang="en-US" b="1" dirty="0"/>
              <a:t> </a:t>
            </a:r>
            <a:r>
              <a:rPr lang="en-US" b="0" dirty="0"/>
              <a:t>means "set if less than;" it will set its destination to 1 if the first operand is less than the second, or 0 otherwise.</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17</a:t>
            </a:fld>
            <a:endParaRPr lang="en-US"/>
          </a:p>
        </p:txBody>
      </p:sp>
    </p:spTree>
    <p:extLst>
      <p:ext uri="{BB962C8B-B14F-4D97-AF65-F5344CB8AC3E}">
        <p14:creationId xmlns:p14="http://schemas.microsoft.com/office/powerpoint/2010/main" val="1178698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you can probably look at this code and go “I could write this way more efficiently”, like, look how it reloads the value of ”</a:t>
            </a:r>
            <a:r>
              <a:rPr lang="en-US" dirty="0" err="1"/>
              <a:t>i</a:t>
            </a:r>
            <a:r>
              <a:rPr lang="en-US" dirty="0"/>
              <a:t>” (-16(</a:t>
            </a:r>
            <a:r>
              <a:rPr lang="en-US" dirty="0" err="1"/>
              <a:t>fp</a:t>
            </a:r>
            <a:r>
              <a:rPr lang="en-US" dirty="0"/>
              <a:t>)) twice. that’s the kind of thing optimization tries to do.</a:t>
            </a:r>
          </a:p>
        </p:txBody>
      </p:sp>
      <p:sp>
        <p:nvSpPr>
          <p:cNvPr id="4" name="Slide Number Placeholder 3"/>
          <p:cNvSpPr>
            <a:spLocks noGrp="1"/>
          </p:cNvSpPr>
          <p:nvPr>
            <p:ph type="sldNum" sz="quarter" idx="5"/>
          </p:nvPr>
        </p:nvSpPr>
        <p:spPr/>
        <p:txBody>
          <a:bodyPr/>
          <a:lstStyle/>
          <a:p>
            <a:fld id="{999729AB-B77D-48AE-AA10-D1BD2B4D03EA}" type="slidenum">
              <a:rPr lang="en-US" smtClean="0"/>
              <a:pPr/>
              <a:t>18</a:t>
            </a:fld>
            <a:endParaRPr lang="en-US"/>
          </a:p>
        </p:txBody>
      </p:sp>
    </p:spTree>
    <p:extLst>
      <p:ext uri="{BB962C8B-B14F-4D97-AF65-F5344CB8AC3E}">
        <p14:creationId xmlns:p14="http://schemas.microsoft.com/office/powerpoint/2010/main" val="35069803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if you ever find yourself making a </a:t>
            </a:r>
            <a:r>
              <a:rPr lang="en-US" dirty="0" err="1"/>
              <a:t>boolean</a:t>
            </a:r>
            <a:r>
              <a:rPr lang="en-US" dirty="0"/>
              <a:t> variable, and just assigning either true or false into it in an if-else…</a:t>
            </a:r>
          </a:p>
          <a:p>
            <a:r>
              <a:rPr lang="en-US" dirty="0"/>
              <a:t>	- like </a:t>
            </a:r>
            <a:r>
              <a:rPr lang="en-US" b="1" dirty="0" err="1"/>
              <a:t>boolean</a:t>
            </a:r>
            <a:r>
              <a:rPr lang="en-US" b="1" dirty="0"/>
              <a:t> </a:t>
            </a:r>
            <a:r>
              <a:rPr lang="en-US" b="1" dirty="0" err="1"/>
              <a:t>var</a:t>
            </a:r>
            <a:r>
              <a:rPr lang="en-US" b="1" dirty="0"/>
              <a:t>; if(x &lt; 10) { </a:t>
            </a:r>
            <a:r>
              <a:rPr lang="en-US" b="1" dirty="0" err="1"/>
              <a:t>var</a:t>
            </a:r>
            <a:r>
              <a:rPr lang="en-US" b="1" dirty="0"/>
              <a:t> = true; } else { </a:t>
            </a:r>
            <a:r>
              <a:rPr lang="en-US" b="1" dirty="0" err="1"/>
              <a:t>var</a:t>
            </a:r>
            <a:r>
              <a:rPr lang="en-US" b="1" dirty="0"/>
              <a:t> = false; }</a:t>
            </a:r>
          </a:p>
          <a:p>
            <a:r>
              <a:rPr lang="en-US" dirty="0"/>
              <a:t>	- just replace it with: </a:t>
            </a:r>
            <a:r>
              <a:rPr lang="en-US" b="1" dirty="0" err="1"/>
              <a:t>boolean</a:t>
            </a:r>
            <a:r>
              <a:rPr lang="en-US" b="1" dirty="0"/>
              <a:t> </a:t>
            </a:r>
            <a:r>
              <a:rPr lang="en-US" b="1" dirty="0" err="1"/>
              <a:t>var</a:t>
            </a:r>
            <a:r>
              <a:rPr lang="en-US" b="1" dirty="0"/>
              <a:t> = x &lt; 10;</a:t>
            </a:r>
          </a:p>
        </p:txBody>
      </p:sp>
      <p:sp>
        <p:nvSpPr>
          <p:cNvPr id="4" name="Slide Number Placeholder 3"/>
          <p:cNvSpPr>
            <a:spLocks noGrp="1"/>
          </p:cNvSpPr>
          <p:nvPr>
            <p:ph type="sldNum" sz="quarter" idx="5"/>
          </p:nvPr>
        </p:nvSpPr>
        <p:spPr/>
        <p:txBody>
          <a:bodyPr/>
          <a:lstStyle/>
          <a:p>
            <a:fld id="{999729AB-B77D-48AE-AA10-D1BD2B4D03EA}" type="slidenum">
              <a:rPr lang="en-US" smtClean="0"/>
              <a:pPr/>
              <a:t>19</a:t>
            </a:fld>
            <a:endParaRPr lang="en-US"/>
          </a:p>
        </p:txBody>
      </p:sp>
    </p:spTree>
    <p:extLst>
      <p:ext uri="{BB962C8B-B14F-4D97-AF65-F5344CB8AC3E}">
        <p14:creationId xmlns:p14="http://schemas.microsoft.com/office/powerpoint/2010/main" val="37330751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22</a:t>
            </a:fld>
            <a:endParaRPr lang="en-US"/>
          </a:p>
        </p:txBody>
      </p:sp>
    </p:spTree>
    <p:extLst>
      <p:ext uri="{BB962C8B-B14F-4D97-AF65-F5344CB8AC3E}">
        <p14:creationId xmlns:p14="http://schemas.microsoft.com/office/powerpoint/2010/main" val="27317063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hey, your lexer </a:t>
            </a:r>
            <a:r>
              <a:rPr lang="en-US" i="1" dirty="0"/>
              <a:t>already</a:t>
            </a:r>
            <a:r>
              <a:rPr lang="en-US" i="0" dirty="0"/>
              <a:t> recognizes left-bracket and right-bracket… </a:t>
            </a:r>
            <a:r>
              <a:rPr lang="en-US" i="0" dirty="0" err="1"/>
              <a:t>heyyyyyyy</a:t>
            </a:r>
            <a:endParaRPr lang="en-US" i="0" dirty="0"/>
          </a:p>
          <a:p>
            <a:r>
              <a:rPr lang="en-US" i="0" dirty="0"/>
              <a:t>- since Type can be </a:t>
            </a:r>
            <a:r>
              <a:rPr lang="en-US" i="0" dirty="0" err="1"/>
              <a:t>ArrayType</a:t>
            </a:r>
            <a:r>
              <a:rPr lang="en-US" i="0" dirty="0"/>
              <a:t>, these syntaxes handle multi-dimensional arrays automatically.</a:t>
            </a:r>
          </a:p>
          <a:p>
            <a:r>
              <a:rPr lang="en-US" i="0" dirty="0"/>
              <a:t>	- e.g. the type of a 2D array of </a:t>
            </a:r>
            <a:r>
              <a:rPr lang="en-US" i="0" dirty="0" err="1"/>
              <a:t>ints</a:t>
            </a:r>
            <a:r>
              <a:rPr lang="en-US" i="0" dirty="0"/>
              <a:t> is </a:t>
            </a:r>
            <a:r>
              <a:rPr lang="en-US" b="1" i="0" dirty="0"/>
              <a:t>[[int]]</a:t>
            </a:r>
            <a:r>
              <a:rPr lang="en-US" i="0" dirty="0"/>
              <a:t>, and you allocate it with </a:t>
            </a:r>
            <a:r>
              <a:rPr lang="en-US" b="1" i="0" dirty="0"/>
              <a:t>new [[int]; 10]</a:t>
            </a:r>
          </a:p>
          <a:p>
            <a:r>
              <a:rPr lang="en-US" b="0" i="0" dirty="0"/>
              <a:t>	- however, the second dimension wouldn't be initialized for you; that's a more complex feature. we're just doing the simplest possible thing first.</a:t>
            </a:r>
            <a:endParaRPr lang="en-US" b="0"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23</a:t>
            </a:fld>
            <a:endParaRPr lang="en-US"/>
          </a:p>
        </p:txBody>
      </p:sp>
    </p:spTree>
    <p:extLst>
      <p:ext uri="{BB962C8B-B14F-4D97-AF65-F5344CB8AC3E}">
        <p14:creationId xmlns:p14="http://schemas.microsoft.com/office/powerpoint/2010/main" val="34401214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that last rule means you can't change the length of arrays, just like in Java.</a:t>
            </a:r>
          </a:p>
        </p:txBody>
      </p:sp>
      <p:sp>
        <p:nvSpPr>
          <p:cNvPr id="4" name="Slide Number Placeholder 3"/>
          <p:cNvSpPr>
            <a:spLocks noGrp="1"/>
          </p:cNvSpPr>
          <p:nvPr>
            <p:ph type="sldNum" sz="quarter" idx="5"/>
          </p:nvPr>
        </p:nvSpPr>
        <p:spPr/>
        <p:txBody>
          <a:bodyPr/>
          <a:lstStyle/>
          <a:p>
            <a:fld id="{999729AB-B77D-48AE-AA10-D1BD2B4D03EA}" type="slidenum">
              <a:rPr lang="en-US" smtClean="0"/>
              <a:pPr/>
              <a:t>24</a:t>
            </a:fld>
            <a:endParaRPr lang="en-US"/>
          </a:p>
        </p:txBody>
      </p:sp>
    </p:spTree>
    <p:extLst>
      <p:ext uri="{BB962C8B-B14F-4D97-AF65-F5344CB8AC3E}">
        <p14:creationId xmlns:p14="http://schemas.microsoft.com/office/powerpoint/2010/main" val="4959966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"a is evaluated before i" bit is to ensure left-to-right evaluation of code.</a:t>
            </a:r>
          </a:p>
          <a:p>
            <a:r>
              <a:rPr lang="en-US" dirty="0"/>
              <a:t>	- consider </a:t>
            </a:r>
            <a:r>
              <a:rPr lang="en-US" b="1" dirty="0"/>
              <a:t>f()[g()]</a:t>
            </a:r>
            <a:r>
              <a:rPr lang="en-US" dirty="0"/>
              <a:t>; if f() and g() have side effects, this rule will evaluate f() first, then g(), which is probably what the user wants.</a:t>
            </a:r>
          </a:p>
        </p:txBody>
      </p:sp>
      <p:sp>
        <p:nvSpPr>
          <p:cNvPr id="4" name="Slide Number Placeholder 3"/>
          <p:cNvSpPr>
            <a:spLocks noGrp="1"/>
          </p:cNvSpPr>
          <p:nvPr>
            <p:ph type="sldNum" sz="quarter" idx="5"/>
          </p:nvPr>
        </p:nvSpPr>
        <p:spPr/>
        <p:txBody>
          <a:bodyPr/>
          <a:lstStyle/>
          <a:p>
            <a:fld id="{999729AB-B77D-48AE-AA10-D1BD2B4D03EA}" type="slidenum">
              <a:rPr lang="en-US" smtClean="0"/>
              <a:pPr/>
              <a:t>25</a:t>
            </a:fld>
            <a:endParaRPr lang="en-US"/>
          </a:p>
        </p:txBody>
      </p:sp>
    </p:spTree>
    <p:extLst>
      <p:ext uri="{BB962C8B-B14F-4D97-AF65-F5344CB8AC3E}">
        <p14:creationId xmlns:p14="http://schemas.microsoft.com/office/powerpoint/2010/main" val="4584772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I really really hope Other Instructors are teaching about how arrays are represented in 447 because omg if not</a:t>
            </a:r>
          </a:p>
          <a:p>
            <a:pPr marL="171450" indent="-171450">
              <a:buFontTx/>
              <a:buChar char="-"/>
            </a:pPr>
            <a:endParaRPr lang="en-US" dirty="0"/>
          </a:p>
          <a:p>
            <a:pPr marL="0" indent="0">
              <a:buFontTx/>
              <a:buNone/>
            </a:pPr>
            <a:r>
              <a:rPr lang="en-US" dirty="0"/>
              <a:t>[diagram: an array of 3 </a:t>
            </a:r>
            <a:r>
              <a:rPr lang="en-US" dirty="0" err="1"/>
              <a:t>ints</a:t>
            </a:r>
            <a:r>
              <a:rPr lang="en-US" dirty="0"/>
              <a:t>, named A, is represented in memory as a contiguous sequence of 12 bytes. A[0] is bytes 0 through 3. A[1] is bytes 4 through 7. A[2] is bytes 8 through 11.]</a:t>
            </a:r>
          </a:p>
        </p:txBody>
      </p:sp>
      <p:sp>
        <p:nvSpPr>
          <p:cNvPr id="4" name="Slide Number Placeholder 3"/>
          <p:cNvSpPr>
            <a:spLocks noGrp="1"/>
          </p:cNvSpPr>
          <p:nvPr>
            <p:ph type="sldNum" sz="quarter" idx="5"/>
          </p:nvPr>
        </p:nvSpPr>
        <p:spPr/>
        <p:txBody>
          <a:bodyPr/>
          <a:lstStyle/>
          <a:p>
            <a:fld id="{999729AB-B77D-48AE-AA10-D1BD2B4D03EA}" type="slidenum">
              <a:rPr lang="en-US" smtClean="0"/>
              <a:pPr/>
              <a:t>26</a:t>
            </a:fld>
            <a:endParaRPr lang="en-US"/>
          </a:p>
        </p:txBody>
      </p:sp>
    </p:spTree>
    <p:extLst>
      <p:ext uri="{BB962C8B-B14F-4D97-AF65-F5344CB8AC3E}">
        <p14:creationId xmlns:p14="http://schemas.microsoft.com/office/powerpoint/2010/main" val="28307605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 you can't just "put a special value" at the end of the array, because:</a:t>
            </a:r>
          </a:p>
          <a:p>
            <a:r>
              <a:rPr lang="en-US" dirty="0"/>
              <a:t>	1. you don't know what values the user wants to put in the array, so you can't assume they won't use the special value, and </a:t>
            </a:r>
          </a:p>
          <a:p>
            <a:r>
              <a:rPr lang="en-US" dirty="0"/>
              <a:t>	2. even if you could, it would take linear time to find that value to get the length of the array, which sucks</a:t>
            </a:r>
          </a:p>
          <a:p>
            <a:pPr marL="171450" indent="-171450">
              <a:buFontTx/>
              <a:buChar char="-"/>
            </a:pPr>
            <a:r>
              <a:rPr lang="en-US" dirty="0"/>
              <a:t>THIS IS WHY ZERO-TERMINATED STRINGS ARE BAD, MKAY</a:t>
            </a:r>
          </a:p>
          <a:p>
            <a:pPr marL="171450" indent="-171450">
              <a:buFontTx/>
              <a:buChar char="-"/>
            </a:pPr>
            <a:endParaRPr lang="en-US" dirty="0"/>
          </a:p>
          <a:p>
            <a:pPr marL="0" indent="0">
              <a:buFontTx/>
              <a:buNone/>
            </a:pPr>
            <a:r>
              <a:rPr lang="en-US" dirty="0"/>
              <a:t>[diagram: we set “a = new [</a:t>
            </a:r>
            <a:r>
              <a:rPr lang="en-US" dirty="0" err="1"/>
              <a:t>int</a:t>
            </a:r>
            <a:r>
              <a:rPr lang="en-US" dirty="0"/>
              <a:t>; 3]”. ”a” now points to a block of 16 bytes. the first 4 bytes are an </a:t>
            </a:r>
            <a:r>
              <a:rPr lang="en-US" dirty="0" err="1"/>
              <a:t>int</a:t>
            </a:r>
            <a:r>
              <a:rPr lang="en-US" dirty="0"/>
              <a:t> that holds the length, 3. the next 12 bytes are the actual array data, here initialized to 3 0s.]</a:t>
            </a:r>
          </a:p>
        </p:txBody>
      </p:sp>
      <p:sp>
        <p:nvSpPr>
          <p:cNvPr id="4" name="Slide Number Placeholder 3"/>
          <p:cNvSpPr>
            <a:spLocks noGrp="1"/>
          </p:cNvSpPr>
          <p:nvPr>
            <p:ph type="sldNum" sz="quarter" idx="5"/>
          </p:nvPr>
        </p:nvSpPr>
        <p:spPr/>
        <p:txBody>
          <a:bodyPr/>
          <a:lstStyle/>
          <a:p>
            <a:fld id="{999729AB-B77D-48AE-AA10-D1BD2B4D03EA}" type="slidenum">
              <a:rPr lang="en-US" smtClean="0"/>
              <a:pPr/>
              <a:t>27</a:t>
            </a:fld>
            <a:endParaRPr lang="en-US"/>
          </a:p>
        </p:txBody>
      </p:sp>
    </p:spTree>
    <p:extLst>
      <p:ext uri="{BB962C8B-B14F-4D97-AF65-F5344CB8AC3E}">
        <p14:creationId xmlns:p14="http://schemas.microsoft.com/office/powerpoint/2010/main" val="42224597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for a[i], the </a:t>
            </a:r>
            <a:r>
              <a:rPr lang="en-US" dirty="0" err="1"/>
              <a:t>codegen</a:t>
            </a:r>
            <a:r>
              <a:rPr lang="en-US" dirty="0"/>
              <a:t> knows what type a is, so it can use the appropriate S for that type.</a:t>
            </a:r>
          </a:p>
        </p:txBody>
      </p:sp>
      <p:sp>
        <p:nvSpPr>
          <p:cNvPr id="4" name="Slide Number Placeholder 3"/>
          <p:cNvSpPr>
            <a:spLocks noGrp="1"/>
          </p:cNvSpPr>
          <p:nvPr>
            <p:ph type="sldNum" sz="quarter" idx="5"/>
          </p:nvPr>
        </p:nvSpPr>
        <p:spPr/>
        <p:txBody>
          <a:bodyPr/>
          <a:lstStyle/>
          <a:p>
            <a:fld id="{999729AB-B77D-48AE-AA10-D1BD2B4D03EA}" type="slidenum">
              <a:rPr lang="en-US" smtClean="0"/>
              <a:pPr/>
              <a:t>29</a:t>
            </a:fld>
            <a:endParaRPr lang="en-US"/>
          </a:p>
        </p:txBody>
      </p:sp>
    </p:spTree>
    <p:extLst>
      <p:ext uri="{BB962C8B-B14F-4D97-AF65-F5344CB8AC3E}">
        <p14:creationId xmlns:p14="http://schemas.microsoft.com/office/powerpoint/2010/main" val="29382741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e.g. an array initializer may just be syntactic sugar that puts the array in a temporary variable, assigns all its values, then evaluates to that temporary</a:t>
            </a:r>
          </a:p>
          <a:p>
            <a:r>
              <a:rPr lang="en-US" dirty="0"/>
              <a:t>	- the above might work like </a:t>
            </a:r>
            <a:r>
              <a:rPr lang="en-US" b="1" dirty="0"/>
              <a:t>temp[0] = 1; temp[1] = 2; temp[2] = 3;</a:t>
            </a:r>
          </a:p>
        </p:txBody>
      </p:sp>
      <p:sp>
        <p:nvSpPr>
          <p:cNvPr id="4" name="Slide Number Placeholder 3"/>
          <p:cNvSpPr>
            <a:spLocks noGrp="1"/>
          </p:cNvSpPr>
          <p:nvPr>
            <p:ph type="sldNum" sz="quarter" idx="5"/>
          </p:nvPr>
        </p:nvSpPr>
        <p:spPr/>
        <p:txBody>
          <a:bodyPr/>
          <a:lstStyle/>
          <a:p>
            <a:fld id="{999729AB-B77D-48AE-AA10-D1BD2B4D03EA}" type="slidenum">
              <a:rPr lang="en-US" smtClean="0"/>
              <a:pPr/>
              <a:t>30</a:t>
            </a:fld>
            <a:endParaRPr lang="en-US"/>
          </a:p>
        </p:txBody>
      </p:sp>
    </p:spTree>
    <p:extLst>
      <p:ext uri="{BB962C8B-B14F-4D97-AF65-F5344CB8AC3E}">
        <p14:creationId xmlns:p14="http://schemas.microsoft.com/office/powerpoint/2010/main" val="3493075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3" name="Subtitle 2"/>
          <p:cNvSpPr>
            <a:spLocks noGrp="1"/>
          </p:cNvSpPr>
          <p:nvPr>
            <p:ph type="subTitle" idx="1"/>
          </p:nvPr>
        </p:nvSpPr>
        <p:spPr>
          <a:xfrm>
            <a:off x="685800" y="3177645"/>
            <a:ext cx="7772400" cy="1460500"/>
          </a:xfrm>
          <a:noFill/>
        </p:spPr>
        <p:txBody>
          <a:bodyPr>
            <a:normAutofit/>
          </a:bodyPr>
          <a:lstStyle>
            <a:lvl1pPr marL="0" indent="0" algn="l">
              <a:buNone/>
              <a:defRPr sz="2400">
                <a:solidFill>
                  <a:schemeClr val="bg1"/>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no anim)">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279261"/>
            <a:ext cx="4041775"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645028" y="1812396"/>
            <a:ext cx="4041775"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5296960"/>
            <a:ext cx="2133600" cy="304271"/>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cs-CZ"/>
              <a:t>CS447</a:t>
            </a:r>
            <a:endParaRPr lang="en-US"/>
          </a:p>
        </p:txBody>
      </p:sp>
      <p:sp>
        <p:nvSpPr>
          <p:cNvPr id="9" name="Slide Number Placeholder 8"/>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5296960"/>
            <a:ext cx="2133600" cy="304271"/>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cs-CZ"/>
              <a:t>CS447</a:t>
            </a:r>
            <a:endParaRPr lang="en-US"/>
          </a:p>
        </p:txBody>
      </p:sp>
      <p:sp>
        <p:nvSpPr>
          <p:cNvPr id="5" name="Slide Number Placeholder 4"/>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5296960"/>
            <a:ext cx="2133600" cy="304271"/>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cs-CZ"/>
              <a:t>CS447</a:t>
            </a:r>
            <a:endParaRPr lang="en-US"/>
          </a:p>
        </p:txBody>
      </p:sp>
      <p:sp>
        <p:nvSpPr>
          <p:cNvPr id="4" name="Slide Number Placeholder 3"/>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27541"/>
            <a:ext cx="3008313" cy="968376"/>
          </a:xfrm>
        </p:spPr>
        <p:txBody>
          <a:bodyPr anchor="b"/>
          <a:lstStyle>
            <a:lvl1pPr algn="l">
              <a:defRPr sz="1800" b="1"/>
            </a:lvl1pPr>
          </a:lstStyle>
          <a:p>
            <a:r>
              <a:rPr lang="en-US"/>
              <a:t>Click to edit Master title style</a:t>
            </a:r>
          </a:p>
        </p:txBody>
      </p:sp>
      <p:sp>
        <p:nvSpPr>
          <p:cNvPr id="3" name="Content Placeholder 2"/>
          <p:cNvSpPr>
            <a:spLocks noGrp="1"/>
          </p:cNvSpPr>
          <p:nvPr>
            <p:ph idx="1"/>
          </p:nvPr>
        </p:nvSpPr>
        <p:spPr>
          <a:xfrm>
            <a:off x="3575050" y="227544"/>
            <a:ext cx="5111750" cy="4877594"/>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195919"/>
            <a:ext cx="3008313" cy="39092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8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en-US" dirty="0"/>
              <a:t>Drag picture to placeholder or click icon to add</a:t>
            </a:r>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5600700"/>
            <a:ext cx="9144000" cy="114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7" name="Rectangle 6"/>
          <p:cNvSpPr/>
          <p:nvPr/>
        </p:nvSpPr>
        <p:spPr>
          <a:xfrm>
            <a:off x="0" y="0"/>
            <a:ext cx="9144000" cy="495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2" name="Title Placeholder 1"/>
          <p:cNvSpPr>
            <a:spLocks noGrp="1"/>
          </p:cNvSpPr>
          <p:nvPr>
            <p:ph type="title"/>
          </p:nvPr>
        </p:nvSpPr>
        <p:spPr>
          <a:xfrm>
            <a:off x="152400" y="0"/>
            <a:ext cx="8991600" cy="4953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52400" y="495301"/>
            <a:ext cx="8991600" cy="480165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0" y="5296960"/>
            <a:ext cx="1219200" cy="304271"/>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cs-CZ"/>
              <a:t>CS447</a:t>
            </a:r>
            <a:endParaRPr lang="en-US" dirty="0"/>
          </a:p>
        </p:txBody>
      </p:sp>
      <p:sp>
        <p:nvSpPr>
          <p:cNvPr id="6" name="Slide Number Placeholder 5"/>
          <p:cNvSpPr>
            <a:spLocks noGrp="1"/>
          </p:cNvSpPr>
          <p:nvPr>
            <p:ph type="sldNum" sz="quarter" idx="4"/>
          </p:nvPr>
        </p:nvSpPr>
        <p:spPr>
          <a:xfrm>
            <a:off x="8458200" y="5296960"/>
            <a:ext cx="685800" cy="304271"/>
          </a:xfrm>
          <a:prstGeom prst="rect">
            <a:avLst/>
          </a:prstGeom>
        </p:spPr>
        <p:txBody>
          <a:bodyPr vert="horz" lIns="91440" tIns="45720" rIns="91440" bIns="45720" rtlCol="0" anchor="ctr"/>
          <a:lstStyle>
            <a:lvl1pPr algn="r">
              <a:defRPr sz="1200">
                <a:solidFill>
                  <a:schemeClr val="tx1">
                    <a:tint val="75000"/>
                  </a:schemeClr>
                </a:solidFill>
              </a:defRPr>
            </a:lvl1pPr>
          </a:lstStyle>
          <a:p>
            <a:fld id="{3552B95B-556F-44BD-91A5-D80C1B9E2BB3}" type="slidenum">
              <a:rPr lang="en-US" smtClean="0"/>
              <a:pPr/>
              <a:t>‹#›</a:t>
            </a:fld>
            <a:endParaRPr lang="en-US"/>
          </a:p>
        </p:txBody>
      </p:sp>
    </p:spTree>
    <p:extLst>
      <p:ext uri="{BB962C8B-B14F-4D97-AF65-F5344CB8AC3E}">
        <p14:creationId xmlns:p14="http://schemas.microsoft.com/office/powerpoint/2010/main" val="34903523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ransition/>
  <p:hf hdr="0" ftr="0" dt="0"/>
  <p:txStyles>
    <p:titleStyle>
      <a:lvl1pPr algn="l" defTabSz="822960" rtl="0" eaLnBrk="1" latinLnBrk="0" hangingPunct="1">
        <a:spcBef>
          <a:spcPct val="0"/>
        </a:spcBef>
        <a:buNone/>
        <a:defRPr sz="2800" b="1" kern="1200">
          <a:solidFill>
            <a:schemeClr val="bg1"/>
          </a:solidFill>
          <a:latin typeface="+mj-lt"/>
          <a:ea typeface="GulimChe" pitchFamily="49" charset="-127"/>
          <a:cs typeface="MoolBoran" pitchFamily="34" charset="0"/>
        </a:defRPr>
      </a:lvl1pPr>
    </p:titleStyle>
    <p:bodyStyle>
      <a:lvl1pPr marL="204312" indent="-204312" algn="l" defTabSz="822960" rtl="0" eaLnBrk="1" latinLnBrk="0" hangingPunct="1">
        <a:spcBef>
          <a:spcPts val="0"/>
        </a:spcBef>
        <a:buSzPct val="150000"/>
        <a:buFont typeface="Arial" pitchFamily="34" charset="0"/>
        <a:buChar char="•"/>
        <a:defRPr sz="2200" kern="1200">
          <a:solidFill>
            <a:schemeClr val="tx1"/>
          </a:solidFill>
          <a:latin typeface="+mn-lt"/>
          <a:ea typeface="+mn-ea"/>
          <a:cs typeface="+mn-cs"/>
        </a:defRPr>
      </a:lvl1pPr>
      <a:lvl2pPr marL="415767" indent="-207170" algn="l" defTabSz="822960" rtl="0" eaLnBrk="1" latinLnBrk="0" hangingPunct="1">
        <a:spcBef>
          <a:spcPts val="0"/>
        </a:spcBef>
        <a:buFont typeface="Courier New" pitchFamily="49" charset="0"/>
        <a:buChar char="o"/>
        <a:defRPr sz="2200" kern="1200">
          <a:solidFill>
            <a:schemeClr val="tx1"/>
          </a:solidFill>
          <a:latin typeface="+mn-lt"/>
          <a:ea typeface="+mn-ea"/>
          <a:cs typeface="+mn-cs"/>
        </a:defRPr>
      </a:lvl2pPr>
      <a:lvl3pPr marL="620078" indent="-205740" algn="l" defTabSz="822960" rtl="0" eaLnBrk="1" latinLnBrk="0" hangingPunct="1">
        <a:spcBef>
          <a:spcPts val="0"/>
        </a:spcBef>
        <a:buFont typeface="Wingdings" pitchFamily="2" charset="2"/>
        <a:buChar char="§"/>
        <a:defRPr sz="2200" kern="1200">
          <a:solidFill>
            <a:schemeClr val="tx1"/>
          </a:solidFill>
          <a:latin typeface="+mn-lt"/>
          <a:ea typeface="+mn-ea"/>
          <a:cs typeface="+mn-cs"/>
        </a:defRPr>
      </a:lvl3pPr>
      <a:lvl4pPr marL="821532"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4pPr>
      <a:lvl5pPr marL="1028700"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More </a:t>
            </a:r>
            <a:r>
              <a:rPr lang="en-US" dirty="0" err="1"/>
              <a:t>Codegen</a:t>
            </a:r>
            <a:r>
              <a:rPr lang="en-US" dirty="0"/>
              <a:t> and Arrays</a:t>
            </a:r>
            <a:endParaRPr lang="en-US" sz="2400" dirty="0"/>
          </a:p>
        </p:txBody>
      </p:sp>
      <p:sp>
        <p:nvSpPr>
          <p:cNvPr id="3" name="Subtitle 2"/>
          <p:cNvSpPr>
            <a:spLocks noGrp="1"/>
          </p:cNvSpPr>
          <p:nvPr>
            <p:ph type="subTitle" idx="1"/>
          </p:nvPr>
        </p:nvSpPr>
        <p:spPr/>
        <p:txBody>
          <a:bodyPr/>
          <a:lstStyle/>
          <a:p>
            <a:r>
              <a:rPr lang="en-US" dirty="0"/>
              <a:t>CS 1622</a:t>
            </a:r>
          </a:p>
          <a:p>
            <a:r>
              <a:rPr lang="en-US" dirty="0"/>
              <a:t>Jarrett Billingsley</a:t>
            </a:r>
          </a:p>
        </p:txBody>
      </p:sp>
    </p:spTree>
    <p:extLst>
      <p:ext uri="{BB962C8B-B14F-4D97-AF65-F5344CB8AC3E}">
        <p14:creationId xmlns:p14="http://schemas.microsoft.com/office/powerpoint/2010/main" val="361208656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017CE-A372-C744-8763-80C56E421E87}"/>
              </a:ext>
            </a:extLst>
          </p:cNvPr>
          <p:cNvSpPr>
            <a:spLocks noGrp="1"/>
          </p:cNvSpPr>
          <p:nvPr>
            <p:ph type="title"/>
          </p:nvPr>
        </p:nvSpPr>
        <p:spPr/>
        <p:txBody>
          <a:bodyPr/>
          <a:lstStyle/>
          <a:p>
            <a:r>
              <a:rPr lang="en-US" dirty="0"/>
              <a:t>Class Announcements</a:t>
            </a:r>
          </a:p>
        </p:txBody>
      </p:sp>
      <p:sp>
        <p:nvSpPr>
          <p:cNvPr id="3" name="Content Placeholder 2">
            <a:extLst>
              <a:ext uri="{FF2B5EF4-FFF2-40B4-BE49-F238E27FC236}">
                <a16:creationId xmlns:a16="http://schemas.microsoft.com/office/drawing/2014/main" id="{F4FEBBF7-1C6E-294A-B5C4-174BB20AAFA9}"/>
              </a:ext>
            </a:extLst>
          </p:cNvPr>
          <p:cNvSpPr>
            <a:spLocks noGrp="1"/>
          </p:cNvSpPr>
          <p:nvPr>
            <p:ph idx="1"/>
          </p:nvPr>
        </p:nvSpPr>
        <p:spPr/>
        <p:txBody>
          <a:bodyPr/>
          <a:lstStyle/>
          <a:p>
            <a:r>
              <a:rPr lang="en-US"/>
              <a:t>?</a:t>
            </a:r>
            <a:endParaRPr lang="en-US" dirty="0"/>
          </a:p>
        </p:txBody>
      </p:sp>
      <p:sp>
        <p:nvSpPr>
          <p:cNvPr id="4" name="Slide Number Placeholder 3">
            <a:extLst>
              <a:ext uri="{FF2B5EF4-FFF2-40B4-BE49-F238E27FC236}">
                <a16:creationId xmlns:a16="http://schemas.microsoft.com/office/drawing/2014/main" id="{05CC32BD-B01F-C646-91E9-D5AAEE75AC36}"/>
              </a:ext>
            </a:extLst>
          </p:cNvPr>
          <p:cNvSpPr>
            <a:spLocks noGrp="1"/>
          </p:cNvSpPr>
          <p:nvPr>
            <p:ph type="sldNum" sz="quarter" idx="12"/>
          </p:nvPr>
        </p:nvSpPr>
        <p:spPr/>
        <p:txBody>
          <a:bodyPr/>
          <a:lstStyle/>
          <a:p>
            <a:fld id="{3552B95B-556F-44BD-91A5-D80C1B9E2BB3}" type="slidenum">
              <a:rPr lang="en-US" smtClean="0"/>
              <a:pPr/>
              <a:t>2</a:t>
            </a:fld>
            <a:endParaRPr lang="en-US"/>
          </a:p>
        </p:txBody>
      </p:sp>
    </p:spTree>
    <p:extLst>
      <p:ext uri="{BB962C8B-B14F-4D97-AF65-F5344CB8AC3E}">
        <p14:creationId xmlns:p14="http://schemas.microsoft.com/office/powerpoint/2010/main" val="243397440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4D4EF-DD95-E842-993F-FFCE5253679C}"/>
              </a:ext>
            </a:extLst>
          </p:cNvPr>
          <p:cNvSpPr>
            <a:spLocks noGrp="1"/>
          </p:cNvSpPr>
          <p:nvPr>
            <p:ph type="ctrTitle"/>
          </p:nvPr>
        </p:nvSpPr>
        <p:spPr>
          <a:xfrm>
            <a:off x="685800" y="1714501"/>
            <a:ext cx="7772400" cy="1225021"/>
          </a:xfrm>
        </p:spPr>
        <p:txBody>
          <a:bodyPr/>
          <a:lstStyle/>
          <a:p>
            <a:r>
              <a:rPr lang="en-US" dirty="0"/>
              <a:t>Quick Recap -</a:t>
            </a:r>
            <a:br>
              <a:rPr lang="en-US" dirty="0"/>
            </a:br>
            <a:r>
              <a:rPr lang="en-US" dirty="0"/>
              <a:t>Our Calling Convention</a:t>
            </a:r>
          </a:p>
        </p:txBody>
      </p:sp>
      <p:sp>
        <p:nvSpPr>
          <p:cNvPr id="3" name="Slide Number Placeholder 2">
            <a:extLst>
              <a:ext uri="{FF2B5EF4-FFF2-40B4-BE49-F238E27FC236}">
                <a16:creationId xmlns:a16="http://schemas.microsoft.com/office/drawing/2014/main" id="{237E100F-6013-D24E-B2CE-7878D12A6FCA}"/>
              </a:ext>
            </a:extLst>
          </p:cNvPr>
          <p:cNvSpPr>
            <a:spLocks noGrp="1"/>
          </p:cNvSpPr>
          <p:nvPr>
            <p:ph type="sldNum" sz="quarter" idx="12"/>
          </p:nvPr>
        </p:nvSpPr>
        <p:spPr/>
        <p:txBody>
          <a:bodyPr/>
          <a:lstStyle/>
          <a:p>
            <a:fld id="{3552B95B-556F-44BD-91A5-D80C1B9E2BB3}" type="slidenum">
              <a:rPr lang="en-US" smtClean="0"/>
              <a:pPr/>
              <a:t>3</a:t>
            </a:fld>
            <a:endParaRPr lang="en-US"/>
          </a:p>
        </p:txBody>
      </p:sp>
    </p:spTree>
    <p:extLst>
      <p:ext uri="{BB962C8B-B14F-4D97-AF65-F5344CB8AC3E}">
        <p14:creationId xmlns:p14="http://schemas.microsoft.com/office/powerpoint/2010/main" val="120291034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DC198-5A02-6C41-8BB7-21FA4C04A2A0}"/>
              </a:ext>
            </a:extLst>
          </p:cNvPr>
          <p:cNvSpPr>
            <a:spLocks noGrp="1"/>
          </p:cNvSpPr>
          <p:nvPr>
            <p:ph type="title"/>
          </p:nvPr>
        </p:nvSpPr>
        <p:spPr/>
        <p:txBody>
          <a:bodyPr/>
          <a:lstStyle/>
          <a:p>
            <a:r>
              <a:rPr lang="en-US" dirty="0"/>
              <a:t>Caller</a:t>
            </a:r>
          </a:p>
        </p:txBody>
      </p:sp>
      <p:sp>
        <p:nvSpPr>
          <p:cNvPr id="3" name="Content Placeholder 2">
            <a:extLst>
              <a:ext uri="{FF2B5EF4-FFF2-40B4-BE49-F238E27FC236}">
                <a16:creationId xmlns:a16="http://schemas.microsoft.com/office/drawing/2014/main" id="{47B990D1-9815-994C-98B3-9B48496AD28C}"/>
              </a:ext>
            </a:extLst>
          </p:cNvPr>
          <p:cNvSpPr>
            <a:spLocks noGrp="1"/>
          </p:cNvSpPr>
          <p:nvPr>
            <p:ph idx="1"/>
          </p:nvPr>
        </p:nvSpPr>
        <p:spPr>
          <a:xfrm>
            <a:off x="152400" y="495301"/>
            <a:ext cx="8991600" cy="495301"/>
          </a:xfrm>
        </p:spPr>
        <p:txBody>
          <a:bodyPr/>
          <a:lstStyle/>
          <a:p>
            <a:r>
              <a:rPr lang="en-US" dirty="0"/>
              <a:t>remember that the </a:t>
            </a:r>
            <a:r>
              <a:rPr lang="en-US" b="1" dirty="0"/>
              <a:t>caller </a:t>
            </a:r>
            <a:r>
              <a:rPr lang="en-US" dirty="0"/>
              <a:t>passes all arguments </a:t>
            </a:r>
            <a:r>
              <a:rPr lang="en-US" b="1" dirty="0"/>
              <a:t>on the stack.</a:t>
            </a:r>
            <a:endParaRPr lang="en-US" dirty="0"/>
          </a:p>
        </p:txBody>
      </p:sp>
      <p:sp>
        <p:nvSpPr>
          <p:cNvPr id="4" name="Slide Number Placeholder 3">
            <a:extLst>
              <a:ext uri="{FF2B5EF4-FFF2-40B4-BE49-F238E27FC236}">
                <a16:creationId xmlns:a16="http://schemas.microsoft.com/office/drawing/2014/main" id="{DFCCF6D0-7846-4849-A7C9-3C30DE4C2FE5}"/>
              </a:ext>
            </a:extLst>
          </p:cNvPr>
          <p:cNvSpPr>
            <a:spLocks noGrp="1"/>
          </p:cNvSpPr>
          <p:nvPr>
            <p:ph type="sldNum" sz="quarter" idx="12"/>
          </p:nvPr>
        </p:nvSpPr>
        <p:spPr/>
        <p:txBody>
          <a:bodyPr/>
          <a:lstStyle/>
          <a:p>
            <a:fld id="{3552B95B-556F-44BD-91A5-D80C1B9E2BB3}" type="slidenum">
              <a:rPr lang="en-US" smtClean="0"/>
              <a:pPr/>
              <a:t>4</a:t>
            </a:fld>
            <a:endParaRPr lang="en-US"/>
          </a:p>
        </p:txBody>
      </p:sp>
      <p:sp>
        <p:nvSpPr>
          <p:cNvPr id="5" name="TextBox 4">
            <a:extLst>
              <a:ext uri="{FF2B5EF4-FFF2-40B4-BE49-F238E27FC236}">
                <a16:creationId xmlns:a16="http://schemas.microsoft.com/office/drawing/2014/main" id="{A4A119DB-95AA-2948-899F-EAE2F93B8918}"/>
              </a:ext>
            </a:extLst>
          </p:cNvPr>
          <p:cNvSpPr txBox="1"/>
          <p:nvPr/>
        </p:nvSpPr>
        <p:spPr>
          <a:xfrm>
            <a:off x="454764" y="1707967"/>
            <a:ext cx="2517036" cy="2462213"/>
          </a:xfrm>
          <a:prstGeom prst="rect">
            <a:avLst/>
          </a:prstGeom>
          <a:noFill/>
        </p:spPr>
        <p:txBody>
          <a:bodyPr wrap="none" rtlCol="0">
            <a:spAutoFit/>
          </a:bodyPr>
          <a:lstStyle/>
          <a:p>
            <a:r>
              <a:rPr lang="en-US" sz="2200" b="1" dirty="0" err="1">
                <a:solidFill>
                  <a:srgbClr val="FF0000"/>
                </a:solidFill>
                <a:latin typeface="Consolas" panose="020B0609020204030204" pitchFamily="49" charset="0"/>
                <a:cs typeface="Consolas" panose="020B0609020204030204" pitchFamily="49" charset="0"/>
              </a:rPr>
              <a:t>addi</a:t>
            </a:r>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sp</a:t>
            </a:r>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sp</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-8</a:t>
            </a:r>
          </a:p>
          <a:p>
            <a:r>
              <a:rPr lang="en-US" sz="2200" b="1" dirty="0">
                <a:solidFill>
                  <a:srgbClr val="FF0000"/>
                </a:solidFill>
                <a:latin typeface="Consolas" panose="020B0609020204030204" pitchFamily="49" charset="0"/>
                <a:cs typeface="Consolas" panose="020B0609020204030204" pitchFamily="49" charset="0"/>
              </a:rPr>
              <a:t>li</a:t>
            </a:r>
            <a:r>
              <a:rPr lang="en-US" sz="2200" b="1" dirty="0">
                <a:latin typeface="Consolas" panose="020B0609020204030204" pitchFamily="49" charset="0"/>
                <a:cs typeface="Consolas" panose="020B0609020204030204" pitchFamily="49" charset="0"/>
              </a:rPr>
              <a:t>   t0, </a:t>
            </a:r>
            <a:r>
              <a:rPr lang="en-US" sz="2200" b="1" dirty="0">
                <a:solidFill>
                  <a:schemeClr val="accent3">
                    <a:lumMod val="75000"/>
                  </a:schemeClr>
                </a:solidFill>
                <a:latin typeface="Consolas" panose="020B0609020204030204" pitchFamily="49" charset="0"/>
                <a:cs typeface="Consolas" panose="020B0609020204030204" pitchFamily="49" charset="0"/>
              </a:rPr>
              <a:t>1</a:t>
            </a:r>
          </a:p>
          <a:p>
            <a:r>
              <a:rPr lang="en-US" sz="2200" b="1" dirty="0" err="1">
                <a:solidFill>
                  <a:srgbClr val="FF0000"/>
                </a:solidFill>
                <a:latin typeface="Consolas" panose="020B0609020204030204" pitchFamily="49" charset="0"/>
                <a:cs typeface="Consolas" panose="020B0609020204030204" pitchFamily="49" charset="0"/>
              </a:rPr>
              <a:t>sw</a:t>
            </a:r>
            <a:r>
              <a:rPr lang="en-US" sz="2200" b="1" dirty="0">
                <a:latin typeface="Consolas" panose="020B0609020204030204" pitchFamily="49" charset="0"/>
                <a:cs typeface="Consolas" panose="020B0609020204030204" pitchFamily="49" charset="0"/>
              </a:rPr>
              <a:t>   t0, </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sp</a:t>
            </a:r>
            <a:r>
              <a:rPr lang="en-US" sz="2200" b="1" dirty="0">
                <a:latin typeface="Consolas" panose="020B0609020204030204" pitchFamily="49" charset="0"/>
                <a:cs typeface="Consolas" panose="020B0609020204030204" pitchFamily="49" charset="0"/>
              </a:rPr>
              <a:t>)</a:t>
            </a:r>
          </a:p>
          <a:p>
            <a:r>
              <a:rPr lang="en-US" sz="2200" b="1" dirty="0">
                <a:solidFill>
                  <a:srgbClr val="FF0000"/>
                </a:solidFill>
                <a:latin typeface="Consolas" panose="020B0609020204030204" pitchFamily="49" charset="0"/>
                <a:cs typeface="Consolas" panose="020B0609020204030204" pitchFamily="49" charset="0"/>
              </a:rPr>
              <a:t>li</a:t>
            </a:r>
            <a:r>
              <a:rPr lang="en-US" sz="2200" b="1" dirty="0">
                <a:latin typeface="Consolas" panose="020B0609020204030204" pitchFamily="49" charset="0"/>
                <a:cs typeface="Consolas" panose="020B0609020204030204" pitchFamily="49" charset="0"/>
              </a:rPr>
              <a:t>   t0, </a:t>
            </a:r>
            <a:r>
              <a:rPr lang="en-US" sz="2200" b="1" dirty="0">
                <a:solidFill>
                  <a:schemeClr val="accent3">
                    <a:lumMod val="75000"/>
                  </a:schemeClr>
                </a:solidFill>
                <a:latin typeface="Consolas" panose="020B0609020204030204" pitchFamily="49" charset="0"/>
                <a:cs typeface="Consolas" panose="020B0609020204030204" pitchFamily="49" charset="0"/>
              </a:rPr>
              <a:t>2</a:t>
            </a:r>
          </a:p>
          <a:p>
            <a:r>
              <a:rPr lang="en-US" sz="2200" b="1" dirty="0" err="1">
                <a:solidFill>
                  <a:srgbClr val="FF0000"/>
                </a:solidFill>
                <a:latin typeface="Consolas" panose="020B0609020204030204" pitchFamily="49" charset="0"/>
                <a:cs typeface="Consolas" panose="020B0609020204030204" pitchFamily="49" charset="0"/>
              </a:rPr>
              <a:t>sw</a:t>
            </a:r>
            <a:r>
              <a:rPr lang="en-US" sz="2200" b="1" dirty="0">
                <a:latin typeface="Consolas" panose="020B0609020204030204" pitchFamily="49" charset="0"/>
                <a:cs typeface="Consolas" panose="020B0609020204030204" pitchFamily="49" charset="0"/>
              </a:rPr>
              <a:t>   t0, </a:t>
            </a:r>
            <a:r>
              <a:rPr lang="en-US" sz="2200" b="1" dirty="0">
                <a:solidFill>
                  <a:schemeClr val="accent3">
                    <a:lumMod val="75000"/>
                  </a:schemeClr>
                </a:solidFill>
                <a:latin typeface="Consolas" panose="020B0609020204030204" pitchFamily="49" charset="0"/>
                <a:cs typeface="Consolas" panose="020B0609020204030204" pitchFamily="49" charset="0"/>
              </a:rPr>
              <a:t>4</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sp</a:t>
            </a:r>
            <a:r>
              <a:rPr lang="en-US" sz="2200" b="1" dirty="0">
                <a:latin typeface="Consolas" panose="020B0609020204030204" pitchFamily="49" charset="0"/>
                <a:cs typeface="Consolas" panose="020B0609020204030204" pitchFamily="49" charset="0"/>
              </a:rPr>
              <a:t>)</a:t>
            </a:r>
          </a:p>
          <a:p>
            <a:r>
              <a:rPr lang="en-US" sz="2200" b="1" dirty="0" err="1">
                <a:solidFill>
                  <a:srgbClr val="FF0000"/>
                </a:solidFill>
                <a:latin typeface="Consolas" panose="020B0609020204030204" pitchFamily="49" charset="0"/>
                <a:cs typeface="Consolas" panose="020B0609020204030204" pitchFamily="49" charset="0"/>
              </a:rPr>
              <a:t>jal</a:t>
            </a:r>
            <a:r>
              <a:rPr lang="en-US" sz="2200" b="1" dirty="0">
                <a:latin typeface="Consolas" panose="020B0609020204030204" pitchFamily="49" charset="0"/>
                <a:cs typeface="Consolas" panose="020B0609020204030204" pitchFamily="49" charset="0"/>
              </a:rPr>
              <a:t>  f</a:t>
            </a:r>
          </a:p>
          <a:p>
            <a:r>
              <a:rPr lang="en-US" sz="2200" b="1" dirty="0" err="1">
                <a:solidFill>
                  <a:srgbClr val="FF0000"/>
                </a:solidFill>
                <a:latin typeface="Consolas" panose="020B0609020204030204" pitchFamily="49" charset="0"/>
                <a:cs typeface="Consolas" panose="020B0609020204030204" pitchFamily="49" charset="0"/>
              </a:rPr>
              <a:t>sw</a:t>
            </a:r>
            <a:r>
              <a:rPr lang="en-US" sz="2200" b="1" dirty="0">
                <a:latin typeface="Consolas" panose="020B0609020204030204" pitchFamily="49" charset="0"/>
                <a:cs typeface="Consolas" panose="020B0609020204030204" pitchFamily="49" charset="0"/>
              </a:rPr>
              <a:t>   v0, glob</a:t>
            </a:r>
          </a:p>
        </p:txBody>
      </p:sp>
      <p:sp>
        <p:nvSpPr>
          <p:cNvPr id="6" name="TextBox 5">
            <a:extLst>
              <a:ext uri="{FF2B5EF4-FFF2-40B4-BE49-F238E27FC236}">
                <a16:creationId xmlns:a16="http://schemas.microsoft.com/office/drawing/2014/main" id="{60C28428-B2BC-AE4A-AB94-10DE5C8082D2}"/>
              </a:ext>
            </a:extLst>
          </p:cNvPr>
          <p:cNvSpPr txBox="1"/>
          <p:nvPr/>
        </p:nvSpPr>
        <p:spPr>
          <a:xfrm>
            <a:off x="454764" y="944093"/>
            <a:ext cx="2517036" cy="430887"/>
          </a:xfrm>
          <a:prstGeom prst="rect">
            <a:avLst/>
          </a:prstGeom>
          <a:noFill/>
        </p:spPr>
        <p:txBody>
          <a:bodyPr wrap="none" rtlCol="0">
            <a:spAutoFit/>
          </a:bodyPr>
          <a:lstStyle/>
          <a:p>
            <a:r>
              <a:rPr lang="en-US" sz="2200" b="1" dirty="0">
                <a:latin typeface="Consolas" panose="020B0609020204030204" pitchFamily="49" charset="0"/>
                <a:cs typeface="Consolas" panose="020B0609020204030204" pitchFamily="49" charset="0"/>
              </a:rPr>
              <a:t>glob = f(</a:t>
            </a:r>
            <a:r>
              <a:rPr lang="en-US" sz="2200" b="1" dirty="0">
                <a:solidFill>
                  <a:schemeClr val="accent3">
                    <a:lumMod val="75000"/>
                  </a:schemeClr>
                </a:solidFill>
                <a:latin typeface="Consolas" panose="020B0609020204030204" pitchFamily="49" charset="0"/>
                <a:cs typeface="Consolas" panose="020B0609020204030204" pitchFamily="49" charset="0"/>
              </a:rPr>
              <a:t>1</a:t>
            </a:r>
            <a:r>
              <a:rPr lang="en-US" sz="2200" b="1" dirty="0">
                <a:latin typeface="Consolas" panose="020B0609020204030204" pitchFamily="49" charset="0"/>
                <a:cs typeface="Consolas" panose="020B0609020204030204" pitchFamily="49" charset="0"/>
              </a:rPr>
              <a:t>,</a:t>
            </a:r>
            <a:r>
              <a:rPr lang="en-US" sz="2200" b="1" dirty="0">
                <a:solidFill>
                  <a:schemeClr val="accent3">
                    <a:lumMod val="75000"/>
                  </a:schemeClr>
                </a:solidFill>
                <a:latin typeface="Consolas" panose="020B0609020204030204" pitchFamily="49" charset="0"/>
                <a:cs typeface="Consolas" panose="020B0609020204030204" pitchFamily="49" charset="0"/>
              </a:rPr>
              <a:t> 2</a:t>
            </a:r>
            <a:r>
              <a:rPr lang="en-US" sz="2200" b="1" dirty="0">
                <a:latin typeface="Consolas" panose="020B0609020204030204" pitchFamily="49" charset="0"/>
                <a:cs typeface="Consolas" panose="020B0609020204030204" pitchFamily="49" charset="0"/>
              </a:rPr>
              <a:t>);</a:t>
            </a:r>
          </a:p>
        </p:txBody>
      </p:sp>
      <p:sp>
        <p:nvSpPr>
          <p:cNvPr id="7" name="Down Arrow 6">
            <a:extLst>
              <a:ext uri="{FF2B5EF4-FFF2-40B4-BE49-F238E27FC236}">
                <a16:creationId xmlns:a16="http://schemas.microsoft.com/office/drawing/2014/main" id="{63B3DE6C-8BA8-0F44-B8E0-50F8077C0741}"/>
              </a:ext>
            </a:extLst>
          </p:cNvPr>
          <p:cNvSpPr/>
          <p:nvPr/>
        </p:nvSpPr>
        <p:spPr>
          <a:xfrm>
            <a:off x="807206" y="1372242"/>
            <a:ext cx="561958" cy="324337"/>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1893EB5-9FE5-4A41-95C4-6C05A2411032}"/>
              </a:ext>
            </a:extLst>
          </p:cNvPr>
          <p:cNvSpPr txBox="1"/>
          <p:nvPr/>
        </p:nvSpPr>
        <p:spPr>
          <a:xfrm>
            <a:off x="3519948" y="1638300"/>
            <a:ext cx="3479480" cy="430887"/>
          </a:xfrm>
          <a:prstGeom prst="rect">
            <a:avLst/>
          </a:prstGeom>
          <a:noFill/>
        </p:spPr>
        <p:txBody>
          <a:bodyPr wrap="square" rtlCol="0">
            <a:spAutoFit/>
          </a:bodyPr>
          <a:lstStyle/>
          <a:p>
            <a:pPr algn="ctr"/>
            <a:r>
              <a:rPr lang="en-US" sz="2200" b="1" dirty="0"/>
              <a:t>push </a:t>
            </a:r>
            <a:r>
              <a:rPr lang="en-US" sz="2200" dirty="0"/>
              <a:t>the two arguments…</a:t>
            </a:r>
          </a:p>
        </p:txBody>
      </p:sp>
      <p:cxnSp>
        <p:nvCxnSpPr>
          <p:cNvPr id="9" name="Straight Arrow Connector 8">
            <a:extLst>
              <a:ext uri="{FF2B5EF4-FFF2-40B4-BE49-F238E27FC236}">
                <a16:creationId xmlns:a16="http://schemas.microsoft.com/office/drawing/2014/main" id="{C0C7643A-ABC8-F741-A18F-1C9E9D494999}"/>
              </a:ext>
            </a:extLst>
          </p:cNvPr>
          <p:cNvCxnSpPr>
            <a:cxnSpLocks/>
          </p:cNvCxnSpPr>
          <p:nvPr/>
        </p:nvCxnSpPr>
        <p:spPr>
          <a:xfrm flipH="1">
            <a:off x="2986548" y="1903296"/>
            <a:ext cx="518652"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362A180-6127-1347-93C3-832942F5A312}"/>
              </a:ext>
            </a:extLst>
          </p:cNvPr>
          <p:cNvSpPr txBox="1"/>
          <p:nvPr/>
        </p:nvSpPr>
        <p:spPr>
          <a:xfrm>
            <a:off x="3429001" y="3348184"/>
            <a:ext cx="2590799" cy="430887"/>
          </a:xfrm>
          <a:prstGeom prst="rect">
            <a:avLst/>
          </a:prstGeom>
          <a:noFill/>
        </p:spPr>
        <p:txBody>
          <a:bodyPr wrap="square" rtlCol="0">
            <a:spAutoFit/>
          </a:bodyPr>
          <a:lstStyle/>
          <a:p>
            <a:pPr algn="ctr"/>
            <a:r>
              <a:rPr lang="en-US" sz="2200" b="1" dirty="0"/>
              <a:t>call </a:t>
            </a:r>
            <a:r>
              <a:rPr lang="en-US" sz="2200" dirty="0"/>
              <a:t>the function…</a:t>
            </a:r>
          </a:p>
        </p:txBody>
      </p:sp>
      <p:cxnSp>
        <p:nvCxnSpPr>
          <p:cNvPr id="11" name="Straight Arrow Connector 10">
            <a:extLst>
              <a:ext uri="{FF2B5EF4-FFF2-40B4-BE49-F238E27FC236}">
                <a16:creationId xmlns:a16="http://schemas.microsoft.com/office/drawing/2014/main" id="{835E53F7-26FE-D242-B935-7939709E1046}"/>
              </a:ext>
            </a:extLst>
          </p:cNvPr>
          <p:cNvCxnSpPr>
            <a:cxnSpLocks/>
          </p:cNvCxnSpPr>
          <p:nvPr/>
        </p:nvCxnSpPr>
        <p:spPr>
          <a:xfrm flipH="1">
            <a:off x="2681748" y="3576998"/>
            <a:ext cx="671052"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3C1958B-298C-E944-9033-8F5BC68F5006}"/>
              </a:ext>
            </a:extLst>
          </p:cNvPr>
          <p:cNvSpPr txBox="1"/>
          <p:nvPr/>
        </p:nvSpPr>
        <p:spPr>
          <a:xfrm>
            <a:off x="3352800" y="3729518"/>
            <a:ext cx="4069415" cy="430887"/>
          </a:xfrm>
          <a:prstGeom prst="rect">
            <a:avLst/>
          </a:prstGeom>
          <a:noFill/>
        </p:spPr>
        <p:txBody>
          <a:bodyPr wrap="square" rtlCol="0">
            <a:spAutoFit/>
          </a:bodyPr>
          <a:lstStyle/>
          <a:p>
            <a:pPr algn="ctr"/>
            <a:r>
              <a:rPr lang="en-US" sz="2200" b="1" dirty="0">
                <a:latin typeface="Consolas" panose="020B0609020204030204" pitchFamily="49" charset="0"/>
                <a:cs typeface="Consolas" panose="020B0609020204030204" pitchFamily="49" charset="0"/>
              </a:rPr>
              <a:t>v0</a:t>
            </a:r>
            <a:r>
              <a:rPr lang="en-US" sz="2200" b="1" dirty="0"/>
              <a:t> </a:t>
            </a:r>
            <a:r>
              <a:rPr lang="en-US" sz="2200" dirty="0"/>
              <a:t>is the return value (if any).</a:t>
            </a:r>
          </a:p>
        </p:txBody>
      </p:sp>
      <p:cxnSp>
        <p:nvCxnSpPr>
          <p:cNvPr id="13" name="Straight Arrow Connector 12">
            <a:extLst>
              <a:ext uri="{FF2B5EF4-FFF2-40B4-BE49-F238E27FC236}">
                <a16:creationId xmlns:a16="http://schemas.microsoft.com/office/drawing/2014/main" id="{9DEAAAD9-41DB-7F4F-8E55-831F8DBB4166}"/>
              </a:ext>
            </a:extLst>
          </p:cNvPr>
          <p:cNvCxnSpPr>
            <a:cxnSpLocks/>
          </p:cNvCxnSpPr>
          <p:nvPr/>
        </p:nvCxnSpPr>
        <p:spPr>
          <a:xfrm flipH="1">
            <a:off x="2682976" y="3944962"/>
            <a:ext cx="66982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86F3FF6-6A23-B24F-A6B6-074042EC3018}"/>
              </a:ext>
            </a:extLst>
          </p:cNvPr>
          <p:cNvSpPr txBox="1"/>
          <p:nvPr/>
        </p:nvSpPr>
        <p:spPr>
          <a:xfrm>
            <a:off x="580672" y="4457700"/>
            <a:ext cx="7982656" cy="769441"/>
          </a:xfrm>
          <a:prstGeom prst="rect">
            <a:avLst/>
          </a:prstGeom>
          <a:noFill/>
        </p:spPr>
        <p:txBody>
          <a:bodyPr wrap="square" rtlCol="0">
            <a:spAutoFit/>
          </a:bodyPr>
          <a:lstStyle/>
          <a:p>
            <a:pPr algn="ctr"/>
            <a:r>
              <a:rPr lang="en-US" sz="2200" dirty="0"/>
              <a:t>and remember the ATV rule: </a:t>
            </a:r>
            <a:r>
              <a:rPr lang="en-US" sz="2200" b="1" dirty="0"/>
              <a:t>after a </a:t>
            </a:r>
            <a:r>
              <a:rPr lang="en-US" sz="2200" b="1" dirty="0" err="1">
                <a:latin typeface="Consolas" panose="020B0609020204030204" pitchFamily="49" charset="0"/>
                <a:cs typeface="Consolas" panose="020B0609020204030204" pitchFamily="49" charset="0"/>
              </a:rPr>
              <a:t>jal</a:t>
            </a:r>
            <a:r>
              <a:rPr lang="en-US" sz="2200" b="1" dirty="0"/>
              <a:t>, </a:t>
            </a:r>
            <a:r>
              <a:rPr lang="en-US" sz="2200" b="1" dirty="0">
                <a:solidFill>
                  <a:srgbClr val="FF0000"/>
                </a:solidFill>
                <a:latin typeface="Consolas" panose="020B0609020204030204" pitchFamily="49" charset="0"/>
                <a:cs typeface="Consolas" panose="020B0609020204030204" pitchFamily="49" charset="0"/>
              </a:rPr>
              <a:t>a</a:t>
            </a:r>
            <a:r>
              <a:rPr lang="en-US" sz="2200" b="1" dirty="0">
                <a:solidFill>
                  <a:srgbClr val="FF0000"/>
                </a:solidFill>
              </a:rPr>
              <a:t>, </a:t>
            </a:r>
            <a:r>
              <a:rPr lang="en-US" sz="2200" b="1" dirty="0">
                <a:solidFill>
                  <a:srgbClr val="FF0000"/>
                </a:solidFill>
                <a:latin typeface="Consolas" panose="020B0609020204030204" pitchFamily="49" charset="0"/>
                <a:cs typeface="Consolas" panose="020B0609020204030204" pitchFamily="49" charset="0"/>
              </a:rPr>
              <a:t>t</a:t>
            </a:r>
            <a:r>
              <a:rPr lang="en-US" sz="2200" b="1" dirty="0">
                <a:solidFill>
                  <a:srgbClr val="FF0000"/>
                </a:solidFill>
              </a:rPr>
              <a:t>, </a:t>
            </a:r>
            <a:r>
              <a:rPr lang="en-US" sz="2200" b="1" dirty="0">
                <a:solidFill>
                  <a:srgbClr val="FF0000"/>
                </a:solidFill>
                <a:latin typeface="Consolas" panose="020B0609020204030204" pitchFamily="49" charset="0"/>
                <a:cs typeface="Consolas" panose="020B0609020204030204" pitchFamily="49" charset="0"/>
              </a:rPr>
              <a:t>v</a:t>
            </a:r>
            <a:r>
              <a:rPr lang="en-US" sz="2200" b="1" dirty="0">
                <a:solidFill>
                  <a:srgbClr val="FF0000"/>
                </a:solidFill>
              </a:rPr>
              <a:t> registers' values may differ,</a:t>
            </a:r>
            <a:r>
              <a:rPr lang="en-US" sz="2200" b="1" dirty="0"/>
              <a:t> but </a:t>
            </a:r>
            <a:r>
              <a:rPr lang="en-US" sz="2200" b="1" dirty="0">
                <a:solidFill>
                  <a:srgbClr val="00B050"/>
                </a:solidFill>
                <a:latin typeface="Consolas" panose="020B0609020204030204" pitchFamily="49" charset="0"/>
                <a:cs typeface="Consolas" panose="020B0609020204030204" pitchFamily="49" charset="0"/>
              </a:rPr>
              <a:t>s</a:t>
            </a:r>
            <a:r>
              <a:rPr lang="en-US" sz="2200" b="1" dirty="0">
                <a:solidFill>
                  <a:srgbClr val="00B050"/>
                </a:solidFill>
              </a:rPr>
              <a:t> registers' values will be the same.</a:t>
            </a:r>
            <a:endParaRPr lang="en-US" sz="2200" dirty="0">
              <a:solidFill>
                <a:srgbClr val="00B050"/>
              </a:solidFill>
            </a:endParaRPr>
          </a:p>
        </p:txBody>
      </p:sp>
    </p:spTree>
    <p:extLst>
      <p:ext uri="{BB962C8B-B14F-4D97-AF65-F5344CB8AC3E}">
        <p14:creationId xmlns:p14="http://schemas.microsoft.com/office/powerpoint/2010/main" val="27280323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10" grpId="0"/>
      <p:bldP spid="12"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B665C-E2FF-8C41-9ACA-0FB3E70450AF}"/>
              </a:ext>
            </a:extLst>
          </p:cNvPr>
          <p:cNvSpPr>
            <a:spLocks noGrp="1"/>
          </p:cNvSpPr>
          <p:nvPr>
            <p:ph type="title"/>
          </p:nvPr>
        </p:nvSpPr>
        <p:spPr/>
        <p:txBody>
          <a:bodyPr/>
          <a:lstStyle/>
          <a:p>
            <a:r>
              <a:rPr lang="en-US" dirty="0"/>
              <a:t>Callee</a:t>
            </a:r>
          </a:p>
        </p:txBody>
      </p:sp>
      <p:sp>
        <p:nvSpPr>
          <p:cNvPr id="3" name="Content Placeholder 2">
            <a:extLst>
              <a:ext uri="{FF2B5EF4-FFF2-40B4-BE49-F238E27FC236}">
                <a16:creationId xmlns:a16="http://schemas.microsoft.com/office/drawing/2014/main" id="{F1BA6AFE-4A7E-0B41-9C72-06BB5F92246A}"/>
              </a:ext>
            </a:extLst>
          </p:cNvPr>
          <p:cNvSpPr>
            <a:spLocks noGrp="1"/>
          </p:cNvSpPr>
          <p:nvPr>
            <p:ph idx="1"/>
          </p:nvPr>
        </p:nvSpPr>
        <p:spPr>
          <a:xfrm>
            <a:off x="152400" y="495302"/>
            <a:ext cx="8991600" cy="831382"/>
          </a:xfrm>
        </p:spPr>
        <p:txBody>
          <a:bodyPr/>
          <a:lstStyle/>
          <a:p>
            <a:r>
              <a:rPr lang="en-US" dirty="0"/>
              <a:t>every function has a </a:t>
            </a:r>
            <a:r>
              <a:rPr lang="en-US" b="1" dirty="0"/>
              <a:t>stack frame </a:t>
            </a:r>
            <a:r>
              <a:rPr lang="en-US" dirty="0"/>
              <a:t>to hold the arguments, locals, and saved registers for that call.</a:t>
            </a:r>
          </a:p>
        </p:txBody>
      </p:sp>
      <p:sp>
        <p:nvSpPr>
          <p:cNvPr id="4" name="Slide Number Placeholder 3">
            <a:extLst>
              <a:ext uri="{FF2B5EF4-FFF2-40B4-BE49-F238E27FC236}">
                <a16:creationId xmlns:a16="http://schemas.microsoft.com/office/drawing/2014/main" id="{352014DA-9C21-E045-BD01-1D570F16B83C}"/>
              </a:ext>
            </a:extLst>
          </p:cNvPr>
          <p:cNvSpPr>
            <a:spLocks noGrp="1"/>
          </p:cNvSpPr>
          <p:nvPr>
            <p:ph type="sldNum" sz="quarter" idx="12"/>
          </p:nvPr>
        </p:nvSpPr>
        <p:spPr/>
        <p:txBody>
          <a:bodyPr/>
          <a:lstStyle/>
          <a:p>
            <a:fld id="{3552B95B-556F-44BD-91A5-D80C1B9E2BB3}" type="slidenum">
              <a:rPr lang="en-US" smtClean="0"/>
              <a:pPr/>
              <a:t>5</a:t>
            </a:fld>
            <a:endParaRPr lang="en-US"/>
          </a:p>
        </p:txBody>
      </p:sp>
      <p:sp>
        <p:nvSpPr>
          <p:cNvPr id="5" name="TextBox 4">
            <a:extLst>
              <a:ext uri="{FF2B5EF4-FFF2-40B4-BE49-F238E27FC236}">
                <a16:creationId xmlns:a16="http://schemas.microsoft.com/office/drawing/2014/main" id="{D7A869FE-D04B-0C4E-A643-D6E1A31FF2C9}"/>
              </a:ext>
            </a:extLst>
          </p:cNvPr>
          <p:cNvSpPr txBox="1"/>
          <p:nvPr/>
        </p:nvSpPr>
        <p:spPr>
          <a:xfrm>
            <a:off x="199591" y="1334731"/>
            <a:ext cx="2970685" cy="1754326"/>
          </a:xfrm>
          <a:prstGeom prst="rect">
            <a:avLst/>
          </a:prstGeom>
          <a:noFill/>
        </p:spPr>
        <p:txBody>
          <a:bodyPr wrap="none" rtlCol="0">
            <a:spAutoFit/>
          </a:bodyPr>
          <a:lstStyle/>
          <a:p>
            <a:r>
              <a:rPr lang="en-US" sz="1800" b="1" dirty="0" err="1">
                <a:solidFill>
                  <a:srgbClr val="FF0000"/>
                </a:solidFill>
                <a:latin typeface="Consolas" panose="020B0609020204030204" pitchFamily="49" charset="0"/>
                <a:cs typeface="Consolas" panose="020B0609020204030204" pitchFamily="49" charset="0"/>
              </a:rPr>
              <a:t>fn</a:t>
            </a:r>
            <a:r>
              <a:rPr lang="en-US" sz="1800" b="1" dirty="0">
                <a:latin typeface="Consolas" panose="020B0609020204030204" pitchFamily="49" charset="0"/>
                <a:cs typeface="Consolas" panose="020B0609020204030204" pitchFamily="49" charset="0"/>
              </a:rPr>
              <a:t> f(x: </a:t>
            </a:r>
            <a:r>
              <a:rPr lang="en-US" sz="1800" b="1" dirty="0">
                <a:solidFill>
                  <a:srgbClr val="FF0000"/>
                </a:solidFill>
                <a:latin typeface="Consolas" panose="020B0609020204030204" pitchFamily="49" charset="0"/>
                <a:cs typeface="Consolas" panose="020B0609020204030204" pitchFamily="49" charset="0"/>
              </a:rPr>
              <a:t>int</a:t>
            </a:r>
            <a:r>
              <a:rPr lang="en-US" sz="1800" b="1" dirty="0">
                <a:latin typeface="Consolas" panose="020B0609020204030204" pitchFamily="49" charset="0"/>
                <a:cs typeface="Consolas" panose="020B0609020204030204" pitchFamily="49" charset="0"/>
              </a:rPr>
              <a:t>, y:</a:t>
            </a:r>
            <a:r>
              <a:rPr lang="en-US" sz="1800" b="1" dirty="0">
                <a:solidFill>
                  <a:srgbClr val="FF0000"/>
                </a:solidFill>
                <a:latin typeface="Consolas" panose="020B0609020204030204" pitchFamily="49" charset="0"/>
                <a:cs typeface="Consolas" panose="020B0609020204030204" pitchFamily="49" charset="0"/>
              </a:rPr>
              <a:t> int</a:t>
            </a:r>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let</a:t>
            </a:r>
            <a:r>
              <a:rPr lang="en-US" sz="1800" b="1" dirty="0">
                <a:latin typeface="Consolas" panose="020B0609020204030204" pitchFamily="49" charset="0"/>
                <a:cs typeface="Consolas" panose="020B0609020204030204" pitchFamily="49" charset="0"/>
              </a:rPr>
              <a:t> z = x + y;</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for</a:t>
            </a:r>
            <a:r>
              <a:rPr lang="en-US" sz="1800" b="1" dirty="0">
                <a:latin typeface="Consolas" panose="020B0609020204030204" pitchFamily="49" charset="0"/>
                <a:cs typeface="Consolas" panose="020B0609020204030204" pitchFamily="49" charset="0"/>
              </a:rPr>
              <a:t> i </a:t>
            </a:r>
            <a:r>
              <a:rPr lang="en-US" sz="1800" b="1" dirty="0">
                <a:solidFill>
                  <a:srgbClr val="FF0000"/>
                </a:solidFill>
                <a:latin typeface="Consolas" panose="020B0609020204030204" pitchFamily="49" charset="0"/>
                <a:cs typeface="Consolas" panose="020B0609020204030204" pitchFamily="49" charset="0"/>
              </a:rPr>
              <a:t>in</a:t>
            </a:r>
            <a:r>
              <a:rPr lang="en-US" sz="1800" b="1" dirty="0">
                <a:latin typeface="Consolas" panose="020B0609020204030204" pitchFamily="49" charset="0"/>
                <a:cs typeface="Consolas" panose="020B0609020204030204" pitchFamily="49" charset="0"/>
              </a:rPr>
              <a:t> </a:t>
            </a:r>
            <a:r>
              <a:rPr lang="en-US" sz="1800" b="1" dirty="0">
                <a:solidFill>
                  <a:schemeClr val="accent3">
                    <a:lumMod val="75000"/>
                  </a:schemeClr>
                </a:solidFill>
                <a:latin typeface="Consolas" panose="020B0609020204030204" pitchFamily="49" charset="0"/>
                <a:cs typeface="Consolas" panose="020B0609020204030204" pitchFamily="49" charset="0"/>
              </a:rPr>
              <a:t>0</a:t>
            </a:r>
            <a:r>
              <a:rPr lang="en-US" sz="1800" b="1" dirty="0">
                <a:latin typeface="Consolas" panose="020B0609020204030204" pitchFamily="49" charset="0"/>
                <a:cs typeface="Consolas" panose="020B0609020204030204" pitchFamily="49" charset="0"/>
              </a:rPr>
              <a:t>, z {</a:t>
            </a:r>
          </a:p>
          <a:p>
            <a:r>
              <a:rPr lang="en-US" sz="1800" b="1" dirty="0">
                <a:latin typeface="Consolas" panose="020B0609020204030204" pitchFamily="49" charset="0"/>
                <a:cs typeface="Consolas" panose="020B0609020204030204" pitchFamily="49" charset="0"/>
              </a:rPr>
              <a:t>    </a:t>
            </a:r>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(i);</a:t>
            </a:r>
          </a:p>
          <a:p>
            <a:r>
              <a:rPr lang="en-US" sz="1800" b="1" dirty="0">
                <a:latin typeface="Consolas" panose="020B0609020204030204" pitchFamily="49" charset="0"/>
                <a:cs typeface="Consolas" panose="020B0609020204030204" pitchFamily="49" charset="0"/>
              </a:rPr>
              <a:t>  }</a:t>
            </a:r>
          </a:p>
          <a:p>
            <a:r>
              <a:rPr lang="en-US" sz="1800" b="1" dirty="0">
                <a:latin typeface="Consolas" panose="020B0609020204030204" pitchFamily="49" charset="0"/>
                <a:cs typeface="Consolas" panose="020B0609020204030204" pitchFamily="49" charset="0"/>
              </a:rPr>
              <a:t>}</a:t>
            </a:r>
          </a:p>
        </p:txBody>
      </p:sp>
      <p:graphicFrame>
        <p:nvGraphicFramePr>
          <p:cNvPr id="6" name="Table 5">
            <a:extLst>
              <a:ext uri="{FF2B5EF4-FFF2-40B4-BE49-F238E27FC236}">
                <a16:creationId xmlns:a16="http://schemas.microsoft.com/office/drawing/2014/main" id="{5B9ACE73-B107-3F44-ACDD-5C441AC342B5}"/>
              </a:ext>
            </a:extLst>
          </p:cNvPr>
          <p:cNvGraphicFramePr>
            <a:graphicFrameLocks noGrp="1"/>
          </p:cNvGraphicFramePr>
          <p:nvPr>
            <p:extLst>
              <p:ext uri="{D42A27DB-BD31-4B8C-83A1-F6EECF244321}">
                <p14:modId xmlns:p14="http://schemas.microsoft.com/office/powerpoint/2010/main" val="3692902614"/>
              </p:ext>
            </p:extLst>
          </p:nvPr>
        </p:nvGraphicFramePr>
        <p:xfrm>
          <a:off x="3226139" y="1359969"/>
          <a:ext cx="812462" cy="2560320"/>
        </p:xfrm>
        <a:graphic>
          <a:graphicData uri="http://schemas.openxmlformats.org/drawingml/2006/table">
            <a:tbl>
              <a:tblPr bandRow="1">
                <a:tableStyleId>{5C22544A-7EE6-4342-B048-85BDC9FD1C3A}</a:tableStyleId>
              </a:tblPr>
              <a:tblGrid>
                <a:gridCol w="812462">
                  <a:extLst>
                    <a:ext uri="{9D8B030D-6E8A-4147-A177-3AD203B41FA5}">
                      <a16:colId xmlns:a16="http://schemas.microsoft.com/office/drawing/2014/main" val="1816345437"/>
                    </a:ext>
                  </a:extLst>
                </a:gridCol>
              </a:tblGrid>
              <a:tr h="370840">
                <a:tc>
                  <a:txBody>
                    <a:bodyPr/>
                    <a:lstStyle/>
                    <a:p>
                      <a:pPr algn="ctr"/>
                      <a:r>
                        <a:rPr lang="en-US" sz="2200" b="1" dirty="0">
                          <a:latin typeface="Consolas" panose="020B0609020204030204" pitchFamily="49" charset="0"/>
                          <a:cs typeface="Consolas" panose="020B0609020204030204" pitchFamily="49" charset="0"/>
                        </a:rPr>
                        <a:t>y</a:t>
                      </a:r>
                    </a:p>
                  </a:txBody>
                  <a:tcPr>
                    <a:solidFill>
                      <a:schemeClr val="accent3">
                        <a:lumMod val="60000"/>
                        <a:lumOff val="40000"/>
                      </a:schemeClr>
                    </a:solidFill>
                  </a:tcPr>
                </a:tc>
                <a:extLst>
                  <a:ext uri="{0D108BD9-81ED-4DB2-BD59-A6C34878D82A}">
                    <a16:rowId xmlns:a16="http://schemas.microsoft.com/office/drawing/2014/main" val="536278919"/>
                  </a:ext>
                </a:extLst>
              </a:tr>
              <a:tr h="370840">
                <a:tc>
                  <a:txBody>
                    <a:bodyPr/>
                    <a:lstStyle/>
                    <a:p>
                      <a:pPr algn="ctr"/>
                      <a:r>
                        <a:rPr lang="en-US" sz="2200" b="1" dirty="0">
                          <a:latin typeface="Consolas" panose="020B0609020204030204" pitchFamily="49" charset="0"/>
                          <a:cs typeface="Consolas" panose="020B0609020204030204" pitchFamily="49" charset="0"/>
                        </a:rPr>
                        <a:t>x</a:t>
                      </a:r>
                    </a:p>
                  </a:txBody>
                  <a:tcPr>
                    <a:solidFill>
                      <a:schemeClr val="accent3">
                        <a:lumMod val="60000"/>
                        <a:lumOff val="40000"/>
                      </a:schemeClr>
                    </a:solidFill>
                  </a:tcPr>
                </a:tc>
                <a:extLst>
                  <a:ext uri="{0D108BD9-81ED-4DB2-BD59-A6C34878D82A}">
                    <a16:rowId xmlns:a16="http://schemas.microsoft.com/office/drawing/2014/main" val="498795182"/>
                  </a:ext>
                </a:extLst>
              </a:tr>
              <a:tr h="370840">
                <a:tc>
                  <a:txBody>
                    <a:bodyPr/>
                    <a:lstStyle/>
                    <a:p>
                      <a:pPr algn="ctr"/>
                      <a:r>
                        <a:rPr lang="en-US" sz="2200" b="1" dirty="0" err="1">
                          <a:latin typeface="Consolas" panose="020B0609020204030204" pitchFamily="49" charset="0"/>
                          <a:cs typeface="Consolas" panose="020B0609020204030204" pitchFamily="49" charset="0"/>
                        </a:rPr>
                        <a:t>fp</a:t>
                      </a:r>
                      <a:endParaRPr lang="en-US" sz="2200" b="1" dirty="0">
                        <a:latin typeface="Consolas" panose="020B0609020204030204" pitchFamily="49" charset="0"/>
                        <a:cs typeface="Consolas" panose="020B0609020204030204" pitchFamily="49" charset="0"/>
                      </a:endParaRPr>
                    </a:p>
                  </a:txBody>
                  <a:tcPr>
                    <a:solidFill>
                      <a:schemeClr val="accent2">
                        <a:lumMod val="40000"/>
                        <a:lumOff val="60000"/>
                      </a:schemeClr>
                    </a:solidFill>
                  </a:tcPr>
                </a:tc>
                <a:extLst>
                  <a:ext uri="{0D108BD9-81ED-4DB2-BD59-A6C34878D82A}">
                    <a16:rowId xmlns:a16="http://schemas.microsoft.com/office/drawing/2014/main" val="3936903172"/>
                  </a:ext>
                </a:extLst>
              </a:tr>
              <a:tr h="370840">
                <a:tc>
                  <a:txBody>
                    <a:bodyPr/>
                    <a:lstStyle/>
                    <a:p>
                      <a:pPr algn="ctr"/>
                      <a:r>
                        <a:rPr lang="en-US" sz="2200" b="1" dirty="0" err="1">
                          <a:latin typeface="Consolas" panose="020B0609020204030204" pitchFamily="49" charset="0"/>
                          <a:cs typeface="Consolas" panose="020B0609020204030204" pitchFamily="49" charset="0"/>
                        </a:rPr>
                        <a:t>ra</a:t>
                      </a:r>
                      <a:endParaRPr lang="en-US" sz="2200" b="1" dirty="0">
                        <a:latin typeface="Consolas" panose="020B0609020204030204" pitchFamily="49" charset="0"/>
                        <a:cs typeface="Consolas" panose="020B0609020204030204" pitchFamily="49" charset="0"/>
                      </a:endParaRPr>
                    </a:p>
                  </a:txBody>
                  <a:tcPr>
                    <a:solidFill>
                      <a:schemeClr val="accent2">
                        <a:lumMod val="40000"/>
                        <a:lumOff val="60000"/>
                      </a:schemeClr>
                    </a:solidFill>
                  </a:tcPr>
                </a:tc>
                <a:extLst>
                  <a:ext uri="{0D108BD9-81ED-4DB2-BD59-A6C34878D82A}">
                    <a16:rowId xmlns:a16="http://schemas.microsoft.com/office/drawing/2014/main" val="1882845906"/>
                  </a:ext>
                </a:extLst>
              </a:tr>
              <a:tr h="370840">
                <a:tc>
                  <a:txBody>
                    <a:bodyPr/>
                    <a:lstStyle/>
                    <a:p>
                      <a:pPr algn="ctr"/>
                      <a:r>
                        <a:rPr lang="en-US" sz="2200" b="1" dirty="0">
                          <a:latin typeface="Consolas" panose="020B0609020204030204" pitchFamily="49" charset="0"/>
                          <a:cs typeface="Consolas" panose="020B0609020204030204" pitchFamily="49" charset="0"/>
                        </a:rPr>
                        <a:t>i</a:t>
                      </a:r>
                    </a:p>
                  </a:txBody>
                  <a:tcPr>
                    <a:solidFill>
                      <a:schemeClr val="accent1">
                        <a:lumMod val="40000"/>
                        <a:lumOff val="60000"/>
                      </a:schemeClr>
                    </a:solidFill>
                  </a:tcPr>
                </a:tc>
                <a:extLst>
                  <a:ext uri="{0D108BD9-81ED-4DB2-BD59-A6C34878D82A}">
                    <a16:rowId xmlns:a16="http://schemas.microsoft.com/office/drawing/2014/main" val="2225646117"/>
                  </a:ext>
                </a:extLst>
              </a:tr>
              <a:tr h="370840">
                <a:tc>
                  <a:txBody>
                    <a:bodyPr/>
                    <a:lstStyle/>
                    <a:p>
                      <a:pPr algn="ctr"/>
                      <a:r>
                        <a:rPr lang="en-US" sz="2200" b="1" dirty="0">
                          <a:latin typeface="Consolas" panose="020B0609020204030204" pitchFamily="49" charset="0"/>
                          <a:cs typeface="Consolas" panose="020B0609020204030204" pitchFamily="49" charset="0"/>
                        </a:rPr>
                        <a:t>z</a:t>
                      </a:r>
                    </a:p>
                  </a:txBody>
                  <a:tcPr>
                    <a:solidFill>
                      <a:schemeClr val="accent1">
                        <a:lumMod val="40000"/>
                        <a:lumOff val="60000"/>
                      </a:schemeClr>
                    </a:solidFill>
                  </a:tcPr>
                </a:tc>
                <a:extLst>
                  <a:ext uri="{0D108BD9-81ED-4DB2-BD59-A6C34878D82A}">
                    <a16:rowId xmlns:a16="http://schemas.microsoft.com/office/drawing/2014/main" val="1753748450"/>
                  </a:ext>
                </a:extLst>
              </a:tr>
            </a:tbl>
          </a:graphicData>
        </a:graphic>
      </p:graphicFrame>
      <p:sp>
        <p:nvSpPr>
          <p:cNvPr id="8" name="TextBox 7">
            <a:extLst>
              <a:ext uri="{FF2B5EF4-FFF2-40B4-BE49-F238E27FC236}">
                <a16:creationId xmlns:a16="http://schemas.microsoft.com/office/drawing/2014/main" id="{974E73C9-274E-354B-BE05-87FC798556E9}"/>
              </a:ext>
            </a:extLst>
          </p:cNvPr>
          <p:cNvSpPr txBox="1"/>
          <p:nvPr/>
        </p:nvSpPr>
        <p:spPr>
          <a:xfrm>
            <a:off x="4059008" y="3528593"/>
            <a:ext cx="1273105" cy="430887"/>
          </a:xfrm>
          <a:prstGeom prst="rect">
            <a:avLst/>
          </a:prstGeom>
          <a:noFill/>
        </p:spPr>
        <p:txBody>
          <a:bodyPr wrap="none" rtlCol="0">
            <a:spAutoFit/>
          </a:bodyPr>
          <a:lstStyle/>
          <a:p>
            <a:r>
              <a:rPr lang="en-US" sz="2200" b="1" dirty="0">
                <a:solidFill>
                  <a:schemeClr val="accent3">
                    <a:lumMod val="75000"/>
                  </a:schemeClr>
                </a:solidFill>
                <a:latin typeface="Consolas" panose="020B0609020204030204" pitchFamily="49" charset="0"/>
                <a:cs typeface="Consolas" panose="020B0609020204030204" pitchFamily="49" charset="0"/>
              </a:rPr>
              <a:t>-16</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p:txBody>
      </p:sp>
      <p:sp>
        <p:nvSpPr>
          <p:cNvPr id="11" name="TextBox 10">
            <a:extLst>
              <a:ext uri="{FF2B5EF4-FFF2-40B4-BE49-F238E27FC236}">
                <a16:creationId xmlns:a16="http://schemas.microsoft.com/office/drawing/2014/main" id="{63DE9D96-C93D-CE4E-A24F-F931063C9A09}"/>
              </a:ext>
            </a:extLst>
          </p:cNvPr>
          <p:cNvSpPr txBox="1"/>
          <p:nvPr/>
        </p:nvSpPr>
        <p:spPr>
          <a:xfrm>
            <a:off x="4059008" y="3106040"/>
            <a:ext cx="1273105" cy="430887"/>
          </a:xfrm>
          <a:prstGeom prst="rect">
            <a:avLst/>
          </a:prstGeom>
          <a:noFill/>
        </p:spPr>
        <p:txBody>
          <a:bodyPr wrap="none" rtlCol="0">
            <a:spAutoFit/>
          </a:bodyPr>
          <a:lstStyle/>
          <a:p>
            <a:r>
              <a:rPr lang="en-US" sz="2200" b="1" dirty="0">
                <a:solidFill>
                  <a:schemeClr val="accent3">
                    <a:lumMod val="75000"/>
                  </a:schemeClr>
                </a:solidFill>
                <a:latin typeface="Consolas" panose="020B0609020204030204" pitchFamily="49" charset="0"/>
                <a:cs typeface="Consolas" panose="020B0609020204030204" pitchFamily="49" charset="0"/>
              </a:rPr>
              <a:t>-12</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p:txBody>
      </p:sp>
      <p:sp>
        <p:nvSpPr>
          <p:cNvPr id="14" name="TextBox 13">
            <a:extLst>
              <a:ext uri="{FF2B5EF4-FFF2-40B4-BE49-F238E27FC236}">
                <a16:creationId xmlns:a16="http://schemas.microsoft.com/office/drawing/2014/main" id="{C9A28C1A-E4AD-484B-9783-04C010102FC2}"/>
              </a:ext>
            </a:extLst>
          </p:cNvPr>
          <p:cNvSpPr txBox="1"/>
          <p:nvPr/>
        </p:nvSpPr>
        <p:spPr>
          <a:xfrm>
            <a:off x="4038601" y="1782522"/>
            <a:ext cx="962123" cy="430887"/>
          </a:xfrm>
          <a:prstGeom prst="rect">
            <a:avLst/>
          </a:prstGeom>
          <a:noFill/>
        </p:spPr>
        <p:txBody>
          <a:bodyPr wrap="none" rtlCol="0">
            <a:spAutoFit/>
          </a:bodyPr>
          <a:lstStyle/>
          <a:p>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p:txBody>
      </p:sp>
      <p:sp>
        <p:nvSpPr>
          <p:cNvPr id="20" name="TextBox 19">
            <a:extLst>
              <a:ext uri="{FF2B5EF4-FFF2-40B4-BE49-F238E27FC236}">
                <a16:creationId xmlns:a16="http://schemas.microsoft.com/office/drawing/2014/main" id="{391FC34B-815D-0B44-AFCC-82A05D1E36A7}"/>
              </a:ext>
            </a:extLst>
          </p:cNvPr>
          <p:cNvSpPr txBox="1"/>
          <p:nvPr/>
        </p:nvSpPr>
        <p:spPr>
          <a:xfrm>
            <a:off x="4038600" y="1335350"/>
            <a:ext cx="962123" cy="430887"/>
          </a:xfrm>
          <a:prstGeom prst="rect">
            <a:avLst/>
          </a:prstGeom>
          <a:noFill/>
        </p:spPr>
        <p:txBody>
          <a:bodyPr wrap="none" rtlCol="0">
            <a:spAutoFit/>
          </a:bodyPr>
          <a:lstStyle/>
          <a:p>
            <a:r>
              <a:rPr lang="en-US" sz="2200" b="1" dirty="0">
                <a:solidFill>
                  <a:schemeClr val="accent3">
                    <a:lumMod val="75000"/>
                  </a:schemeClr>
                </a:solidFill>
                <a:latin typeface="Consolas" panose="020B0609020204030204" pitchFamily="49" charset="0"/>
                <a:cs typeface="Consolas" panose="020B0609020204030204" pitchFamily="49" charset="0"/>
              </a:rPr>
              <a:t>4</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p:txBody>
      </p:sp>
      <p:sp>
        <p:nvSpPr>
          <p:cNvPr id="21" name="TextBox 20">
            <a:extLst>
              <a:ext uri="{FF2B5EF4-FFF2-40B4-BE49-F238E27FC236}">
                <a16:creationId xmlns:a16="http://schemas.microsoft.com/office/drawing/2014/main" id="{32F3B33A-F88B-9644-BD5F-D9345AD894F1}"/>
              </a:ext>
            </a:extLst>
          </p:cNvPr>
          <p:cNvSpPr txBox="1"/>
          <p:nvPr/>
        </p:nvSpPr>
        <p:spPr>
          <a:xfrm>
            <a:off x="5000723" y="1409700"/>
            <a:ext cx="3991409" cy="769441"/>
          </a:xfrm>
          <a:prstGeom prst="rect">
            <a:avLst/>
          </a:prstGeom>
          <a:noFill/>
        </p:spPr>
        <p:txBody>
          <a:bodyPr wrap="square" rtlCol="0">
            <a:spAutoFit/>
          </a:bodyPr>
          <a:lstStyle/>
          <a:p>
            <a:pPr algn="ctr"/>
            <a:r>
              <a:rPr lang="en-US" sz="2200" b="1" dirty="0"/>
              <a:t>arguments </a:t>
            </a:r>
            <a:r>
              <a:rPr lang="en-US" sz="2200" dirty="0"/>
              <a:t>are accessed with </a:t>
            </a:r>
            <a:r>
              <a:rPr lang="en-US" sz="2200" b="1" dirty="0"/>
              <a:t>positive</a:t>
            </a:r>
            <a:r>
              <a:rPr lang="en-US" sz="2200" dirty="0"/>
              <a:t> offsets from </a:t>
            </a:r>
            <a:r>
              <a:rPr lang="en-US" sz="2200" b="1" dirty="0" err="1">
                <a:latin typeface="Consolas" panose="020B0609020204030204" pitchFamily="49" charset="0"/>
                <a:cs typeface="Consolas" panose="020B0609020204030204" pitchFamily="49" charset="0"/>
              </a:rPr>
              <a:t>fp</a:t>
            </a:r>
            <a:r>
              <a:rPr lang="en-US" sz="2200" dirty="0"/>
              <a:t>;</a:t>
            </a:r>
          </a:p>
        </p:txBody>
      </p:sp>
      <p:sp>
        <p:nvSpPr>
          <p:cNvPr id="22" name="TextBox 21">
            <a:extLst>
              <a:ext uri="{FF2B5EF4-FFF2-40B4-BE49-F238E27FC236}">
                <a16:creationId xmlns:a16="http://schemas.microsoft.com/office/drawing/2014/main" id="{4DB6C789-36A1-5B41-953A-563301CE9718}"/>
              </a:ext>
            </a:extLst>
          </p:cNvPr>
          <p:cNvSpPr txBox="1"/>
          <p:nvPr/>
        </p:nvSpPr>
        <p:spPr>
          <a:xfrm>
            <a:off x="5192796" y="3143872"/>
            <a:ext cx="3799336" cy="769441"/>
          </a:xfrm>
          <a:prstGeom prst="rect">
            <a:avLst/>
          </a:prstGeom>
          <a:noFill/>
        </p:spPr>
        <p:txBody>
          <a:bodyPr wrap="square" rtlCol="0">
            <a:spAutoFit/>
          </a:bodyPr>
          <a:lstStyle/>
          <a:p>
            <a:pPr algn="ctr"/>
            <a:r>
              <a:rPr lang="en-US" sz="2200" dirty="0"/>
              <a:t>and </a:t>
            </a:r>
            <a:r>
              <a:rPr lang="en-US" sz="2200" b="1" dirty="0"/>
              <a:t>locals </a:t>
            </a:r>
            <a:r>
              <a:rPr lang="en-US" sz="2200" dirty="0"/>
              <a:t>are accessed with </a:t>
            </a:r>
            <a:r>
              <a:rPr lang="en-US" sz="2200" b="1" dirty="0"/>
              <a:t>negative</a:t>
            </a:r>
            <a:r>
              <a:rPr lang="en-US" sz="2200" dirty="0"/>
              <a:t> offsets from </a:t>
            </a:r>
            <a:r>
              <a:rPr lang="en-US" sz="2200" b="1" dirty="0">
                <a:latin typeface="Consolas" panose="020B0609020204030204" pitchFamily="49" charset="0"/>
                <a:cs typeface="Consolas" panose="020B0609020204030204" pitchFamily="49" charset="0"/>
              </a:rPr>
              <a:t>fp</a:t>
            </a:r>
            <a:r>
              <a:rPr lang="en-US" sz="2200" dirty="0"/>
              <a:t>.</a:t>
            </a:r>
          </a:p>
        </p:txBody>
      </p:sp>
      <p:sp>
        <p:nvSpPr>
          <p:cNvPr id="23" name="TextBox 22">
            <a:extLst>
              <a:ext uri="{FF2B5EF4-FFF2-40B4-BE49-F238E27FC236}">
                <a16:creationId xmlns:a16="http://schemas.microsoft.com/office/drawing/2014/main" id="{C9BBE388-FC9D-BF4F-A0FC-C172D7F25D6F}"/>
              </a:ext>
            </a:extLst>
          </p:cNvPr>
          <p:cNvSpPr txBox="1"/>
          <p:nvPr/>
        </p:nvSpPr>
        <p:spPr>
          <a:xfrm>
            <a:off x="82693" y="4193160"/>
            <a:ext cx="3991409" cy="769441"/>
          </a:xfrm>
          <a:prstGeom prst="rect">
            <a:avLst/>
          </a:prstGeom>
          <a:noFill/>
        </p:spPr>
        <p:txBody>
          <a:bodyPr wrap="square" rtlCol="0">
            <a:spAutoFit/>
          </a:bodyPr>
          <a:lstStyle/>
          <a:p>
            <a:pPr algn="ctr"/>
            <a:r>
              <a:rPr lang="en-US" sz="2200" dirty="0"/>
              <a:t>these are the saved copies of the </a:t>
            </a:r>
            <a:r>
              <a:rPr lang="en-US" sz="2200" b="1" i="1" dirty="0"/>
              <a:t>caller's</a:t>
            </a:r>
            <a:r>
              <a:rPr lang="en-US" sz="2200" b="1" dirty="0"/>
              <a:t> </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ra</a:t>
            </a:r>
            <a:r>
              <a:rPr lang="en-US" sz="2200" b="1" dirty="0"/>
              <a:t> </a:t>
            </a:r>
            <a:r>
              <a:rPr lang="en-US" sz="2200" dirty="0"/>
              <a:t>registers.</a:t>
            </a:r>
          </a:p>
        </p:txBody>
      </p:sp>
      <p:sp>
        <p:nvSpPr>
          <p:cNvPr id="24" name="Arc 23">
            <a:extLst>
              <a:ext uri="{FF2B5EF4-FFF2-40B4-BE49-F238E27FC236}">
                <a16:creationId xmlns:a16="http://schemas.microsoft.com/office/drawing/2014/main" id="{3397358F-44CF-174D-A7CB-F4ACA94988BA}"/>
              </a:ext>
            </a:extLst>
          </p:cNvPr>
          <p:cNvSpPr/>
          <p:nvPr/>
        </p:nvSpPr>
        <p:spPr>
          <a:xfrm rot="16200000">
            <a:off x="1590524" y="2628546"/>
            <a:ext cx="2992269" cy="2970684"/>
          </a:xfrm>
          <a:prstGeom prst="arc">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7A3F0EBC-7444-D941-BC88-AFFA051D83DE}"/>
              </a:ext>
            </a:extLst>
          </p:cNvPr>
          <p:cNvSpPr txBox="1"/>
          <p:nvPr/>
        </p:nvSpPr>
        <p:spPr>
          <a:xfrm>
            <a:off x="4548843" y="4388443"/>
            <a:ext cx="2970686" cy="769441"/>
          </a:xfrm>
          <a:prstGeom prst="rect">
            <a:avLst/>
          </a:prstGeom>
          <a:noFill/>
        </p:spPr>
        <p:txBody>
          <a:bodyPr wrap="square" rtlCol="0">
            <a:spAutoFit/>
          </a:bodyPr>
          <a:lstStyle/>
          <a:p>
            <a:pPr algn="ctr"/>
            <a:r>
              <a:rPr lang="en-US" sz="2200" b="1" dirty="0" err="1">
                <a:latin typeface="Consolas" panose="020B0609020204030204" pitchFamily="49" charset="0"/>
                <a:cs typeface="Consolas" panose="020B0609020204030204" pitchFamily="49" charset="0"/>
              </a:rPr>
              <a:t>sp</a:t>
            </a:r>
            <a:r>
              <a:rPr lang="en-US" sz="2200" b="1" dirty="0"/>
              <a:t> </a:t>
            </a:r>
            <a:r>
              <a:rPr lang="en-US" sz="2200" dirty="0"/>
              <a:t>always points at the top of the stack.</a:t>
            </a:r>
          </a:p>
        </p:txBody>
      </p:sp>
      <p:cxnSp>
        <p:nvCxnSpPr>
          <p:cNvPr id="26" name="Straight Arrow Connector 25">
            <a:extLst>
              <a:ext uri="{FF2B5EF4-FFF2-40B4-BE49-F238E27FC236}">
                <a16:creationId xmlns:a16="http://schemas.microsoft.com/office/drawing/2014/main" id="{3A413F8F-8C06-0A41-9914-187EE77E59CC}"/>
              </a:ext>
            </a:extLst>
          </p:cNvPr>
          <p:cNvCxnSpPr>
            <a:cxnSpLocks/>
          </p:cNvCxnSpPr>
          <p:nvPr/>
        </p:nvCxnSpPr>
        <p:spPr>
          <a:xfrm flipH="1" flipV="1">
            <a:off x="4074102" y="3965141"/>
            <a:ext cx="621458" cy="47746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41503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1" grpId="0"/>
      <p:bldP spid="14" grpId="0"/>
      <p:bldP spid="20" grpId="0"/>
      <p:bldP spid="21" grpId="0"/>
      <p:bldP spid="22" grpId="0"/>
      <p:bldP spid="23" grpId="0"/>
      <p:bldP spid="24" grpId="0" animBg="1"/>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F7299-067C-304C-81B5-8BE202BE2C3C}"/>
              </a:ext>
            </a:extLst>
          </p:cNvPr>
          <p:cNvSpPr>
            <a:spLocks noGrp="1"/>
          </p:cNvSpPr>
          <p:nvPr>
            <p:ph type="title"/>
          </p:nvPr>
        </p:nvSpPr>
        <p:spPr/>
        <p:txBody>
          <a:bodyPr/>
          <a:lstStyle/>
          <a:p>
            <a:r>
              <a:rPr lang="en-US" dirty="0"/>
              <a:t>Prologue and Epilogue</a:t>
            </a:r>
          </a:p>
        </p:txBody>
      </p:sp>
      <p:sp>
        <p:nvSpPr>
          <p:cNvPr id="3" name="Content Placeholder 2">
            <a:extLst>
              <a:ext uri="{FF2B5EF4-FFF2-40B4-BE49-F238E27FC236}">
                <a16:creationId xmlns:a16="http://schemas.microsoft.com/office/drawing/2014/main" id="{6CD3BAE6-8017-064B-9D81-291E7BC67F53}"/>
              </a:ext>
            </a:extLst>
          </p:cNvPr>
          <p:cNvSpPr>
            <a:spLocks noGrp="1"/>
          </p:cNvSpPr>
          <p:nvPr>
            <p:ph idx="1"/>
          </p:nvPr>
        </p:nvSpPr>
        <p:spPr>
          <a:xfrm>
            <a:off x="152400" y="495301"/>
            <a:ext cx="8991600" cy="914399"/>
          </a:xfrm>
        </p:spPr>
        <p:txBody>
          <a:bodyPr/>
          <a:lstStyle/>
          <a:p>
            <a:r>
              <a:rPr lang="en-US" dirty="0"/>
              <a:t>the stack frame is set up by the </a:t>
            </a:r>
            <a:r>
              <a:rPr lang="en-US" b="1" dirty="0"/>
              <a:t>prologue</a:t>
            </a:r>
            <a:r>
              <a:rPr lang="en-US" dirty="0"/>
              <a:t> and torn down by the </a:t>
            </a:r>
            <a:r>
              <a:rPr lang="en-US" b="1" dirty="0"/>
              <a:t>epilogue; </a:t>
            </a:r>
            <a:r>
              <a:rPr lang="en-US" dirty="0"/>
              <a:t>these will surround every function.</a:t>
            </a:r>
          </a:p>
        </p:txBody>
      </p:sp>
      <p:sp>
        <p:nvSpPr>
          <p:cNvPr id="4" name="Slide Number Placeholder 3">
            <a:extLst>
              <a:ext uri="{FF2B5EF4-FFF2-40B4-BE49-F238E27FC236}">
                <a16:creationId xmlns:a16="http://schemas.microsoft.com/office/drawing/2014/main" id="{1F5502F5-A900-9945-BC37-2C1661DA07CB}"/>
              </a:ext>
            </a:extLst>
          </p:cNvPr>
          <p:cNvSpPr>
            <a:spLocks noGrp="1"/>
          </p:cNvSpPr>
          <p:nvPr>
            <p:ph type="sldNum" sz="quarter" idx="12"/>
          </p:nvPr>
        </p:nvSpPr>
        <p:spPr/>
        <p:txBody>
          <a:bodyPr/>
          <a:lstStyle/>
          <a:p>
            <a:fld id="{3552B95B-556F-44BD-91A5-D80C1B9E2BB3}" type="slidenum">
              <a:rPr lang="en-US" smtClean="0"/>
              <a:pPr/>
              <a:t>6</a:t>
            </a:fld>
            <a:endParaRPr lang="en-US"/>
          </a:p>
        </p:txBody>
      </p:sp>
      <p:sp>
        <p:nvSpPr>
          <p:cNvPr id="5" name="TextBox 4">
            <a:extLst>
              <a:ext uri="{FF2B5EF4-FFF2-40B4-BE49-F238E27FC236}">
                <a16:creationId xmlns:a16="http://schemas.microsoft.com/office/drawing/2014/main" id="{5A41CA00-6855-4C4C-9793-8E456659C846}"/>
              </a:ext>
            </a:extLst>
          </p:cNvPr>
          <p:cNvSpPr txBox="1"/>
          <p:nvPr/>
        </p:nvSpPr>
        <p:spPr>
          <a:xfrm>
            <a:off x="381000" y="1294111"/>
            <a:ext cx="2582758" cy="3785652"/>
          </a:xfrm>
          <a:prstGeom prst="rect">
            <a:avLst/>
          </a:prstGeom>
          <a:noFill/>
        </p:spPr>
        <p:txBody>
          <a:bodyPr wrap="none" rtlCol="0">
            <a:spAutoFit/>
          </a:bodyPr>
          <a:lstStyle/>
          <a:p>
            <a:r>
              <a:rPr lang="en-US" sz="2000" b="1" dirty="0">
                <a:latin typeface="Consolas" panose="020B0609020204030204" pitchFamily="49" charset="0"/>
                <a:cs typeface="Consolas" panose="020B0609020204030204" pitchFamily="49" charset="0"/>
              </a:rPr>
              <a:t>f: </a:t>
            </a:r>
          </a:p>
          <a:p>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sw</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fp</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-4</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a:t>
            </a:r>
          </a:p>
          <a:p>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sw</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ra</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-8</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a:t>
            </a:r>
            <a:endParaRPr lang="en-US" sz="2000" b="1" dirty="0">
              <a:solidFill>
                <a:srgbClr val="FF0000"/>
              </a:solidFill>
              <a:latin typeface="Consolas" panose="020B0609020204030204" pitchFamily="49" charset="0"/>
              <a:cs typeface="Consolas" panose="020B0609020204030204" pitchFamily="49" charset="0"/>
            </a:endParaRPr>
          </a:p>
          <a:p>
            <a:r>
              <a:rPr lang="en-US" sz="2000" b="1" dirty="0">
                <a:solidFill>
                  <a:srgbClr val="FF0000"/>
                </a:solidFill>
                <a:latin typeface="Consolas" panose="020B0609020204030204" pitchFamily="49" charset="0"/>
                <a:cs typeface="Consolas" panose="020B0609020204030204" pitchFamily="49" charset="0"/>
              </a:rPr>
              <a:t>  move </a:t>
            </a:r>
            <a:r>
              <a:rPr lang="en-US" sz="2000" b="1" dirty="0" err="1">
                <a:latin typeface="Consolas" panose="020B0609020204030204" pitchFamily="49" charset="0"/>
                <a:cs typeface="Consolas" panose="020B0609020204030204" pitchFamily="49" charset="0"/>
              </a:rPr>
              <a:t>fp</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endParaRPr lang="en-US" sz="2000" b="1" dirty="0">
              <a:solidFill>
                <a:srgbClr val="FF0000"/>
              </a:solidFill>
              <a:latin typeface="Consolas" panose="020B0609020204030204" pitchFamily="49" charset="0"/>
              <a:cs typeface="Consolas" panose="020B0609020204030204" pitchFamily="49" charset="0"/>
            </a:endParaRPr>
          </a:p>
          <a:p>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addi</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a:t>
            </a:r>
            <a:r>
              <a:rPr lang="en-US" sz="2000" b="1" i="1" dirty="0">
                <a:solidFill>
                  <a:schemeClr val="accent3">
                    <a:lumMod val="75000"/>
                  </a:schemeClr>
                </a:solidFill>
                <a:latin typeface="Consolas" panose="020B0609020204030204" pitchFamily="49" charset="0"/>
                <a:cs typeface="Consolas" panose="020B0609020204030204" pitchFamily="49" charset="0"/>
              </a:rPr>
              <a:t>n</a:t>
            </a:r>
          </a:p>
          <a:p>
            <a:endParaRPr lang="en-US" sz="2000" b="1" i="1" dirty="0">
              <a:solidFill>
                <a:schemeClr val="accent3">
                  <a:lumMod val="75000"/>
                </a:schemeClr>
              </a:solidFill>
              <a:latin typeface="Consolas" panose="020B0609020204030204" pitchFamily="49" charset="0"/>
              <a:cs typeface="Consolas" panose="020B0609020204030204" pitchFamily="49" charset="0"/>
            </a:endParaRPr>
          </a:p>
          <a:p>
            <a:r>
              <a:rPr lang="en-US" sz="2000" b="1" i="1" dirty="0">
                <a:solidFill>
                  <a:srgbClr val="0070C0"/>
                </a:solidFill>
                <a:latin typeface="Consolas" panose="020B0609020204030204" pitchFamily="49" charset="0"/>
                <a:cs typeface="Consolas" panose="020B0609020204030204" pitchFamily="49" charset="0"/>
              </a:rPr>
              <a:t>  </a:t>
            </a:r>
            <a:r>
              <a:rPr lang="en-US" sz="2000" i="1" dirty="0">
                <a:solidFill>
                  <a:srgbClr val="0070C0"/>
                </a:solidFill>
                <a:latin typeface="Consolas" panose="020B0609020204030204" pitchFamily="49" charset="0"/>
                <a:cs typeface="Consolas" panose="020B0609020204030204" pitchFamily="49" charset="0"/>
              </a:rPr>
              <a:t>code goes here!</a:t>
            </a:r>
          </a:p>
          <a:p>
            <a:endParaRPr lang="en-US" sz="2000" b="1" i="1" dirty="0">
              <a:solidFill>
                <a:schemeClr val="accent3">
                  <a:lumMod val="75000"/>
                </a:schemeClr>
              </a:solidFill>
              <a:latin typeface="Consolas" panose="020B0609020204030204" pitchFamily="49" charset="0"/>
              <a:cs typeface="Consolas" panose="020B0609020204030204" pitchFamily="49" charset="0"/>
            </a:endParaRPr>
          </a:p>
          <a:p>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lw</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ra</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-8</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fp</a:t>
            </a:r>
            <a:r>
              <a:rPr lang="en-US" sz="2000" b="1" dirty="0">
                <a:latin typeface="Consolas" panose="020B0609020204030204" pitchFamily="49" charset="0"/>
                <a:cs typeface="Consolas" panose="020B0609020204030204" pitchFamily="49" charset="0"/>
              </a:rPr>
              <a:t>)</a:t>
            </a:r>
          </a:p>
          <a:p>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lw</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fp</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-4</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fp</a:t>
            </a:r>
            <a:r>
              <a:rPr lang="en-US" sz="2000" b="1" dirty="0">
                <a:latin typeface="Consolas" panose="020B0609020204030204" pitchFamily="49" charset="0"/>
                <a:cs typeface="Consolas" panose="020B0609020204030204" pitchFamily="49" charset="0"/>
              </a:rPr>
              <a:t>)</a:t>
            </a:r>
            <a:endParaRPr lang="en-US" sz="2000" b="1" dirty="0">
              <a:solidFill>
                <a:srgbClr val="FF0000"/>
              </a:solidFill>
              <a:latin typeface="Consolas" panose="020B0609020204030204" pitchFamily="49" charset="0"/>
              <a:cs typeface="Consolas" panose="020B0609020204030204" pitchFamily="49" charset="0"/>
            </a:endParaRPr>
          </a:p>
          <a:p>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addi</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i="1" dirty="0">
                <a:solidFill>
                  <a:schemeClr val="accent3">
                    <a:lumMod val="75000"/>
                  </a:schemeClr>
                </a:solidFill>
                <a:latin typeface="Consolas" panose="020B0609020204030204" pitchFamily="49" charset="0"/>
                <a:cs typeface="Consolas" panose="020B0609020204030204" pitchFamily="49" charset="0"/>
              </a:rPr>
              <a:t>x</a:t>
            </a:r>
          </a:p>
          <a:p>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jr</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ra</a:t>
            </a:r>
            <a:endParaRPr lang="en-US" sz="2000" b="1" dirty="0">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B0D949AA-33A0-E74A-B378-C963CDBCF23D}"/>
              </a:ext>
            </a:extLst>
          </p:cNvPr>
          <p:cNvSpPr txBox="1"/>
          <p:nvPr/>
        </p:nvSpPr>
        <p:spPr>
          <a:xfrm>
            <a:off x="3163887" y="2080586"/>
            <a:ext cx="5279240" cy="769441"/>
          </a:xfrm>
          <a:prstGeom prst="rect">
            <a:avLst/>
          </a:prstGeom>
          <a:noFill/>
        </p:spPr>
        <p:txBody>
          <a:bodyPr wrap="square" rtlCol="0">
            <a:spAutoFit/>
          </a:bodyPr>
          <a:lstStyle/>
          <a:p>
            <a:pPr algn="ctr"/>
            <a:r>
              <a:rPr lang="en-US" sz="2200" dirty="0"/>
              <a:t>here, </a:t>
            </a:r>
            <a:r>
              <a:rPr lang="en-US" sz="2200" b="1" i="1" dirty="0"/>
              <a:t>n</a:t>
            </a:r>
            <a:r>
              <a:rPr lang="en-US" sz="2200" b="1" dirty="0"/>
              <a:t> </a:t>
            </a:r>
            <a:r>
              <a:rPr lang="en-US" sz="2200" dirty="0"/>
              <a:t>represents the size (in bytes) of </a:t>
            </a:r>
            <a:r>
              <a:rPr lang="en-US" sz="2200" b="1" dirty="0"/>
              <a:t>all locals and saved registers.</a:t>
            </a:r>
          </a:p>
        </p:txBody>
      </p:sp>
      <p:sp>
        <p:nvSpPr>
          <p:cNvPr id="7" name="TextBox 6">
            <a:extLst>
              <a:ext uri="{FF2B5EF4-FFF2-40B4-BE49-F238E27FC236}">
                <a16:creationId xmlns:a16="http://schemas.microsoft.com/office/drawing/2014/main" id="{73608F3D-B22C-B14A-9756-83EE4AEC7509}"/>
              </a:ext>
            </a:extLst>
          </p:cNvPr>
          <p:cNvSpPr txBox="1"/>
          <p:nvPr/>
        </p:nvSpPr>
        <p:spPr>
          <a:xfrm>
            <a:off x="2995450" y="3383459"/>
            <a:ext cx="5841110" cy="769441"/>
          </a:xfrm>
          <a:prstGeom prst="rect">
            <a:avLst/>
          </a:prstGeom>
          <a:noFill/>
        </p:spPr>
        <p:txBody>
          <a:bodyPr wrap="square" rtlCol="0">
            <a:spAutoFit/>
          </a:bodyPr>
          <a:lstStyle/>
          <a:p>
            <a:pPr algn="ctr"/>
            <a:r>
              <a:rPr lang="en-US" sz="2200" dirty="0"/>
              <a:t>and here, </a:t>
            </a:r>
            <a:r>
              <a:rPr lang="en-US" sz="2200" b="1" i="1" dirty="0"/>
              <a:t>x</a:t>
            </a:r>
            <a:r>
              <a:rPr lang="en-US" sz="2200" b="1" dirty="0"/>
              <a:t> </a:t>
            </a:r>
            <a:r>
              <a:rPr lang="en-US" sz="2200" dirty="0"/>
              <a:t>represents the size (in bytes) of </a:t>
            </a:r>
            <a:r>
              <a:rPr lang="en-US" sz="2200" b="1" dirty="0"/>
              <a:t>all locals, saved registers, </a:t>
            </a:r>
            <a:r>
              <a:rPr lang="en-US" sz="2200" b="1" i="1" dirty="0">
                <a:solidFill>
                  <a:srgbClr val="FF0000"/>
                </a:solidFill>
              </a:rPr>
              <a:t>and arguments.</a:t>
            </a:r>
          </a:p>
        </p:txBody>
      </p:sp>
      <p:cxnSp>
        <p:nvCxnSpPr>
          <p:cNvPr id="8" name="Straight Arrow Connector 7">
            <a:extLst>
              <a:ext uri="{FF2B5EF4-FFF2-40B4-BE49-F238E27FC236}">
                <a16:creationId xmlns:a16="http://schemas.microsoft.com/office/drawing/2014/main" id="{594B855A-1F25-7C44-B950-741DA33DAAB6}"/>
              </a:ext>
            </a:extLst>
          </p:cNvPr>
          <p:cNvCxnSpPr>
            <a:cxnSpLocks/>
          </p:cNvCxnSpPr>
          <p:nvPr/>
        </p:nvCxnSpPr>
        <p:spPr>
          <a:xfrm flipH="1">
            <a:off x="2963758" y="2552700"/>
            <a:ext cx="693842" cy="15677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8BBAAA0-695C-C847-B8DE-EA13E5BB595D}"/>
              </a:ext>
            </a:extLst>
          </p:cNvPr>
          <p:cNvCxnSpPr>
            <a:cxnSpLocks/>
          </p:cNvCxnSpPr>
          <p:nvPr/>
        </p:nvCxnSpPr>
        <p:spPr>
          <a:xfrm flipH="1">
            <a:off x="2793442" y="4152900"/>
            <a:ext cx="370446" cy="36885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D6FA425-521B-334D-B299-A294ECE19942}"/>
              </a:ext>
            </a:extLst>
          </p:cNvPr>
          <p:cNvSpPr txBox="1"/>
          <p:nvPr/>
        </p:nvSpPr>
        <p:spPr>
          <a:xfrm>
            <a:off x="3471662" y="4362220"/>
            <a:ext cx="5164434" cy="430887"/>
          </a:xfrm>
          <a:prstGeom prst="rect">
            <a:avLst/>
          </a:prstGeom>
          <a:noFill/>
        </p:spPr>
        <p:txBody>
          <a:bodyPr wrap="square" rtlCol="0">
            <a:spAutoFit/>
          </a:bodyPr>
          <a:lstStyle/>
          <a:p>
            <a:pPr algn="ctr"/>
            <a:r>
              <a:rPr lang="en-US" sz="2200" dirty="0"/>
              <a:t>this leaves the stack completely clean.</a:t>
            </a:r>
            <a:endParaRPr lang="en-US" sz="2200" b="1" dirty="0"/>
          </a:p>
        </p:txBody>
      </p:sp>
    </p:spTree>
    <p:extLst>
      <p:ext uri="{BB962C8B-B14F-4D97-AF65-F5344CB8AC3E}">
        <p14:creationId xmlns:p14="http://schemas.microsoft.com/office/powerpoint/2010/main" val="35471967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DFE6D-21C5-FB4D-BCCC-3C1CBD3EEDAE}"/>
              </a:ext>
            </a:extLst>
          </p:cNvPr>
          <p:cNvSpPr>
            <a:spLocks noGrp="1"/>
          </p:cNvSpPr>
          <p:nvPr>
            <p:ph type="ctrTitle"/>
          </p:nvPr>
        </p:nvSpPr>
        <p:spPr/>
        <p:txBody>
          <a:bodyPr/>
          <a:lstStyle/>
          <a:p>
            <a:r>
              <a:rPr lang="en-US" dirty="0"/>
              <a:t>The Code Inside Functions</a:t>
            </a:r>
          </a:p>
        </p:txBody>
      </p:sp>
      <p:sp>
        <p:nvSpPr>
          <p:cNvPr id="3" name="Slide Number Placeholder 2">
            <a:extLst>
              <a:ext uri="{FF2B5EF4-FFF2-40B4-BE49-F238E27FC236}">
                <a16:creationId xmlns:a16="http://schemas.microsoft.com/office/drawing/2014/main" id="{410FDD79-E2C2-B04B-9968-D7C3E72B282C}"/>
              </a:ext>
            </a:extLst>
          </p:cNvPr>
          <p:cNvSpPr>
            <a:spLocks noGrp="1"/>
          </p:cNvSpPr>
          <p:nvPr>
            <p:ph type="sldNum" sz="quarter" idx="12"/>
          </p:nvPr>
        </p:nvSpPr>
        <p:spPr/>
        <p:txBody>
          <a:bodyPr/>
          <a:lstStyle/>
          <a:p>
            <a:fld id="{3552B95B-556F-44BD-91A5-D80C1B9E2BB3}" type="slidenum">
              <a:rPr lang="en-US" smtClean="0"/>
              <a:pPr/>
              <a:t>7</a:t>
            </a:fld>
            <a:endParaRPr lang="en-US"/>
          </a:p>
        </p:txBody>
      </p:sp>
    </p:spTree>
    <p:extLst>
      <p:ext uri="{BB962C8B-B14F-4D97-AF65-F5344CB8AC3E}">
        <p14:creationId xmlns:p14="http://schemas.microsoft.com/office/powerpoint/2010/main" val="35066871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2A2B1-EC3A-0B4B-907E-4993DD42FC38}"/>
              </a:ext>
            </a:extLst>
          </p:cNvPr>
          <p:cNvSpPr>
            <a:spLocks noGrp="1"/>
          </p:cNvSpPr>
          <p:nvPr>
            <p:ph type="title"/>
          </p:nvPr>
        </p:nvSpPr>
        <p:spPr/>
        <p:txBody>
          <a:bodyPr/>
          <a:lstStyle/>
          <a:p>
            <a:r>
              <a:rPr lang="en-US" dirty="0"/>
              <a:t>Not a tutorial</a:t>
            </a:r>
          </a:p>
        </p:txBody>
      </p:sp>
      <p:sp>
        <p:nvSpPr>
          <p:cNvPr id="3" name="Content Placeholder 2">
            <a:extLst>
              <a:ext uri="{FF2B5EF4-FFF2-40B4-BE49-F238E27FC236}">
                <a16:creationId xmlns:a16="http://schemas.microsoft.com/office/drawing/2014/main" id="{6D00ACD8-DE2E-AB43-A500-80AB9DA211CA}"/>
              </a:ext>
            </a:extLst>
          </p:cNvPr>
          <p:cNvSpPr>
            <a:spLocks noGrp="1"/>
          </p:cNvSpPr>
          <p:nvPr>
            <p:ph idx="1"/>
          </p:nvPr>
        </p:nvSpPr>
        <p:spPr/>
        <p:txBody>
          <a:bodyPr/>
          <a:lstStyle/>
          <a:p>
            <a:r>
              <a:rPr lang="en-US" dirty="0"/>
              <a:t>this isn't going to be a point-by-point explanation of how to generate code for every statement and expression.</a:t>
            </a:r>
          </a:p>
          <a:p>
            <a:r>
              <a:rPr lang="en-US" dirty="0"/>
              <a:t>rather, I want to give you an </a:t>
            </a:r>
            <a:r>
              <a:rPr lang="en-US" i="1" dirty="0"/>
              <a:t>idea</a:t>
            </a:r>
            <a:r>
              <a:rPr lang="en-US" dirty="0"/>
              <a:t> of what generating code is like…</a:t>
            </a:r>
          </a:p>
          <a:p>
            <a:pPr lvl="1"/>
            <a:r>
              <a:rPr lang="en-US" dirty="0"/>
              <a:t>and to go over some of the trouble spots that come up.</a:t>
            </a:r>
          </a:p>
          <a:p>
            <a:r>
              <a:rPr lang="en-US" dirty="0"/>
              <a:t>so, this section might be a bit </a:t>
            </a:r>
            <a:r>
              <a:rPr lang="en-US" dirty="0" err="1"/>
              <a:t>rambly</a:t>
            </a:r>
            <a:r>
              <a:rPr lang="en-US" dirty="0"/>
              <a:t> and unfocused, and that's why: it's just a bunch of </a:t>
            </a:r>
            <a:r>
              <a:rPr lang="en-US" dirty="0" err="1"/>
              <a:t>codegen</a:t>
            </a:r>
            <a:r>
              <a:rPr lang="en-US" dirty="0"/>
              <a:t>-related ideas.</a:t>
            </a:r>
          </a:p>
          <a:p>
            <a:r>
              <a:rPr lang="en-US" sz="1600" dirty="0"/>
              <a:t>after all, project 4 is where you'll be generating code, and I don't wanna give too much away ;)</a:t>
            </a:r>
          </a:p>
        </p:txBody>
      </p:sp>
      <p:sp>
        <p:nvSpPr>
          <p:cNvPr id="4" name="Slide Number Placeholder 3">
            <a:extLst>
              <a:ext uri="{FF2B5EF4-FFF2-40B4-BE49-F238E27FC236}">
                <a16:creationId xmlns:a16="http://schemas.microsoft.com/office/drawing/2014/main" id="{3CB9F40D-BBD5-954C-8E29-687C72D84580}"/>
              </a:ext>
            </a:extLst>
          </p:cNvPr>
          <p:cNvSpPr>
            <a:spLocks noGrp="1"/>
          </p:cNvSpPr>
          <p:nvPr>
            <p:ph type="sldNum" sz="quarter" idx="12"/>
          </p:nvPr>
        </p:nvSpPr>
        <p:spPr/>
        <p:txBody>
          <a:bodyPr/>
          <a:lstStyle/>
          <a:p>
            <a:fld id="{3552B95B-556F-44BD-91A5-D80C1B9E2BB3}" type="slidenum">
              <a:rPr lang="en-US" smtClean="0"/>
              <a:pPr/>
              <a:t>8</a:t>
            </a:fld>
            <a:endParaRPr lang="en-US"/>
          </a:p>
        </p:txBody>
      </p:sp>
    </p:spTree>
    <p:extLst>
      <p:ext uri="{BB962C8B-B14F-4D97-AF65-F5344CB8AC3E}">
        <p14:creationId xmlns:p14="http://schemas.microsoft.com/office/powerpoint/2010/main" val="310861298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B0C2E-7B0A-144E-BDD0-4F06A4F4F594}"/>
              </a:ext>
            </a:extLst>
          </p:cNvPr>
          <p:cNvSpPr>
            <a:spLocks noGrp="1"/>
          </p:cNvSpPr>
          <p:nvPr>
            <p:ph type="title"/>
          </p:nvPr>
        </p:nvSpPr>
        <p:spPr/>
        <p:txBody>
          <a:bodyPr/>
          <a:lstStyle/>
          <a:p>
            <a:r>
              <a:rPr lang="en-US" dirty="0"/>
              <a:t>Block statements</a:t>
            </a:r>
          </a:p>
        </p:txBody>
      </p:sp>
      <p:sp>
        <p:nvSpPr>
          <p:cNvPr id="3" name="Content Placeholder 2">
            <a:extLst>
              <a:ext uri="{FF2B5EF4-FFF2-40B4-BE49-F238E27FC236}">
                <a16:creationId xmlns:a16="http://schemas.microsoft.com/office/drawing/2014/main" id="{041530FF-A85E-A840-B96C-F8F3241C312B}"/>
              </a:ext>
            </a:extLst>
          </p:cNvPr>
          <p:cNvSpPr>
            <a:spLocks noGrp="1"/>
          </p:cNvSpPr>
          <p:nvPr>
            <p:ph idx="1"/>
          </p:nvPr>
        </p:nvSpPr>
        <p:spPr>
          <a:xfrm>
            <a:off x="152400" y="495301"/>
            <a:ext cx="8991600" cy="914399"/>
          </a:xfrm>
        </p:spPr>
        <p:txBody>
          <a:bodyPr/>
          <a:lstStyle/>
          <a:p>
            <a:r>
              <a:rPr lang="en-US" dirty="0"/>
              <a:t>the body of a function is a </a:t>
            </a:r>
            <a:r>
              <a:rPr lang="en-US" b="1" dirty="0"/>
              <a:t>{</a:t>
            </a:r>
            <a:r>
              <a:rPr lang="en-US" dirty="0"/>
              <a:t> block </a:t>
            </a:r>
            <a:r>
              <a:rPr lang="en-US" b="1" dirty="0"/>
              <a:t>}</a:t>
            </a:r>
            <a:r>
              <a:rPr lang="en-US" dirty="0"/>
              <a:t>, which is just several statements.</a:t>
            </a:r>
          </a:p>
          <a:p>
            <a:r>
              <a:rPr lang="en-US" dirty="0"/>
              <a:t>this is easy to generate code for: you just concatenate the code.</a:t>
            </a:r>
          </a:p>
        </p:txBody>
      </p:sp>
      <p:sp>
        <p:nvSpPr>
          <p:cNvPr id="4" name="Slide Number Placeholder 3">
            <a:extLst>
              <a:ext uri="{FF2B5EF4-FFF2-40B4-BE49-F238E27FC236}">
                <a16:creationId xmlns:a16="http://schemas.microsoft.com/office/drawing/2014/main" id="{0C11CAA8-6531-9E4B-85CF-41DDC0882FCF}"/>
              </a:ext>
            </a:extLst>
          </p:cNvPr>
          <p:cNvSpPr>
            <a:spLocks noGrp="1"/>
          </p:cNvSpPr>
          <p:nvPr>
            <p:ph type="sldNum" sz="quarter" idx="12"/>
          </p:nvPr>
        </p:nvSpPr>
        <p:spPr/>
        <p:txBody>
          <a:bodyPr/>
          <a:lstStyle/>
          <a:p>
            <a:fld id="{3552B95B-556F-44BD-91A5-D80C1B9E2BB3}" type="slidenum">
              <a:rPr lang="en-US" smtClean="0"/>
              <a:pPr/>
              <a:t>9</a:t>
            </a:fld>
            <a:endParaRPr lang="en-US"/>
          </a:p>
        </p:txBody>
      </p:sp>
      <p:sp>
        <p:nvSpPr>
          <p:cNvPr id="5" name="TextBox 4">
            <a:extLst>
              <a:ext uri="{FF2B5EF4-FFF2-40B4-BE49-F238E27FC236}">
                <a16:creationId xmlns:a16="http://schemas.microsoft.com/office/drawing/2014/main" id="{3A0EEBF0-4985-234C-93A1-F53EA6BC4A19}"/>
              </a:ext>
            </a:extLst>
          </p:cNvPr>
          <p:cNvSpPr txBox="1"/>
          <p:nvPr/>
        </p:nvSpPr>
        <p:spPr>
          <a:xfrm>
            <a:off x="1959722" y="1672054"/>
            <a:ext cx="1739579" cy="1785104"/>
          </a:xfrm>
          <a:prstGeom prst="rect">
            <a:avLst/>
          </a:prstGeom>
          <a:noFill/>
        </p:spPr>
        <p:txBody>
          <a:bodyPr wrap="none" rtlCol="0">
            <a:spAutoFit/>
          </a:bodyPr>
          <a:lstStyle/>
          <a:p>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    stmt1;</a:t>
            </a:r>
          </a:p>
          <a:p>
            <a:r>
              <a:rPr lang="en-US" sz="2200" b="1" dirty="0">
                <a:latin typeface="Consolas" panose="020B0609020204030204" pitchFamily="49" charset="0"/>
                <a:cs typeface="Consolas" panose="020B0609020204030204" pitchFamily="49" charset="0"/>
              </a:rPr>
              <a:t>    stmt2;</a:t>
            </a:r>
          </a:p>
          <a:p>
            <a:r>
              <a:rPr lang="en-US" sz="2200" b="1" dirty="0">
                <a:latin typeface="Consolas" panose="020B0609020204030204" pitchFamily="49" charset="0"/>
                <a:cs typeface="Consolas" panose="020B0609020204030204" pitchFamily="49" charset="0"/>
              </a:rPr>
              <a:t>    stmt3;</a:t>
            </a:r>
          </a:p>
          <a:p>
            <a:r>
              <a:rPr lang="en-US" sz="22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14CE3CDA-4E55-4244-A49C-E148BCB51E74}"/>
              </a:ext>
            </a:extLst>
          </p:cNvPr>
          <p:cNvSpPr txBox="1"/>
          <p:nvPr/>
        </p:nvSpPr>
        <p:spPr>
          <a:xfrm>
            <a:off x="4354481" y="2010607"/>
            <a:ext cx="2983509" cy="1107996"/>
          </a:xfrm>
          <a:prstGeom prst="rect">
            <a:avLst/>
          </a:prstGeom>
          <a:noFill/>
        </p:spPr>
        <p:txBody>
          <a:bodyPr wrap="square" rtlCol="0">
            <a:spAutoFit/>
          </a:bodyPr>
          <a:lstStyle/>
          <a:p>
            <a:r>
              <a:rPr lang="en-US" sz="2200" i="1" dirty="0">
                <a:latin typeface="Consolas" panose="020B0609020204030204" pitchFamily="49" charset="0"/>
                <a:cs typeface="Consolas" panose="020B0609020204030204" pitchFamily="49" charset="0"/>
              </a:rPr>
              <a:t>    code for </a:t>
            </a:r>
            <a:r>
              <a:rPr lang="en-US" sz="2200" b="1" i="1" dirty="0">
                <a:latin typeface="Consolas" panose="020B0609020204030204" pitchFamily="49" charset="0"/>
                <a:cs typeface="Consolas" panose="020B0609020204030204" pitchFamily="49" charset="0"/>
              </a:rPr>
              <a:t>stmt1</a:t>
            </a:r>
          </a:p>
          <a:p>
            <a:r>
              <a:rPr lang="en-US" sz="2200" i="1" dirty="0">
                <a:latin typeface="Consolas" panose="020B0609020204030204" pitchFamily="49" charset="0"/>
                <a:cs typeface="Consolas" panose="020B0609020204030204" pitchFamily="49" charset="0"/>
              </a:rPr>
              <a:t>    code for </a:t>
            </a:r>
            <a:r>
              <a:rPr lang="en-US" sz="2200" b="1" i="1" dirty="0">
                <a:latin typeface="Consolas" panose="020B0609020204030204" pitchFamily="49" charset="0"/>
                <a:cs typeface="Consolas" panose="020B0609020204030204" pitchFamily="49" charset="0"/>
              </a:rPr>
              <a:t>stmt2</a:t>
            </a:r>
          </a:p>
          <a:p>
            <a:r>
              <a:rPr lang="en-US" sz="2200" i="1" dirty="0">
                <a:latin typeface="Consolas" panose="020B0609020204030204" pitchFamily="49" charset="0"/>
                <a:cs typeface="Consolas" panose="020B0609020204030204" pitchFamily="49" charset="0"/>
              </a:rPr>
              <a:t>    code for </a:t>
            </a:r>
            <a:r>
              <a:rPr lang="en-US" sz="2200" b="1" i="1" dirty="0">
                <a:latin typeface="Consolas" panose="020B0609020204030204" pitchFamily="49" charset="0"/>
                <a:cs typeface="Consolas" panose="020B0609020204030204" pitchFamily="49" charset="0"/>
              </a:rPr>
              <a:t>stmt3</a:t>
            </a:r>
          </a:p>
        </p:txBody>
      </p:sp>
      <p:sp>
        <p:nvSpPr>
          <p:cNvPr id="7" name="Down Arrow 6">
            <a:extLst>
              <a:ext uri="{FF2B5EF4-FFF2-40B4-BE49-F238E27FC236}">
                <a16:creationId xmlns:a16="http://schemas.microsoft.com/office/drawing/2014/main" id="{7085C14B-E0DB-494C-868B-79185080E27B}"/>
              </a:ext>
            </a:extLst>
          </p:cNvPr>
          <p:cNvSpPr/>
          <p:nvPr/>
        </p:nvSpPr>
        <p:spPr>
          <a:xfrm rot="16200000">
            <a:off x="4073502" y="2260461"/>
            <a:ext cx="561958" cy="608287"/>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78C234D-B1A1-7F4E-B8CA-4D48258EF6A5}"/>
              </a:ext>
            </a:extLst>
          </p:cNvPr>
          <p:cNvSpPr txBox="1"/>
          <p:nvPr/>
        </p:nvSpPr>
        <p:spPr>
          <a:xfrm>
            <a:off x="381000" y="3607807"/>
            <a:ext cx="8534400" cy="769441"/>
          </a:xfrm>
          <a:prstGeom prst="rect">
            <a:avLst/>
          </a:prstGeom>
          <a:noFill/>
        </p:spPr>
        <p:txBody>
          <a:bodyPr wrap="square" rtlCol="0">
            <a:spAutoFit/>
          </a:bodyPr>
          <a:lstStyle/>
          <a:p>
            <a:pPr algn="ctr"/>
            <a:r>
              <a:rPr lang="en-US" sz="2200" dirty="0"/>
              <a:t>this works because the </a:t>
            </a:r>
            <a:r>
              <a:rPr lang="en-US" sz="2200" b="1" dirty="0"/>
              <a:t>runtime semantics</a:t>
            </a:r>
            <a:r>
              <a:rPr lang="en-US" sz="2200" dirty="0"/>
              <a:t> of block statements are a very good match for how code is naturally executed by the CPU.</a:t>
            </a:r>
            <a:endParaRPr lang="en-US" sz="2200" b="1" dirty="0"/>
          </a:p>
        </p:txBody>
      </p:sp>
      <p:sp>
        <p:nvSpPr>
          <p:cNvPr id="10" name="TextBox 9">
            <a:extLst>
              <a:ext uri="{FF2B5EF4-FFF2-40B4-BE49-F238E27FC236}">
                <a16:creationId xmlns:a16="http://schemas.microsoft.com/office/drawing/2014/main" id="{24004693-0066-1A47-9A68-AFB7CEB2D430}"/>
              </a:ext>
            </a:extLst>
          </p:cNvPr>
          <p:cNvSpPr txBox="1"/>
          <p:nvPr/>
        </p:nvSpPr>
        <p:spPr>
          <a:xfrm>
            <a:off x="1905000" y="4481731"/>
            <a:ext cx="5486400" cy="430887"/>
          </a:xfrm>
          <a:prstGeom prst="rect">
            <a:avLst/>
          </a:prstGeom>
          <a:noFill/>
        </p:spPr>
        <p:txBody>
          <a:bodyPr wrap="square" rtlCol="0">
            <a:spAutoFit/>
          </a:bodyPr>
          <a:lstStyle/>
          <a:p>
            <a:pPr algn="ctr"/>
            <a:r>
              <a:rPr lang="en-US" sz="2200" dirty="0"/>
              <a:t>but that's not the case for all statements…</a:t>
            </a:r>
            <a:endParaRPr lang="en-US" sz="2200" b="1" dirty="0"/>
          </a:p>
        </p:txBody>
      </p:sp>
    </p:spTree>
    <p:extLst>
      <p:ext uri="{BB962C8B-B14F-4D97-AF65-F5344CB8AC3E}">
        <p14:creationId xmlns:p14="http://schemas.microsoft.com/office/powerpoint/2010/main" val="37891648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7B419-EE51-494F-B8FB-1D5AFD1C8353}"/>
              </a:ext>
            </a:extLst>
          </p:cNvPr>
          <p:cNvSpPr>
            <a:spLocks noGrp="1"/>
          </p:cNvSpPr>
          <p:nvPr>
            <p:ph type="title"/>
          </p:nvPr>
        </p:nvSpPr>
        <p:spPr/>
        <p:txBody>
          <a:bodyPr/>
          <a:lstStyle/>
          <a:p>
            <a:r>
              <a:rPr lang="en-US" dirty="0"/>
              <a:t>Accessing variables</a:t>
            </a:r>
          </a:p>
        </p:txBody>
      </p:sp>
      <p:sp>
        <p:nvSpPr>
          <p:cNvPr id="3" name="Content Placeholder 2">
            <a:extLst>
              <a:ext uri="{FF2B5EF4-FFF2-40B4-BE49-F238E27FC236}">
                <a16:creationId xmlns:a16="http://schemas.microsoft.com/office/drawing/2014/main" id="{DFADEAB1-DCF0-4941-B34E-4DB79573EC77}"/>
              </a:ext>
            </a:extLst>
          </p:cNvPr>
          <p:cNvSpPr>
            <a:spLocks noGrp="1"/>
          </p:cNvSpPr>
          <p:nvPr>
            <p:ph idx="1"/>
          </p:nvPr>
        </p:nvSpPr>
        <p:spPr>
          <a:xfrm>
            <a:off x="152400" y="495301"/>
            <a:ext cx="8991600" cy="515997"/>
          </a:xfrm>
        </p:spPr>
        <p:txBody>
          <a:bodyPr/>
          <a:lstStyle/>
          <a:p>
            <a:r>
              <a:rPr lang="en-US" dirty="0"/>
              <a:t>HLLs </a:t>
            </a:r>
            <a:r>
              <a:rPr lang="en-US" b="1" dirty="0"/>
              <a:t>hide </a:t>
            </a:r>
            <a:r>
              <a:rPr lang="en-US" dirty="0"/>
              <a:t>how variables are accessed at the point of use.</a:t>
            </a:r>
          </a:p>
        </p:txBody>
      </p:sp>
      <p:sp>
        <p:nvSpPr>
          <p:cNvPr id="4" name="Slide Number Placeholder 3">
            <a:extLst>
              <a:ext uri="{FF2B5EF4-FFF2-40B4-BE49-F238E27FC236}">
                <a16:creationId xmlns:a16="http://schemas.microsoft.com/office/drawing/2014/main" id="{220F9F0F-AB33-D24A-AEC0-050AA2041F8A}"/>
              </a:ext>
            </a:extLst>
          </p:cNvPr>
          <p:cNvSpPr>
            <a:spLocks noGrp="1"/>
          </p:cNvSpPr>
          <p:nvPr>
            <p:ph type="sldNum" sz="quarter" idx="12"/>
          </p:nvPr>
        </p:nvSpPr>
        <p:spPr>
          <a:xfrm>
            <a:off x="8458200" y="5296960"/>
            <a:ext cx="685800" cy="304271"/>
          </a:xfrm>
        </p:spPr>
        <p:txBody>
          <a:bodyPr/>
          <a:lstStyle/>
          <a:p>
            <a:fld id="{3552B95B-556F-44BD-91A5-D80C1B9E2BB3}" type="slidenum">
              <a:rPr lang="en-US" smtClean="0"/>
              <a:pPr/>
              <a:t>10</a:t>
            </a:fld>
            <a:endParaRPr lang="en-US"/>
          </a:p>
        </p:txBody>
      </p:sp>
      <p:sp>
        <p:nvSpPr>
          <p:cNvPr id="5" name="TextBox 4">
            <a:extLst>
              <a:ext uri="{FF2B5EF4-FFF2-40B4-BE49-F238E27FC236}">
                <a16:creationId xmlns:a16="http://schemas.microsoft.com/office/drawing/2014/main" id="{19CF8E81-EE1A-B647-A4E0-9E7C16545C0F}"/>
              </a:ext>
            </a:extLst>
          </p:cNvPr>
          <p:cNvSpPr txBox="1"/>
          <p:nvPr/>
        </p:nvSpPr>
        <p:spPr>
          <a:xfrm>
            <a:off x="729057" y="1098471"/>
            <a:ext cx="2206053" cy="3816429"/>
          </a:xfrm>
          <a:prstGeom prst="rect">
            <a:avLst/>
          </a:prstGeom>
          <a:noFill/>
        </p:spPr>
        <p:txBody>
          <a:bodyPr wrap="none" rtlCol="0">
            <a:spAutoFit/>
          </a:bodyPr>
          <a:lstStyle/>
          <a:p>
            <a:r>
              <a:rPr lang="en-US" sz="2200" b="1" dirty="0">
                <a:solidFill>
                  <a:srgbClr val="FF0000"/>
                </a:solidFill>
                <a:latin typeface="Consolas" panose="020B0609020204030204" pitchFamily="49" charset="0"/>
                <a:cs typeface="Consolas" panose="020B0609020204030204" pitchFamily="49" charset="0"/>
              </a:rPr>
              <a:t>let </a:t>
            </a:r>
            <a:r>
              <a:rPr lang="en-US" sz="2200" b="1" dirty="0">
                <a:latin typeface="Consolas" panose="020B0609020204030204" pitchFamily="49" charset="0"/>
                <a:cs typeface="Consolas" panose="020B0609020204030204" pitchFamily="49" charset="0"/>
              </a:rPr>
              <a:t>g =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a:t>
            </a:r>
          </a:p>
          <a:p>
            <a:r>
              <a:rPr lang="en-US" sz="2200" b="1" dirty="0" err="1">
                <a:solidFill>
                  <a:srgbClr val="FF0000"/>
                </a:solidFill>
                <a:latin typeface="Consolas" panose="020B0609020204030204" pitchFamily="49" charset="0"/>
                <a:cs typeface="Consolas" panose="020B0609020204030204" pitchFamily="49" charset="0"/>
              </a:rPr>
              <a:t>fn</a:t>
            </a:r>
            <a:r>
              <a:rPr lang="en-US" sz="2200" b="1" dirty="0">
                <a:latin typeface="Consolas" panose="020B0609020204030204" pitchFamily="49" charset="0"/>
                <a:cs typeface="Consolas" panose="020B0609020204030204" pitchFamily="49" charset="0"/>
              </a:rPr>
              <a:t> main() {</a:t>
            </a:r>
          </a:p>
          <a:p>
            <a:endParaRPr lang="en-US" sz="2200" b="1" dirty="0">
              <a:latin typeface="Consolas" panose="020B0609020204030204" pitchFamily="49" charset="0"/>
              <a:cs typeface="Consolas" panose="020B0609020204030204" pitchFamily="49" charset="0"/>
            </a:endParaRPr>
          </a:p>
          <a:p>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let</a:t>
            </a:r>
            <a:r>
              <a:rPr lang="en-US" sz="2200" b="1" dirty="0">
                <a:latin typeface="Consolas" panose="020B0609020204030204" pitchFamily="49" charset="0"/>
                <a:cs typeface="Consolas" panose="020B0609020204030204" pitchFamily="49" charset="0"/>
              </a:rPr>
              <a:t> x = </a:t>
            </a:r>
            <a:r>
              <a:rPr lang="en-US" sz="2200" b="1" dirty="0">
                <a:solidFill>
                  <a:schemeClr val="accent3">
                    <a:lumMod val="75000"/>
                  </a:schemeClr>
                </a:solidFill>
                <a:latin typeface="Consolas" panose="020B0609020204030204" pitchFamily="49" charset="0"/>
                <a:cs typeface="Consolas" panose="020B0609020204030204" pitchFamily="49" charset="0"/>
              </a:rPr>
              <a:t>1</a:t>
            </a:r>
            <a:r>
              <a:rPr lang="en-US" sz="2200" b="1" dirty="0">
                <a:latin typeface="Consolas" panose="020B0609020204030204" pitchFamily="49" charset="0"/>
                <a:cs typeface="Consolas" panose="020B0609020204030204" pitchFamily="49" charset="0"/>
              </a:rPr>
              <a:t>;</a:t>
            </a:r>
          </a:p>
          <a:p>
            <a:endParaRPr lang="en-US" sz="2200" b="1" dirty="0">
              <a:latin typeface="Consolas" panose="020B0609020204030204" pitchFamily="49" charset="0"/>
              <a:cs typeface="Consolas" panose="020B0609020204030204" pitchFamily="49" charset="0"/>
            </a:endParaRPr>
          </a:p>
          <a:p>
            <a:r>
              <a:rPr lang="en-US" sz="2200" b="1" dirty="0">
                <a:latin typeface="Consolas" panose="020B0609020204030204" pitchFamily="49" charset="0"/>
                <a:cs typeface="Consolas" panose="020B0609020204030204" pitchFamily="49" charset="0"/>
              </a:rPr>
              <a:t>  g = </a:t>
            </a:r>
            <a:r>
              <a:rPr lang="en-US" sz="2200" b="1" dirty="0">
                <a:solidFill>
                  <a:schemeClr val="accent3">
                    <a:lumMod val="75000"/>
                  </a:schemeClr>
                </a:solidFill>
                <a:latin typeface="Consolas" panose="020B0609020204030204" pitchFamily="49" charset="0"/>
                <a:cs typeface="Consolas" panose="020B0609020204030204" pitchFamily="49" charset="0"/>
              </a:rPr>
              <a:t>2</a:t>
            </a:r>
            <a:r>
              <a:rPr lang="en-US" sz="2200" b="1" dirty="0">
                <a:latin typeface="Consolas" panose="020B0609020204030204" pitchFamily="49" charset="0"/>
                <a:cs typeface="Consolas" panose="020B0609020204030204" pitchFamily="49" charset="0"/>
              </a:rPr>
              <a:t>;</a:t>
            </a:r>
          </a:p>
          <a:p>
            <a:endParaRPr lang="en-US" sz="2200" b="1" dirty="0">
              <a:latin typeface="Consolas" panose="020B0609020204030204" pitchFamily="49" charset="0"/>
              <a:cs typeface="Consolas" panose="020B0609020204030204" pitchFamily="49" charset="0"/>
            </a:endParaRPr>
          </a:p>
          <a:p>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print_i</a:t>
            </a:r>
            <a:r>
              <a:rPr lang="en-US" sz="2200" b="1" dirty="0">
                <a:latin typeface="Consolas" panose="020B0609020204030204" pitchFamily="49" charset="0"/>
                <a:cs typeface="Consolas" panose="020B0609020204030204" pitchFamily="49" charset="0"/>
              </a:rPr>
              <a:t>(x);</a:t>
            </a:r>
          </a:p>
          <a:p>
            <a:endParaRPr lang="en-US" sz="2200" b="1" dirty="0">
              <a:latin typeface="Consolas" panose="020B0609020204030204" pitchFamily="49" charset="0"/>
              <a:cs typeface="Consolas" panose="020B0609020204030204" pitchFamily="49" charset="0"/>
            </a:endParaRPr>
          </a:p>
          <a:p>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print_i</a:t>
            </a:r>
            <a:r>
              <a:rPr lang="en-US" sz="2200" b="1" dirty="0">
                <a:latin typeface="Consolas" panose="020B0609020204030204" pitchFamily="49" charset="0"/>
                <a:cs typeface="Consolas" panose="020B0609020204030204" pitchFamily="49" charset="0"/>
              </a:rPr>
              <a:t>(g);</a:t>
            </a:r>
          </a:p>
          <a:p>
            <a:r>
              <a:rPr lang="en-US" sz="22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EB608301-E41F-2C43-B276-0C52D2508985}"/>
              </a:ext>
            </a:extLst>
          </p:cNvPr>
          <p:cNvSpPr txBox="1"/>
          <p:nvPr/>
        </p:nvSpPr>
        <p:spPr>
          <a:xfrm>
            <a:off x="3596473" y="1490767"/>
            <a:ext cx="4709327" cy="769441"/>
          </a:xfrm>
          <a:prstGeom prst="rect">
            <a:avLst/>
          </a:prstGeom>
          <a:noFill/>
        </p:spPr>
        <p:txBody>
          <a:bodyPr wrap="square" rtlCol="0">
            <a:spAutoFit/>
          </a:bodyPr>
          <a:lstStyle/>
          <a:p>
            <a:r>
              <a:rPr lang="en-US" sz="2200" dirty="0"/>
              <a:t>here we </a:t>
            </a:r>
            <a:r>
              <a:rPr lang="en-US" sz="2200" b="1" dirty="0"/>
              <a:t>store</a:t>
            </a:r>
            <a:r>
              <a:rPr lang="en-US" sz="2200" dirty="0"/>
              <a:t> to a </a:t>
            </a:r>
            <a:r>
              <a:rPr lang="en-US" sz="2200" b="1" dirty="0"/>
              <a:t>local</a:t>
            </a:r>
            <a:r>
              <a:rPr lang="en-US" sz="2200" dirty="0"/>
              <a:t> variable:</a:t>
            </a:r>
          </a:p>
          <a:p>
            <a:r>
              <a:rPr lang="en-US" sz="2200" b="1" dirty="0" err="1">
                <a:solidFill>
                  <a:srgbClr val="FF0000"/>
                </a:solidFill>
                <a:latin typeface="Consolas" panose="020B0609020204030204" pitchFamily="49" charset="0"/>
                <a:cs typeface="Consolas" panose="020B0609020204030204" pitchFamily="49" charset="0"/>
              </a:rPr>
              <a:t>sw</a:t>
            </a:r>
            <a:r>
              <a:rPr lang="en-US" sz="2200" b="1" dirty="0">
                <a:latin typeface="Consolas" panose="020B0609020204030204" pitchFamily="49" charset="0"/>
                <a:cs typeface="Consolas" panose="020B0609020204030204" pitchFamily="49" charset="0"/>
              </a:rPr>
              <a:t> t0, </a:t>
            </a:r>
            <a:r>
              <a:rPr lang="en-US" sz="2200" b="1" dirty="0">
                <a:solidFill>
                  <a:schemeClr val="accent3">
                    <a:lumMod val="75000"/>
                  </a:schemeClr>
                </a:solidFill>
                <a:latin typeface="Consolas" panose="020B0609020204030204" pitchFamily="49" charset="0"/>
                <a:cs typeface="Consolas" panose="020B0609020204030204" pitchFamily="49" charset="0"/>
              </a:rPr>
              <a:t>-12</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p:txBody>
      </p:sp>
      <p:cxnSp>
        <p:nvCxnSpPr>
          <p:cNvPr id="7" name="Straight Arrow Connector 6">
            <a:extLst>
              <a:ext uri="{FF2B5EF4-FFF2-40B4-BE49-F238E27FC236}">
                <a16:creationId xmlns:a16="http://schemas.microsoft.com/office/drawing/2014/main" id="{66851C5C-C215-EE4E-8DB5-7DB704929FD7}"/>
              </a:ext>
            </a:extLst>
          </p:cNvPr>
          <p:cNvCxnSpPr>
            <a:cxnSpLocks/>
          </p:cNvCxnSpPr>
          <p:nvPr/>
        </p:nvCxnSpPr>
        <p:spPr>
          <a:xfrm flipH="1">
            <a:off x="2790610" y="2122254"/>
            <a:ext cx="717873" cy="20170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BDE2A48-5222-2648-AC1E-F10043843575}"/>
              </a:ext>
            </a:extLst>
          </p:cNvPr>
          <p:cNvSpPr txBox="1"/>
          <p:nvPr/>
        </p:nvSpPr>
        <p:spPr>
          <a:xfrm>
            <a:off x="3596473" y="2347380"/>
            <a:ext cx="4709327" cy="769441"/>
          </a:xfrm>
          <a:prstGeom prst="rect">
            <a:avLst/>
          </a:prstGeom>
          <a:noFill/>
        </p:spPr>
        <p:txBody>
          <a:bodyPr wrap="square" rtlCol="0">
            <a:spAutoFit/>
          </a:bodyPr>
          <a:lstStyle/>
          <a:p>
            <a:r>
              <a:rPr lang="en-US" sz="2200" dirty="0"/>
              <a:t>here we </a:t>
            </a:r>
            <a:r>
              <a:rPr lang="en-US" sz="2200" b="1" dirty="0"/>
              <a:t>store</a:t>
            </a:r>
            <a:r>
              <a:rPr lang="en-US" sz="2200" dirty="0"/>
              <a:t> to a </a:t>
            </a:r>
            <a:r>
              <a:rPr lang="en-US" sz="2200" b="1" dirty="0"/>
              <a:t>global</a:t>
            </a:r>
            <a:r>
              <a:rPr lang="en-US" sz="2200" dirty="0"/>
              <a:t> variable:</a:t>
            </a:r>
          </a:p>
          <a:p>
            <a:r>
              <a:rPr lang="en-US" sz="2200" b="1" dirty="0" err="1">
                <a:solidFill>
                  <a:srgbClr val="FF0000"/>
                </a:solidFill>
                <a:latin typeface="Consolas" panose="020B0609020204030204" pitchFamily="49" charset="0"/>
                <a:cs typeface="Consolas" panose="020B0609020204030204" pitchFamily="49" charset="0"/>
              </a:rPr>
              <a:t>sw</a:t>
            </a:r>
            <a:r>
              <a:rPr lang="en-US" sz="2200" b="1" dirty="0">
                <a:latin typeface="Consolas" panose="020B0609020204030204" pitchFamily="49" charset="0"/>
                <a:cs typeface="Consolas" panose="020B0609020204030204" pitchFamily="49" charset="0"/>
              </a:rPr>
              <a:t> t0, g</a:t>
            </a:r>
          </a:p>
        </p:txBody>
      </p:sp>
      <p:cxnSp>
        <p:nvCxnSpPr>
          <p:cNvPr id="9" name="Straight Arrow Connector 8">
            <a:extLst>
              <a:ext uri="{FF2B5EF4-FFF2-40B4-BE49-F238E27FC236}">
                <a16:creationId xmlns:a16="http://schemas.microsoft.com/office/drawing/2014/main" id="{169E4F6E-8242-DC49-9B16-EAB5C039991A}"/>
              </a:ext>
            </a:extLst>
          </p:cNvPr>
          <p:cNvCxnSpPr>
            <a:cxnSpLocks/>
          </p:cNvCxnSpPr>
          <p:nvPr/>
        </p:nvCxnSpPr>
        <p:spPr>
          <a:xfrm flipH="1">
            <a:off x="2176857" y="2902189"/>
            <a:ext cx="1331626" cy="10449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7920F9A-D7B8-1E49-A502-203174F1DC52}"/>
              </a:ext>
            </a:extLst>
          </p:cNvPr>
          <p:cNvSpPr txBox="1"/>
          <p:nvPr/>
        </p:nvSpPr>
        <p:spPr>
          <a:xfrm>
            <a:off x="3596473" y="3203993"/>
            <a:ext cx="4709327" cy="769441"/>
          </a:xfrm>
          <a:prstGeom prst="rect">
            <a:avLst/>
          </a:prstGeom>
          <a:noFill/>
        </p:spPr>
        <p:txBody>
          <a:bodyPr wrap="square" rtlCol="0">
            <a:spAutoFit/>
          </a:bodyPr>
          <a:lstStyle/>
          <a:p>
            <a:r>
              <a:rPr lang="en-US" sz="2200" dirty="0"/>
              <a:t>here we </a:t>
            </a:r>
            <a:r>
              <a:rPr lang="en-US" sz="2200" b="1" dirty="0"/>
              <a:t>load</a:t>
            </a:r>
            <a:r>
              <a:rPr lang="en-US" sz="2200" dirty="0"/>
              <a:t> from a </a:t>
            </a:r>
            <a:r>
              <a:rPr lang="en-US" sz="2200" b="1" dirty="0"/>
              <a:t>local</a:t>
            </a:r>
            <a:r>
              <a:rPr lang="en-US" sz="2200" dirty="0"/>
              <a:t> variable:</a:t>
            </a:r>
          </a:p>
          <a:p>
            <a:r>
              <a:rPr lang="en-US" sz="2200" b="1" dirty="0" err="1">
                <a:solidFill>
                  <a:srgbClr val="FF0000"/>
                </a:solidFill>
                <a:latin typeface="Consolas" panose="020B0609020204030204" pitchFamily="49" charset="0"/>
                <a:cs typeface="Consolas" panose="020B0609020204030204" pitchFamily="49" charset="0"/>
              </a:rPr>
              <a:t>lw</a:t>
            </a:r>
            <a:r>
              <a:rPr lang="en-US" sz="2200" b="1" dirty="0">
                <a:latin typeface="Consolas" panose="020B0609020204030204" pitchFamily="49" charset="0"/>
                <a:cs typeface="Consolas" panose="020B0609020204030204" pitchFamily="49" charset="0"/>
              </a:rPr>
              <a:t> t0, </a:t>
            </a:r>
            <a:r>
              <a:rPr lang="en-US" sz="2200" b="1" dirty="0">
                <a:solidFill>
                  <a:schemeClr val="accent3">
                    <a:lumMod val="75000"/>
                  </a:schemeClr>
                </a:solidFill>
                <a:latin typeface="Consolas" panose="020B0609020204030204" pitchFamily="49" charset="0"/>
                <a:cs typeface="Consolas" panose="020B0609020204030204" pitchFamily="49" charset="0"/>
              </a:rPr>
              <a:t>-12</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p:txBody>
      </p:sp>
      <p:cxnSp>
        <p:nvCxnSpPr>
          <p:cNvPr id="11" name="Straight Arrow Connector 10">
            <a:extLst>
              <a:ext uri="{FF2B5EF4-FFF2-40B4-BE49-F238E27FC236}">
                <a16:creationId xmlns:a16="http://schemas.microsoft.com/office/drawing/2014/main" id="{FA10E23F-2CE6-2F40-BE61-41F2590FC409}"/>
              </a:ext>
            </a:extLst>
          </p:cNvPr>
          <p:cNvCxnSpPr>
            <a:cxnSpLocks/>
          </p:cNvCxnSpPr>
          <p:nvPr/>
        </p:nvCxnSpPr>
        <p:spPr>
          <a:xfrm flipH="1" flipV="1">
            <a:off x="2888581" y="3663303"/>
            <a:ext cx="707892" cy="9828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71F9814-4D9F-684F-9873-AB2515B73982}"/>
              </a:ext>
            </a:extLst>
          </p:cNvPr>
          <p:cNvSpPr txBox="1"/>
          <p:nvPr/>
        </p:nvSpPr>
        <p:spPr>
          <a:xfrm>
            <a:off x="3596473" y="4060605"/>
            <a:ext cx="4709327" cy="769441"/>
          </a:xfrm>
          <a:prstGeom prst="rect">
            <a:avLst/>
          </a:prstGeom>
          <a:noFill/>
        </p:spPr>
        <p:txBody>
          <a:bodyPr wrap="square" rtlCol="0">
            <a:spAutoFit/>
          </a:bodyPr>
          <a:lstStyle/>
          <a:p>
            <a:r>
              <a:rPr lang="en-US" sz="2200" dirty="0"/>
              <a:t>here we </a:t>
            </a:r>
            <a:r>
              <a:rPr lang="en-US" sz="2200" b="1" dirty="0"/>
              <a:t>load</a:t>
            </a:r>
            <a:r>
              <a:rPr lang="en-US" sz="2200" dirty="0"/>
              <a:t> from a </a:t>
            </a:r>
            <a:r>
              <a:rPr lang="en-US" sz="2200" b="1" dirty="0"/>
              <a:t>global</a:t>
            </a:r>
            <a:r>
              <a:rPr lang="en-US" sz="2200" dirty="0"/>
              <a:t> variable:</a:t>
            </a:r>
          </a:p>
          <a:p>
            <a:r>
              <a:rPr lang="en-US" sz="2200" b="1" dirty="0" err="1">
                <a:solidFill>
                  <a:srgbClr val="FF0000"/>
                </a:solidFill>
                <a:latin typeface="Consolas" panose="020B0609020204030204" pitchFamily="49" charset="0"/>
                <a:cs typeface="Consolas" panose="020B0609020204030204" pitchFamily="49" charset="0"/>
              </a:rPr>
              <a:t>lw</a:t>
            </a:r>
            <a:r>
              <a:rPr lang="en-US" sz="2200" b="1" dirty="0">
                <a:latin typeface="Consolas" panose="020B0609020204030204" pitchFamily="49" charset="0"/>
                <a:cs typeface="Consolas" panose="020B0609020204030204" pitchFamily="49" charset="0"/>
              </a:rPr>
              <a:t> t0, g</a:t>
            </a:r>
          </a:p>
        </p:txBody>
      </p:sp>
      <p:cxnSp>
        <p:nvCxnSpPr>
          <p:cNvPr id="13" name="Straight Arrow Connector 12">
            <a:extLst>
              <a:ext uri="{FF2B5EF4-FFF2-40B4-BE49-F238E27FC236}">
                <a16:creationId xmlns:a16="http://schemas.microsoft.com/office/drawing/2014/main" id="{208367F9-9713-9142-AB28-872150057C8C}"/>
              </a:ext>
            </a:extLst>
          </p:cNvPr>
          <p:cNvCxnSpPr>
            <a:cxnSpLocks/>
          </p:cNvCxnSpPr>
          <p:nvPr/>
        </p:nvCxnSpPr>
        <p:spPr>
          <a:xfrm flipH="1" flipV="1">
            <a:off x="2862861" y="4409781"/>
            <a:ext cx="733612" cy="1938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52726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10"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5241D-CBC8-FA43-B465-D22E339C37E5}"/>
              </a:ext>
            </a:extLst>
          </p:cNvPr>
          <p:cNvSpPr>
            <a:spLocks noGrp="1"/>
          </p:cNvSpPr>
          <p:nvPr>
            <p:ph type="title"/>
          </p:nvPr>
        </p:nvSpPr>
        <p:spPr/>
        <p:txBody>
          <a:bodyPr/>
          <a:lstStyle/>
          <a:p>
            <a:r>
              <a:rPr lang="en-US" dirty="0"/>
              <a:t>Evaluating expressions</a:t>
            </a:r>
          </a:p>
        </p:txBody>
      </p:sp>
      <p:sp>
        <p:nvSpPr>
          <p:cNvPr id="3" name="Content Placeholder 2">
            <a:extLst>
              <a:ext uri="{FF2B5EF4-FFF2-40B4-BE49-F238E27FC236}">
                <a16:creationId xmlns:a16="http://schemas.microsoft.com/office/drawing/2014/main" id="{858E3FD6-7994-8847-9B93-6D33412F0D0D}"/>
              </a:ext>
            </a:extLst>
          </p:cNvPr>
          <p:cNvSpPr>
            <a:spLocks noGrp="1"/>
          </p:cNvSpPr>
          <p:nvPr>
            <p:ph idx="1"/>
          </p:nvPr>
        </p:nvSpPr>
        <p:spPr>
          <a:xfrm>
            <a:off x="152400" y="495302"/>
            <a:ext cx="8991600" cy="495300"/>
          </a:xfrm>
        </p:spPr>
        <p:txBody>
          <a:bodyPr/>
          <a:lstStyle/>
          <a:p>
            <a:r>
              <a:rPr lang="en-US" dirty="0"/>
              <a:t>things start to get really tricky here.</a:t>
            </a:r>
          </a:p>
        </p:txBody>
      </p:sp>
      <p:sp>
        <p:nvSpPr>
          <p:cNvPr id="4" name="Slide Number Placeholder 3">
            <a:extLst>
              <a:ext uri="{FF2B5EF4-FFF2-40B4-BE49-F238E27FC236}">
                <a16:creationId xmlns:a16="http://schemas.microsoft.com/office/drawing/2014/main" id="{2ACDB02E-4483-E442-9DD7-852E5E725E1B}"/>
              </a:ext>
            </a:extLst>
          </p:cNvPr>
          <p:cNvSpPr>
            <a:spLocks noGrp="1"/>
          </p:cNvSpPr>
          <p:nvPr>
            <p:ph type="sldNum" sz="quarter" idx="12"/>
          </p:nvPr>
        </p:nvSpPr>
        <p:spPr/>
        <p:txBody>
          <a:bodyPr/>
          <a:lstStyle/>
          <a:p>
            <a:fld id="{3552B95B-556F-44BD-91A5-D80C1B9E2BB3}" type="slidenum">
              <a:rPr lang="en-US" smtClean="0"/>
              <a:pPr/>
              <a:t>11</a:t>
            </a:fld>
            <a:endParaRPr lang="en-US"/>
          </a:p>
        </p:txBody>
      </p:sp>
      <p:sp>
        <p:nvSpPr>
          <p:cNvPr id="5" name="TextBox 4">
            <a:extLst>
              <a:ext uri="{FF2B5EF4-FFF2-40B4-BE49-F238E27FC236}">
                <a16:creationId xmlns:a16="http://schemas.microsoft.com/office/drawing/2014/main" id="{DCBBEC1A-E249-1A42-BBA2-8CD58F471243}"/>
              </a:ext>
            </a:extLst>
          </p:cNvPr>
          <p:cNvSpPr txBox="1"/>
          <p:nvPr/>
        </p:nvSpPr>
        <p:spPr>
          <a:xfrm>
            <a:off x="298242" y="1522876"/>
            <a:ext cx="1739579" cy="430887"/>
          </a:xfrm>
          <a:prstGeom prst="rect">
            <a:avLst/>
          </a:prstGeom>
          <a:noFill/>
        </p:spPr>
        <p:txBody>
          <a:bodyPr wrap="none" rtlCol="0">
            <a:spAutoFit/>
          </a:bodyPr>
          <a:lstStyle/>
          <a:p>
            <a:r>
              <a:rPr lang="en-US" sz="2200" b="1" dirty="0">
                <a:latin typeface="Consolas" panose="020B0609020204030204" pitchFamily="49" charset="0"/>
                <a:cs typeface="Consolas" panose="020B0609020204030204" pitchFamily="49" charset="0"/>
              </a:rPr>
              <a:t>g = x + y;</a:t>
            </a:r>
          </a:p>
        </p:txBody>
      </p:sp>
      <p:sp>
        <p:nvSpPr>
          <p:cNvPr id="6" name="TextBox 5">
            <a:extLst>
              <a:ext uri="{FF2B5EF4-FFF2-40B4-BE49-F238E27FC236}">
                <a16:creationId xmlns:a16="http://schemas.microsoft.com/office/drawing/2014/main" id="{AF31892C-17C8-7E4E-915A-D1D0E37F2DDE}"/>
              </a:ext>
            </a:extLst>
          </p:cNvPr>
          <p:cNvSpPr txBox="1"/>
          <p:nvPr/>
        </p:nvSpPr>
        <p:spPr>
          <a:xfrm>
            <a:off x="2778021" y="1019600"/>
            <a:ext cx="2632179" cy="1446550"/>
          </a:xfrm>
          <a:prstGeom prst="rect">
            <a:avLst/>
          </a:prstGeom>
          <a:noFill/>
        </p:spPr>
        <p:txBody>
          <a:bodyPr wrap="square" rtlCol="0">
            <a:spAutoFit/>
          </a:bodyPr>
          <a:lstStyle/>
          <a:p>
            <a:r>
              <a:rPr lang="en-US" sz="2200" b="1" dirty="0" err="1">
                <a:solidFill>
                  <a:srgbClr val="FF0000"/>
                </a:solidFill>
                <a:latin typeface="Consolas" panose="020B0609020204030204" pitchFamily="49" charset="0"/>
                <a:cs typeface="Consolas" panose="020B0609020204030204" pitchFamily="49" charset="0"/>
              </a:rPr>
              <a:t>lw</a:t>
            </a:r>
            <a:r>
              <a:rPr lang="en-US" sz="2200" b="1" dirty="0">
                <a:latin typeface="Consolas" panose="020B0609020204030204" pitchFamily="49" charset="0"/>
                <a:cs typeface="Consolas" panose="020B0609020204030204" pitchFamily="49" charset="0"/>
              </a:rPr>
              <a:t>   t0, </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a:p>
            <a:r>
              <a:rPr lang="en-US" sz="2200" b="1" dirty="0" err="1">
                <a:solidFill>
                  <a:srgbClr val="FF0000"/>
                </a:solidFill>
                <a:latin typeface="Consolas" panose="020B0609020204030204" pitchFamily="49" charset="0"/>
                <a:cs typeface="Consolas" panose="020B0609020204030204" pitchFamily="49" charset="0"/>
              </a:rPr>
              <a:t>lw</a:t>
            </a:r>
            <a:r>
              <a:rPr lang="en-US" sz="2200" b="1" dirty="0">
                <a:latin typeface="Consolas" panose="020B0609020204030204" pitchFamily="49" charset="0"/>
                <a:cs typeface="Consolas" panose="020B0609020204030204" pitchFamily="49" charset="0"/>
              </a:rPr>
              <a:t>   t1, </a:t>
            </a:r>
            <a:r>
              <a:rPr lang="en-US" sz="2200" b="1" dirty="0">
                <a:solidFill>
                  <a:schemeClr val="accent3">
                    <a:lumMod val="75000"/>
                  </a:schemeClr>
                </a:solidFill>
                <a:latin typeface="Consolas" panose="020B0609020204030204" pitchFamily="49" charset="0"/>
                <a:cs typeface="Consolas" panose="020B0609020204030204" pitchFamily="49" charset="0"/>
              </a:rPr>
              <a:t>4</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a:p>
            <a:r>
              <a:rPr lang="en-US" sz="2200" b="1" dirty="0">
                <a:solidFill>
                  <a:srgbClr val="FF0000"/>
                </a:solidFill>
                <a:latin typeface="Consolas" panose="020B0609020204030204" pitchFamily="49" charset="0"/>
                <a:cs typeface="Consolas" panose="020B0609020204030204" pitchFamily="49" charset="0"/>
              </a:rPr>
              <a:t>add</a:t>
            </a:r>
            <a:r>
              <a:rPr lang="en-US" sz="2200" b="1" dirty="0">
                <a:latin typeface="Consolas" panose="020B0609020204030204" pitchFamily="49" charset="0"/>
                <a:cs typeface="Consolas" panose="020B0609020204030204" pitchFamily="49" charset="0"/>
              </a:rPr>
              <a:t>  t0, t0, t1</a:t>
            </a:r>
          </a:p>
          <a:p>
            <a:r>
              <a:rPr lang="en-US" sz="2200" b="1" dirty="0" err="1">
                <a:solidFill>
                  <a:srgbClr val="FF0000"/>
                </a:solidFill>
                <a:latin typeface="Consolas" panose="020B0609020204030204" pitchFamily="49" charset="0"/>
                <a:cs typeface="Consolas" panose="020B0609020204030204" pitchFamily="49" charset="0"/>
              </a:rPr>
              <a:t>sw</a:t>
            </a:r>
            <a:r>
              <a:rPr lang="en-US" sz="2200" b="1" dirty="0">
                <a:latin typeface="Consolas" panose="020B0609020204030204" pitchFamily="49" charset="0"/>
                <a:cs typeface="Consolas" panose="020B0609020204030204" pitchFamily="49" charset="0"/>
              </a:rPr>
              <a:t>   t0, g</a:t>
            </a:r>
          </a:p>
        </p:txBody>
      </p:sp>
      <p:sp>
        <p:nvSpPr>
          <p:cNvPr id="7" name="Down Arrow 6">
            <a:extLst>
              <a:ext uri="{FF2B5EF4-FFF2-40B4-BE49-F238E27FC236}">
                <a16:creationId xmlns:a16="http://schemas.microsoft.com/office/drawing/2014/main" id="{23C7C4F6-77D2-8A4C-8138-46316D9CDF26}"/>
              </a:ext>
            </a:extLst>
          </p:cNvPr>
          <p:cNvSpPr/>
          <p:nvPr/>
        </p:nvSpPr>
        <p:spPr>
          <a:xfrm rot="16200000">
            <a:off x="2116044" y="1544541"/>
            <a:ext cx="561958" cy="387559"/>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D663CBA-124D-804A-B28D-83DAD93B73D2}"/>
              </a:ext>
            </a:extLst>
          </p:cNvPr>
          <p:cNvSpPr txBox="1"/>
          <p:nvPr/>
        </p:nvSpPr>
        <p:spPr>
          <a:xfrm>
            <a:off x="5257800" y="1216104"/>
            <a:ext cx="3851379" cy="1107996"/>
          </a:xfrm>
          <a:prstGeom prst="rect">
            <a:avLst/>
          </a:prstGeom>
          <a:noFill/>
        </p:spPr>
        <p:txBody>
          <a:bodyPr wrap="square" rtlCol="0">
            <a:spAutoFit/>
          </a:bodyPr>
          <a:lstStyle/>
          <a:p>
            <a:pPr algn="ctr"/>
            <a:r>
              <a:rPr lang="en-US" sz="2200" dirty="0"/>
              <a:t>now we have to come up with </a:t>
            </a:r>
            <a:r>
              <a:rPr lang="en-US" sz="2200" b="1" dirty="0"/>
              <a:t>registers </a:t>
            </a:r>
            <a:r>
              <a:rPr lang="en-US" sz="2200" dirty="0"/>
              <a:t>to use for each part of the expression. </a:t>
            </a:r>
            <a:endParaRPr lang="en-US" sz="2200" b="1" dirty="0"/>
          </a:p>
        </p:txBody>
      </p:sp>
      <p:sp>
        <p:nvSpPr>
          <p:cNvPr id="9" name="TextBox 8">
            <a:extLst>
              <a:ext uri="{FF2B5EF4-FFF2-40B4-BE49-F238E27FC236}">
                <a16:creationId xmlns:a16="http://schemas.microsoft.com/office/drawing/2014/main" id="{B6E4EF48-030E-084D-BEF4-C7AC2F4561B5}"/>
              </a:ext>
            </a:extLst>
          </p:cNvPr>
          <p:cNvSpPr txBox="1"/>
          <p:nvPr/>
        </p:nvSpPr>
        <p:spPr>
          <a:xfrm>
            <a:off x="298242" y="3938977"/>
            <a:ext cx="2361544" cy="430887"/>
          </a:xfrm>
          <a:prstGeom prst="rect">
            <a:avLst/>
          </a:prstGeom>
          <a:noFill/>
        </p:spPr>
        <p:txBody>
          <a:bodyPr wrap="none" rtlCol="0">
            <a:spAutoFit/>
          </a:bodyPr>
          <a:lstStyle/>
          <a:p>
            <a:r>
              <a:rPr lang="en-US" sz="2200" b="1" dirty="0">
                <a:latin typeface="Consolas" panose="020B0609020204030204" pitchFamily="49" charset="0"/>
                <a:cs typeface="Consolas" panose="020B0609020204030204" pitchFamily="49" charset="0"/>
              </a:rPr>
              <a:t>g = x + y + z;</a:t>
            </a:r>
          </a:p>
        </p:txBody>
      </p:sp>
      <p:sp>
        <p:nvSpPr>
          <p:cNvPr id="10" name="TextBox 9">
            <a:extLst>
              <a:ext uri="{FF2B5EF4-FFF2-40B4-BE49-F238E27FC236}">
                <a16:creationId xmlns:a16="http://schemas.microsoft.com/office/drawing/2014/main" id="{2A9A7A79-FD1A-914D-9A08-9FFA770FE599}"/>
              </a:ext>
            </a:extLst>
          </p:cNvPr>
          <p:cNvSpPr txBox="1"/>
          <p:nvPr/>
        </p:nvSpPr>
        <p:spPr>
          <a:xfrm>
            <a:off x="3124200" y="3092591"/>
            <a:ext cx="2632179" cy="2123658"/>
          </a:xfrm>
          <a:prstGeom prst="rect">
            <a:avLst/>
          </a:prstGeom>
          <a:noFill/>
        </p:spPr>
        <p:txBody>
          <a:bodyPr wrap="square" rtlCol="0">
            <a:spAutoFit/>
          </a:bodyPr>
          <a:lstStyle/>
          <a:p>
            <a:r>
              <a:rPr lang="en-US" sz="2200" b="1" dirty="0" err="1">
                <a:solidFill>
                  <a:srgbClr val="FF0000"/>
                </a:solidFill>
                <a:latin typeface="Consolas" panose="020B0609020204030204" pitchFamily="49" charset="0"/>
                <a:cs typeface="Consolas" panose="020B0609020204030204" pitchFamily="49" charset="0"/>
              </a:rPr>
              <a:t>lw</a:t>
            </a:r>
            <a:r>
              <a:rPr lang="en-US" sz="2200" b="1" dirty="0">
                <a:latin typeface="Consolas" panose="020B0609020204030204" pitchFamily="49" charset="0"/>
                <a:cs typeface="Consolas" panose="020B0609020204030204" pitchFamily="49" charset="0"/>
              </a:rPr>
              <a:t>   t0, </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a:p>
            <a:r>
              <a:rPr lang="en-US" sz="2200" b="1" dirty="0" err="1">
                <a:solidFill>
                  <a:srgbClr val="FF0000"/>
                </a:solidFill>
                <a:latin typeface="Consolas" panose="020B0609020204030204" pitchFamily="49" charset="0"/>
                <a:cs typeface="Consolas" panose="020B0609020204030204" pitchFamily="49" charset="0"/>
              </a:rPr>
              <a:t>lw</a:t>
            </a:r>
            <a:r>
              <a:rPr lang="en-US" sz="2200" b="1" dirty="0">
                <a:latin typeface="Consolas" panose="020B0609020204030204" pitchFamily="49" charset="0"/>
                <a:cs typeface="Consolas" panose="020B0609020204030204" pitchFamily="49" charset="0"/>
              </a:rPr>
              <a:t>   t1, </a:t>
            </a:r>
            <a:r>
              <a:rPr lang="en-US" sz="2200" b="1" dirty="0">
                <a:solidFill>
                  <a:schemeClr val="accent3">
                    <a:lumMod val="75000"/>
                  </a:schemeClr>
                </a:solidFill>
                <a:latin typeface="Consolas" panose="020B0609020204030204" pitchFamily="49" charset="0"/>
                <a:cs typeface="Consolas" panose="020B0609020204030204" pitchFamily="49" charset="0"/>
              </a:rPr>
              <a:t>4</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a:p>
            <a:r>
              <a:rPr lang="en-US" sz="2200" b="1" dirty="0">
                <a:solidFill>
                  <a:srgbClr val="FF0000"/>
                </a:solidFill>
                <a:latin typeface="Consolas" panose="020B0609020204030204" pitchFamily="49" charset="0"/>
                <a:cs typeface="Consolas" panose="020B0609020204030204" pitchFamily="49" charset="0"/>
              </a:rPr>
              <a:t>add</a:t>
            </a:r>
            <a:r>
              <a:rPr lang="en-US" sz="2200" b="1" dirty="0">
                <a:latin typeface="Consolas" panose="020B0609020204030204" pitchFamily="49" charset="0"/>
                <a:cs typeface="Consolas" panose="020B0609020204030204" pitchFamily="49" charset="0"/>
              </a:rPr>
              <a:t>  t0, t0, t1</a:t>
            </a:r>
          </a:p>
          <a:p>
            <a:r>
              <a:rPr lang="en-US" sz="2200" b="1" dirty="0" err="1">
                <a:solidFill>
                  <a:srgbClr val="FF0000"/>
                </a:solidFill>
                <a:latin typeface="Consolas" panose="020B0609020204030204" pitchFamily="49" charset="0"/>
                <a:cs typeface="Consolas" panose="020B0609020204030204" pitchFamily="49" charset="0"/>
              </a:rPr>
              <a:t>lw</a:t>
            </a:r>
            <a:r>
              <a:rPr lang="en-US" sz="2200" b="1" dirty="0">
                <a:latin typeface="Consolas" panose="020B0609020204030204" pitchFamily="49" charset="0"/>
                <a:cs typeface="Consolas" panose="020B0609020204030204" pitchFamily="49" charset="0"/>
              </a:rPr>
              <a:t>   t1, </a:t>
            </a:r>
            <a:r>
              <a:rPr lang="en-US" sz="2200" b="1" dirty="0">
                <a:solidFill>
                  <a:schemeClr val="accent3">
                    <a:lumMod val="75000"/>
                  </a:schemeClr>
                </a:solidFill>
                <a:latin typeface="Consolas" panose="020B0609020204030204" pitchFamily="49" charset="0"/>
                <a:cs typeface="Consolas" panose="020B0609020204030204" pitchFamily="49" charset="0"/>
              </a:rPr>
              <a:t>8</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a:p>
            <a:r>
              <a:rPr lang="en-US" sz="2200" b="1" dirty="0">
                <a:solidFill>
                  <a:srgbClr val="FF0000"/>
                </a:solidFill>
                <a:latin typeface="Consolas" panose="020B0609020204030204" pitchFamily="49" charset="0"/>
                <a:cs typeface="Consolas" panose="020B0609020204030204" pitchFamily="49" charset="0"/>
              </a:rPr>
              <a:t>add</a:t>
            </a:r>
            <a:r>
              <a:rPr lang="en-US" sz="2200" b="1" dirty="0">
                <a:latin typeface="Consolas" panose="020B0609020204030204" pitchFamily="49" charset="0"/>
                <a:cs typeface="Consolas" panose="020B0609020204030204" pitchFamily="49" charset="0"/>
              </a:rPr>
              <a:t>  t0, t0, t1</a:t>
            </a:r>
          </a:p>
          <a:p>
            <a:r>
              <a:rPr lang="en-US" sz="2200" b="1" dirty="0" err="1">
                <a:solidFill>
                  <a:srgbClr val="FF0000"/>
                </a:solidFill>
                <a:latin typeface="Consolas" panose="020B0609020204030204" pitchFamily="49" charset="0"/>
                <a:cs typeface="Consolas" panose="020B0609020204030204" pitchFamily="49" charset="0"/>
              </a:rPr>
              <a:t>sw</a:t>
            </a:r>
            <a:r>
              <a:rPr lang="en-US" sz="2200" b="1" dirty="0">
                <a:latin typeface="Consolas" panose="020B0609020204030204" pitchFamily="49" charset="0"/>
                <a:cs typeface="Consolas" panose="020B0609020204030204" pitchFamily="49" charset="0"/>
              </a:rPr>
              <a:t>   t0, g</a:t>
            </a:r>
          </a:p>
        </p:txBody>
      </p:sp>
      <p:sp>
        <p:nvSpPr>
          <p:cNvPr id="11" name="Down Arrow 10">
            <a:extLst>
              <a:ext uri="{FF2B5EF4-FFF2-40B4-BE49-F238E27FC236}">
                <a16:creationId xmlns:a16="http://schemas.microsoft.com/office/drawing/2014/main" id="{7E94E4DB-26E5-8B42-8FF4-1216F2EA847A}"/>
              </a:ext>
            </a:extLst>
          </p:cNvPr>
          <p:cNvSpPr/>
          <p:nvPr/>
        </p:nvSpPr>
        <p:spPr>
          <a:xfrm rot="16200000">
            <a:off x="2573244" y="3960642"/>
            <a:ext cx="561958" cy="387559"/>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459EB7E-BDC7-004E-B158-178CDC6AEE58}"/>
              </a:ext>
            </a:extLst>
          </p:cNvPr>
          <p:cNvSpPr txBox="1"/>
          <p:nvPr/>
        </p:nvSpPr>
        <p:spPr>
          <a:xfrm>
            <a:off x="6435724" y="3096042"/>
            <a:ext cx="2632179" cy="2123658"/>
          </a:xfrm>
          <a:prstGeom prst="rect">
            <a:avLst/>
          </a:prstGeom>
          <a:noFill/>
        </p:spPr>
        <p:txBody>
          <a:bodyPr wrap="square" rtlCol="0">
            <a:spAutoFit/>
          </a:bodyPr>
          <a:lstStyle/>
          <a:p>
            <a:r>
              <a:rPr lang="en-US" sz="2200" b="1" dirty="0" err="1">
                <a:solidFill>
                  <a:srgbClr val="FF0000"/>
                </a:solidFill>
                <a:latin typeface="Consolas" panose="020B0609020204030204" pitchFamily="49" charset="0"/>
                <a:cs typeface="Consolas" panose="020B0609020204030204" pitchFamily="49" charset="0"/>
              </a:rPr>
              <a:t>lw</a:t>
            </a:r>
            <a:r>
              <a:rPr lang="en-US" sz="2200" b="1" dirty="0">
                <a:latin typeface="Consolas" panose="020B0609020204030204" pitchFamily="49" charset="0"/>
                <a:cs typeface="Consolas" panose="020B0609020204030204" pitchFamily="49" charset="0"/>
              </a:rPr>
              <a:t>   t0, </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a:p>
            <a:r>
              <a:rPr lang="en-US" sz="2200" b="1" dirty="0" err="1">
                <a:solidFill>
                  <a:srgbClr val="FF0000"/>
                </a:solidFill>
                <a:latin typeface="Consolas" panose="020B0609020204030204" pitchFamily="49" charset="0"/>
                <a:cs typeface="Consolas" panose="020B0609020204030204" pitchFamily="49" charset="0"/>
              </a:rPr>
              <a:t>lw</a:t>
            </a:r>
            <a:r>
              <a:rPr lang="en-US" sz="2200" b="1" dirty="0">
                <a:latin typeface="Consolas" panose="020B0609020204030204" pitchFamily="49" charset="0"/>
                <a:cs typeface="Consolas" panose="020B0609020204030204" pitchFamily="49" charset="0"/>
              </a:rPr>
              <a:t>   t1, </a:t>
            </a:r>
            <a:r>
              <a:rPr lang="en-US" sz="2200" b="1" dirty="0">
                <a:solidFill>
                  <a:schemeClr val="accent3">
                    <a:lumMod val="75000"/>
                  </a:schemeClr>
                </a:solidFill>
                <a:latin typeface="Consolas" panose="020B0609020204030204" pitchFamily="49" charset="0"/>
                <a:cs typeface="Consolas" panose="020B0609020204030204" pitchFamily="49" charset="0"/>
              </a:rPr>
              <a:t>4</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a:p>
            <a:r>
              <a:rPr lang="en-US" sz="2200" b="1" dirty="0" err="1">
                <a:solidFill>
                  <a:srgbClr val="FF0000"/>
                </a:solidFill>
                <a:latin typeface="Consolas" panose="020B0609020204030204" pitchFamily="49" charset="0"/>
                <a:cs typeface="Consolas" panose="020B0609020204030204" pitchFamily="49" charset="0"/>
              </a:rPr>
              <a:t>lw</a:t>
            </a:r>
            <a:r>
              <a:rPr lang="en-US" sz="2200" b="1" dirty="0">
                <a:latin typeface="Consolas" panose="020B0609020204030204" pitchFamily="49" charset="0"/>
                <a:cs typeface="Consolas" panose="020B0609020204030204" pitchFamily="49" charset="0"/>
              </a:rPr>
              <a:t>   </a:t>
            </a:r>
            <a:r>
              <a:rPr lang="en-US" sz="2200" b="1" dirty="0">
                <a:highlight>
                  <a:srgbClr val="FFFF00"/>
                </a:highlight>
                <a:latin typeface="Consolas" panose="020B0609020204030204" pitchFamily="49" charset="0"/>
                <a:cs typeface="Consolas" panose="020B0609020204030204" pitchFamily="49" charset="0"/>
              </a:rPr>
              <a:t>t2</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8</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a:p>
            <a:r>
              <a:rPr lang="en-US" sz="2200" b="1" dirty="0">
                <a:solidFill>
                  <a:srgbClr val="FF0000"/>
                </a:solidFill>
                <a:latin typeface="Consolas" panose="020B0609020204030204" pitchFamily="49" charset="0"/>
                <a:cs typeface="Consolas" panose="020B0609020204030204" pitchFamily="49" charset="0"/>
              </a:rPr>
              <a:t>add</a:t>
            </a:r>
            <a:r>
              <a:rPr lang="en-US" sz="2200" b="1" dirty="0">
                <a:latin typeface="Consolas" panose="020B0609020204030204" pitchFamily="49" charset="0"/>
                <a:cs typeface="Consolas" panose="020B0609020204030204" pitchFamily="49" charset="0"/>
              </a:rPr>
              <a:t>  t0, t0, t1</a:t>
            </a:r>
          </a:p>
          <a:p>
            <a:r>
              <a:rPr lang="en-US" sz="2200" b="1" dirty="0">
                <a:solidFill>
                  <a:srgbClr val="FF0000"/>
                </a:solidFill>
                <a:latin typeface="Consolas" panose="020B0609020204030204" pitchFamily="49" charset="0"/>
                <a:cs typeface="Consolas" panose="020B0609020204030204" pitchFamily="49" charset="0"/>
              </a:rPr>
              <a:t>add</a:t>
            </a:r>
            <a:r>
              <a:rPr lang="en-US" sz="2200" b="1" dirty="0">
                <a:latin typeface="Consolas" panose="020B0609020204030204" pitchFamily="49" charset="0"/>
                <a:cs typeface="Consolas" panose="020B0609020204030204" pitchFamily="49" charset="0"/>
              </a:rPr>
              <a:t>  t0, t0, </a:t>
            </a:r>
            <a:r>
              <a:rPr lang="en-US" sz="2200" b="1" dirty="0">
                <a:highlight>
                  <a:srgbClr val="FFFF00"/>
                </a:highlight>
                <a:latin typeface="Consolas" panose="020B0609020204030204" pitchFamily="49" charset="0"/>
                <a:cs typeface="Consolas" panose="020B0609020204030204" pitchFamily="49" charset="0"/>
              </a:rPr>
              <a:t>t2</a:t>
            </a:r>
          </a:p>
          <a:p>
            <a:r>
              <a:rPr lang="en-US" sz="2200" b="1" dirty="0" err="1">
                <a:solidFill>
                  <a:srgbClr val="FF0000"/>
                </a:solidFill>
                <a:latin typeface="Consolas" panose="020B0609020204030204" pitchFamily="49" charset="0"/>
                <a:cs typeface="Consolas" panose="020B0609020204030204" pitchFamily="49" charset="0"/>
              </a:rPr>
              <a:t>sw</a:t>
            </a:r>
            <a:r>
              <a:rPr lang="en-US" sz="2200" b="1" dirty="0">
                <a:latin typeface="Consolas" panose="020B0609020204030204" pitchFamily="49" charset="0"/>
                <a:cs typeface="Consolas" panose="020B0609020204030204" pitchFamily="49" charset="0"/>
              </a:rPr>
              <a:t>   t0, g</a:t>
            </a:r>
          </a:p>
        </p:txBody>
      </p:sp>
      <p:sp>
        <p:nvSpPr>
          <p:cNvPr id="13" name="TextBox 12">
            <a:extLst>
              <a:ext uri="{FF2B5EF4-FFF2-40B4-BE49-F238E27FC236}">
                <a16:creationId xmlns:a16="http://schemas.microsoft.com/office/drawing/2014/main" id="{054DF00E-3103-4B4C-9160-BC2F76A5DD49}"/>
              </a:ext>
            </a:extLst>
          </p:cNvPr>
          <p:cNvSpPr txBox="1"/>
          <p:nvPr/>
        </p:nvSpPr>
        <p:spPr>
          <a:xfrm>
            <a:off x="5825705" y="3847601"/>
            <a:ext cx="584898" cy="430887"/>
          </a:xfrm>
          <a:prstGeom prst="rect">
            <a:avLst/>
          </a:prstGeom>
          <a:noFill/>
        </p:spPr>
        <p:txBody>
          <a:bodyPr wrap="square" rtlCol="0">
            <a:spAutoFit/>
          </a:bodyPr>
          <a:lstStyle/>
          <a:p>
            <a:pPr algn="ctr"/>
            <a:r>
              <a:rPr lang="en-US" sz="2200" i="1" dirty="0"/>
              <a:t>or?</a:t>
            </a:r>
            <a:endParaRPr lang="en-US" sz="2200" b="1" i="1" dirty="0"/>
          </a:p>
        </p:txBody>
      </p:sp>
      <p:sp>
        <p:nvSpPr>
          <p:cNvPr id="14" name="TextBox 13">
            <a:extLst>
              <a:ext uri="{FF2B5EF4-FFF2-40B4-BE49-F238E27FC236}">
                <a16:creationId xmlns:a16="http://schemas.microsoft.com/office/drawing/2014/main" id="{A2F75FA4-7DBF-EC4F-8CD4-BBE227327FAF}"/>
              </a:ext>
            </a:extLst>
          </p:cNvPr>
          <p:cNvSpPr txBox="1"/>
          <p:nvPr/>
        </p:nvSpPr>
        <p:spPr>
          <a:xfrm>
            <a:off x="332858" y="2563927"/>
            <a:ext cx="8630684" cy="430887"/>
          </a:xfrm>
          <a:prstGeom prst="rect">
            <a:avLst/>
          </a:prstGeom>
          <a:noFill/>
        </p:spPr>
        <p:txBody>
          <a:bodyPr wrap="square" rtlCol="0">
            <a:spAutoFit/>
          </a:bodyPr>
          <a:lstStyle/>
          <a:p>
            <a:pPr algn="ctr"/>
            <a:r>
              <a:rPr lang="en-US" sz="2200" dirty="0"/>
              <a:t>the order we do things in can affect how many registers we need.</a:t>
            </a:r>
            <a:endParaRPr lang="en-US" sz="2200" b="1" dirty="0"/>
          </a:p>
        </p:txBody>
      </p:sp>
    </p:spTree>
    <p:extLst>
      <p:ext uri="{BB962C8B-B14F-4D97-AF65-F5344CB8AC3E}">
        <p14:creationId xmlns:p14="http://schemas.microsoft.com/office/powerpoint/2010/main" val="28835124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uiExpand="1" build="p" bldLvl="5"/>
      <p:bldP spid="7" grpId="0" animBg="1"/>
      <p:bldP spid="8" grpId="0"/>
      <p:bldP spid="9" grpId="0"/>
      <p:bldP spid="10" grpId="0"/>
      <p:bldP spid="11" grpId="0" animBg="1"/>
      <p:bldP spid="12" grpId="0"/>
      <p:bldP spid="13" grpId="0"/>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54F02-02E7-FB48-BB52-0B277B8AE6D1}"/>
              </a:ext>
            </a:extLst>
          </p:cNvPr>
          <p:cNvSpPr>
            <a:spLocks noGrp="1"/>
          </p:cNvSpPr>
          <p:nvPr>
            <p:ph type="title"/>
          </p:nvPr>
        </p:nvSpPr>
        <p:spPr/>
        <p:txBody>
          <a:bodyPr/>
          <a:lstStyle/>
          <a:p>
            <a:r>
              <a:rPr lang="en-US" dirty="0"/>
              <a:t>The need for saved registers</a:t>
            </a:r>
          </a:p>
        </p:txBody>
      </p:sp>
      <p:sp>
        <p:nvSpPr>
          <p:cNvPr id="3" name="Content Placeholder 2">
            <a:extLst>
              <a:ext uri="{FF2B5EF4-FFF2-40B4-BE49-F238E27FC236}">
                <a16:creationId xmlns:a16="http://schemas.microsoft.com/office/drawing/2014/main" id="{A0CAF238-8454-1443-B4C7-2B6E4BC5D27B}"/>
              </a:ext>
            </a:extLst>
          </p:cNvPr>
          <p:cNvSpPr>
            <a:spLocks noGrp="1"/>
          </p:cNvSpPr>
          <p:nvPr>
            <p:ph idx="1"/>
          </p:nvPr>
        </p:nvSpPr>
        <p:spPr>
          <a:xfrm>
            <a:off x="152400" y="495301"/>
            <a:ext cx="8991600" cy="495301"/>
          </a:xfrm>
        </p:spPr>
        <p:txBody>
          <a:bodyPr/>
          <a:lstStyle/>
          <a:p>
            <a:r>
              <a:rPr lang="en-US" dirty="0"/>
              <a:t>once you mix function calls in, it gets all kinds of complicated.</a:t>
            </a:r>
          </a:p>
        </p:txBody>
      </p:sp>
      <p:sp>
        <p:nvSpPr>
          <p:cNvPr id="4" name="Slide Number Placeholder 3">
            <a:extLst>
              <a:ext uri="{FF2B5EF4-FFF2-40B4-BE49-F238E27FC236}">
                <a16:creationId xmlns:a16="http://schemas.microsoft.com/office/drawing/2014/main" id="{6FCCBD94-AFC0-D248-AF8B-8272DC4DFDCD}"/>
              </a:ext>
            </a:extLst>
          </p:cNvPr>
          <p:cNvSpPr>
            <a:spLocks noGrp="1"/>
          </p:cNvSpPr>
          <p:nvPr>
            <p:ph type="sldNum" sz="quarter" idx="12"/>
          </p:nvPr>
        </p:nvSpPr>
        <p:spPr/>
        <p:txBody>
          <a:bodyPr/>
          <a:lstStyle/>
          <a:p>
            <a:fld id="{3552B95B-556F-44BD-91A5-D80C1B9E2BB3}" type="slidenum">
              <a:rPr lang="en-US" smtClean="0"/>
              <a:pPr/>
              <a:t>12</a:t>
            </a:fld>
            <a:endParaRPr lang="en-US"/>
          </a:p>
        </p:txBody>
      </p:sp>
      <p:sp>
        <p:nvSpPr>
          <p:cNvPr id="5" name="TextBox 4">
            <a:extLst>
              <a:ext uri="{FF2B5EF4-FFF2-40B4-BE49-F238E27FC236}">
                <a16:creationId xmlns:a16="http://schemas.microsoft.com/office/drawing/2014/main" id="{27BB563A-2555-DD44-AB37-07C068A01DF9}"/>
              </a:ext>
            </a:extLst>
          </p:cNvPr>
          <p:cNvSpPr txBox="1"/>
          <p:nvPr/>
        </p:nvSpPr>
        <p:spPr>
          <a:xfrm>
            <a:off x="178640" y="1522876"/>
            <a:ext cx="2050561" cy="430887"/>
          </a:xfrm>
          <a:prstGeom prst="rect">
            <a:avLst/>
          </a:prstGeom>
          <a:noFill/>
        </p:spPr>
        <p:txBody>
          <a:bodyPr wrap="none" rtlCol="0">
            <a:spAutoFit/>
          </a:bodyPr>
          <a:lstStyle/>
          <a:p>
            <a:r>
              <a:rPr lang="en-US" sz="2200" b="1" dirty="0">
                <a:latin typeface="Consolas" panose="020B0609020204030204" pitchFamily="49" charset="0"/>
                <a:cs typeface="Consolas" panose="020B0609020204030204" pitchFamily="49" charset="0"/>
              </a:rPr>
              <a:t>g = x + f();</a:t>
            </a:r>
          </a:p>
        </p:txBody>
      </p:sp>
      <p:sp>
        <p:nvSpPr>
          <p:cNvPr id="6" name="TextBox 5">
            <a:extLst>
              <a:ext uri="{FF2B5EF4-FFF2-40B4-BE49-F238E27FC236}">
                <a16:creationId xmlns:a16="http://schemas.microsoft.com/office/drawing/2014/main" id="{ED6B554C-EF9D-014F-9C46-A2ADDBF16E03}"/>
              </a:ext>
            </a:extLst>
          </p:cNvPr>
          <p:cNvSpPr txBox="1"/>
          <p:nvPr/>
        </p:nvSpPr>
        <p:spPr>
          <a:xfrm>
            <a:off x="2778021" y="1019600"/>
            <a:ext cx="2632179" cy="1446550"/>
          </a:xfrm>
          <a:prstGeom prst="rect">
            <a:avLst/>
          </a:prstGeom>
          <a:noFill/>
        </p:spPr>
        <p:txBody>
          <a:bodyPr wrap="square" rtlCol="0">
            <a:spAutoFit/>
          </a:bodyPr>
          <a:lstStyle/>
          <a:p>
            <a:r>
              <a:rPr lang="en-US" sz="2200" b="1" dirty="0" err="1">
                <a:solidFill>
                  <a:srgbClr val="FF0000"/>
                </a:solidFill>
                <a:latin typeface="Consolas" panose="020B0609020204030204" pitchFamily="49" charset="0"/>
                <a:cs typeface="Consolas" panose="020B0609020204030204" pitchFamily="49" charset="0"/>
              </a:rPr>
              <a:t>lw</a:t>
            </a:r>
            <a:r>
              <a:rPr lang="en-US" sz="2200" b="1" dirty="0">
                <a:latin typeface="Consolas" panose="020B0609020204030204" pitchFamily="49" charset="0"/>
                <a:cs typeface="Consolas" panose="020B0609020204030204" pitchFamily="49" charset="0"/>
              </a:rPr>
              <a:t>   t0, </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a:p>
            <a:r>
              <a:rPr lang="en-US" sz="2200" b="1" dirty="0" err="1">
                <a:solidFill>
                  <a:srgbClr val="FF0000"/>
                </a:solidFill>
                <a:latin typeface="Consolas" panose="020B0609020204030204" pitchFamily="49" charset="0"/>
                <a:cs typeface="Consolas" panose="020B0609020204030204" pitchFamily="49" charset="0"/>
              </a:rPr>
              <a:t>jal</a:t>
            </a:r>
            <a:r>
              <a:rPr lang="en-US" sz="2200" b="1" dirty="0">
                <a:latin typeface="Consolas" panose="020B0609020204030204" pitchFamily="49" charset="0"/>
                <a:cs typeface="Consolas" panose="020B0609020204030204" pitchFamily="49" charset="0"/>
              </a:rPr>
              <a:t>  f</a:t>
            </a:r>
          </a:p>
          <a:p>
            <a:r>
              <a:rPr lang="en-US" sz="2200" b="1" dirty="0">
                <a:solidFill>
                  <a:srgbClr val="FF0000"/>
                </a:solidFill>
                <a:latin typeface="Consolas" panose="020B0609020204030204" pitchFamily="49" charset="0"/>
                <a:cs typeface="Consolas" panose="020B0609020204030204" pitchFamily="49" charset="0"/>
              </a:rPr>
              <a:t>add</a:t>
            </a:r>
            <a:r>
              <a:rPr lang="en-US" sz="2200" b="1" dirty="0">
                <a:latin typeface="Consolas" panose="020B0609020204030204" pitchFamily="49" charset="0"/>
                <a:cs typeface="Consolas" panose="020B0609020204030204" pitchFamily="49" charset="0"/>
              </a:rPr>
              <a:t>  t0, t0, v0</a:t>
            </a:r>
          </a:p>
          <a:p>
            <a:r>
              <a:rPr lang="en-US" sz="2200" b="1" dirty="0" err="1">
                <a:solidFill>
                  <a:srgbClr val="FF0000"/>
                </a:solidFill>
                <a:latin typeface="Consolas" panose="020B0609020204030204" pitchFamily="49" charset="0"/>
                <a:cs typeface="Consolas" panose="020B0609020204030204" pitchFamily="49" charset="0"/>
              </a:rPr>
              <a:t>sw</a:t>
            </a:r>
            <a:r>
              <a:rPr lang="en-US" sz="2200" b="1" dirty="0">
                <a:latin typeface="Consolas" panose="020B0609020204030204" pitchFamily="49" charset="0"/>
                <a:cs typeface="Consolas" panose="020B0609020204030204" pitchFamily="49" charset="0"/>
              </a:rPr>
              <a:t>   t0, g</a:t>
            </a:r>
          </a:p>
        </p:txBody>
      </p:sp>
      <p:sp>
        <p:nvSpPr>
          <p:cNvPr id="7" name="Down Arrow 6">
            <a:extLst>
              <a:ext uri="{FF2B5EF4-FFF2-40B4-BE49-F238E27FC236}">
                <a16:creationId xmlns:a16="http://schemas.microsoft.com/office/drawing/2014/main" id="{A6C639F0-94F4-EC4B-A89F-2D0546FE11F0}"/>
              </a:ext>
            </a:extLst>
          </p:cNvPr>
          <p:cNvSpPr/>
          <p:nvPr/>
        </p:nvSpPr>
        <p:spPr>
          <a:xfrm rot="16200000">
            <a:off x="2116044" y="1544541"/>
            <a:ext cx="561958" cy="387559"/>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30D9445-03C9-AA48-8D21-4C512062CEBE}"/>
              </a:ext>
            </a:extLst>
          </p:cNvPr>
          <p:cNvSpPr txBox="1"/>
          <p:nvPr/>
        </p:nvSpPr>
        <p:spPr>
          <a:xfrm>
            <a:off x="5204737" y="1377636"/>
            <a:ext cx="3851379" cy="769441"/>
          </a:xfrm>
          <a:prstGeom prst="rect">
            <a:avLst/>
          </a:prstGeom>
          <a:noFill/>
        </p:spPr>
        <p:txBody>
          <a:bodyPr wrap="square" rtlCol="0">
            <a:spAutoFit/>
          </a:bodyPr>
          <a:lstStyle/>
          <a:p>
            <a:pPr algn="ctr"/>
            <a:r>
              <a:rPr lang="en-US" sz="2200" b="1" dirty="0">
                <a:solidFill>
                  <a:srgbClr val="FF0000"/>
                </a:solidFill>
              </a:rPr>
              <a:t>this is bad code! </a:t>
            </a:r>
            <a:r>
              <a:rPr lang="en-US" sz="2200" dirty="0"/>
              <a:t>we are violating the ATV rule.</a:t>
            </a:r>
            <a:endParaRPr lang="en-US" sz="2200" b="1" dirty="0"/>
          </a:p>
        </p:txBody>
      </p:sp>
      <p:cxnSp>
        <p:nvCxnSpPr>
          <p:cNvPr id="11" name="Straight Connector 10">
            <a:extLst>
              <a:ext uri="{FF2B5EF4-FFF2-40B4-BE49-F238E27FC236}">
                <a16:creationId xmlns:a16="http://schemas.microsoft.com/office/drawing/2014/main" id="{CB825CEB-58AE-C14A-B2C0-D2682BAFD0E4}"/>
              </a:ext>
            </a:extLst>
          </p:cNvPr>
          <p:cNvCxnSpPr>
            <a:cxnSpLocks/>
          </p:cNvCxnSpPr>
          <p:nvPr/>
        </p:nvCxnSpPr>
        <p:spPr>
          <a:xfrm flipH="1">
            <a:off x="2754923" y="1758415"/>
            <a:ext cx="2537697"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60AD308-B1A1-0B46-A985-EBD8473E5BFB}"/>
              </a:ext>
            </a:extLst>
          </p:cNvPr>
          <p:cNvSpPr txBox="1"/>
          <p:nvPr/>
        </p:nvSpPr>
        <p:spPr>
          <a:xfrm>
            <a:off x="685800" y="2589199"/>
            <a:ext cx="7772400" cy="769441"/>
          </a:xfrm>
          <a:prstGeom prst="rect">
            <a:avLst/>
          </a:prstGeom>
          <a:noFill/>
        </p:spPr>
        <p:txBody>
          <a:bodyPr wrap="square" rtlCol="0">
            <a:spAutoFit/>
          </a:bodyPr>
          <a:lstStyle/>
          <a:p>
            <a:pPr algn="ctr"/>
            <a:r>
              <a:rPr lang="en-US" sz="2200" dirty="0"/>
              <a:t>this is because the value of </a:t>
            </a:r>
            <a:r>
              <a:rPr lang="en-US" sz="2200" b="1" dirty="0">
                <a:latin typeface="Consolas" panose="020B0609020204030204" pitchFamily="49" charset="0"/>
                <a:cs typeface="Consolas" panose="020B0609020204030204" pitchFamily="49" charset="0"/>
              </a:rPr>
              <a:t>t0</a:t>
            </a:r>
            <a:r>
              <a:rPr lang="en-US" sz="2200" dirty="0"/>
              <a:t> from before the call may not survive until its use after the call.</a:t>
            </a:r>
            <a:r>
              <a:rPr lang="en-US" sz="2200" i="1" dirty="0"/>
              <a:t> </a:t>
            </a:r>
            <a:r>
              <a:rPr lang="en-US" sz="2200" b="1" i="1" dirty="0">
                <a:latin typeface="Consolas" panose="020B0609020204030204" pitchFamily="49" charset="0"/>
                <a:cs typeface="Consolas" panose="020B0609020204030204" pitchFamily="49" charset="0"/>
              </a:rPr>
              <a:t>f</a:t>
            </a:r>
            <a:r>
              <a:rPr lang="en-US" sz="2200" i="1" dirty="0"/>
              <a:t> is allowed to change </a:t>
            </a:r>
            <a:r>
              <a:rPr lang="en-US" sz="2200" b="1" i="1" dirty="0">
                <a:latin typeface="Consolas" panose="020B0609020204030204" pitchFamily="49" charset="0"/>
                <a:cs typeface="Consolas" panose="020B0609020204030204" pitchFamily="49" charset="0"/>
              </a:rPr>
              <a:t>t0</a:t>
            </a:r>
            <a:r>
              <a:rPr lang="en-US" sz="2200" i="1" dirty="0"/>
              <a:t>.</a:t>
            </a:r>
          </a:p>
        </p:txBody>
      </p:sp>
      <p:grpSp>
        <p:nvGrpSpPr>
          <p:cNvPr id="19" name="Group 18">
            <a:extLst>
              <a:ext uri="{FF2B5EF4-FFF2-40B4-BE49-F238E27FC236}">
                <a16:creationId xmlns:a16="http://schemas.microsoft.com/office/drawing/2014/main" id="{F7EB81CB-0562-C149-B625-998AF5781D04}"/>
              </a:ext>
            </a:extLst>
          </p:cNvPr>
          <p:cNvGrpSpPr/>
          <p:nvPr/>
        </p:nvGrpSpPr>
        <p:grpSpPr>
          <a:xfrm>
            <a:off x="3581400" y="990602"/>
            <a:ext cx="1034006" cy="1146594"/>
            <a:chOff x="3581400" y="990602"/>
            <a:chExt cx="1034006" cy="1146594"/>
          </a:xfrm>
        </p:grpSpPr>
        <p:sp>
          <p:nvSpPr>
            <p:cNvPr id="14" name="Oval 13">
              <a:extLst>
                <a:ext uri="{FF2B5EF4-FFF2-40B4-BE49-F238E27FC236}">
                  <a16:creationId xmlns:a16="http://schemas.microsoft.com/office/drawing/2014/main" id="{86903123-1B69-3940-BF0C-F3B6FD97C4B9}"/>
                </a:ext>
              </a:extLst>
            </p:cNvPr>
            <p:cNvSpPr/>
            <p:nvPr/>
          </p:nvSpPr>
          <p:spPr>
            <a:xfrm>
              <a:off x="3581400" y="990602"/>
              <a:ext cx="442371" cy="44237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EDE5ED71-81E6-9946-B7EA-310DAC77EF66}"/>
                </a:ext>
              </a:extLst>
            </p:cNvPr>
            <p:cNvCxnSpPr>
              <a:cxnSpLocks/>
              <a:stCxn id="14" idx="5"/>
              <a:endCxn id="17" idx="1"/>
            </p:cNvCxnSpPr>
            <p:nvPr/>
          </p:nvCxnSpPr>
          <p:spPr>
            <a:xfrm>
              <a:off x="3958987" y="1368189"/>
              <a:ext cx="278832" cy="39142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B3AB5768-A1EA-B443-8921-86A79BE49F24}"/>
                </a:ext>
              </a:extLst>
            </p:cNvPr>
            <p:cNvSpPr/>
            <p:nvPr/>
          </p:nvSpPr>
          <p:spPr>
            <a:xfrm>
              <a:off x="4173035" y="1694825"/>
              <a:ext cx="442371" cy="44237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extBox 19">
            <a:extLst>
              <a:ext uri="{FF2B5EF4-FFF2-40B4-BE49-F238E27FC236}">
                <a16:creationId xmlns:a16="http://schemas.microsoft.com/office/drawing/2014/main" id="{2E0A22E5-823C-BD43-8B9E-44AEDFD19975}"/>
              </a:ext>
            </a:extLst>
          </p:cNvPr>
          <p:cNvSpPr txBox="1"/>
          <p:nvPr/>
        </p:nvSpPr>
        <p:spPr>
          <a:xfrm>
            <a:off x="685800" y="3481689"/>
            <a:ext cx="7772400" cy="769441"/>
          </a:xfrm>
          <a:prstGeom prst="rect">
            <a:avLst/>
          </a:prstGeom>
          <a:noFill/>
        </p:spPr>
        <p:txBody>
          <a:bodyPr wrap="square" rtlCol="0">
            <a:spAutoFit/>
          </a:bodyPr>
          <a:lstStyle/>
          <a:p>
            <a:pPr algn="ctr"/>
            <a:r>
              <a:rPr lang="en-US" sz="2200" dirty="0"/>
              <a:t>so we have to use the </a:t>
            </a:r>
            <a:r>
              <a:rPr lang="en-US" sz="2200" b="1" dirty="0"/>
              <a:t>saved </a:t>
            </a:r>
            <a:r>
              <a:rPr lang="en-US" sz="2200" dirty="0"/>
              <a:t>(</a:t>
            </a:r>
            <a:r>
              <a:rPr lang="en-US" sz="2200" b="1" dirty="0">
                <a:latin typeface="Consolas" panose="020B0609020204030204" pitchFamily="49" charset="0"/>
                <a:cs typeface="Consolas" panose="020B0609020204030204" pitchFamily="49" charset="0"/>
              </a:rPr>
              <a:t>s</a:t>
            </a:r>
            <a:r>
              <a:rPr lang="en-US" sz="2200" dirty="0"/>
              <a:t>) registers for some temporaries, so their values will persist across calls.</a:t>
            </a:r>
            <a:endParaRPr lang="en-US" sz="2200" i="1" dirty="0"/>
          </a:p>
        </p:txBody>
      </p:sp>
      <p:sp>
        <p:nvSpPr>
          <p:cNvPr id="21" name="TextBox 20">
            <a:extLst>
              <a:ext uri="{FF2B5EF4-FFF2-40B4-BE49-F238E27FC236}">
                <a16:creationId xmlns:a16="http://schemas.microsoft.com/office/drawing/2014/main" id="{A01D0428-E638-2A46-90E0-F444ED178048}"/>
              </a:ext>
            </a:extLst>
          </p:cNvPr>
          <p:cNvSpPr txBox="1"/>
          <p:nvPr/>
        </p:nvSpPr>
        <p:spPr>
          <a:xfrm>
            <a:off x="1143000" y="4374179"/>
            <a:ext cx="6858000" cy="769441"/>
          </a:xfrm>
          <a:prstGeom prst="rect">
            <a:avLst/>
          </a:prstGeom>
          <a:noFill/>
        </p:spPr>
        <p:txBody>
          <a:bodyPr wrap="square" rtlCol="0">
            <a:spAutoFit/>
          </a:bodyPr>
          <a:lstStyle/>
          <a:p>
            <a:pPr algn="ctr"/>
            <a:r>
              <a:rPr lang="en-US" sz="2200" dirty="0"/>
              <a:t>to make things simpler, we could use </a:t>
            </a:r>
            <a:r>
              <a:rPr lang="en-US" sz="2200" i="1" dirty="0"/>
              <a:t>only</a:t>
            </a:r>
            <a:r>
              <a:rPr lang="en-US" sz="2200" dirty="0"/>
              <a:t> the saved registers, and ignore the </a:t>
            </a:r>
            <a:r>
              <a:rPr lang="en-US" sz="2200" b="1" dirty="0">
                <a:latin typeface="Consolas" panose="020B0609020204030204" pitchFamily="49" charset="0"/>
                <a:cs typeface="Consolas" panose="020B0609020204030204" pitchFamily="49" charset="0"/>
              </a:rPr>
              <a:t>t</a:t>
            </a:r>
            <a:r>
              <a:rPr lang="en-US" sz="2200" dirty="0"/>
              <a:t> registers altogether.</a:t>
            </a:r>
            <a:endParaRPr lang="en-US" sz="2200" i="1" dirty="0"/>
          </a:p>
        </p:txBody>
      </p:sp>
    </p:spTree>
    <p:extLst>
      <p:ext uri="{BB962C8B-B14F-4D97-AF65-F5344CB8AC3E}">
        <p14:creationId xmlns:p14="http://schemas.microsoft.com/office/powerpoint/2010/main" val="37460020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13" grpId="0"/>
      <p:bldP spid="20" grpId="0"/>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D63B8-9FC5-0540-873E-F6CFA8197EC1}"/>
              </a:ext>
            </a:extLst>
          </p:cNvPr>
          <p:cNvSpPr>
            <a:spLocks noGrp="1"/>
          </p:cNvSpPr>
          <p:nvPr>
            <p:ph type="title"/>
          </p:nvPr>
        </p:nvSpPr>
        <p:spPr/>
        <p:txBody>
          <a:bodyPr/>
          <a:lstStyle/>
          <a:p>
            <a:r>
              <a:rPr lang="en-US" dirty="0"/>
              <a:t>A little detour</a:t>
            </a:r>
          </a:p>
        </p:txBody>
      </p:sp>
      <p:sp>
        <p:nvSpPr>
          <p:cNvPr id="3" name="Content Placeholder 2">
            <a:extLst>
              <a:ext uri="{FF2B5EF4-FFF2-40B4-BE49-F238E27FC236}">
                <a16:creationId xmlns:a16="http://schemas.microsoft.com/office/drawing/2014/main" id="{957D53A3-C90C-684C-B145-7ABC2FABE696}"/>
              </a:ext>
            </a:extLst>
          </p:cNvPr>
          <p:cNvSpPr>
            <a:spLocks noGrp="1"/>
          </p:cNvSpPr>
          <p:nvPr>
            <p:ph idx="1"/>
          </p:nvPr>
        </p:nvSpPr>
        <p:spPr>
          <a:xfrm>
            <a:off x="152400" y="495301"/>
            <a:ext cx="8991600" cy="1219199"/>
          </a:xfrm>
        </p:spPr>
        <p:txBody>
          <a:bodyPr/>
          <a:lstStyle/>
          <a:p>
            <a:r>
              <a:rPr lang="en-US" dirty="0"/>
              <a:t>expressions are represented as </a:t>
            </a:r>
            <a:r>
              <a:rPr lang="en-US" b="1" dirty="0"/>
              <a:t>trees</a:t>
            </a:r>
            <a:r>
              <a:rPr lang="en-US" dirty="0"/>
              <a:t>, and trees ❤️ stacks, so…</a:t>
            </a:r>
          </a:p>
          <a:p>
            <a:r>
              <a:rPr lang="en-US" dirty="0"/>
              <a:t>let's first imagine evaluating an AST by pushing and popping things </a:t>
            </a:r>
            <a:r>
              <a:rPr lang="en-US" b="1" dirty="0"/>
              <a:t>on a stack,</a:t>
            </a:r>
            <a:r>
              <a:rPr lang="en-US" dirty="0"/>
              <a:t> instead of dealing with registers.</a:t>
            </a:r>
          </a:p>
        </p:txBody>
      </p:sp>
      <p:sp>
        <p:nvSpPr>
          <p:cNvPr id="4" name="Slide Number Placeholder 3">
            <a:extLst>
              <a:ext uri="{FF2B5EF4-FFF2-40B4-BE49-F238E27FC236}">
                <a16:creationId xmlns:a16="http://schemas.microsoft.com/office/drawing/2014/main" id="{F5A449D3-E878-4C47-B739-2A7D639E688B}"/>
              </a:ext>
            </a:extLst>
          </p:cNvPr>
          <p:cNvSpPr>
            <a:spLocks noGrp="1"/>
          </p:cNvSpPr>
          <p:nvPr>
            <p:ph type="sldNum" sz="quarter" idx="12"/>
          </p:nvPr>
        </p:nvSpPr>
        <p:spPr/>
        <p:txBody>
          <a:bodyPr/>
          <a:lstStyle/>
          <a:p>
            <a:fld id="{3552B95B-556F-44BD-91A5-D80C1B9E2BB3}" type="slidenum">
              <a:rPr lang="en-US" smtClean="0"/>
              <a:pPr/>
              <a:t>13</a:t>
            </a:fld>
            <a:endParaRPr lang="en-US"/>
          </a:p>
        </p:txBody>
      </p:sp>
      <p:sp>
        <p:nvSpPr>
          <p:cNvPr id="11" name="TextBox 10">
            <a:extLst>
              <a:ext uri="{FF2B5EF4-FFF2-40B4-BE49-F238E27FC236}">
                <a16:creationId xmlns:a16="http://schemas.microsoft.com/office/drawing/2014/main" id="{4822D1A8-55FE-534E-98FB-A81C7FB7C845}"/>
              </a:ext>
            </a:extLst>
          </p:cNvPr>
          <p:cNvSpPr txBox="1"/>
          <p:nvPr/>
        </p:nvSpPr>
        <p:spPr>
          <a:xfrm>
            <a:off x="423070" y="1714500"/>
            <a:ext cx="1739579" cy="430887"/>
          </a:xfrm>
          <a:prstGeom prst="rect">
            <a:avLst/>
          </a:prstGeom>
          <a:noFill/>
        </p:spPr>
        <p:txBody>
          <a:bodyPr wrap="none" rtlCol="0">
            <a:spAutoFit/>
          </a:bodyPr>
          <a:lstStyle/>
          <a:p>
            <a:r>
              <a:rPr lang="en-US" sz="2200" b="1" dirty="0">
                <a:latin typeface="Consolas" panose="020B0609020204030204" pitchFamily="49" charset="0"/>
                <a:cs typeface="Consolas" panose="020B0609020204030204" pitchFamily="49" charset="0"/>
              </a:rPr>
              <a:t>g = a + b;</a:t>
            </a:r>
          </a:p>
        </p:txBody>
      </p:sp>
      <p:grpSp>
        <p:nvGrpSpPr>
          <p:cNvPr id="23" name="Group 22">
            <a:extLst>
              <a:ext uri="{FF2B5EF4-FFF2-40B4-BE49-F238E27FC236}">
                <a16:creationId xmlns:a16="http://schemas.microsoft.com/office/drawing/2014/main" id="{BDEF631C-F3A3-EE4F-AA6E-167FCA346FF2}"/>
              </a:ext>
            </a:extLst>
          </p:cNvPr>
          <p:cNvGrpSpPr/>
          <p:nvPr/>
        </p:nvGrpSpPr>
        <p:grpSpPr>
          <a:xfrm>
            <a:off x="512574" y="2145387"/>
            <a:ext cx="1664310" cy="1703866"/>
            <a:chOff x="317805" y="2274380"/>
            <a:chExt cx="1664310" cy="1703866"/>
          </a:xfrm>
        </p:grpSpPr>
        <p:sp>
          <p:nvSpPr>
            <p:cNvPr id="6" name="TextBox 5">
              <a:extLst>
                <a:ext uri="{FF2B5EF4-FFF2-40B4-BE49-F238E27FC236}">
                  <a16:creationId xmlns:a16="http://schemas.microsoft.com/office/drawing/2014/main" id="{E1527C1E-4F18-764F-B212-3468EE9E8F31}"/>
                </a:ext>
              </a:extLst>
            </p:cNvPr>
            <p:cNvSpPr txBox="1"/>
            <p:nvPr/>
          </p:nvSpPr>
          <p:spPr>
            <a:xfrm>
              <a:off x="762000" y="3578136"/>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a</a:t>
              </a:r>
            </a:p>
          </p:txBody>
        </p:sp>
        <p:sp>
          <p:nvSpPr>
            <p:cNvPr id="7" name="TextBox 6">
              <a:extLst>
                <a:ext uri="{FF2B5EF4-FFF2-40B4-BE49-F238E27FC236}">
                  <a16:creationId xmlns:a16="http://schemas.microsoft.com/office/drawing/2014/main" id="{B3D0CA44-B812-1E4D-80EC-16BCE421F379}"/>
                </a:ext>
              </a:extLst>
            </p:cNvPr>
            <p:cNvSpPr txBox="1"/>
            <p:nvPr/>
          </p:nvSpPr>
          <p:spPr>
            <a:xfrm>
              <a:off x="1656385" y="3578136"/>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b</a:t>
              </a:r>
            </a:p>
          </p:txBody>
        </p:sp>
        <p:sp>
          <p:nvSpPr>
            <p:cNvPr id="8" name="TextBox 7">
              <a:extLst>
                <a:ext uri="{FF2B5EF4-FFF2-40B4-BE49-F238E27FC236}">
                  <a16:creationId xmlns:a16="http://schemas.microsoft.com/office/drawing/2014/main" id="{97AB5C8C-5204-9346-BA75-BBCBCBB1D8E3}"/>
                </a:ext>
              </a:extLst>
            </p:cNvPr>
            <p:cNvSpPr txBox="1"/>
            <p:nvPr/>
          </p:nvSpPr>
          <p:spPr>
            <a:xfrm>
              <a:off x="1206195" y="2947515"/>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a:t>
              </a:r>
            </a:p>
          </p:txBody>
        </p:sp>
        <p:cxnSp>
          <p:nvCxnSpPr>
            <p:cNvPr id="9" name="Straight Connector 8">
              <a:extLst>
                <a:ext uri="{FF2B5EF4-FFF2-40B4-BE49-F238E27FC236}">
                  <a16:creationId xmlns:a16="http://schemas.microsoft.com/office/drawing/2014/main" id="{4BCA75D7-0285-B643-A63E-2FF086D81A7D}"/>
                </a:ext>
              </a:extLst>
            </p:cNvPr>
            <p:cNvCxnSpPr>
              <a:cxnSpLocks/>
            </p:cNvCxnSpPr>
            <p:nvPr/>
          </p:nvCxnSpPr>
          <p:spPr>
            <a:xfrm flipV="1">
              <a:off x="1025855" y="3285662"/>
              <a:ext cx="272085" cy="38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C57D40C-96F6-2648-878B-8520B9F9FEA0}"/>
                </a:ext>
              </a:extLst>
            </p:cNvPr>
            <p:cNvCxnSpPr>
              <a:cxnSpLocks/>
            </p:cNvCxnSpPr>
            <p:nvPr/>
          </p:nvCxnSpPr>
          <p:spPr>
            <a:xfrm flipH="1" flipV="1">
              <a:off x="1440180" y="3265342"/>
              <a:ext cx="309880" cy="406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DFF6FA7-5536-4749-9D3D-63D76D985E91}"/>
                </a:ext>
              </a:extLst>
            </p:cNvPr>
            <p:cNvSpPr txBox="1"/>
            <p:nvPr/>
          </p:nvSpPr>
          <p:spPr>
            <a:xfrm>
              <a:off x="317805" y="2905001"/>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g</a:t>
              </a:r>
            </a:p>
          </p:txBody>
        </p:sp>
        <p:sp>
          <p:nvSpPr>
            <p:cNvPr id="20" name="TextBox 19">
              <a:extLst>
                <a:ext uri="{FF2B5EF4-FFF2-40B4-BE49-F238E27FC236}">
                  <a16:creationId xmlns:a16="http://schemas.microsoft.com/office/drawing/2014/main" id="{7ED69B09-1B2A-FF47-8069-0299F70924A3}"/>
                </a:ext>
              </a:extLst>
            </p:cNvPr>
            <p:cNvSpPr txBox="1"/>
            <p:nvPr/>
          </p:nvSpPr>
          <p:spPr>
            <a:xfrm>
              <a:off x="762000" y="2274380"/>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a:t>
              </a:r>
            </a:p>
          </p:txBody>
        </p:sp>
        <p:cxnSp>
          <p:nvCxnSpPr>
            <p:cNvPr id="21" name="Straight Connector 20">
              <a:extLst>
                <a:ext uri="{FF2B5EF4-FFF2-40B4-BE49-F238E27FC236}">
                  <a16:creationId xmlns:a16="http://schemas.microsoft.com/office/drawing/2014/main" id="{822BB439-126F-C343-BFC4-9CB6F622A533}"/>
                </a:ext>
              </a:extLst>
            </p:cNvPr>
            <p:cNvCxnSpPr>
              <a:cxnSpLocks/>
            </p:cNvCxnSpPr>
            <p:nvPr/>
          </p:nvCxnSpPr>
          <p:spPr>
            <a:xfrm flipV="1">
              <a:off x="581660" y="2612527"/>
              <a:ext cx="272085" cy="38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28DC7EC-CDA4-E54B-A8AF-4C1D98D0A24B}"/>
                </a:ext>
              </a:extLst>
            </p:cNvPr>
            <p:cNvCxnSpPr>
              <a:cxnSpLocks/>
            </p:cNvCxnSpPr>
            <p:nvPr/>
          </p:nvCxnSpPr>
          <p:spPr>
            <a:xfrm flipH="1" flipV="1">
              <a:off x="995985" y="2592207"/>
              <a:ext cx="309880" cy="406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Triangle 23">
            <a:extLst>
              <a:ext uri="{FF2B5EF4-FFF2-40B4-BE49-F238E27FC236}">
                <a16:creationId xmlns:a16="http://schemas.microsoft.com/office/drawing/2014/main" id="{3D2E92CB-BB23-CE4B-BC6C-946C369D429C}"/>
              </a:ext>
            </a:extLst>
          </p:cNvPr>
          <p:cNvSpPr/>
          <p:nvPr/>
        </p:nvSpPr>
        <p:spPr>
          <a:xfrm>
            <a:off x="780767" y="2765109"/>
            <a:ext cx="1561336" cy="1064337"/>
          </a:xfrm>
          <a:prstGeom prst="triangl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06E35BD-D7B6-0344-A9DB-5349A770A792}"/>
              </a:ext>
            </a:extLst>
          </p:cNvPr>
          <p:cNvSpPr txBox="1"/>
          <p:nvPr/>
        </p:nvSpPr>
        <p:spPr>
          <a:xfrm>
            <a:off x="78641" y="4000501"/>
            <a:ext cx="2644646" cy="769441"/>
          </a:xfrm>
          <a:prstGeom prst="rect">
            <a:avLst/>
          </a:prstGeom>
          <a:noFill/>
        </p:spPr>
        <p:txBody>
          <a:bodyPr wrap="square" rtlCol="0">
            <a:spAutoFit/>
          </a:bodyPr>
          <a:lstStyle/>
          <a:p>
            <a:pPr algn="ctr"/>
            <a:r>
              <a:rPr lang="en-US" sz="2200" dirty="0"/>
              <a:t>let's evaluate the assignment's </a:t>
            </a:r>
            <a:r>
              <a:rPr lang="en-US" sz="2200" dirty="0" err="1"/>
              <a:t>rhs</a:t>
            </a:r>
            <a:r>
              <a:rPr lang="en-US" sz="2200" dirty="0"/>
              <a:t>.</a:t>
            </a:r>
            <a:endParaRPr lang="en-US" sz="2200" i="1" dirty="0"/>
          </a:p>
        </p:txBody>
      </p:sp>
      <p:sp>
        <p:nvSpPr>
          <p:cNvPr id="27" name="TextBox 26">
            <a:extLst>
              <a:ext uri="{FF2B5EF4-FFF2-40B4-BE49-F238E27FC236}">
                <a16:creationId xmlns:a16="http://schemas.microsoft.com/office/drawing/2014/main" id="{85FE61E6-43DA-0241-9CEE-F6137A68E852}"/>
              </a:ext>
            </a:extLst>
          </p:cNvPr>
          <p:cNvSpPr txBox="1"/>
          <p:nvPr/>
        </p:nvSpPr>
        <p:spPr>
          <a:xfrm>
            <a:off x="2702353" y="1857595"/>
            <a:ext cx="1622554" cy="430887"/>
          </a:xfrm>
          <a:prstGeom prst="rect">
            <a:avLst/>
          </a:prstGeom>
          <a:noFill/>
        </p:spPr>
        <p:txBody>
          <a:bodyPr wrap="square" rtlCol="0">
            <a:spAutoFit/>
          </a:bodyPr>
          <a:lstStyle/>
          <a:p>
            <a:pPr algn="ctr"/>
            <a:r>
              <a:rPr lang="en-US" sz="2200" b="1" dirty="0"/>
              <a:t>1.</a:t>
            </a:r>
            <a:r>
              <a:rPr lang="en-US" sz="2200" dirty="0"/>
              <a:t> push a</a:t>
            </a:r>
            <a:endParaRPr lang="en-US" sz="2200" i="1" dirty="0"/>
          </a:p>
        </p:txBody>
      </p:sp>
      <p:graphicFrame>
        <p:nvGraphicFramePr>
          <p:cNvPr id="28" name="Table 27">
            <a:extLst>
              <a:ext uri="{FF2B5EF4-FFF2-40B4-BE49-F238E27FC236}">
                <a16:creationId xmlns:a16="http://schemas.microsoft.com/office/drawing/2014/main" id="{C7C7E0C4-503B-D24A-B010-159D1EC066D2}"/>
              </a:ext>
            </a:extLst>
          </p:cNvPr>
          <p:cNvGraphicFramePr>
            <a:graphicFrameLocks noGrp="1"/>
          </p:cNvGraphicFramePr>
          <p:nvPr>
            <p:extLst>
              <p:ext uri="{D42A27DB-BD31-4B8C-83A1-F6EECF244321}">
                <p14:modId xmlns:p14="http://schemas.microsoft.com/office/powerpoint/2010/main" val="1176005459"/>
              </p:ext>
            </p:extLst>
          </p:nvPr>
        </p:nvGraphicFramePr>
        <p:xfrm>
          <a:off x="2912460" y="3372364"/>
          <a:ext cx="1202340" cy="457200"/>
        </p:xfrm>
        <a:graphic>
          <a:graphicData uri="http://schemas.openxmlformats.org/drawingml/2006/table">
            <a:tbl>
              <a:tblPr>
                <a:tableStyleId>{5C22544A-7EE6-4342-B048-85BDC9FD1C3A}</a:tableStyleId>
              </a:tblPr>
              <a:tblGrid>
                <a:gridCol w="1202340">
                  <a:extLst>
                    <a:ext uri="{9D8B030D-6E8A-4147-A177-3AD203B41FA5}">
                      <a16:colId xmlns:a16="http://schemas.microsoft.com/office/drawing/2014/main" val="2742081593"/>
                    </a:ext>
                  </a:extLst>
                </a:gridCol>
              </a:tblGrid>
              <a:tr h="370840">
                <a:tc>
                  <a:txBody>
                    <a:bodyPr/>
                    <a:lstStyle/>
                    <a:p>
                      <a:pPr algn="ctr"/>
                      <a:r>
                        <a:rPr lang="en-US" sz="2400" b="1" dirty="0">
                          <a:latin typeface="Consolas" panose="020B0609020204030204" pitchFamily="49" charset="0"/>
                          <a:cs typeface="Consolas" panose="020B0609020204030204" pitchFamily="49" charset="0"/>
                        </a:rPr>
                        <a:t>a</a:t>
                      </a:r>
                    </a:p>
                  </a:txBody>
                  <a:tcPr>
                    <a:solidFill>
                      <a:schemeClr val="accent1">
                        <a:lumMod val="40000"/>
                        <a:lumOff val="60000"/>
                      </a:schemeClr>
                    </a:solidFill>
                  </a:tcPr>
                </a:tc>
                <a:extLst>
                  <a:ext uri="{0D108BD9-81ED-4DB2-BD59-A6C34878D82A}">
                    <a16:rowId xmlns:a16="http://schemas.microsoft.com/office/drawing/2014/main" val="174856156"/>
                  </a:ext>
                </a:extLst>
              </a:tr>
            </a:tbl>
          </a:graphicData>
        </a:graphic>
      </p:graphicFrame>
      <p:sp>
        <p:nvSpPr>
          <p:cNvPr id="29" name="TextBox 28">
            <a:extLst>
              <a:ext uri="{FF2B5EF4-FFF2-40B4-BE49-F238E27FC236}">
                <a16:creationId xmlns:a16="http://schemas.microsoft.com/office/drawing/2014/main" id="{F0902391-0460-6440-9EA5-1837DFFC1BD7}"/>
              </a:ext>
            </a:extLst>
          </p:cNvPr>
          <p:cNvSpPr txBox="1"/>
          <p:nvPr/>
        </p:nvSpPr>
        <p:spPr>
          <a:xfrm>
            <a:off x="4778246" y="1857595"/>
            <a:ext cx="1622554" cy="430887"/>
          </a:xfrm>
          <a:prstGeom prst="rect">
            <a:avLst/>
          </a:prstGeom>
          <a:noFill/>
        </p:spPr>
        <p:txBody>
          <a:bodyPr wrap="square" rtlCol="0">
            <a:spAutoFit/>
          </a:bodyPr>
          <a:lstStyle/>
          <a:p>
            <a:pPr algn="ctr"/>
            <a:r>
              <a:rPr lang="en-US" sz="2200" b="1" dirty="0"/>
              <a:t>2. </a:t>
            </a:r>
            <a:r>
              <a:rPr lang="en-US" sz="2200" dirty="0"/>
              <a:t>push b</a:t>
            </a:r>
            <a:endParaRPr lang="en-US" sz="2200" i="1" dirty="0"/>
          </a:p>
        </p:txBody>
      </p:sp>
      <p:graphicFrame>
        <p:nvGraphicFramePr>
          <p:cNvPr id="30" name="Table 29">
            <a:extLst>
              <a:ext uri="{FF2B5EF4-FFF2-40B4-BE49-F238E27FC236}">
                <a16:creationId xmlns:a16="http://schemas.microsoft.com/office/drawing/2014/main" id="{75881C4F-DE09-E449-8596-A8C0FDD122A0}"/>
              </a:ext>
            </a:extLst>
          </p:cNvPr>
          <p:cNvGraphicFramePr>
            <a:graphicFrameLocks noGrp="1"/>
          </p:cNvGraphicFramePr>
          <p:nvPr>
            <p:extLst>
              <p:ext uri="{D42A27DB-BD31-4B8C-83A1-F6EECF244321}">
                <p14:modId xmlns:p14="http://schemas.microsoft.com/office/powerpoint/2010/main" val="3114282399"/>
              </p:ext>
            </p:extLst>
          </p:nvPr>
        </p:nvGraphicFramePr>
        <p:xfrm>
          <a:off x="4988353" y="2915164"/>
          <a:ext cx="1202340" cy="914400"/>
        </p:xfrm>
        <a:graphic>
          <a:graphicData uri="http://schemas.openxmlformats.org/drawingml/2006/table">
            <a:tbl>
              <a:tblPr>
                <a:tableStyleId>{5C22544A-7EE6-4342-B048-85BDC9FD1C3A}</a:tableStyleId>
              </a:tblPr>
              <a:tblGrid>
                <a:gridCol w="1202340">
                  <a:extLst>
                    <a:ext uri="{9D8B030D-6E8A-4147-A177-3AD203B41FA5}">
                      <a16:colId xmlns:a16="http://schemas.microsoft.com/office/drawing/2014/main" val="2742081593"/>
                    </a:ext>
                  </a:extLst>
                </a:gridCol>
              </a:tblGrid>
              <a:tr h="370840">
                <a:tc>
                  <a:txBody>
                    <a:bodyPr/>
                    <a:lstStyle/>
                    <a:p>
                      <a:pPr algn="ctr"/>
                      <a:r>
                        <a:rPr lang="en-US" sz="2400" b="1" dirty="0">
                          <a:latin typeface="Consolas" panose="020B0609020204030204" pitchFamily="49" charset="0"/>
                          <a:cs typeface="Consolas" panose="020B0609020204030204" pitchFamily="49" charset="0"/>
                        </a:rPr>
                        <a:t>b</a:t>
                      </a:r>
                    </a:p>
                  </a:txBody>
                  <a:tcPr>
                    <a:solidFill>
                      <a:schemeClr val="accent1">
                        <a:lumMod val="40000"/>
                        <a:lumOff val="60000"/>
                      </a:schemeClr>
                    </a:solidFill>
                  </a:tcPr>
                </a:tc>
                <a:extLst>
                  <a:ext uri="{0D108BD9-81ED-4DB2-BD59-A6C34878D82A}">
                    <a16:rowId xmlns:a16="http://schemas.microsoft.com/office/drawing/2014/main" val="174856156"/>
                  </a:ext>
                </a:extLst>
              </a:tr>
              <a:tr h="370840">
                <a:tc>
                  <a:txBody>
                    <a:bodyPr/>
                    <a:lstStyle/>
                    <a:p>
                      <a:pPr algn="ctr"/>
                      <a:r>
                        <a:rPr lang="en-US" sz="2400" b="1" dirty="0">
                          <a:latin typeface="Consolas" panose="020B0609020204030204" pitchFamily="49" charset="0"/>
                          <a:cs typeface="Consolas" panose="020B0609020204030204" pitchFamily="49" charset="0"/>
                        </a:rPr>
                        <a:t>a</a:t>
                      </a:r>
                    </a:p>
                  </a:txBody>
                  <a:tcPr>
                    <a:solidFill>
                      <a:schemeClr val="accent1">
                        <a:lumMod val="40000"/>
                        <a:lumOff val="60000"/>
                      </a:schemeClr>
                    </a:solidFill>
                  </a:tcPr>
                </a:tc>
                <a:extLst>
                  <a:ext uri="{0D108BD9-81ED-4DB2-BD59-A6C34878D82A}">
                    <a16:rowId xmlns:a16="http://schemas.microsoft.com/office/drawing/2014/main" val="2180819688"/>
                  </a:ext>
                </a:extLst>
              </a:tr>
            </a:tbl>
          </a:graphicData>
        </a:graphic>
      </p:graphicFrame>
      <p:sp>
        <p:nvSpPr>
          <p:cNvPr id="31" name="TextBox 30">
            <a:extLst>
              <a:ext uri="{FF2B5EF4-FFF2-40B4-BE49-F238E27FC236}">
                <a16:creationId xmlns:a16="http://schemas.microsoft.com/office/drawing/2014/main" id="{8E54D0EF-D378-CC44-AC93-283C0B8E11E7}"/>
              </a:ext>
            </a:extLst>
          </p:cNvPr>
          <p:cNvSpPr txBox="1"/>
          <p:nvPr/>
        </p:nvSpPr>
        <p:spPr>
          <a:xfrm>
            <a:off x="6794404" y="1857595"/>
            <a:ext cx="1968596" cy="769441"/>
          </a:xfrm>
          <a:prstGeom prst="rect">
            <a:avLst/>
          </a:prstGeom>
          <a:noFill/>
        </p:spPr>
        <p:txBody>
          <a:bodyPr wrap="square" rtlCol="0">
            <a:spAutoFit/>
          </a:bodyPr>
          <a:lstStyle/>
          <a:p>
            <a:pPr algn="ctr"/>
            <a:r>
              <a:rPr lang="en-US" sz="2200" b="1" dirty="0"/>
              <a:t>3.</a:t>
            </a:r>
            <a:r>
              <a:rPr lang="en-US" sz="2200" dirty="0"/>
              <a:t> pop them, push sum</a:t>
            </a:r>
            <a:endParaRPr lang="en-US" sz="2200" i="1" dirty="0"/>
          </a:p>
        </p:txBody>
      </p:sp>
      <p:graphicFrame>
        <p:nvGraphicFramePr>
          <p:cNvPr id="32" name="Table 31">
            <a:extLst>
              <a:ext uri="{FF2B5EF4-FFF2-40B4-BE49-F238E27FC236}">
                <a16:creationId xmlns:a16="http://schemas.microsoft.com/office/drawing/2014/main" id="{68250CA2-12E3-8E43-A03A-AC943826E93B}"/>
              </a:ext>
            </a:extLst>
          </p:cNvPr>
          <p:cNvGraphicFramePr>
            <a:graphicFrameLocks noGrp="1"/>
          </p:cNvGraphicFramePr>
          <p:nvPr>
            <p:extLst>
              <p:ext uri="{D42A27DB-BD31-4B8C-83A1-F6EECF244321}">
                <p14:modId xmlns:p14="http://schemas.microsoft.com/office/powerpoint/2010/main" val="4247236557"/>
              </p:ext>
            </p:extLst>
          </p:nvPr>
        </p:nvGraphicFramePr>
        <p:xfrm>
          <a:off x="7177532" y="3372364"/>
          <a:ext cx="1202340" cy="457200"/>
        </p:xfrm>
        <a:graphic>
          <a:graphicData uri="http://schemas.openxmlformats.org/drawingml/2006/table">
            <a:tbl>
              <a:tblPr>
                <a:tableStyleId>{5C22544A-7EE6-4342-B048-85BDC9FD1C3A}</a:tableStyleId>
              </a:tblPr>
              <a:tblGrid>
                <a:gridCol w="1202340">
                  <a:extLst>
                    <a:ext uri="{9D8B030D-6E8A-4147-A177-3AD203B41FA5}">
                      <a16:colId xmlns:a16="http://schemas.microsoft.com/office/drawing/2014/main" val="2742081593"/>
                    </a:ext>
                  </a:extLst>
                </a:gridCol>
              </a:tblGrid>
              <a:tr h="370840">
                <a:tc>
                  <a:txBody>
                    <a:bodyPr/>
                    <a:lstStyle/>
                    <a:p>
                      <a:pPr algn="ctr"/>
                      <a:r>
                        <a:rPr lang="en-US" sz="2400" b="1" dirty="0">
                          <a:latin typeface="Consolas" panose="020B0609020204030204" pitchFamily="49" charset="0"/>
                          <a:cs typeface="Consolas" panose="020B0609020204030204" pitchFamily="49" charset="0"/>
                        </a:rPr>
                        <a:t>a + b</a:t>
                      </a:r>
                    </a:p>
                  </a:txBody>
                  <a:tcPr>
                    <a:solidFill>
                      <a:schemeClr val="accent1">
                        <a:lumMod val="40000"/>
                        <a:lumOff val="60000"/>
                      </a:schemeClr>
                    </a:solidFill>
                  </a:tcPr>
                </a:tc>
                <a:extLst>
                  <a:ext uri="{0D108BD9-81ED-4DB2-BD59-A6C34878D82A}">
                    <a16:rowId xmlns:a16="http://schemas.microsoft.com/office/drawing/2014/main" val="2180819688"/>
                  </a:ext>
                </a:extLst>
              </a:tr>
            </a:tbl>
          </a:graphicData>
        </a:graphic>
      </p:graphicFrame>
      <p:sp>
        <p:nvSpPr>
          <p:cNvPr id="33" name="TextBox 32">
            <a:extLst>
              <a:ext uri="{FF2B5EF4-FFF2-40B4-BE49-F238E27FC236}">
                <a16:creationId xmlns:a16="http://schemas.microsoft.com/office/drawing/2014/main" id="{09E5646B-4D59-FA4F-AB29-79E255A09593}"/>
              </a:ext>
            </a:extLst>
          </p:cNvPr>
          <p:cNvSpPr txBox="1"/>
          <p:nvPr/>
        </p:nvSpPr>
        <p:spPr>
          <a:xfrm>
            <a:off x="3499395" y="4215944"/>
            <a:ext cx="4841942" cy="1107996"/>
          </a:xfrm>
          <a:prstGeom prst="rect">
            <a:avLst/>
          </a:prstGeom>
          <a:noFill/>
        </p:spPr>
        <p:txBody>
          <a:bodyPr wrap="square" rtlCol="0">
            <a:spAutoFit/>
          </a:bodyPr>
          <a:lstStyle/>
          <a:p>
            <a:pPr algn="ctr"/>
            <a:r>
              <a:rPr lang="en-US" sz="2200" dirty="0"/>
              <a:t>you can use this strategy to evaluate any expression of any complexity. (let's do a few examples.)</a:t>
            </a:r>
            <a:endParaRPr lang="en-US" sz="2200" i="1" dirty="0"/>
          </a:p>
        </p:txBody>
      </p:sp>
    </p:spTree>
    <p:extLst>
      <p:ext uri="{BB962C8B-B14F-4D97-AF65-F5344CB8AC3E}">
        <p14:creationId xmlns:p14="http://schemas.microsoft.com/office/powerpoint/2010/main" val="38695888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4" grpId="0" animBg="1"/>
      <p:bldP spid="25" grpId="0"/>
      <p:bldP spid="27" grpId="0"/>
      <p:bldP spid="29" grpId="0"/>
      <p:bldP spid="31" grpId="0"/>
      <p:bldP spid="3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81660-4ED8-B045-ABCB-A7FF9069E2ED}"/>
              </a:ext>
            </a:extLst>
          </p:cNvPr>
          <p:cNvSpPr>
            <a:spLocks noGrp="1"/>
          </p:cNvSpPr>
          <p:nvPr>
            <p:ph type="title"/>
          </p:nvPr>
        </p:nvSpPr>
        <p:spPr/>
        <p:txBody>
          <a:bodyPr/>
          <a:lstStyle/>
          <a:p>
            <a:r>
              <a:rPr lang="en-US" dirty="0"/>
              <a:t>Ok? And? How does that help?</a:t>
            </a:r>
          </a:p>
        </p:txBody>
      </p:sp>
      <p:sp>
        <p:nvSpPr>
          <p:cNvPr id="3" name="Content Placeholder 2">
            <a:extLst>
              <a:ext uri="{FF2B5EF4-FFF2-40B4-BE49-F238E27FC236}">
                <a16:creationId xmlns:a16="http://schemas.microsoft.com/office/drawing/2014/main" id="{9F67CD6B-7881-B946-ABD3-3A243C9F5FD6}"/>
              </a:ext>
            </a:extLst>
          </p:cNvPr>
          <p:cNvSpPr>
            <a:spLocks noGrp="1"/>
          </p:cNvSpPr>
          <p:nvPr>
            <p:ph idx="1"/>
          </p:nvPr>
        </p:nvSpPr>
        <p:spPr>
          <a:xfrm>
            <a:off x="152400" y="495302"/>
            <a:ext cx="8991600" cy="495300"/>
          </a:xfrm>
        </p:spPr>
        <p:txBody>
          <a:bodyPr/>
          <a:lstStyle/>
          <a:p>
            <a:r>
              <a:rPr lang="en-US" dirty="0"/>
              <a:t>well… we can map that </a:t>
            </a:r>
            <a:r>
              <a:rPr lang="en-US" i="1" dirty="0"/>
              <a:t>imaginary</a:t>
            </a:r>
            <a:r>
              <a:rPr lang="en-US" dirty="0"/>
              <a:t> stack </a:t>
            </a:r>
            <a:r>
              <a:rPr lang="en-US" b="1" dirty="0"/>
              <a:t>onto the registers.</a:t>
            </a:r>
            <a:endParaRPr lang="en-US" dirty="0"/>
          </a:p>
        </p:txBody>
      </p:sp>
      <p:sp>
        <p:nvSpPr>
          <p:cNvPr id="4" name="Slide Number Placeholder 3">
            <a:extLst>
              <a:ext uri="{FF2B5EF4-FFF2-40B4-BE49-F238E27FC236}">
                <a16:creationId xmlns:a16="http://schemas.microsoft.com/office/drawing/2014/main" id="{10B87686-AC37-0B47-8978-79B736DCCCAC}"/>
              </a:ext>
            </a:extLst>
          </p:cNvPr>
          <p:cNvSpPr>
            <a:spLocks noGrp="1"/>
          </p:cNvSpPr>
          <p:nvPr>
            <p:ph type="sldNum" sz="quarter" idx="12"/>
          </p:nvPr>
        </p:nvSpPr>
        <p:spPr/>
        <p:txBody>
          <a:bodyPr/>
          <a:lstStyle/>
          <a:p>
            <a:fld id="{3552B95B-556F-44BD-91A5-D80C1B9E2BB3}" type="slidenum">
              <a:rPr lang="en-US" smtClean="0"/>
              <a:pPr/>
              <a:t>14</a:t>
            </a:fld>
            <a:endParaRPr lang="en-US"/>
          </a:p>
        </p:txBody>
      </p:sp>
      <p:sp>
        <p:nvSpPr>
          <p:cNvPr id="5" name="TextBox 4">
            <a:extLst>
              <a:ext uri="{FF2B5EF4-FFF2-40B4-BE49-F238E27FC236}">
                <a16:creationId xmlns:a16="http://schemas.microsoft.com/office/drawing/2014/main" id="{8A13B0A8-BF82-9C46-875B-F21F3E4098A8}"/>
              </a:ext>
            </a:extLst>
          </p:cNvPr>
          <p:cNvSpPr txBox="1"/>
          <p:nvPr/>
        </p:nvSpPr>
        <p:spPr>
          <a:xfrm>
            <a:off x="534893" y="1047236"/>
            <a:ext cx="1739579" cy="430887"/>
          </a:xfrm>
          <a:prstGeom prst="rect">
            <a:avLst/>
          </a:prstGeom>
          <a:noFill/>
        </p:spPr>
        <p:txBody>
          <a:bodyPr wrap="none" rtlCol="0">
            <a:spAutoFit/>
          </a:bodyPr>
          <a:lstStyle/>
          <a:p>
            <a:r>
              <a:rPr lang="en-US" sz="2200" b="1" dirty="0">
                <a:latin typeface="Consolas" panose="020B0609020204030204" pitchFamily="49" charset="0"/>
                <a:cs typeface="Consolas" panose="020B0609020204030204" pitchFamily="49" charset="0"/>
              </a:rPr>
              <a:t>g = a + b;</a:t>
            </a:r>
          </a:p>
        </p:txBody>
      </p:sp>
      <p:grpSp>
        <p:nvGrpSpPr>
          <p:cNvPr id="6" name="Group 5">
            <a:extLst>
              <a:ext uri="{FF2B5EF4-FFF2-40B4-BE49-F238E27FC236}">
                <a16:creationId xmlns:a16="http://schemas.microsoft.com/office/drawing/2014/main" id="{2209CBA7-6AA8-954B-BAA1-7B399EA51FEF}"/>
              </a:ext>
            </a:extLst>
          </p:cNvPr>
          <p:cNvGrpSpPr/>
          <p:nvPr/>
        </p:nvGrpSpPr>
        <p:grpSpPr>
          <a:xfrm>
            <a:off x="624397" y="1478123"/>
            <a:ext cx="1664310" cy="1703866"/>
            <a:chOff x="317805" y="2274380"/>
            <a:chExt cx="1664310" cy="1703866"/>
          </a:xfrm>
        </p:grpSpPr>
        <p:sp>
          <p:nvSpPr>
            <p:cNvPr id="7" name="TextBox 6">
              <a:extLst>
                <a:ext uri="{FF2B5EF4-FFF2-40B4-BE49-F238E27FC236}">
                  <a16:creationId xmlns:a16="http://schemas.microsoft.com/office/drawing/2014/main" id="{CF936123-E388-B041-AB51-AF271B6B7996}"/>
                </a:ext>
              </a:extLst>
            </p:cNvPr>
            <p:cNvSpPr txBox="1"/>
            <p:nvPr/>
          </p:nvSpPr>
          <p:spPr>
            <a:xfrm>
              <a:off x="762000" y="3578136"/>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a</a:t>
              </a:r>
            </a:p>
          </p:txBody>
        </p:sp>
        <p:sp>
          <p:nvSpPr>
            <p:cNvPr id="8" name="TextBox 7">
              <a:extLst>
                <a:ext uri="{FF2B5EF4-FFF2-40B4-BE49-F238E27FC236}">
                  <a16:creationId xmlns:a16="http://schemas.microsoft.com/office/drawing/2014/main" id="{B3B236B1-8142-1D4B-8768-60C39E36ACB3}"/>
                </a:ext>
              </a:extLst>
            </p:cNvPr>
            <p:cNvSpPr txBox="1"/>
            <p:nvPr/>
          </p:nvSpPr>
          <p:spPr>
            <a:xfrm>
              <a:off x="1656385" y="3578136"/>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b</a:t>
              </a:r>
            </a:p>
          </p:txBody>
        </p:sp>
        <p:sp>
          <p:nvSpPr>
            <p:cNvPr id="9" name="TextBox 8">
              <a:extLst>
                <a:ext uri="{FF2B5EF4-FFF2-40B4-BE49-F238E27FC236}">
                  <a16:creationId xmlns:a16="http://schemas.microsoft.com/office/drawing/2014/main" id="{87E71D94-30E6-2542-882D-34E7FD7DD484}"/>
                </a:ext>
              </a:extLst>
            </p:cNvPr>
            <p:cNvSpPr txBox="1"/>
            <p:nvPr/>
          </p:nvSpPr>
          <p:spPr>
            <a:xfrm>
              <a:off x="1206195" y="2947515"/>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a:t>
              </a:r>
            </a:p>
          </p:txBody>
        </p:sp>
        <p:cxnSp>
          <p:nvCxnSpPr>
            <p:cNvPr id="10" name="Straight Connector 9">
              <a:extLst>
                <a:ext uri="{FF2B5EF4-FFF2-40B4-BE49-F238E27FC236}">
                  <a16:creationId xmlns:a16="http://schemas.microsoft.com/office/drawing/2014/main" id="{5947BFD9-9660-864F-A3EE-921F498C8200}"/>
                </a:ext>
              </a:extLst>
            </p:cNvPr>
            <p:cNvCxnSpPr>
              <a:cxnSpLocks/>
            </p:cNvCxnSpPr>
            <p:nvPr/>
          </p:nvCxnSpPr>
          <p:spPr>
            <a:xfrm flipV="1">
              <a:off x="1025855" y="3285662"/>
              <a:ext cx="272085" cy="38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3BB8D57-962A-D847-82DF-0A9A7EEF82E0}"/>
                </a:ext>
              </a:extLst>
            </p:cNvPr>
            <p:cNvCxnSpPr>
              <a:cxnSpLocks/>
            </p:cNvCxnSpPr>
            <p:nvPr/>
          </p:nvCxnSpPr>
          <p:spPr>
            <a:xfrm flipH="1" flipV="1">
              <a:off x="1440180" y="3265342"/>
              <a:ext cx="309880" cy="406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6325B07-DF6A-9A4F-9323-AB4916B0BD8B}"/>
                </a:ext>
              </a:extLst>
            </p:cNvPr>
            <p:cNvSpPr txBox="1"/>
            <p:nvPr/>
          </p:nvSpPr>
          <p:spPr>
            <a:xfrm>
              <a:off x="317805" y="2905001"/>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g</a:t>
              </a:r>
            </a:p>
          </p:txBody>
        </p:sp>
        <p:sp>
          <p:nvSpPr>
            <p:cNvPr id="13" name="TextBox 12">
              <a:extLst>
                <a:ext uri="{FF2B5EF4-FFF2-40B4-BE49-F238E27FC236}">
                  <a16:creationId xmlns:a16="http://schemas.microsoft.com/office/drawing/2014/main" id="{507076E3-D852-CB43-8A53-4B422F2A0C4B}"/>
                </a:ext>
              </a:extLst>
            </p:cNvPr>
            <p:cNvSpPr txBox="1"/>
            <p:nvPr/>
          </p:nvSpPr>
          <p:spPr>
            <a:xfrm>
              <a:off x="762000" y="2274380"/>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a:t>
              </a:r>
            </a:p>
          </p:txBody>
        </p:sp>
        <p:cxnSp>
          <p:nvCxnSpPr>
            <p:cNvPr id="14" name="Straight Connector 13">
              <a:extLst>
                <a:ext uri="{FF2B5EF4-FFF2-40B4-BE49-F238E27FC236}">
                  <a16:creationId xmlns:a16="http://schemas.microsoft.com/office/drawing/2014/main" id="{314C517E-222E-6D4A-A78E-F9F441B4CA7F}"/>
                </a:ext>
              </a:extLst>
            </p:cNvPr>
            <p:cNvCxnSpPr>
              <a:cxnSpLocks/>
            </p:cNvCxnSpPr>
            <p:nvPr/>
          </p:nvCxnSpPr>
          <p:spPr>
            <a:xfrm flipV="1">
              <a:off x="581660" y="2612527"/>
              <a:ext cx="272085" cy="38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D11E078-E2B3-F54B-B0C7-ABC85788FCF9}"/>
                </a:ext>
              </a:extLst>
            </p:cNvPr>
            <p:cNvCxnSpPr>
              <a:cxnSpLocks/>
            </p:cNvCxnSpPr>
            <p:nvPr/>
          </p:nvCxnSpPr>
          <p:spPr>
            <a:xfrm flipH="1" flipV="1">
              <a:off x="995985" y="2592207"/>
              <a:ext cx="309880" cy="406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aphicFrame>
        <p:nvGraphicFramePr>
          <p:cNvPr id="16" name="Table 15">
            <a:extLst>
              <a:ext uri="{FF2B5EF4-FFF2-40B4-BE49-F238E27FC236}">
                <a16:creationId xmlns:a16="http://schemas.microsoft.com/office/drawing/2014/main" id="{74C01A1E-A800-CB40-A488-0A5A18BCA61B}"/>
              </a:ext>
            </a:extLst>
          </p:cNvPr>
          <p:cNvGraphicFramePr>
            <a:graphicFrameLocks noGrp="1"/>
          </p:cNvGraphicFramePr>
          <p:nvPr>
            <p:extLst>
              <p:ext uri="{D42A27DB-BD31-4B8C-83A1-F6EECF244321}">
                <p14:modId xmlns:p14="http://schemas.microsoft.com/office/powerpoint/2010/main" val="2346830357"/>
              </p:ext>
            </p:extLst>
          </p:nvPr>
        </p:nvGraphicFramePr>
        <p:xfrm>
          <a:off x="3024283" y="1714500"/>
          <a:ext cx="1202340" cy="457200"/>
        </p:xfrm>
        <a:graphic>
          <a:graphicData uri="http://schemas.openxmlformats.org/drawingml/2006/table">
            <a:tbl>
              <a:tblPr>
                <a:tableStyleId>{5C22544A-7EE6-4342-B048-85BDC9FD1C3A}</a:tableStyleId>
              </a:tblPr>
              <a:tblGrid>
                <a:gridCol w="1202340">
                  <a:extLst>
                    <a:ext uri="{9D8B030D-6E8A-4147-A177-3AD203B41FA5}">
                      <a16:colId xmlns:a16="http://schemas.microsoft.com/office/drawing/2014/main" val="2742081593"/>
                    </a:ext>
                  </a:extLst>
                </a:gridCol>
              </a:tblGrid>
              <a:tr h="370840">
                <a:tc>
                  <a:txBody>
                    <a:bodyPr/>
                    <a:lstStyle/>
                    <a:p>
                      <a:pPr algn="ctr"/>
                      <a:r>
                        <a:rPr lang="en-US" sz="2400" b="1" dirty="0">
                          <a:latin typeface="Consolas" panose="020B0609020204030204" pitchFamily="49" charset="0"/>
                          <a:cs typeface="Consolas" panose="020B0609020204030204" pitchFamily="49" charset="0"/>
                        </a:rPr>
                        <a:t>a</a:t>
                      </a:r>
                    </a:p>
                  </a:txBody>
                  <a:tcPr>
                    <a:solidFill>
                      <a:schemeClr val="accent1">
                        <a:lumMod val="40000"/>
                        <a:lumOff val="60000"/>
                      </a:schemeClr>
                    </a:solidFill>
                  </a:tcPr>
                </a:tc>
                <a:extLst>
                  <a:ext uri="{0D108BD9-81ED-4DB2-BD59-A6C34878D82A}">
                    <a16:rowId xmlns:a16="http://schemas.microsoft.com/office/drawing/2014/main" val="174856156"/>
                  </a:ext>
                </a:extLst>
              </a:tr>
            </a:tbl>
          </a:graphicData>
        </a:graphic>
      </p:graphicFrame>
      <p:graphicFrame>
        <p:nvGraphicFramePr>
          <p:cNvPr id="17" name="Table 16">
            <a:extLst>
              <a:ext uri="{FF2B5EF4-FFF2-40B4-BE49-F238E27FC236}">
                <a16:creationId xmlns:a16="http://schemas.microsoft.com/office/drawing/2014/main" id="{A236599B-7566-D549-9EB5-E0CD902D0300}"/>
              </a:ext>
            </a:extLst>
          </p:cNvPr>
          <p:cNvGraphicFramePr>
            <a:graphicFrameLocks noGrp="1"/>
          </p:cNvGraphicFramePr>
          <p:nvPr>
            <p:extLst>
              <p:ext uri="{D42A27DB-BD31-4B8C-83A1-F6EECF244321}">
                <p14:modId xmlns:p14="http://schemas.microsoft.com/office/powerpoint/2010/main" val="3494947768"/>
              </p:ext>
            </p:extLst>
          </p:nvPr>
        </p:nvGraphicFramePr>
        <p:xfrm>
          <a:off x="5100176" y="1257300"/>
          <a:ext cx="1202340" cy="914400"/>
        </p:xfrm>
        <a:graphic>
          <a:graphicData uri="http://schemas.openxmlformats.org/drawingml/2006/table">
            <a:tbl>
              <a:tblPr>
                <a:tableStyleId>{5C22544A-7EE6-4342-B048-85BDC9FD1C3A}</a:tableStyleId>
              </a:tblPr>
              <a:tblGrid>
                <a:gridCol w="1202340">
                  <a:extLst>
                    <a:ext uri="{9D8B030D-6E8A-4147-A177-3AD203B41FA5}">
                      <a16:colId xmlns:a16="http://schemas.microsoft.com/office/drawing/2014/main" val="2742081593"/>
                    </a:ext>
                  </a:extLst>
                </a:gridCol>
              </a:tblGrid>
              <a:tr h="370840">
                <a:tc>
                  <a:txBody>
                    <a:bodyPr/>
                    <a:lstStyle/>
                    <a:p>
                      <a:pPr algn="ctr"/>
                      <a:r>
                        <a:rPr lang="en-US" sz="2400" b="1" dirty="0">
                          <a:latin typeface="Consolas" panose="020B0609020204030204" pitchFamily="49" charset="0"/>
                          <a:cs typeface="Consolas" panose="020B0609020204030204" pitchFamily="49" charset="0"/>
                        </a:rPr>
                        <a:t>b</a:t>
                      </a:r>
                    </a:p>
                  </a:txBody>
                  <a:tcPr>
                    <a:solidFill>
                      <a:schemeClr val="accent1">
                        <a:lumMod val="40000"/>
                        <a:lumOff val="60000"/>
                      </a:schemeClr>
                    </a:solidFill>
                  </a:tcPr>
                </a:tc>
                <a:extLst>
                  <a:ext uri="{0D108BD9-81ED-4DB2-BD59-A6C34878D82A}">
                    <a16:rowId xmlns:a16="http://schemas.microsoft.com/office/drawing/2014/main" val="174856156"/>
                  </a:ext>
                </a:extLst>
              </a:tr>
              <a:tr h="370840">
                <a:tc>
                  <a:txBody>
                    <a:bodyPr/>
                    <a:lstStyle/>
                    <a:p>
                      <a:pPr algn="ctr"/>
                      <a:r>
                        <a:rPr lang="en-US" sz="2400" b="1" dirty="0">
                          <a:latin typeface="Consolas" panose="020B0609020204030204" pitchFamily="49" charset="0"/>
                          <a:cs typeface="Consolas" panose="020B0609020204030204" pitchFamily="49" charset="0"/>
                        </a:rPr>
                        <a:t>a</a:t>
                      </a:r>
                    </a:p>
                  </a:txBody>
                  <a:tcPr>
                    <a:solidFill>
                      <a:schemeClr val="accent1">
                        <a:lumMod val="40000"/>
                        <a:lumOff val="60000"/>
                      </a:schemeClr>
                    </a:solidFill>
                  </a:tcPr>
                </a:tc>
                <a:extLst>
                  <a:ext uri="{0D108BD9-81ED-4DB2-BD59-A6C34878D82A}">
                    <a16:rowId xmlns:a16="http://schemas.microsoft.com/office/drawing/2014/main" val="2180819688"/>
                  </a:ext>
                </a:extLst>
              </a:tr>
            </a:tbl>
          </a:graphicData>
        </a:graphic>
      </p:graphicFrame>
      <p:graphicFrame>
        <p:nvGraphicFramePr>
          <p:cNvPr id="18" name="Table 17">
            <a:extLst>
              <a:ext uri="{FF2B5EF4-FFF2-40B4-BE49-F238E27FC236}">
                <a16:creationId xmlns:a16="http://schemas.microsoft.com/office/drawing/2014/main" id="{F88B3EA6-DDB5-5F42-AD96-79C7602F6A3D}"/>
              </a:ext>
            </a:extLst>
          </p:cNvPr>
          <p:cNvGraphicFramePr>
            <a:graphicFrameLocks noGrp="1"/>
          </p:cNvGraphicFramePr>
          <p:nvPr>
            <p:extLst>
              <p:ext uri="{D42A27DB-BD31-4B8C-83A1-F6EECF244321}">
                <p14:modId xmlns:p14="http://schemas.microsoft.com/office/powerpoint/2010/main" val="3452239727"/>
              </p:ext>
            </p:extLst>
          </p:nvPr>
        </p:nvGraphicFramePr>
        <p:xfrm>
          <a:off x="7289355" y="1714500"/>
          <a:ext cx="1202340" cy="457200"/>
        </p:xfrm>
        <a:graphic>
          <a:graphicData uri="http://schemas.openxmlformats.org/drawingml/2006/table">
            <a:tbl>
              <a:tblPr>
                <a:tableStyleId>{5C22544A-7EE6-4342-B048-85BDC9FD1C3A}</a:tableStyleId>
              </a:tblPr>
              <a:tblGrid>
                <a:gridCol w="1202340">
                  <a:extLst>
                    <a:ext uri="{9D8B030D-6E8A-4147-A177-3AD203B41FA5}">
                      <a16:colId xmlns:a16="http://schemas.microsoft.com/office/drawing/2014/main" val="2742081593"/>
                    </a:ext>
                  </a:extLst>
                </a:gridCol>
              </a:tblGrid>
              <a:tr h="370840">
                <a:tc>
                  <a:txBody>
                    <a:bodyPr/>
                    <a:lstStyle/>
                    <a:p>
                      <a:pPr algn="ctr"/>
                      <a:r>
                        <a:rPr lang="en-US" sz="2400" b="1" dirty="0">
                          <a:latin typeface="Consolas" panose="020B0609020204030204" pitchFamily="49" charset="0"/>
                          <a:cs typeface="Consolas" panose="020B0609020204030204" pitchFamily="49" charset="0"/>
                        </a:rPr>
                        <a:t>a + b</a:t>
                      </a:r>
                    </a:p>
                  </a:txBody>
                  <a:tcPr>
                    <a:solidFill>
                      <a:schemeClr val="accent1">
                        <a:lumMod val="40000"/>
                        <a:lumOff val="60000"/>
                      </a:schemeClr>
                    </a:solidFill>
                  </a:tcPr>
                </a:tc>
                <a:extLst>
                  <a:ext uri="{0D108BD9-81ED-4DB2-BD59-A6C34878D82A}">
                    <a16:rowId xmlns:a16="http://schemas.microsoft.com/office/drawing/2014/main" val="2180819688"/>
                  </a:ext>
                </a:extLst>
              </a:tr>
            </a:tbl>
          </a:graphicData>
        </a:graphic>
      </p:graphicFrame>
      <p:sp>
        <p:nvSpPr>
          <p:cNvPr id="19" name="TextBox 18">
            <a:extLst>
              <a:ext uri="{FF2B5EF4-FFF2-40B4-BE49-F238E27FC236}">
                <a16:creationId xmlns:a16="http://schemas.microsoft.com/office/drawing/2014/main" id="{2FDE7C79-99F1-4B4C-93C8-58E5CC0A53ED}"/>
              </a:ext>
            </a:extLst>
          </p:cNvPr>
          <p:cNvSpPr txBox="1"/>
          <p:nvPr/>
        </p:nvSpPr>
        <p:spPr>
          <a:xfrm>
            <a:off x="2529502" y="1740813"/>
            <a:ext cx="495649" cy="430887"/>
          </a:xfrm>
          <a:prstGeom prst="rect">
            <a:avLst/>
          </a:prstGeom>
          <a:noFill/>
        </p:spPr>
        <p:txBody>
          <a:bodyPr wrap="none" rtlCol="0">
            <a:spAutoFit/>
          </a:bodyPr>
          <a:lstStyle/>
          <a:p>
            <a:r>
              <a:rPr lang="en-US" sz="2200" b="1" dirty="0">
                <a:solidFill>
                  <a:srgbClr val="FF0000"/>
                </a:solidFill>
                <a:latin typeface="Consolas" panose="020B0609020204030204" pitchFamily="49" charset="0"/>
                <a:cs typeface="Consolas" panose="020B0609020204030204" pitchFamily="49" charset="0"/>
              </a:rPr>
              <a:t>s0</a:t>
            </a:r>
          </a:p>
        </p:txBody>
      </p:sp>
      <p:sp>
        <p:nvSpPr>
          <p:cNvPr id="20" name="TextBox 19">
            <a:extLst>
              <a:ext uri="{FF2B5EF4-FFF2-40B4-BE49-F238E27FC236}">
                <a16:creationId xmlns:a16="http://schemas.microsoft.com/office/drawing/2014/main" id="{0CAF840E-1674-1E46-9B68-6DFE3DE132CA}"/>
              </a:ext>
            </a:extLst>
          </p:cNvPr>
          <p:cNvSpPr txBox="1"/>
          <p:nvPr/>
        </p:nvSpPr>
        <p:spPr>
          <a:xfrm>
            <a:off x="4550744" y="1722702"/>
            <a:ext cx="495649" cy="430887"/>
          </a:xfrm>
          <a:prstGeom prst="rect">
            <a:avLst/>
          </a:prstGeom>
          <a:noFill/>
        </p:spPr>
        <p:txBody>
          <a:bodyPr wrap="none" rtlCol="0">
            <a:spAutoFit/>
          </a:bodyPr>
          <a:lstStyle/>
          <a:p>
            <a:r>
              <a:rPr lang="en-US" sz="2200" b="1" dirty="0">
                <a:solidFill>
                  <a:srgbClr val="FF0000"/>
                </a:solidFill>
                <a:latin typeface="Consolas" panose="020B0609020204030204" pitchFamily="49" charset="0"/>
                <a:cs typeface="Consolas" panose="020B0609020204030204" pitchFamily="49" charset="0"/>
              </a:rPr>
              <a:t>s0</a:t>
            </a:r>
          </a:p>
        </p:txBody>
      </p:sp>
      <p:sp>
        <p:nvSpPr>
          <p:cNvPr id="21" name="TextBox 20">
            <a:extLst>
              <a:ext uri="{FF2B5EF4-FFF2-40B4-BE49-F238E27FC236}">
                <a16:creationId xmlns:a16="http://schemas.microsoft.com/office/drawing/2014/main" id="{30684A91-D4D9-694C-8E9E-27514E3C6A12}"/>
              </a:ext>
            </a:extLst>
          </p:cNvPr>
          <p:cNvSpPr txBox="1"/>
          <p:nvPr/>
        </p:nvSpPr>
        <p:spPr>
          <a:xfrm>
            <a:off x="6784495" y="1735681"/>
            <a:ext cx="495649" cy="430887"/>
          </a:xfrm>
          <a:prstGeom prst="rect">
            <a:avLst/>
          </a:prstGeom>
          <a:noFill/>
        </p:spPr>
        <p:txBody>
          <a:bodyPr wrap="none" rtlCol="0">
            <a:spAutoFit/>
          </a:bodyPr>
          <a:lstStyle/>
          <a:p>
            <a:r>
              <a:rPr lang="en-US" sz="2200" b="1" dirty="0">
                <a:solidFill>
                  <a:srgbClr val="FF0000"/>
                </a:solidFill>
                <a:latin typeface="Consolas" panose="020B0609020204030204" pitchFamily="49" charset="0"/>
                <a:cs typeface="Consolas" panose="020B0609020204030204" pitchFamily="49" charset="0"/>
              </a:rPr>
              <a:t>s0</a:t>
            </a:r>
          </a:p>
        </p:txBody>
      </p:sp>
      <p:sp>
        <p:nvSpPr>
          <p:cNvPr id="22" name="TextBox 21">
            <a:extLst>
              <a:ext uri="{FF2B5EF4-FFF2-40B4-BE49-F238E27FC236}">
                <a16:creationId xmlns:a16="http://schemas.microsoft.com/office/drawing/2014/main" id="{8DACC07D-58AC-3D46-B688-CE11084CFFB9}"/>
              </a:ext>
            </a:extLst>
          </p:cNvPr>
          <p:cNvSpPr txBox="1"/>
          <p:nvPr/>
        </p:nvSpPr>
        <p:spPr>
          <a:xfrm>
            <a:off x="4550743" y="1254818"/>
            <a:ext cx="495649" cy="430887"/>
          </a:xfrm>
          <a:prstGeom prst="rect">
            <a:avLst/>
          </a:prstGeom>
          <a:noFill/>
        </p:spPr>
        <p:txBody>
          <a:bodyPr wrap="none" rtlCol="0">
            <a:spAutoFit/>
          </a:bodyPr>
          <a:lstStyle/>
          <a:p>
            <a:r>
              <a:rPr lang="en-US" sz="2200" b="1" dirty="0">
                <a:solidFill>
                  <a:srgbClr val="FF0000"/>
                </a:solidFill>
                <a:latin typeface="Consolas" panose="020B0609020204030204" pitchFamily="49" charset="0"/>
                <a:cs typeface="Consolas" panose="020B0609020204030204" pitchFamily="49" charset="0"/>
              </a:rPr>
              <a:t>s1</a:t>
            </a:r>
          </a:p>
        </p:txBody>
      </p:sp>
      <p:sp>
        <p:nvSpPr>
          <p:cNvPr id="23" name="TextBox 22">
            <a:extLst>
              <a:ext uri="{FF2B5EF4-FFF2-40B4-BE49-F238E27FC236}">
                <a16:creationId xmlns:a16="http://schemas.microsoft.com/office/drawing/2014/main" id="{539D9FAE-E357-404D-A23B-7EC95DFB4861}"/>
              </a:ext>
            </a:extLst>
          </p:cNvPr>
          <p:cNvSpPr txBox="1"/>
          <p:nvPr/>
        </p:nvSpPr>
        <p:spPr>
          <a:xfrm>
            <a:off x="2411092" y="2526926"/>
            <a:ext cx="6580508" cy="430887"/>
          </a:xfrm>
          <a:prstGeom prst="rect">
            <a:avLst/>
          </a:prstGeom>
          <a:noFill/>
        </p:spPr>
        <p:txBody>
          <a:bodyPr wrap="square" rtlCol="0">
            <a:spAutoFit/>
          </a:bodyPr>
          <a:lstStyle/>
          <a:p>
            <a:pPr algn="ctr"/>
            <a:r>
              <a:rPr lang="en-US" sz="2200" dirty="0"/>
              <a:t>this tells us </a:t>
            </a:r>
            <a:r>
              <a:rPr lang="en-US" sz="2200" b="1" dirty="0"/>
              <a:t>what register to put each value into!</a:t>
            </a:r>
            <a:endParaRPr lang="en-US" sz="2200" i="1" dirty="0"/>
          </a:p>
        </p:txBody>
      </p:sp>
      <p:sp>
        <p:nvSpPr>
          <p:cNvPr id="24" name="TextBox 23">
            <a:extLst>
              <a:ext uri="{FF2B5EF4-FFF2-40B4-BE49-F238E27FC236}">
                <a16:creationId xmlns:a16="http://schemas.microsoft.com/office/drawing/2014/main" id="{3EC666AE-A60F-114D-BD0D-C669CF25688E}"/>
              </a:ext>
            </a:extLst>
          </p:cNvPr>
          <p:cNvSpPr txBox="1"/>
          <p:nvPr/>
        </p:nvSpPr>
        <p:spPr>
          <a:xfrm>
            <a:off x="4343400" y="3075759"/>
            <a:ext cx="3113034" cy="1446550"/>
          </a:xfrm>
          <a:prstGeom prst="rect">
            <a:avLst/>
          </a:prstGeom>
          <a:noFill/>
        </p:spPr>
        <p:txBody>
          <a:bodyPr wrap="square" rtlCol="0">
            <a:spAutoFit/>
          </a:bodyPr>
          <a:lstStyle/>
          <a:p>
            <a:r>
              <a:rPr lang="en-US" sz="2200" b="1" dirty="0" err="1">
                <a:solidFill>
                  <a:srgbClr val="FF0000"/>
                </a:solidFill>
                <a:latin typeface="Consolas" panose="020B0609020204030204" pitchFamily="49" charset="0"/>
                <a:cs typeface="Consolas" panose="020B0609020204030204" pitchFamily="49" charset="0"/>
              </a:rPr>
              <a:t>lw</a:t>
            </a:r>
            <a:r>
              <a:rPr lang="en-US" sz="2200" b="1" dirty="0">
                <a:latin typeface="Consolas" panose="020B0609020204030204" pitchFamily="49" charset="0"/>
                <a:cs typeface="Consolas" panose="020B0609020204030204" pitchFamily="49" charset="0"/>
              </a:rPr>
              <a:t>   s0, </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 </a:t>
            </a:r>
            <a:r>
              <a:rPr lang="en-US" sz="2200" i="1" dirty="0">
                <a:solidFill>
                  <a:schemeClr val="accent3">
                    <a:lumMod val="75000"/>
                  </a:schemeClr>
                </a:solidFill>
                <a:latin typeface="Consolas" panose="020B0609020204030204" pitchFamily="49" charset="0"/>
                <a:cs typeface="Consolas" panose="020B0609020204030204" pitchFamily="49" charset="0"/>
              </a:rPr>
              <a:t># a</a:t>
            </a:r>
          </a:p>
          <a:p>
            <a:r>
              <a:rPr lang="en-US" sz="2200" b="1" dirty="0" err="1">
                <a:solidFill>
                  <a:srgbClr val="FF0000"/>
                </a:solidFill>
                <a:latin typeface="Consolas" panose="020B0609020204030204" pitchFamily="49" charset="0"/>
                <a:cs typeface="Consolas" panose="020B0609020204030204" pitchFamily="49" charset="0"/>
              </a:rPr>
              <a:t>lw</a:t>
            </a:r>
            <a:r>
              <a:rPr lang="en-US" sz="2200" b="1" dirty="0">
                <a:latin typeface="Consolas" panose="020B0609020204030204" pitchFamily="49" charset="0"/>
                <a:cs typeface="Consolas" panose="020B0609020204030204" pitchFamily="49" charset="0"/>
              </a:rPr>
              <a:t>   s1, </a:t>
            </a:r>
            <a:r>
              <a:rPr lang="en-US" sz="2200" b="1" dirty="0">
                <a:solidFill>
                  <a:schemeClr val="accent3">
                    <a:lumMod val="75000"/>
                  </a:schemeClr>
                </a:solidFill>
                <a:latin typeface="Consolas" panose="020B0609020204030204" pitchFamily="49" charset="0"/>
                <a:cs typeface="Consolas" panose="020B0609020204030204" pitchFamily="49" charset="0"/>
              </a:rPr>
              <a:t>4</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 </a:t>
            </a:r>
            <a:r>
              <a:rPr lang="en-US" sz="2200" i="1" dirty="0">
                <a:solidFill>
                  <a:schemeClr val="accent3">
                    <a:lumMod val="75000"/>
                  </a:schemeClr>
                </a:solidFill>
                <a:latin typeface="Consolas" panose="020B0609020204030204" pitchFamily="49" charset="0"/>
                <a:cs typeface="Consolas" panose="020B0609020204030204" pitchFamily="49" charset="0"/>
              </a:rPr>
              <a:t># b</a:t>
            </a:r>
          </a:p>
          <a:p>
            <a:r>
              <a:rPr lang="en-US" sz="2200" b="1" dirty="0">
                <a:solidFill>
                  <a:srgbClr val="FF0000"/>
                </a:solidFill>
                <a:latin typeface="Consolas" panose="020B0609020204030204" pitchFamily="49" charset="0"/>
                <a:cs typeface="Consolas" panose="020B0609020204030204" pitchFamily="49" charset="0"/>
              </a:rPr>
              <a:t>add</a:t>
            </a:r>
            <a:r>
              <a:rPr lang="en-US" sz="2200" b="1" dirty="0">
                <a:latin typeface="Consolas" panose="020B0609020204030204" pitchFamily="49" charset="0"/>
                <a:cs typeface="Consolas" panose="020B0609020204030204" pitchFamily="49" charset="0"/>
              </a:rPr>
              <a:t>  s0, s0, s1</a:t>
            </a:r>
          </a:p>
          <a:p>
            <a:r>
              <a:rPr lang="en-US" sz="2200" b="1" dirty="0" err="1">
                <a:solidFill>
                  <a:srgbClr val="FF0000"/>
                </a:solidFill>
                <a:latin typeface="Consolas" panose="020B0609020204030204" pitchFamily="49" charset="0"/>
                <a:cs typeface="Consolas" panose="020B0609020204030204" pitchFamily="49" charset="0"/>
              </a:rPr>
              <a:t>sw</a:t>
            </a:r>
            <a:r>
              <a:rPr lang="en-US" sz="2200" b="1" dirty="0">
                <a:latin typeface="Consolas" panose="020B0609020204030204" pitchFamily="49" charset="0"/>
                <a:cs typeface="Consolas" panose="020B0609020204030204" pitchFamily="49" charset="0"/>
              </a:rPr>
              <a:t>   s0, g</a:t>
            </a:r>
          </a:p>
        </p:txBody>
      </p:sp>
      <p:sp>
        <p:nvSpPr>
          <p:cNvPr id="25" name="TextBox 24">
            <a:extLst>
              <a:ext uri="{FF2B5EF4-FFF2-40B4-BE49-F238E27FC236}">
                <a16:creationId xmlns:a16="http://schemas.microsoft.com/office/drawing/2014/main" id="{6C782B33-A546-8449-9261-7761E7EA6D84}"/>
              </a:ext>
            </a:extLst>
          </p:cNvPr>
          <p:cNvSpPr txBox="1"/>
          <p:nvPr/>
        </p:nvSpPr>
        <p:spPr>
          <a:xfrm>
            <a:off x="410435" y="4602659"/>
            <a:ext cx="8323130" cy="769441"/>
          </a:xfrm>
          <a:prstGeom prst="rect">
            <a:avLst/>
          </a:prstGeom>
          <a:noFill/>
        </p:spPr>
        <p:txBody>
          <a:bodyPr wrap="square" rtlCol="0">
            <a:spAutoFit/>
          </a:bodyPr>
          <a:lstStyle/>
          <a:p>
            <a:pPr algn="ctr"/>
            <a:r>
              <a:rPr lang="en-US" sz="2200" dirty="0"/>
              <a:t>but now we come to an important issue: to be allowed to use the saved registers, </a:t>
            </a:r>
            <a:r>
              <a:rPr lang="en-US" sz="2200" b="1" dirty="0"/>
              <a:t>we must save the caller's versions of them.</a:t>
            </a:r>
            <a:endParaRPr lang="en-US" sz="2200" i="1" dirty="0"/>
          </a:p>
        </p:txBody>
      </p:sp>
    </p:spTree>
    <p:extLst>
      <p:ext uri="{BB962C8B-B14F-4D97-AF65-F5344CB8AC3E}">
        <p14:creationId xmlns:p14="http://schemas.microsoft.com/office/powerpoint/2010/main" val="23036329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4">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9" grpId="0"/>
      <p:bldP spid="20" grpId="0"/>
      <p:bldP spid="21" grpId="0"/>
      <p:bldP spid="22" grpId="0"/>
      <p:bldP spid="23" grpId="0"/>
      <p:bldP spid="24" grpId="0" uiExpand="1" build="p" bldLvl="5"/>
      <p:bldP spid="2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D0006-9145-7F49-96B0-E76D4292CFD3}"/>
              </a:ext>
            </a:extLst>
          </p:cNvPr>
          <p:cNvSpPr>
            <a:spLocks noGrp="1"/>
          </p:cNvSpPr>
          <p:nvPr>
            <p:ph type="title"/>
          </p:nvPr>
        </p:nvSpPr>
        <p:spPr/>
        <p:txBody>
          <a:bodyPr/>
          <a:lstStyle/>
          <a:p>
            <a:r>
              <a:rPr lang="en-US" dirty="0"/>
              <a:t>The last piece of the calling convention</a:t>
            </a:r>
          </a:p>
        </p:txBody>
      </p:sp>
      <p:sp>
        <p:nvSpPr>
          <p:cNvPr id="3" name="Content Placeholder 2">
            <a:extLst>
              <a:ext uri="{FF2B5EF4-FFF2-40B4-BE49-F238E27FC236}">
                <a16:creationId xmlns:a16="http://schemas.microsoft.com/office/drawing/2014/main" id="{9BFC58B8-99BE-E24C-8079-C934EE6F9B1D}"/>
              </a:ext>
            </a:extLst>
          </p:cNvPr>
          <p:cNvSpPr>
            <a:spLocks noGrp="1"/>
          </p:cNvSpPr>
          <p:nvPr>
            <p:ph idx="1"/>
          </p:nvPr>
        </p:nvSpPr>
        <p:spPr>
          <a:xfrm>
            <a:off x="152400" y="495301"/>
            <a:ext cx="8991600" cy="1219199"/>
          </a:xfrm>
        </p:spPr>
        <p:txBody>
          <a:bodyPr/>
          <a:lstStyle/>
          <a:p>
            <a:r>
              <a:rPr lang="en-US" dirty="0"/>
              <a:t>only </a:t>
            </a:r>
            <a:r>
              <a:rPr lang="en-US" i="1" dirty="0"/>
              <a:t>after</a:t>
            </a:r>
            <a:r>
              <a:rPr lang="en-US" dirty="0"/>
              <a:t> we have generated the code for a function, do we know </a:t>
            </a:r>
            <a:r>
              <a:rPr lang="en-US" b="1" dirty="0"/>
              <a:t>how many saved registers it needs.</a:t>
            </a:r>
          </a:p>
          <a:p>
            <a:r>
              <a:rPr lang="en-US" dirty="0"/>
              <a:t>so there is one more part of the stack frame:</a:t>
            </a:r>
          </a:p>
        </p:txBody>
      </p:sp>
      <p:sp>
        <p:nvSpPr>
          <p:cNvPr id="4" name="Slide Number Placeholder 3">
            <a:extLst>
              <a:ext uri="{FF2B5EF4-FFF2-40B4-BE49-F238E27FC236}">
                <a16:creationId xmlns:a16="http://schemas.microsoft.com/office/drawing/2014/main" id="{1E3F1447-44E5-F14E-A22C-18A2FAE00B35}"/>
              </a:ext>
            </a:extLst>
          </p:cNvPr>
          <p:cNvSpPr>
            <a:spLocks noGrp="1"/>
          </p:cNvSpPr>
          <p:nvPr>
            <p:ph type="sldNum" sz="quarter" idx="12"/>
          </p:nvPr>
        </p:nvSpPr>
        <p:spPr/>
        <p:txBody>
          <a:bodyPr/>
          <a:lstStyle/>
          <a:p>
            <a:fld id="{3552B95B-556F-44BD-91A5-D80C1B9E2BB3}" type="slidenum">
              <a:rPr lang="en-US" smtClean="0"/>
              <a:pPr/>
              <a:t>15</a:t>
            </a:fld>
            <a:endParaRPr lang="en-US"/>
          </a:p>
        </p:txBody>
      </p:sp>
      <p:graphicFrame>
        <p:nvGraphicFramePr>
          <p:cNvPr id="5" name="Table 4">
            <a:extLst>
              <a:ext uri="{FF2B5EF4-FFF2-40B4-BE49-F238E27FC236}">
                <a16:creationId xmlns:a16="http://schemas.microsoft.com/office/drawing/2014/main" id="{A9B4D032-AFE7-7C44-8517-10B001FDC14D}"/>
              </a:ext>
            </a:extLst>
          </p:cNvPr>
          <p:cNvGraphicFramePr>
            <a:graphicFrameLocks noGrp="1"/>
          </p:cNvGraphicFramePr>
          <p:nvPr>
            <p:extLst>
              <p:ext uri="{D42A27DB-BD31-4B8C-83A1-F6EECF244321}">
                <p14:modId xmlns:p14="http://schemas.microsoft.com/office/powerpoint/2010/main" val="628695012"/>
              </p:ext>
            </p:extLst>
          </p:nvPr>
        </p:nvGraphicFramePr>
        <p:xfrm>
          <a:off x="457200" y="1879740"/>
          <a:ext cx="812462" cy="3413760"/>
        </p:xfrm>
        <a:graphic>
          <a:graphicData uri="http://schemas.openxmlformats.org/drawingml/2006/table">
            <a:tbl>
              <a:tblPr bandRow="1">
                <a:tableStyleId>{5C22544A-7EE6-4342-B048-85BDC9FD1C3A}</a:tableStyleId>
              </a:tblPr>
              <a:tblGrid>
                <a:gridCol w="812462">
                  <a:extLst>
                    <a:ext uri="{9D8B030D-6E8A-4147-A177-3AD203B41FA5}">
                      <a16:colId xmlns:a16="http://schemas.microsoft.com/office/drawing/2014/main" val="1816345437"/>
                    </a:ext>
                  </a:extLst>
                </a:gridCol>
              </a:tblGrid>
              <a:tr h="370840">
                <a:tc>
                  <a:txBody>
                    <a:bodyPr/>
                    <a:lstStyle/>
                    <a:p>
                      <a:pPr algn="ctr"/>
                      <a:r>
                        <a:rPr lang="en-US" sz="2200" b="1" dirty="0">
                          <a:latin typeface="Consolas" panose="020B0609020204030204" pitchFamily="49" charset="0"/>
                          <a:cs typeface="Consolas" panose="020B0609020204030204" pitchFamily="49" charset="0"/>
                        </a:rPr>
                        <a:t>y</a:t>
                      </a:r>
                    </a:p>
                  </a:txBody>
                  <a:tcPr>
                    <a:solidFill>
                      <a:schemeClr val="accent3">
                        <a:lumMod val="60000"/>
                        <a:lumOff val="40000"/>
                      </a:schemeClr>
                    </a:solidFill>
                  </a:tcPr>
                </a:tc>
                <a:extLst>
                  <a:ext uri="{0D108BD9-81ED-4DB2-BD59-A6C34878D82A}">
                    <a16:rowId xmlns:a16="http://schemas.microsoft.com/office/drawing/2014/main" val="536278919"/>
                  </a:ext>
                </a:extLst>
              </a:tr>
              <a:tr h="370840">
                <a:tc>
                  <a:txBody>
                    <a:bodyPr/>
                    <a:lstStyle/>
                    <a:p>
                      <a:pPr algn="ctr"/>
                      <a:r>
                        <a:rPr lang="en-US" sz="2200" b="1" dirty="0">
                          <a:latin typeface="Consolas" panose="020B0609020204030204" pitchFamily="49" charset="0"/>
                          <a:cs typeface="Consolas" panose="020B0609020204030204" pitchFamily="49" charset="0"/>
                        </a:rPr>
                        <a:t>x</a:t>
                      </a:r>
                    </a:p>
                  </a:txBody>
                  <a:tcPr>
                    <a:solidFill>
                      <a:schemeClr val="accent3">
                        <a:lumMod val="60000"/>
                        <a:lumOff val="40000"/>
                      </a:schemeClr>
                    </a:solidFill>
                  </a:tcPr>
                </a:tc>
                <a:extLst>
                  <a:ext uri="{0D108BD9-81ED-4DB2-BD59-A6C34878D82A}">
                    <a16:rowId xmlns:a16="http://schemas.microsoft.com/office/drawing/2014/main" val="498795182"/>
                  </a:ext>
                </a:extLst>
              </a:tr>
              <a:tr h="370840">
                <a:tc>
                  <a:txBody>
                    <a:bodyPr/>
                    <a:lstStyle/>
                    <a:p>
                      <a:pPr algn="ctr"/>
                      <a:r>
                        <a:rPr lang="en-US" sz="2200" b="1" dirty="0" err="1">
                          <a:latin typeface="Consolas" panose="020B0609020204030204" pitchFamily="49" charset="0"/>
                          <a:cs typeface="Consolas" panose="020B0609020204030204" pitchFamily="49" charset="0"/>
                        </a:rPr>
                        <a:t>fp</a:t>
                      </a:r>
                      <a:endParaRPr lang="en-US" sz="2200" b="1" dirty="0">
                        <a:latin typeface="Consolas" panose="020B0609020204030204" pitchFamily="49" charset="0"/>
                        <a:cs typeface="Consolas" panose="020B0609020204030204" pitchFamily="49" charset="0"/>
                      </a:endParaRPr>
                    </a:p>
                  </a:txBody>
                  <a:tcPr>
                    <a:solidFill>
                      <a:schemeClr val="accent2">
                        <a:lumMod val="40000"/>
                        <a:lumOff val="60000"/>
                      </a:schemeClr>
                    </a:solidFill>
                  </a:tcPr>
                </a:tc>
                <a:extLst>
                  <a:ext uri="{0D108BD9-81ED-4DB2-BD59-A6C34878D82A}">
                    <a16:rowId xmlns:a16="http://schemas.microsoft.com/office/drawing/2014/main" val="3936903172"/>
                  </a:ext>
                </a:extLst>
              </a:tr>
              <a:tr h="370840">
                <a:tc>
                  <a:txBody>
                    <a:bodyPr/>
                    <a:lstStyle/>
                    <a:p>
                      <a:pPr algn="ctr"/>
                      <a:r>
                        <a:rPr lang="en-US" sz="2200" b="1" dirty="0" err="1">
                          <a:latin typeface="Consolas" panose="020B0609020204030204" pitchFamily="49" charset="0"/>
                          <a:cs typeface="Consolas" panose="020B0609020204030204" pitchFamily="49" charset="0"/>
                        </a:rPr>
                        <a:t>ra</a:t>
                      </a:r>
                      <a:endParaRPr lang="en-US" sz="2200" b="1" dirty="0">
                        <a:latin typeface="Consolas" panose="020B0609020204030204" pitchFamily="49" charset="0"/>
                        <a:cs typeface="Consolas" panose="020B0609020204030204" pitchFamily="49" charset="0"/>
                      </a:endParaRPr>
                    </a:p>
                  </a:txBody>
                  <a:tcPr>
                    <a:solidFill>
                      <a:schemeClr val="accent2">
                        <a:lumMod val="40000"/>
                        <a:lumOff val="60000"/>
                      </a:schemeClr>
                    </a:solidFill>
                  </a:tcPr>
                </a:tc>
                <a:extLst>
                  <a:ext uri="{0D108BD9-81ED-4DB2-BD59-A6C34878D82A}">
                    <a16:rowId xmlns:a16="http://schemas.microsoft.com/office/drawing/2014/main" val="1882845906"/>
                  </a:ext>
                </a:extLst>
              </a:tr>
              <a:tr h="370840">
                <a:tc>
                  <a:txBody>
                    <a:bodyPr/>
                    <a:lstStyle/>
                    <a:p>
                      <a:pPr algn="ctr"/>
                      <a:r>
                        <a:rPr lang="en-US" sz="2200" b="1" dirty="0">
                          <a:latin typeface="Consolas" panose="020B0609020204030204" pitchFamily="49" charset="0"/>
                          <a:cs typeface="Consolas" panose="020B0609020204030204" pitchFamily="49" charset="0"/>
                        </a:rPr>
                        <a:t>i</a:t>
                      </a:r>
                    </a:p>
                  </a:txBody>
                  <a:tcPr>
                    <a:solidFill>
                      <a:schemeClr val="accent1">
                        <a:lumMod val="40000"/>
                        <a:lumOff val="60000"/>
                      </a:schemeClr>
                    </a:solidFill>
                  </a:tcPr>
                </a:tc>
                <a:extLst>
                  <a:ext uri="{0D108BD9-81ED-4DB2-BD59-A6C34878D82A}">
                    <a16:rowId xmlns:a16="http://schemas.microsoft.com/office/drawing/2014/main" val="2225646117"/>
                  </a:ext>
                </a:extLst>
              </a:tr>
              <a:tr h="370840">
                <a:tc>
                  <a:txBody>
                    <a:bodyPr/>
                    <a:lstStyle/>
                    <a:p>
                      <a:pPr algn="ctr"/>
                      <a:r>
                        <a:rPr lang="en-US" sz="2200" b="1" dirty="0">
                          <a:latin typeface="Consolas" panose="020B0609020204030204" pitchFamily="49" charset="0"/>
                          <a:cs typeface="Consolas" panose="020B0609020204030204" pitchFamily="49" charset="0"/>
                        </a:rPr>
                        <a:t>z</a:t>
                      </a:r>
                    </a:p>
                  </a:txBody>
                  <a:tcPr>
                    <a:solidFill>
                      <a:schemeClr val="accent1">
                        <a:lumMod val="40000"/>
                        <a:lumOff val="60000"/>
                      </a:schemeClr>
                    </a:solidFill>
                  </a:tcPr>
                </a:tc>
                <a:extLst>
                  <a:ext uri="{0D108BD9-81ED-4DB2-BD59-A6C34878D82A}">
                    <a16:rowId xmlns:a16="http://schemas.microsoft.com/office/drawing/2014/main" val="1753748450"/>
                  </a:ext>
                </a:extLst>
              </a:tr>
              <a:tr h="370840">
                <a:tc>
                  <a:txBody>
                    <a:bodyPr/>
                    <a:lstStyle/>
                    <a:p>
                      <a:pPr algn="ctr"/>
                      <a:r>
                        <a:rPr lang="en-US" sz="2200" b="1" dirty="0">
                          <a:latin typeface="Consolas" panose="020B0609020204030204" pitchFamily="49" charset="0"/>
                          <a:cs typeface="Consolas" panose="020B0609020204030204" pitchFamily="49" charset="0"/>
                        </a:rPr>
                        <a:t>s1</a:t>
                      </a:r>
                    </a:p>
                  </a:txBody>
                  <a:tcPr>
                    <a:solidFill>
                      <a:schemeClr val="accent2">
                        <a:lumMod val="40000"/>
                        <a:lumOff val="60000"/>
                      </a:schemeClr>
                    </a:solidFill>
                  </a:tcPr>
                </a:tc>
                <a:extLst>
                  <a:ext uri="{0D108BD9-81ED-4DB2-BD59-A6C34878D82A}">
                    <a16:rowId xmlns:a16="http://schemas.microsoft.com/office/drawing/2014/main" val="4235738882"/>
                  </a:ext>
                </a:extLst>
              </a:tr>
              <a:tr h="370840">
                <a:tc>
                  <a:txBody>
                    <a:bodyPr/>
                    <a:lstStyle/>
                    <a:p>
                      <a:pPr algn="ctr"/>
                      <a:r>
                        <a:rPr lang="en-US" sz="2200" b="1" dirty="0">
                          <a:latin typeface="Consolas" panose="020B0609020204030204" pitchFamily="49" charset="0"/>
                          <a:cs typeface="Consolas" panose="020B0609020204030204" pitchFamily="49" charset="0"/>
                        </a:rPr>
                        <a:t>s0</a:t>
                      </a:r>
                    </a:p>
                  </a:txBody>
                  <a:tcPr>
                    <a:solidFill>
                      <a:schemeClr val="accent2">
                        <a:lumMod val="40000"/>
                        <a:lumOff val="60000"/>
                      </a:schemeClr>
                    </a:solidFill>
                  </a:tcPr>
                </a:tc>
                <a:extLst>
                  <a:ext uri="{0D108BD9-81ED-4DB2-BD59-A6C34878D82A}">
                    <a16:rowId xmlns:a16="http://schemas.microsoft.com/office/drawing/2014/main" val="3879828804"/>
                  </a:ext>
                </a:extLst>
              </a:tr>
            </a:tbl>
          </a:graphicData>
        </a:graphic>
      </p:graphicFrame>
      <p:sp>
        <p:nvSpPr>
          <p:cNvPr id="6" name="TextBox 5">
            <a:extLst>
              <a:ext uri="{FF2B5EF4-FFF2-40B4-BE49-F238E27FC236}">
                <a16:creationId xmlns:a16="http://schemas.microsoft.com/office/drawing/2014/main" id="{CF317F93-C497-6E4C-83BA-75DE3BD9D4CC}"/>
              </a:ext>
            </a:extLst>
          </p:cNvPr>
          <p:cNvSpPr txBox="1"/>
          <p:nvPr/>
        </p:nvSpPr>
        <p:spPr>
          <a:xfrm>
            <a:off x="1269662" y="2324100"/>
            <a:ext cx="495649" cy="430887"/>
          </a:xfrm>
          <a:prstGeom prst="rect">
            <a:avLst/>
          </a:prstGeom>
          <a:noFill/>
        </p:spPr>
        <p:txBody>
          <a:bodyPr wrap="none" rtlCol="0">
            <a:spAutoFit/>
          </a:bodyPr>
          <a:lstStyle/>
          <a:p>
            <a:r>
              <a:rPr lang="en-US" sz="2200" b="1" dirty="0" err="1">
                <a:latin typeface="Consolas" panose="020B0609020204030204" pitchFamily="49" charset="0"/>
                <a:cs typeface="Consolas" panose="020B0609020204030204" pitchFamily="49" charset="0"/>
              </a:rPr>
              <a:t>fp</a:t>
            </a:r>
            <a:endParaRPr lang="en-US" sz="2200" b="1"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A4C34277-EE95-4248-BCC8-65892DDAC415}"/>
              </a:ext>
            </a:extLst>
          </p:cNvPr>
          <p:cNvSpPr txBox="1"/>
          <p:nvPr/>
        </p:nvSpPr>
        <p:spPr>
          <a:xfrm>
            <a:off x="1269662" y="4862613"/>
            <a:ext cx="495649" cy="430887"/>
          </a:xfrm>
          <a:prstGeom prst="rect">
            <a:avLst/>
          </a:prstGeom>
          <a:noFill/>
        </p:spPr>
        <p:txBody>
          <a:bodyPr wrap="none" rtlCol="0">
            <a:spAutoFit/>
          </a:bodyPr>
          <a:lstStyle/>
          <a:p>
            <a:r>
              <a:rPr lang="en-US" sz="2200" b="1" dirty="0" err="1">
                <a:latin typeface="Consolas" panose="020B0609020204030204" pitchFamily="49" charset="0"/>
                <a:cs typeface="Consolas" panose="020B0609020204030204" pitchFamily="49" charset="0"/>
              </a:rPr>
              <a:t>sp</a:t>
            </a:r>
            <a:endParaRPr lang="en-US" sz="2200" b="1" dirty="0">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8C7A6121-3940-9D4A-8DB9-E599568EE0B4}"/>
              </a:ext>
            </a:extLst>
          </p:cNvPr>
          <p:cNvSpPr txBox="1"/>
          <p:nvPr/>
        </p:nvSpPr>
        <p:spPr>
          <a:xfrm>
            <a:off x="1682755" y="1780569"/>
            <a:ext cx="5778490" cy="769441"/>
          </a:xfrm>
          <a:prstGeom prst="rect">
            <a:avLst/>
          </a:prstGeom>
          <a:noFill/>
        </p:spPr>
        <p:txBody>
          <a:bodyPr wrap="square" rtlCol="0">
            <a:spAutoFit/>
          </a:bodyPr>
          <a:lstStyle/>
          <a:p>
            <a:pPr algn="ctr"/>
            <a:r>
              <a:rPr lang="en-US" sz="2200" dirty="0"/>
              <a:t>we have to save the caller's values of </a:t>
            </a:r>
            <a:r>
              <a:rPr lang="en-US" sz="2200" b="1" dirty="0"/>
              <a:t>any saved registers this function uses.</a:t>
            </a:r>
            <a:endParaRPr lang="en-US" sz="2200" i="1" dirty="0"/>
          </a:p>
        </p:txBody>
      </p:sp>
      <p:cxnSp>
        <p:nvCxnSpPr>
          <p:cNvPr id="9" name="Straight Arrow Connector 8">
            <a:extLst>
              <a:ext uri="{FF2B5EF4-FFF2-40B4-BE49-F238E27FC236}">
                <a16:creationId xmlns:a16="http://schemas.microsoft.com/office/drawing/2014/main" id="{A20BCDAD-D0DC-BF42-B679-87EBC8686467}"/>
              </a:ext>
            </a:extLst>
          </p:cNvPr>
          <p:cNvCxnSpPr>
            <a:cxnSpLocks/>
          </p:cNvCxnSpPr>
          <p:nvPr/>
        </p:nvCxnSpPr>
        <p:spPr>
          <a:xfrm flipH="1">
            <a:off x="1085222" y="2311121"/>
            <a:ext cx="1045029" cy="220058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E094347-D698-BA4E-AF53-9A2DACBF7C9E}"/>
              </a:ext>
            </a:extLst>
          </p:cNvPr>
          <p:cNvSpPr txBox="1"/>
          <p:nvPr/>
        </p:nvSpPr>
        <p:spPr>
          <a:xfrm>
            <a:off x="2590800" y="2663809"/>
            <a:ext cx="5778490" cy="769441"/>
          </a:xfrm>
          <a:prstGeom prst="rect">
            <a:avLst/>
          </a:prstGeom>
          <a:noFill/>
        </p:spPr>
        <p:txBody>
          <a:bodyPr wrap="square" rtlCol="0">
            <a:spAutoFit/>
          </a:bodyPr>
          <a:lstStyle/>
          <a:p>
            <a:pPr algn="ctr"/>
            <a:r>
              <a:rPr lang="en-US" sz="2200" dirty="0"/>
              <a:t>in the prologue, we will have to store each of these saved registers to the stack…</a:t>
            </a:r>
            <a:endParaRPr lang="en-US" sz="2200" i="1" dirty="0"/>
          </a:p>
        </p:txBody>
      </p:sp>
      <p:sp>
        <p:nvSpPr>
          <p:cNvPr id="15" name="TextBox 14">
            <a:extLst>
              <a:ext uri="{FF2B5EF4-FFF2-40B4-BE49-F238E27FC236}">
                <a16:creationId xmlns:a16="http://schemas.microsoft.com/office/drawing/2014/main" id="{D3D52E4F-44C2-7D4C-A7D8-4098D9B818B1}"/>
              </a:ext>
            </a:extLst>
          </p:cNvPr>
          <p:cNvSpPr txBox="1"/>
          <p:nvPr/>
        </p:nvSpPr>
        <p:spPr>
          <a:xfrm>
            <a:off x="2895600" y="3611064"/>
            <a:ext cx="6050363" cy="430887"/>
          </a:xfrm>
          <a:prstGeom prst="rect">
            <a:avLst/>
          </a:prstGeom>
          <a:noFill/>
        </p:spPr>
        <p:txBody>
          <a:bodyPr wrap="square" rtlCol="0">
            <a:spAutoFit/>
          </a:bodyPr>
          <a:lstStyle/>
          <a:p>
            <a:pPr algn="ctr"/>
            <a:r>
              <a:rPr lang="en-US" sz="2200" dirty="0"/>
              <a:t>…and in the epilogue, we will load them back.</a:t>
            </a:r>
            <a:endParaRPr lang="en-US" sz="2200" i="1" dirty="0"/>
          </a:p>
        </p:txBody>
      </p:sp>
      <p:sp>
        <p:nvSpPr>
          <p:cNvPr id="16" name="TextBox 15">
            <a:extLst>
              <a:ext uri="{FF2B5EF4-FFF2-40B4-BE49-F238E27FC236}">
                <a16:creationId xmlns:a16="http://schemas.microsoft.com/office/drawing/2014/main" id="{40AF5C00-3B0C-0846-A997-7AB0070EBD7D}"/>
              </a:ext>
            </a:extLst>
          </p:cNvPr>
          <p:cNvSpPr txBox="1"/>
          <p:nvPr/>
        </p:nvSpPr>
        <p:spPr>
          <a:xfrm>
            <a:off x="2520173" y="4308615"/>
            <a:ext cx="5834473" cy="769441"/>
          </a:xfrm>
          <a:prstGeom prst="rect">
            <a:avLst/>
          </a:prstGeom>
          <a:noFill/>
        </p:spPr>
        <p:txBody>
          <a:bodyPr wrap="square" rtlCol="0">
            <a:spAutoFit/>
          </a:bodyPr>
          <a:lstStyle/>
          <a:p>
            <a:pPr algn="ctr"/>
            <a:r>
              <a:rPr lang="en-US" sz="2200" b="1" dirty="0"/>
              <a:t>this </a:t>
            </a:r>
            <a:r>
              <a:rPr lang="en-US" sz="2200" dirty="0"/>
              <a:t>is how the saved register contract works. I taught it in 447 and it's just as relevant now.</a:t>
            </a:r>
            <a:endParaRPr lang="en-US" sz="2200" b="1" i="1" dirty="0"/>
          </a:p>
        </p:txBody>
      </p:sp>
    </p:spTree>
    <p:extLst>
      <p:ext uri="{BB962C8B-B14F-4D97-AF65-F5344CB8AC3E}">
        <p14:creationId xmlns:p14="http://schemas.microsoft.com/office/powerpoint/2010/main" val="37662425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4" grpId="0"/>
      <p:bldP spid="15" grpId="0"/>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68B1D-49E8-1F44-A295-7F847CAB61EC}"/>
              </a:ext>
            </a:extLst>
          </p:cNvPr>
          <p:cNvSpPr>
            <a:spLocks noGrp="1"/>
          </p:cNvSpPr>
          <p:nvPr>
            <p:ph type="title"/>
          </p:nvPr>
        </p:nvSpPr>
        <p:spPr/>
        <p:txBody>
          <a:bodyPr/>
          <a:lstStyle/>
          <a:p>
            <a:r>
              <a:rPr lang="en-US" dirty="0"/>
              <a:t>Some last register allocation thoughts</a:t>
            </a:r>
          </a:p>
        </p:txBody>
      </p:sp>
      <p:sp>
        <p:nvSpPr>
          <p:cNvPr id="3" name="Content Placeholder 2">
            <a:extLst>
              <a:ext uri="{FF2B5EF4-FFF2-40B4-BE49-F238E27FC236}">
                <a16:creationId xmlns:a16="http://schemas.microsoft.com/office/drawing/2014/main" id="{FCD56BFD-1D20-234E-BD05-516711427DB8}"/>
              </a:ext>
            </a:extLst>
          </p:cNvPr>
          <p:cNvSpPr>
            <a:spLocks noGrp="1"/>
          </p:cNvSpPr>
          <p:nvPr>
            <p:ph idx="1"/>
          </p:nvPr>
        </p:nvSpPr>
        <p:spPr/>
        <p:txBody>
          <a:bodyPr/>
          <a:lstStyle/>
          <a:p>
            <a:r>
              <a:rPr lang="en-US" dirty="0"/>
              <a:t>can we use </a:t>
            </a:r>
            <a:r>
              <a:rPr lang="en-US" b="1" dirty="0">
                <a:latin typeface="Consolas" panose="020B0609020204030204" pitchFamily="49" charset="0"/>
                <a:cs typeface="Consolas" panose="020B0609020204030204" pitchFamily="49" charset="0"/>
              </a:rPr>
              <a:t>t</a:t>
            </a:r>
            <a:r>
              <a:rPr lang="en-US" dirty="0"/>
              <a:t> registers at all?</a:t>
            </a:r>
          </a:p>
          <a:p>
            <a:pPr lvl="1"/>
            <a:r>
              <a:rPr lang="en-US" dirty="0"/>
              <a:t>sure, </a:t>
            </a:r>
            <a:r>
              <a:rPr lang="en-US" b="1" dirty="0"/>
              <a:t>as long as we can prove that there are no function calls </a:t>
            </a:r>
            <a:r>
              <a:rPr lang="en-US" dirty="0"/>
              <a:t>from the time we </a:t>
            </a:r>
            <a:r>
              <a:rPr lang="en-US" i="1" dirty="0"/>
              <a:t>put</a:t>
            </a:r>
            <a:r>
              <a:rPr lang="en-US" dirty="0"/>
              <a:t> a value in it to the time we </a:t>
            </a:r>
            <a:r>
              <a:rPr lang="en-US" i="1" dirty="0"/>
              <a:t>use</a:t>
            </a:r>
            <a:r>
              <a:rPr lang="en-US" dirty="0"/>
              <a:t> that value.</a:t>
            </a:r>
          </a:p>
          <a:p>
            <a:pPr lvl="1"/>
            <a:r>
              <a:rPr lang="en-US" dirty="0"/>
              <a:t>that </a:t>
            </a:r>
            <a:r>
              <a:rPr lang="en-US" i="1" dirty="0"/>
              <a:t>might</a:t>
            </a:r>
            <a:r>
              <a:rPr lang="en-US" dirty="0"/>
              <a:t> be pretty simple: look at the AST "to the right" and if there are no “function call” nodes, we can use a </a:t>
            </a:r>
            <a:r>
              <a:rPr lang="en-US" b="1" dirty="0">
                <a:latin typeface="Consolas" panose="020B0609020204030204" pitchFamily="49" charset="0"/>
                <a:cs typeface="Consolas" panose="020B0609020204030204" pitchFamily="49" charset="0"/>
              </a:rPr>
              <a:t>t</a:t>
            </a:r>
            <a:r>
              <a:rPr lang="en-US" dirty="0"/>
              <a:t> register instead.</a:t>
            </a:r>
          </a:p>
          <a:p>
            <a:pPr lvl="1"/>
            <a:r>
              <a:rPr lang="en-US" dirty="0"/>
              <a:t>this is more complicated, but it will use </a:t>
            </a:r>
            <a:r>
              <a:rPr lang="en-US" b="1" dirty="0"/>
              <a:t>fewer </a:t>
            </a:r>
            <a:r>
              <a:rPr lang="en-US" dirty="0"/>
              <a:t>(or </a:t>
            </a:r>
            <a:r>
              <a:rPr lang="en-US" i="1" dirty="0"/>
              <a:t>no</a:t>
            </a:r>
            <a:r>
              <a:rPr lang="en-US" dirty="0"/>
              <a:t>)</a:t>
            </a:r>
            <a:r>
              <a:rPr lang="en-US" b="1" dirty="0"/>
              <a:t> s registers,</a:t>
            </a:r>
            <a:r>
              <a:rPr lang="en-US" dirty="0"/>
              <a:t> meaning</a:t>
            </a:r>
            <a:r>
              <a:rPr lang="en-US" b="1" dirty="0"/>
              <a:t> less time/space</a:t>
            </a:r>
            <a:r>
              <a:rPr lang="en-US" dirty="0"/>
              <a:t> spent saving/restoring them.</a:t>
            </a:r>
          </a:p>
          <a:p>
            <a:r>
              <a:rPr lang="en-US" dirty="0"/>
              <a:t>there are only 8 saved registers (</a:t>
            </a:r>
            <a:r>
              <a:rPr lang="en-US" b="1" dirty="0">
                <a:latin typeface="Consolas" panose="020B0609020204030204" pitchFamily="49" charset="0"/>
                <a:cs typeface="Consolas" panose="020B0609020204030204" pitchFamily="49" charset="0"/>
              </a:rPr>
              <a:t>s0</a:t>
            </a:r>
            <a:r>
              <a:rPr lang="en-US" dirty="0"/>
              <a:t> .. </a:t>
            </a:r>
            <a:r>
              <a:rPr lang="en-US" b="1" dirty="0">
                <a:latin typeface="Consolas" panose="020B0609020204030204" pitchFamily="49" charset="0"/>
                <a:cs typeface="Consolas" panose="020B0609020204030204" pitchFamily="49" charset="0"/>
              </a:rPr>
              <a:t>s7</a:t>
            </a:r>
            <a:r>
              <a:rPr lang="en-US" dirty="0"/>
              <a:t>). </a:t>
            </a:r>
            <a:r>
              <a:rPr lang="en-US" b="1" dirty="0"/>
              <a:t>what if we need more?</a:t>
            </a:r>
          </a:p>
          <a:p>
            <a:pPr lvl="1"/>
            <a:r>
              <a:rPr lang="en-US" dirty="0" err="1"/>
              <a:t>uhh</a:t>
            </a:r>
            <a:r>
              <a:rPr lang="en-US" dirty="0"/>
              <a:t> 💦</a:t>
            </a:r>
          </a:p>
          <a:p>
            <a:pPr lvl="1"/>
            <a:r>
              <a:rPr lang="en-US" dirty="0"/>
              <a:t>well, this register allocation scheme will work for simple code.</a:t>
            </a:r>
          </a:p>
          <a:p>
            <a:pPr lvl="1"/>
            <a:r>
              <a:rPr lang="en-US" dirty="0"/>
              <a:t>we'll talk about a </a:t>
            </a:r>
            <a:r>
              <a:rPr lang="en-US" b="1" dirty="0"/>
              <a:t>much more sophisticated </a:t>
            </a:r>
            <a:r>
              <a:rPr lang="en-US" dirty="0"/>
              <a:t>algorithm at the end of the course, which will solve this problem (and others, like using </a:t>
            </a:r>
            <a:r>
              <a:rPr lang="en-US" b="1" dirty="0">
                <a:latin typeface="Consolas" panose="020B0609020204030204" pitchFamily="49" charset="0"/>
                <a:cs typeface="Consolas" panose="020B0609020204030204" pitchFamily="49" charset="0"/>
              </a:rPr>
              <a:t>a</a:t>
            </a:r>
            <a:r>
              <a:rPr lang="en-US" dirty="0"/>
              <a:t> registers for arguments instead of the stack).</a:t>
            </a:r>
          </a:p>
        </p:txBody>
      </p:sp>
      <p:sp>
        <p:nvSpPr>
          <p:cNvPr id="4" name="Slide Number Placeholder 3">
            <a:extLst>
              <a:ext uri="{FF2B5EF4-FFF2-40B4-BE49-F238E27FC236}">
                <a16:creationId xmlns:a16="http://schemas.microsoft.com/office/drawing/2014/main" id="{F386504A-BDEE-D34A-BDE7-6A2DAE9A2581}"/>
              </a:ext>
            </a:extLst>
          </p:cNvPr>
          <p:cNvSpPr>
            <a:spLocks noGrp="1"/>
          </p:cNvSpPr>
          <p:nvPr>
            <p:ph type="sldNum" sz="quarter" idx="12"/>
          </p:nvPr>
        </p:nvSpPr>
        <p:spPr/>
        <p:txBody>
          <a:bodyPr/>
          <a:lstStyle/>
          <a:p>
            <a:fld id="{3552B95B-556F-44BD-91A5-D80C1B9E2BB3}" type="slidenum">
              <a:rPr lang="en-US" smtClean="0"/>
              <a:pPr/>
              <a:t>16</a:t>
            </a:fld>
            <a:endParaRPr lang="en-US"/>
          </a:p>
        </p:txBody>
      </p:sp>
    </p:spTree>
    <p:extLst>
      <p:ext uri="{BB962C8B-B14F-4D97-AF65-F5344CB8AC3E}">
        <p14:creationId xmlns:p14="http://schemas.microsoft.com/office/powerpoint/2010/main" val="15732901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7F436-1155-A141-AA5A-E383AF4D8E15}"/>
              </a:ext>
            </a:extLst>
          </p:cNvPr>
          <p:cNvSpPr>
            <a:spLocks noGrp="1"/>
          </p:cNvSpPr>
          <p:nvPr>
            <p:ph type="title"/>
          </p:nvPr>
        </p:nvSpPr>
        <p:spPr/>
        <p:txBody>
          <a:bodyPr/>
          <a:lstStyle/>
          <a:p>
            <a:r>
              <a:rPr lang="en-US" dirty="0"/>
              <a:t>Control flow statements</a:t>
            </a:r>
          </a:p>
        </p:txBody>
      </p:sp>
      <p:sp>
        <p:nvSpPr>
          <p:cNvPr id="3" name="Content Placeholder 2">
            <a:extLst>
              <a:ext uri="{FF2B5EF4-FFF2-40B4-BE49-F238E27FC236}">
                <a16:creationId xmlns:a16="http://schemas.microsoft.com/office/drawing/2014/main" id="{021574B3-0D01-9E45-A640-EE883A3734EB}"/>
              </a:ext>
            </a:extLst>
          </p:cNvPr>
          <p:cNvSpPr>
            <a:spLocks noGrp="1"/>
          </p:cNvSpPr>
          <p:nvPr>
            <p:ph idx="1"/>
          </p:nvPr>
        </p:nvSpPr>
        <p:spPr>
          <a:xfrm>
            <a:off x="152400" y="495301"/>
            <a:ext cx="8991600" cy="1523999"/>
          </a:xfrm>
        </p:spPr>
        <p:txBody>
          <a:bodyPr/>
          <a:lstStyle/>
          <a:p>
            <a:r>
              <a:rPr lang="en-US" dirty="0"/>
              <a:t>assuming we've got expressions worked out, another surprisingly tricky bit is </a:t>
            </a:r>
            <a:r>
              <a:rPr lang="en-US" b="1" dirty="0"/>
              <a:t>control flow statements:</a:t>
            </a:r>
            <a:r>
              <a:rPr lang="en-US" dirty="0"/>
              <a:t> conditionals and loops.</a:t>
            </a:r>
          </a:p>
          <a:p>
            <a:pPr lvl="1"/>
            <a:r>
              <a:rPr lang="en-US" dirty="0"/>
              <a:t>specifically, </a:t>
            </a:r>
            <a:r>
              <a:rPr lang="en-US" b="1" dirty="0"/>
              <a:t>the conditions </a:t>
            </a:r>
            <a:r>
              <a:rPr lang="en-US" dirty="0"/>
              <a:t>for these statements can be hard to generate </a:t>
            </a:r>
            <a:r>
              <a:rPr lang="en-US" i="1" dirty="0"/>
              <a:t>good</a:t>
            </a:r>
            <a:r>
              <a:rPr lang="en-US" dirty="0"/>
              <a:t> code for. (but that's not a primary goal here.)</a:t>
            </a:r>
          </a:p>
        </p:txBody>
      </p:sp>
      <p:sp>
        <p:nvSpPr>
          <p:cNvPr id="4" name="Slide Number Placeholder 3">
            <a:extLst>
              <a:ext uri="{FF2B5EF4-FFF2-40B4-BE49-F238E27FC236}">
                <a16:creationId xmlns:a16="http://schemas.microsoft.com/office/drawing/2014/main" id="{3BAD1CD2-36A5-E54C-A011-44E028A78935}"/>
              </a:ext>
            </a:extLst>
          </p:cNvPr>
          <p:cNvSpPr>
            <a:spLocks noGrp="1"/>
          </p:cNvSpPr>
          <p:nvPr>
            <p:ph type="sldNum" sz="quarter" idx="12"/>
          </p:nvPr>
        </p:nvSpPr>
        <p:spPr/>
        <p:txBody>
          <a:bodyPr/>
          <a:lstStyle/>
          <a:p>
            <a:fld id="{3552B95B-556F-44BD-91A5-D80C1B9E2BB3}" type="slidenum">
              <a:rPr lang="en-US" smtClean="0"/>
              <a:pPr/>
              <a:t>17</a:t>
            </a:fld>
            <a:endParaRPr lang="en-US"/>
          </a:p>
        </p:txBody>
      </p:sp>
      <p:sp>
        <p:nvSpPr>
          <p:cNvPr id="5" name="TextBox 4">
            <a:extLst>
              <a:ext uri="{FF2B5EF4-FFF2-40B4-BE49-F238E27FC236}">
                <a16:creationId xmlns:a16="http://schemas.microsoft.com/office/drawing/2014/main" id="{0F97CD91-2440-8E4F-AE63-27B8A34ADF89}"/>
              </a:ext>
            </a:extLst>
          </p:cNvPr>
          <p:cNvSpPr txBox="1"/>
          <p:nvPr/>
        </p:nvSpPr>
        <p:spPr>
          <a:xfrm>
            <a:off x="533400" y="2019300"/>
            <a:ext cx="1895071" cy="1107996"/>
          </a:xfrm>
          <a:prstGeom prst="rect">
            <a:avLst/>
          </a:prstGeom>
          <a:noFill/>
        </p:spPr>
        <p:txBody>
          <a:bodyPr wrap="none" rtlCol="0">
            <a:spAutoFit/>
          </a:bodyPr>
          <a:lstStyle/>
          <a:p>
            <a:r>
              <a:rPr lang="en-US" sz="2200" b="1" dirty="0">
                <a:solidFill>
                  <a:srgbClr val="FF0000"/>
                </a:solidFill>
                <a:latin typeface="Consolas" panose="020B0609020204030204" pitchFamily="49" charset="0"/>
                <a:cs typeface="Consolas" panose="020B0609020204030204" pitchFamily="49" charset="0"/>
              </a:rPr>
              <a:t>if</a:t>
            </a:r>
            <a:r>
              <a:rPr lang="en-US" sz="2200" b="1" dirty="0">
                <a:latin typeface="Consolas" panose="020B0609020204030204" pitchFamily="49" charset="0"/>
                <a:cs typeface="Consolas" panose="020B0609020204030204" pitchFamily="49" charset="0"/>
              </a:rPr>
              <a:t> i &lt;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A2C2E2E1-0EC7-7F4B-9822-E1C5DA088537}"/>
              </a:ext>
            </a:extLst>
          </p:cNvPr>
          <p:cNvSpPr txBox="1"/>
          <p:nvPr/>
        </p:nvSpPr>
        <p:spPr>
          <a:xfrm>
            <a:off x="322468" y="3850410"/>
            <a:ext cx="3182732" cy="1446550"/>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  </a:t>
            </a:r>
            <a:r>
              <a:rPr lang="en-US" sz="2200" b="1" dirty="0" err="1">
                <a:solidFill>
                  <a:srgbClr val="FF0000"/>
                </a:solidFill>
                <a:latin typeface="Consolas" panose="020B0609020204030204" pitchFamily="49" charset="0"/>
                <a:cs typeface="Consolas" panose="020B0609020204030204" pitchFamily="49" charset="0"/>
              </a:rPr>
              <a:t>lw</a:t>
            </a:r>
            <a:r>
              <a:rPr lang="en-US" sz="2200" b="1" dirty="0">
                <a:latin typeface="Consolas" panose="020B0609020204030204" pitchFamily="49" charset="0"/>
                <a:cs typeface="Consolas" panose="020B0609020204030204" pitchFamily="49" charset="0"/>
              </a:rPr>
              <a:t>   s0, </a:t>
            </a:r>
            <a:r>
              <a:rPr lang="en-US" sz="2200" b="1" dirty="0">
                <a:solidFill>
                  <a:schemeClr val="accent3">
                    <a:lumMod val="75000"/>
                  </a:schemeClr>
                </a:solidFill>
                <a:latin typeface="Consolas" panose="020B0609020204030204" pitchFamily="49" charset="0"/>
                <a:cs typeface="Consolas" panose="020B0609020204030204" pitchFamily="49" charset="0"/>
              </a:rPr>
              <a:t>-16</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  </a:t>
            </a:r>
            <a:r>
              <a:rPr lang="en-US" sz="2200" b="1" dirty="0" err="1">
                <a:solidFill>
                  <a:srgbClr val="FF0000"/>
                </a:solidFill>
                <a:latin typeface="Consolas" panose="020B0609020204030204" pitchFamily="49" charset="0"/>
                <a:cs typeface="Consolas" panose="020B0609020204030204" pitchFamily="49" charset="0"/>
              </a:rPr>
              <a:t>bge</a:t>
            </a:r>
            <a:r>
              <a:rPr lang="en-US" sz="2200" b="1" dirty="0">
                <a:latin typeface="Consolas" panose="020B0609020204030204" pitchFamily="49" charset="0"/>
                <a:cs typeface="Consolas" panose="020B0609020204030204" pitchFamily="49" charset="0"/>
              </a:rPr>
              <a:t>  s0,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 _end</a:t>
            </a:r>
          </a:p>
          <a:p>
            <a:r>
              <a:rPr lang="en-US" sz="2200" b="1" dirty="0">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_end:</a:t>
            </a:r>
          </a:p>
        </p:txBody>
      </p:sp>
      <p:sp>
        <p:nvSpPr>
          <p:cNvPr id="7" name="Down Arrow 6">
            <a:extLst>
              <a:ext uri="{FF2B5EF4-FFF2-40B4-BE49-F238E27FC236}">
                <a16:creationId xmlns:a16="http://schemas.microsoft.com/office/drawing/2014/main" id="{E2685B4D-1372-524D-8F18-84BEFE15F350}"/>
              </a:ext>
            </a:extLst>
          </p:cNvPr>
          <p:cNvSpPr/>
          <p:nvPr/>
        </p:nvSpPr>
        <p:spPr>
          <a:xfrm>
            <a:off x="887157" y="3147811"/>
            <a:ext cx="561958" cy="608287"/>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6B4EAAD-43D0-A848-86FD-2BD910DA23E9}"/>
              </a:ext>
            </a:extLst>
          </p:cNvPr>
          <p:cNvSpPr txBox="1"/>
          <p:nvPr/>
        </p:nvSpPr>
        <p:spPr>
          <a:xfrm>
            <a:off x="3124200" y="2165413"/>
            <a:ext cx="5837973" cy="769441"/>
          </a:xfrm>
          <a:prstGeom prst="rect">
            <a:avLst/>
          </a:prstGeom>
          <a:noFill/>
        </p:spPr>
        <p:txBody>
          <a:bodyPr wrap="square" rtlCol="0">
            <a:spAutoFit/>
          </a:bodyPr>
          <a:lstStyle/>
          <a:p>
            <a:pPr algn="ctr"/>
            <a:r>
              <a:rPr lang="en-US" sz="2200" dirty="0"/>
              <a:t>getting the condition that simple is hard to do; we might do something like this instead:</a:t>
            </a:r>
            <a:endParaRPr lang="en-US" sz="2200" i="1" dirty="0"/>
          </a:p>
        </p:txBody>
      </p:sp>
      <p:sp>
        <p:nvSpPr>
          <p:cNvPr id="9" name="TextBox 8">
            <a:extLst>
              <a:ext uri="{FF2B5EF4-FFF2-40B4-BE49-F238E27FC236}">
                <a16:creationId xmlns:a16="http://schemas.microsoft.com/office/drawing/2014/main" id="{C189437F-B256-4E42-A1C2-E40E80F03CB7}"/>
              </a:ext>
            </a:extLst>
          </p:cNvPr>
          <p:cNvSpPr txBox="1"/>
          <p:nvPr/>
        </p:nvSpPr>
        <p:spPr>
          <a:xfrm>
            <a:off x="4194868" y="3173302"/>
            <a:ext cx="3577531" cy="2123658"/>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  </a:t>
            </a:r>
            <a:r>
              <a:rPr lang="en-US" sz="2200" b="1" dirty="0" err="1">
                <a:solidFill>
                  <a:srgbClr val="FF0000"/>
                </a:solidFill>
                <a:latin typeface="Consolas" panose="020B0609020204030204" pitchFamily="49" charset="0"/>
                <a:cs typeface="Consolas" panose="020B0609020204030204" pitchFamily="49" charset="0"/>
              </a:rPr>
              <a:t>lw</a:t>
            </a:r>
            <a:r>
              <a:rPr lang="en-US" sz="2200" b="1" dirty="0">
                <a:latin typeface="Consolas" panose="020B0609020204030204" pitchFamily="49" charset="0"/>
                <a:cs typeface="Consolas" panose="020B0609020204030204" pitchFamily="49" charset="0"/>
              </a:rPr>
              <a:t>   s0, </a:t>
            </a:r>
            <a:r>
              <a:rPr lang="en-US" sz="2200" b="1" dirty="0">
                <a:solidFill>
                  <a:schemeClr val="accent3">
                    <a:lumMod val="75000"/>
                  </a:schemeClr>
                </a:solidFill>
                <a:latin typeface="Consolas" panose="020B0609020204030204" pitchFamily="49" charset="0"/>
                <a:cs typeface="Consolas" panose="020B0609020204030204" pitchFamily="49" charset="0"/>
              </a:rPr>
              <a:t>-16</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li</a:t>
            </a:r>
            <a:r>
              <a:rPr lang="en-US" sz="2200" b="1" dirty="0">
                <a:latin typeface="Consolas" panose="020B0609020204030204" pitchFamily="49" charset="0"/>
                <a:cs typeface="Consolas" panose="020B0609020204030204" pitchFamily="49" charset="0"/>
              </a:rPr>
              <a:t>   s1, </a:t>
            </a:r>
            <a:r>
              <a:rPr lang="en-US" sz="2200" b="1" dirty="0">
                <a:solidFill>
                  <a:schemeClr val="accent3">
                    <a:lumMod val="75000"/>
                  </a:schemeClr>
                </a:solidFill>
                <a:latin typeface="Consolas" panose="020B0609020204030204" pitchFamily="49" charset="0"/>
                <a:cs typeface="Consolas" panose="020B0609020204030204" pitchFamily="49" charset="0"/>
              </a:rPr>
              <a:t>10</a:t>
            </a:r>
          </a:p>
          <a:p>
            <a:r>
              <a:rPr lang="en-US" sz="2200" b="1" dirty="0">
                <a:latin typeface="Consolas" panose="020B0609020204030204" pitchFamily="49" charset="0"/>
                <a:cs typeface="Consolas" panose="020B0609020204030204" pitchFamily="49" charset="0"/>
              </a:rPr>
              <a:t>  </a:t>
            </a:r>
            <a:r>
              <a:rPr lang="en-US" sz="2200" b="1" dirty="0" err="1">
                <a:solidFill>
                  <a:srgbClr val="FF0000"/>
                </a:solidFill>
                <a:latin typeface="Consolas" panose="020B0609020204030204" pitchFamily="49" charset="0"/>
                <a:cs typeface="Consolas" panose="020B0609020204030204" pitchFamily="49" charset="0"/>
              </a:rPr>
              <a:t>slt</a:t>
            </a:r>
            <a:r>
              <a:rPr lang="en-US" sz="2200" b="1" dirty="0">
                <a:latin typeface="Consolas" panose="020B0609020204030204" pitchFamily="49" charset="0"/>
                <a:cs typeface="Consolas" panose="020B0609020204030204" pitchFamily="49" charset="0"/>
              </a:rPr>
              <a:t>  s0, s0, s1</a:t>
            </a:r>
          </a:p>
          <a:p>
            <a:r>
              <a:rPr lang="en-US" sz="2200" b="1" dirty="0">
                <a:latin typeface="Consolas" panose="020B0609020204030204" pitchFamily="49" charset="0"/>
                <a:cs typeface="Consolas" panose="020B0609020204030204" pitchFamily="49" charset="0"/>
              </a:rPr>
              <a:t>  </a:t>
            </a:r>
            <a:r>
              <a:rPr lang="en-US" sz="2200" b="1" dirty="0" err="1">
                <a:solidFill>
                  <a:srgbClr val="FF0000"/>
                </a:solidFill>
                <a:latin typeface="Consolas" panose="020B0609020204030204" pitchFamily="49" charset="0"/>
                <a:cs typeface="Consolas" panose="020B0609020204030204" pitchFamily="49" charset="0"/>
              </a:rPr>
              <a:t>beq</a:t>
            </a:r>
            <a:r>
              <a:rPr lang="en-US" sz="2200" b="1" dirty="0">
                <a:latin typeface="Consolas" panose="020B0609020204030204" pitchFamily="49" charset="0"/>
                <a:cs typeface="Consolas" panose="020B0609020204030204" pitchFamily="49" charset="0"/>
              </a:rPr>
              <a:t>  s0, zero, _end</a:t>
            </a:r>
          </a:p>
          <a:p>
            <a:r>
              <a:rPr lang="en-US" sz="2200" b="1" dirty="0">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_end:</a:t>
            </a:r>
          </a:p>
        </p:txBody>
      </p:sp>
    </p:spTree>
    <p:extLst>
      <p:ext uri="{BB962C8B-B14F-4D97-AF65-F5344CB8AC3E}">
        <p14:creationId xmlns:p14="http://schemas.microsoft.com/office/powerpoint/2010/main" val="6823016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BD7F9-4A1A-9941-989F-7001DD6B8474}"/>
              </a:ext>
            </a:extLst>
          </p:cNvPr>
          <p:cNvSpPr>
            <a:spLocks noGrp="1"/>
          </p:cNvSpPr>
          <p:nvPr>
            <p:ph type="title"/>
          </p:nvPr>
        </p:nvSpPr>
        <p:spPr/>
        <p:txBody>
          <a:bodyPr/>
          <a:lstStyle/>
          <a:p>
            <a:r>
              <a:rPr lang="en-US" dirty="0"/>
              <a:t>Lazy operators ("short-circuiting")</a:t>
            </a:r>
          </a:p>
        </p:txBody>
      </p:sp>
      <p:sp>
        <p:nvSpPr>
          <p:cNvPr id="3" name="Content Placeholder 2">
            <a:extLst>
              <a:ext uri="{FF2B5EF4-FFF2-40B4-BE49-F238E27FC236}">
                <a16:creationId xmlns:a16="http://schemas.microsoft.com/office/drawing/2014/main" id="{4E85447E-C19B-A04F-ACE7-4C0C58F8CC6B}"/>
              </a:ext>
            </a:extLst>
          </p:cNvPr>
          <p:cNvSpPr>
            <a:spLocks noGrp="1"/>
          </p:cNvSpPr>
          <p:nvPr>
            <p:ph idx="1"/>
          </p:nvPr>
        </p:nvSpPr>
        <p:spPr>
          <a:xfrm>
            <a:off x="152400" y="495301"/>
            <a:ext cx="8991600" cy="1219199"/>
          </a:xfrm>
        </p:spPr>
        <p:txBody>
          <a:bodyPr/>
          <a:lstStyle/>
          <a:p>
            <a:r>
              <a:rPr lang="en-US" dirty="0"/>
              <a:t>recall that like in most languages, logical </a:t>
            </a:r>
            <a:r>
              <a:rPr lang="en-US" b="1" dirty="0">
                <a:solidFill>
                  <a:srgbClr val="FF0000"/>
                </a:solidFill>
                <a:latin typeface="Consolas" panose="020B0609020204030204" pitchFamily="49" charset="0"/>
                <a:cs typeface="Consolas" panose="020B0609020204030204" pitchFamily="49" charset="0"/>
              </a:rPr>
              <a:t>and</a:t>
            </a:r>
            <a:r>
              <a:rPr lang="en-US" b="1" dirty="0"/>
              <a:t> </a:t>
            </a:r>
            <a:r>
              <a:rPr lang="en-US" dirty="0"/>
              <a:t>and </a:t>
            </a:r>
            <a:r>
              <a:rPr lang="en-US" b="1" dirty="0">
                <a:solidFill>
                  <a:srgbClr val="FF0000"/>
                </a:solidFill>
                <a:latin typeface="Consolas" panose="020B0609020204030204" pitchFamily="49" charset="0"/>
                <a:cs typeface="Consolas" panose="020B0609020204030204" pitchFamily="49" charset="0"/>
              </a:rPr>
              <a:t>or</a:t>
            </a:r>
            <a:r>
              <a:rPr lang="en-US" b="1" dirty="0"/>
              <a:t> </a:t>
            </a:r>
            <a:r>
              <a:rPr lang="en-US" dirty="0"/>
              <a:t>will </a:t>
            </a:r>
            <a:r>
              <a:rPr lang="en-US" b="1" dirty="0"/>
              <a:t>only evaluate their </a:t>
            </a:r>
            <a:r>
              <a:rPr lang="en-US" b="1" dirty="0" err="1"/>
              <a:t>rhs</a:t>
            </a:r>
            <a:r>
              <a:rPr lang="en-US" b="1" dirty="0"/>
              <a:t> if they have to</a:t>
            </a:r>
            <a:r>
              <a:rPr lang="en-US" dirty="0"/>
              <a:t> – making their </a:t>
            </a:r>
            <a:r>
              <a:rPr lang="en-US" dirty="0" err="1"/>
              <a:t>codegen</a:t>
            </a:r>
            <a:r>
              <a:rPr lang="en-US" dirty="0"/>
              <a:t> </a:t>
            </a:r>
            <a:r>
              <a:rPr lang="en-US" i="1" dirty="0"/>
              <a:t>very </a:t>
            </a:r>
            <a:r>
              <a:rPr lang="en-US" dirty="0"/>
              <a:t>different from the other operators.</a:t>
            </a:r>
          </a:p>
        </p:txBody>
      </p:sp>
      <p:sp>
        <p:nvSpPr>
          <p:cNvPr id="4" name="Slide Number Placeholder 3">
            <a:extLst>
              <a:ext uri="{FF2B5EF4-FFF2-40B4-BE49-F238E27FC236}">
                <a16:creationId xmlns:a16="http://schemas.microsoft.com/office/drawing/2014/main" id="{949FAF02-DDE5-A446-8CF0-643FEEBF5452}"/>
              </a:ext>
            </a:extLst>
          </p:cNvPr>
          <p:cNvSpPr>
            <a:spLocks noGrp="1"/>
          </p:cNvSpPr>
          <p:nvPr>
            <p:ph type="sldNum" sz="quarter" idx="12"/>
          </p:nvPr>
        </p:nvSpPr>
        <p:spPr/>
        <p:txBody>
          <a:bodyPr/>
          <a:lstStyle/>
          <a:p>
            <a:fld id="{3552B95B-556F-44BD-91A5-D80C1B9E2BB3}" type="slidenum">
              <a:rPr lang="en-US" smtClean="0"/>
              <a:pPr/>
              <a:t>18</a:t>
            </a:fld>
            <a:endParaRPr lang="en-US"/>
          </a:p>
        </p:txBody>
      </p:sp>
      <p:sp>
        <p:nvSpPr>
          <p:cNvPr id="5" name="TextBox 4">
            <a:extLst>
              <a:ext uri="{FF2B5EF4-FFF2-40B4-BE49-F238E27FC236}">
                <a16:creationId xmlns:a16="http://schemas.microsoft.com/office/drawing/2014/main" id="{85C4EACF-8564-3C45-B2CD-49D3546F8640}"/>
              </a:ext>
            </a:extLst>
          </p:cNvPr>
          <p:cNvSpPr txBox="1"/>
          <p:nvPr/>
        </p:nvSpPr>
        <p:spPr>
          <a:xfrm>
            <a:off x="571253" y="1646897"/>
            <a:ext cx="3449983" cy="1107996"/>
          </a:xfrm>
          <a:prstGeom prst="rect">
            <a:avLst/>
          </a:prstGeom>
          <a:noFill/>
        </p:spPr>
        <p:txBody>
          <a:bodyPr wrap="none" rtlCol="0">
            <a:spAutoFit/>
          </a:bodyPr>
          <a:lstStyle/>
          <a:p>
            <a:r>
              <a:rPr lang="en-US" sz="2200" b="1" dirty="0">
                <a:solidFill>
                  <a:srgbClr val="FF0000"/>
                </a:solidFill>
                <a:latin typeface="Consolas" panose="020B0609020204030204" pitchFamily="49" charset="0"/>
                <a:cs typeface="Consolas" panose="020B0609020204030204" pitchFamily="49" charset="0"/>
              </a:rPr>
              <a:t>if</a:t>
            </a:r>
            <a:r>
              <a:rPr lang="en-US" sz="2200" b="1" dirty="0">
                <a:latin typeface="Consolas" panose="020B0609020204030204" pitchFamily="49" charset="0"/>
                <a:cs typeface="Consolas" panose="020B0609020204030204" pitchFamily="49" charset="0"/>
              </a:rPr>
              <a:t> i &lt; </a:t>
            </a:r>
            <a:r>
              <a:rPr lang="en-US" sz="2200" b="1" dirty="0">
                <a:solidFill>
                  <a:schemeClr val="accent3">
                    <a:lumMod val="75000"/>
                  </a:schemeClr>
                </a:solidFill>
                <a:latin typeface="Consolas" panose="020B0609020204030204" pitchFamily="49" charset="0"/>
                <a:cs typeface="Consolas" panose="020B0609020204030204" pitchFamily="49" charset="0"/>
              </a:rPr>
              <a:t>10 </a:t>
            </a:r>
            <a:r>
              <a:rPr lang="en-US" sz="2200" b="1" dirty="0">
                <a:solidFill>
                  <a:srgbClr val="FF0000"/>
                </a:solidFill>
                <a:latin typeface="Consolas" panose="020B0609020204030204" pitchFamily="49" charset="0"/>
                <a:cs typeface="Consolas" panose="020B0609020204030204" pitchFamily="49" charset="0"/>
              </a:rPr>
              <a:t>or</a:t>
            </a:r>
            <a:r>
              <a:rPr lang="en-US" sz="2200" b="1" dirty="0">
                <a:latin typeface="Consolas" panose="020B0609020204030204" pitchFamily="49" charset="0"/>
                <a:cs typeface="Consolas" panose="020B0609020204030204" pitchFamily="49" charset="0"/>
              </a:rPr>
              <a:t> i &gt;</a:t>
            </a:r>
            <a:r>
              <a:rPr lang="en-US" sz="2200" b="1" dirty="0">
                <a:solidFill>
                  <a:schemeClr val="accent3">
                    <a:lumMod val="75000"/>
                  </a:schemeClr>
                </a:solidFill>
                <a:latin typeface="Consolas" panose="020B0609020204030204" pitchFamily="49" charset="0"/>
                <a:cs typeface="Consolas" panose="020B0609020204030204" pitchFamily="49" charset="0"/>
              </a:rPr>
              <a:t> 20 </a:t>
            </a:r>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DB501952-29EE-354D-AAD5-2AF7FEB6E4DB}"/>
              </a:ext>
            </a:extLst>
          </p:cNvPr>
          <p:cNvSpPr txBox="1"/>
          <p:nvPr/>
        </p:nvSpPr>
        <p:spPr>
          <a:xfrm>
            <a:off x="4854370" y="1632666"/>
            <a:ext cx="3908630" cy="3816429"/>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  </a:t>
            </a:r>
            <a:r>
              <a:rPr lang="en-US" sz="2200" b="1" dirty="0" err="1">
                <a:solidFill>
                  <a:srgbClr val="FF0000"/>
                </a:solidFill>
                <a:latin typeface="Consolas" panose="020B0609020204030204" pitchFamily="49" charset="0"/>
                <a:cs typeface="Consolas" panose="020B0609020204030204" pitchFamily="49" charset="0"/>
              </a:rPr>
              <a:t>lw</a:t>
            </a:r>
            <a:r>
              <a:rPr lang="en-US" sz="2200" b="1" dirty="0">
                <a:latin typeface="Consolas" panose="020B0609020204030204" pitchFamily="49" charset="0"/>
                <a:cs typeface="Consolas" panose="020B0609020204030204" pitchFamily="49" charset="0"/>
              </a:rPr>
              <a:t>   s0, </a:t>
            </a:r>
            <a:r>
              <a:rPr lang="en-US" sz="2200" b="1" dirty="0">
                <a:solidFill>
                  <a:schemeClr val="accent3">
                    <a:lumMod val="75000"/>
                  </a:schemeClr>
                </a:solidFill>
                <a:latin typeface="Consolas" panose="020B0609020204030204" pitchFamily="49" charset="0"/>
                <a:cs typeface="Consolas" panose="020B0609020204030204" pitchFamily="49" charset="0"/>
              </a:rPr>
              <a:t>-16</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li</a:t>
            </a:r>
            <a:r>
              <a:rPr lang="en-US" sz="2200" b="1" dirty="0">
                <a:latin typeface="Consolas" panose="020B0609020204030204" pitchFamily="49" charset="0"/>
                <a:cs typeface="Consolas" panose="020B0609020204030204" pitchFamily="49" charset="0"/>
              </a:rPr>
              <a:t>   s1, </a:t>
            </a:r>
            <a:r>
              <a:rPr lang="en-US" sz="2200" b="1" dirty="0">
                <a:solidFill>
                  <a:schemeClr val="accent3">
                    <a:lumMod val="75000"/>
                  </a:schemeClr>
                </a:solidFill>
                <a:latin typeface="Consolas" panose="020B0609020204030204" pitchFamily="49" charset="0"/>
                <a:cs typeface="Consolas" panose="020B0609020204030204" pitchFamily="49" charset="0"/>
              </a:rPr>
              <a:t>10</a:t>
            </a:r>
          </a:p>
          <a:p>
            <a:r>
              <a:rPr lang="en-US" sz="2200" b="1" dirty="0">
                <a:latin typeface="Consolas" panose="020B0609020204030204" pitchFamily="49" charset="0"/>
                <a:cs typeface="Consolas" panose="020B0609020204030204" pitchFamily="49" charset="0"/>
              </a:rPr>
              <a:t>  </a:t>
            </a:r>
            <a:r>
              <a:rPr lang="en-US" sz="2200" b="1" dirty="0" err="1">
                <a:solidFill>
                  <a:srgbClr val="FF0000"/>
                </a:solidFill>
                <a:latin typeface="Consolas" panose="020B0609020204030204" pitchFamily="49" charset="0"/>
                <a:cs typeface="Consolas" panose="020B0609020204030204" pitchFamily="49" charset="0"/>
              </a:rPr>
              <a:t>slt</a:t>
            </a:r>
            <a:r>
              <a:rPr lang="en-US" sz="2200" b="1" dirty="0">
                <a:latin typeface="Consolas" panose="020B0609020204030204" pitchFamily="49" charset="0"/>
                <a:cs typeface="Consolas" panose="020B0609020204030204" pitchFamily="49" charset="0"/>
              </a:rPr>
              <a:t>  s0, s0, s1</a:t>
            </a:r>
          </a:p>
          <a:p>
            <a:r>
              <a:rPr lang="en-US" sz="2200" b="1" dirty="0">
                <a:latin typeface="Consolas" panose="020B0609020204030204" pitchFamily="49" charset="0"/>
                <a:cs typeface="Consolas" panose="020B0609020204030204" pitchFamily="49" charset="0"/>
              </a:rPr>
              <a:t>  </a:t>
            </a:r>
            <a:r>
              <a:rPr lang="en-US" sz="2200" b="1" dirty="0" err="1">
                <a:solidFill>
                  <a:srgbClr val="FF0000"/>
                </a:solidFill>
                <a:latin typeface="Consolas" panose="020B0609020204030204" pitchFamily="49" charset="0"/>
                <a:cs typeface="Consolas" panose="020B0609020204030204" pitchFamily="49" charset="0"/>
              </a:rPr>
              <a:t>bne</a:t>
            </a:r>
            <a:r>
              <a:rPr lang="en-US" sz="2200" b="1" dirty="0">
                <a:latin typeface="Consolas" panose="020B0609020204030204" pitchFamily="49" charset="0"/>
                <a:cs typeface="Consolas" panose="020B0609020204030204" pitchFamily="49" charset="0"/>
              </a:rPr>
              <a:t>  s0, zero, _true</a:t>
            </a:r>
          </a:p>
          <a:p>
            <a:r>
              <a:rPr lang="en-US" sz="2200" b="1" dirty="0">
                <a:solidFill>
                  <a:srgbClr val="FF0000"/>
                </a:solidFill>
                <a:latin typeface="Consolas" panose="020B0609020204030204" pitchFamily="49" charset="0"/>
                <a:cs typeface="Consolas" panose="020B0609020204030204" pitchFamily="49" charset="0"/>
              </a:rPr>
              <a:t>  </a:t>
            </a:r>
            <a:r>
              <a:rPr lang="en-US" sz="2200" b="1" dirty="0" err="1">
                <a:solidFill>
                  <a:srgbClr val="FF0000"/>
                </a:solidFill>
                <a:latin typeface="Consolas" panose="020B0609020204030204" pitchFamily="49" charset="0"/>
                <a:cs typeface="Consolas" panose="020B0609020204030204" pitchFamily="49" charset="0"/>
              </a:rPr>
              <a:t>lw</a:t>
            </a:r>
            <a:r>
              <a:rPr lang="en-US" sz="2200" b="1" dirty="0">
                <a:latin typeface="Consolas" panose="020B0609020204030204" pitchFamily="49" charset="0"/>
                <a:cs typeface="Consolas" panose="020B0609020204030204" pitchFamily="49" charset="0"/>
              </a:rPr>
              <a:t>   s0, </a:t>
            </a:r>
            <a:r>
              <a:rPr lang="en-US" sz="2200" b="1" dirty="0">
                <a:solidFill>
                  <a:schemeClr val="accent3">
                    <a:lumMod val="75000"/>
                  </a:schemeClr>
                </a:solidFill>
                <a:latin typeface="Consolas" panose="020B0609020204030204" pitchFamily="49" charset="0"/>
                <a:cs typeface="Consolas" panose="020B0609020204030204" pitchFamily="49" charset="0"/>
              </a:rPr>
              <a:t>-16</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fp</a:t>
            </a:r>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li</a:t>
            </a:r>
            <a:r>
              <a:rPr lang="en-US" sz="2200" b="1" dirty="0">
                <a:latin typeface="Consolas" panose="020B0609020204030204" pitchFamily="49" charset="0"/>
                <a:cs typeface="Consolas" panose="020B0609020204030204" pitchFamily="49" charset="0"/>
              </a:rPr>
              <a:t>   s1, </a:t>
            </a:r>
            <a:r>
              <a:rPr lang="en-US" sz="2200" b="1" dirty="0">
                <a:solidFill>
                  <a:schemeClr val="accent3">
                    <a:lumMod val="75000"/>
                  </a:schemeClr>
                </a:solidFill>
                <a:latin typeface="Consolas" panose="020B0609020204030204" pitchFamily="49" charset="0"/>
                <a:cs typeface="Consolas" panose="020B0609020204030204" pitchFamily="49" charset="0"/>
              </a:rPr>
              <a:t>20</a:t>
            </a:r>
          </a:p>
          <a:p>
            <a:r>
              <a:rPr lang="en-US" sz="2200" b="1" dirty="0">
                <a:latin typeface="Consolas" panose="020B0609020204030204" pitchFamily="49" charset="0"/>
                <a:cs typeface="Consolas" panose="020B0609020204030204" pitchFamily="49" charset="0"/>
              </a:rPr>
              <a:t>  </a:t>
            </a:r>
            <a:r>
              <a:rPr lang="en-US" sz="2200" b="1" dirty="0" err="1">
                <a:solidFill>
                  <a:srgbClr val="FF0000"/>
                </a:solidFill>
                <a:latin typeface="Consolas" panose="020B0609020204030204" pitchFamily="49" charset="0"/>
                <a:cs typeface="Consolas" panose="020B0609020204030204" pitchFamily="49" charset="0"/>
              </a:rPr>
              <a:t>sgt</a:t>
            </a:r>
            <a:r>
              <a:rPr lang="en-US" sz="2200" b="1" dirty="0">
                <a:latin typeface="Consolas" panose="020B0609020204030204" pitchFamily="49" charset="0"/>
                <a:cs typeface="Consolas" panose="020B0609020204030204" pitchFamily="49" charset="0"/>
              </a:rPr>
              <a:t>  s0, s0, s1</a:t>
            </a:r>
          </a:p>
          <a:p>
            <a:r>
              <a:rPr lang="en-US" sz="2200" b="1" dirty="0">
                <a:latin typeface="Consolas" panose="020B0609020204030204" pitchFamily="49" charset="0"/>
                <a:cs typeface="Consolas" panose="020B0609020204030204" pitchFamily="49" charset="0"/>
              </a:rPr>
              <a:t>  </a:t>
            </a:r>
            <a:r>
              <a:rPr lang="en-US" sz="2200" b="1" dirty="0" err="1">
                <a:solidFill>
                  <a:srgbClr val="FF0000"/>
                </a:solidFill>
                <a:latin typeface="Consolas" panose="020B0609020204030204" pitchFamily="49" charset="0"/>
                <a:cs typeface="Consolas" panose="020B0609020204030204" pitchFamily="49" charset="0"/>
              </a:rPr>
              <a:t>beq</a:t>
            </a:r>
            <a:r>
              <a:rPr lang="en-US" sz="2200" b="1" dirty="0">
                <a:latin typeface="Consolas" panose="020B0609020204030204" pitchFamily="49" charset="0"/>
                <a:cs typeface="Consolas" panose="020B0609020204030204" pitchFamily="49" charset="0"/>
              </a:rPr>
              <a:t>  s0, zero, _end</a:t>
            </a:r>
          </a:p>
          <a:p>
            <a:r>
              <a:rPr lang="en-US" sz="2200" b="1" dirty="0">
                <a:latin typeface="Consolas" panose="020B0609020204030204" pitchFamily="49" charset="0"/>
                <a:cs typeface="Consolas" panose="020B0609020204030204" pitchFamily="49" charset="0"/>
              </a:rPr>
              <a:t>_true:</a:t>
            </a:r>
          </a:p>
          <a:p>
            <a:r>
              <a:rPr lang="en-US" sz="2200" b="1" dirty="0">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_end:</a:t>
            </a:r>
          </a:p>
        </p:txBody>
      </p:sp>
      <p:sp>
        <p:nvSpPr>
          <p:cNvPr id="7" name="Down Arrow 6">
            <a:extLst>
              <a:ext uri="{FF2B5EF4-FFF2-40B4-BE49-F238E27FC236}">
                <a16:creationId xmlns:a16="http://schemas.microsoft.com/office/drawing/2014/main" id="{C33852CA-40FE-0447-B96B-CF00E050EC48}"/>
              </a:ext>
            </a:extLst>
          </p:cNvPr>
          <p:cNvSpPr/>
          <p:nvPr/>
        </p:nvSpPr>
        <p:spPr>
          <a:xfrm rot="16200000">
            <a:off x="4272232" y="1581603"/>
            <a:ext cx="561958" cy="608287"/>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7316715-FAAF-1D41-B805-70A3F6B4A443}"/>
              </a:ext>
            </a:extLst>
          </p:cNvPr>
          <p:cNvSpPr txBox="1"/>
          <p:nvPr/>
        </p:nvSpPr>
        <p:spPr>
          <a:xfrm>
            <a:off x="228525" y="2954427"/>
            <a:ext cx="4419675" cy="769441"/>
          </a:xfrm>
          <a:prstGeom prst="rect">
            <a:avLst/>
          </a:prstGeom>
          <a:noFill/>
        </p:spPr>
        <p:txBody>
          <a:bodyPr wrap="square" rtlCol="0">
            <a:spAutoFit/>
          </a:bodyPr>
          <a:lstStyle/>
          <a:p>
            <a:pPr algn="ctr"/>
            <a:r>
              <a:rPr lang="en-US" sz="2200" dirty="0"/>
              <a:t>see how it skips right to the code when the first condition is true?</a:t>
            </a:r>
          </a:p>
        </p:txBody>
      </p:sp>
      <p:cxnSp>
        <p:nvCxnSpPr>
          <p:cNvPr id="9" name="Straight Arrow Connector 8">
            <a:extLst>
              <a:ext uri="{FF2B5EF4-FFF2-40B4-BE49-F238E27FC236}">
                <a16:creationId xmlns:a16="http://schemas.microsoft.com/office/drawing/2014/main" id="{18E7A4A7-A192-D346-BFF8-FADF1261CA2A}"/>
              </a:ext>
            </a:extLst>
          </p:cNvPr>
          <p:cNvCxnSpPr>
            <a:cxnSpLocks/>
          </p:cNvCxnSpPr>
          <p:nvPr/>
        </p:nvCxnSpPr>
        <p:spPr>
          <a:xfrm flipV="1">
            <a:off x="4551719" y="2866096"/>
            <a:ext cx="592303" cy="23815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9199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FEA3F-8D5D-DA4D-A440-F5A629167494}"/>
              </a:ext>
            </a:extLst>
          </p:cNvPr>
          <p:cNvSpPr>
            <a:spLocks noGrp="1"/>
          </p:cNvSpPr>
          <p:nvPr>
            <p:ph type="title"/>
          </p:nvPr>
        </p:nvSpPr>
        <p:spPr/>
        <p:txBody>
          <a:bodyPr/>
          <a:lstStyle/>
          <a:p>
            <a:r>
              <a:rPr lang="en-US" dirty="0"/>
              <a:t>You can assign comparison operators into variables</a:t>
            </a:r>
          </a:p>
        </p:txBody>
      </p:sp>
      <p:sp>
        <p:nvSpPr>
          <p:cNvPr id="3" name="Content Placeholder 2">
            <a:extLst>
              <a:ext uri="{FF2B5EF4-FFF2-40B4-BE49-F238E27FC236}">
                <a16:creationId xmlns:a16="http://schemas.microsoft.com/office/drawing/2014/main" id="{ADBB3AC5-FE67-E54E-B301-AE389EE67B2B}"/>
              </a:ext>
            </a:extLst>
          </p:cNvPr>
          <p:cNvSpPr>
            <a:spLocks noGrp="1"/>
          </p:cNvSpPr>
          <p:nvPr>
            <p:ph idx="1"/>
          </p:nvPr>
        </p:nvSpPr>
        <p:spPr/>
        <p:txBody>
          <a:bodyPr/>
          <a:lstStyle/>
          <a:p>
            <a:r>
              <a:rPr lang="en-US" dirty="0"/>
              <a:t>it seems like no one teaches you this but this is totally valid code in Java (and in lots of other languages too):</a:t>
            </a:r>
          </a:p>
          <a:p>
            <a:pPr marL="258605" lvl="1" indent="0">
              <a:buNone/>
            </a:pPr>
            <a:r>
              <a:rPr lang="en-US" b="1" dirty="0">
                <a:solidFill>
                  <a:srgbClr val="FF0000"/>
                </a:solidFill>
                <a:latin typeface="Consolas" panose="020B0609020204030204" pitchFamily="49" charset="0"/>
                <a:cs typeface="Consolas" panose="020B0609020204030204" pitchFamily="49" charset="0"/>
              </a:rPr>
              <a:t>	</a:t>
            </a:r>
            <a:r>
              <a:rPr lang="en-US" b="1" dirty="0" err="1">
                <a:solidFill>
                  <a:srgbClr val="FF0000"/>
                </a:solidFill>
                <a:latin typeface="Consolas" panose="020B0609020204030204" pitchFamily="49" charset="0"/>
                <a:cs typeface="Consolas" panose="020B0609020204030204" pitchFamily="49" charset="0"/>
              </a:rPr>
              <a:t>boolean</a:t>
            </a:r>
            <a:r>
              <a:rPr lang="en-US" b="1" dirty="0">
                <a:latin typeface="Consolas" panose="020B0609020204030204" pitchFamily="49" charset="0"/>
                <a:cs typeface="Consolas" panose="020B0609020204030204" pitchFamily="49" charset="0"/>
              </a:rPr>
              <a:t> b = x &lt; </a:t>
            </a:r>
            <a:r>
              <a:rPr lang="en-US" b="1" dirty="0">
                <a:solidFill>
                  <a:schemeClr val="accent3">
                    <a:lumMod val="75000"/>
                  </a:schemeClr>
                </a:solidFill>
                <a:latin typeface="Consolas" panose="020B0609020204030204" pitchFamily="49" charset="0"/>
                <a:cs typeface="Consolas" panose="020B0609020204030204" pitchFamily="49" charset="0"/>
              </a:rPr>
              <a:t>10</a:t>
            </a:r>
            <a:r>
              <a:rPr lang="en-US" b="1" dirty="0">
                <a:latin typeface="Consolas" panose="020B0609020204030204" pitchFamily="49" charset="0"/>
                <a:cs typeface="Consolas" panose="020B0609020204030204" pitchFamily="49" charset="0"/>
              </a:rPr>
              <a:t>;</a:t>
            </a:r>
          </a:p>
          <a:p>
            <a:pPr marL="258605" lvl="1" indent="0">
              <a:buNone/>
            </a:pPr>
            <a:r>
              <a:rPr lang="en-US" b="1" dirty="0">
                <a:solidFill>
                  <a:srgbClr val="FF0000"/>
                </a:solidFill>
                <a:latin typeface="Consolas" panose="020B0609020204030204" pitchFamily="49" charset="0"/>
                <a:cs typeface="Consolas" panose="020B0609020204030204" pitchFamily="49" charset="0"/>
              </a:rPr>
              <a:t>	</a:t>
            </a:r>
            <a:r>
              <a:rPr lang="en-US" b="1" dirty="0" err="1">
                <a:solidFill>
                  <a:srgbClr val="FF0000"/>
                </a:solidFill>
                <a:latin typeface="Consolas" panose="020B0609020204030204" pitchFamily="49" charset="0"/>
                <a:cs typeface="Consolas" panose="020B0609020204030204" pitchFamily="49" charset="0"/>
              </a:rPr>
              <a:t>boolean</a:t>
            </a:r>
            <a:r>
              <a:rPr lang="en-US" b="1" dirty="0">
                <a:latin typeface="Consolas" panose="020B0609020204030204" pitchFamily="49" charset="0"/>
                <a:cs typeface="Consolas" panose="020B0609020204030204" pitchFamily="49" charset="0"/>
              </a:rPr>
              <a:t> d = i &lt; </a:t>
            </a:r>
            <a:r>
              <a:rPr lang="en-US" b="1" dirty="0">
                <a:solidFill>
                  <a:schemeClr val="accent3">
                    <a:lumMod val="75000"/>
                  </a:schemeClr>
                </a:solidFill>
                <a:latin typeface="Consolas" panose="020B0609020204030204" pitchFamily="49" charset="0"/>
                <a:cs typeface="Consolas" panose="020B0609020204030204" pitchFamily="49" charset="0"/>
              </a:rPr>
              <a:t>10</a:t>
            </a:r>
            <a:r>
              <a:rPr lang="en-US" b="1" dirty="0">
                <a:latin typeface="Consolas" panose="020B0609020204030204" pitchFamily="49" charset="0"/>
                <a:cs typeface="Consolas" panose="020B0609020204030204" pitchFamily="49" charset="0"/>
              </a:rPr>
              <a:t> || i &gt; </a:t>
            </a:r>
            <a:r>
              <a:rPr lang="en-US" b="1" dirty="0">
                <a:solidFill>
                  <a:schemeClr val="accent3">
                    <a:lumMod val="75000"/>
                  </a:schemeClr>
                </a:solidFill>
                <a:latin typeface="Consolas" panose="020B0609020204030204" pitchFamily="49" charset="0"/>
                <a:cs typeface="Consolas" panose="020B0609020204030204" pitchFamily="49" charset="0"/>
              </a:rPr>
              <a:t>20</a:t>
            </a:r>
            <a:r>
              <a:rPr lang="en-US" b="1" dirty="0">
                <a:latin typeface="Consolas" panose="020B0609020204030204" pitchFamily="49" charset="0"/>
                <a:cs typeface="Consolas" panose="020B0609020204030204" pitchFamily="49" charset="0"/>
              </a:rPr>
              <a:t>;</a:t>
            </a:r>
          </a:p>
          <a:p>
            <a:r>
              <a:rPr lang="en-US" dirty="0"/>
              <a:t>because of this, you may not be able to use the same </a:t>
            </a:r>
            <a:r>
              <a:rPr lang="en-US" dirty="0" err="1"/>
              <a:t>codegen</a:t>
            </a:r>
            <a:r>
              <a:rPr lang="en-US" dirty="0"/>
              <a:t> algorithm for e.g. logical OR in all cases!</a:t>
            </a:r>
          </a:p>
          <a:p>
            <a:pPr lvl="1"/>
            <a:r>
              <a:rPr lang="en-US" dirty="0"/>
              <a:t>you still have to do the short-circuiting…</a:t>
            </a:r>
          </a:p>
          <a:p>
            <a:pPr lvl="1"/>
            <a:r>
              <a:rPr lang="en-US" dirty="0"/>
              <a:t>but now you're producing a value to be put into a variable</a:t>
            </a:r>
          </a:p>
          <a:p>
            <a:pPr lvl="1"/>
            <a:r>
              <a:rPr lang="en-US" dirty="0"/>
              <a:t>which, depending on how your </a:t>
            </a:r>
            <a:r>
              <a:rPr lang="en-US" dirty="0" err="1"/>
              <a:t>codegen</a:t>
            </a:r>
            <a:r>
              <a:rPr lang="en-US" dirty="0"/>
              <a:t> works, could be a very different thing from "writing a condition for a loop"</a:t>
            </a:r>
          </a:p>
        </p:txBody>
      </p:sp>
      <p:sp>
        <p:nvSpPr>
          <p:cNvPr id="4" name="Slide Number Placeholder 3">
            <a:extLst>
              <a:ext uri="{FF2B5EF4-FFF2-40B4-BE49-F238E27FC236}">
                <a16:creationId xmlns:a16="http://schemas.microsoft.com/office/drawing/2014/main" id="{CD42EEFF-0E92-DA4C-A9F1-1E4A92F7E3A6}"/>
              </a:ext>
            </a:extLst>
          </p:cNvPr>
          <p:cNvSpPr>
            <a:spLocks noGrp="1"/>
          </p:cNvSpPr>
          <p:nvPr>
            <p:ph type="sldNum" sz="quarter" idx="12"/>
          </p:nvPr>
        </p:nvSpPr>
        <p:spPr/>
        <p:txBody>
          <a:bodyPr/>
          <a:lstStyle/>
          <a:p>
            <a:fld id="{3552B95B-556F-44BD-91A5-D80C1B9E2BB3}" type="slidenum">
              <a:rPr lang="en-US" smtClean="0"/>
              <a:pPr/>
              <a:t>19</a:t>
            </a:fld>
            <a:endParaRPr lang="en-US"/>
          </a:p>
        </p:txBody>
      </p:sp>
    </p:spTree>
    <p:extLst>
      <p:ext uri="{BB962C8B-B14F-4D97-AF65-F5344CB8AC3E}">
        <p14:creationId xmlns:p14="http://schemas.microsoft.com/office/powerpoint/2010/main" val="268763805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87569-3969-5E44-943C-EDC669D3CAE8}"/>
              </a:ext>
            </a:extLst>
          </p:cNvPr>
          <p:cNvSpPr>
            <a:spLocks noGrp="1"/>
          </p:cNvSpPr>
          <p:nvPr>
            <p:ph type="ctrTitle"/>
          </p:nvPr>
        </p:nvSpPr>
        <p:spPr/>
        <p:txBody>
          <a:bodyPr/>
          <a:lstStyle/>
          <a:p>
            <a:r>
              <a:rPr lang="en-US" dirty="0"/>
              <a:t>Arrays</a:t>
            </a:r>
          </a:p>
        </p:txBody>
      </p:sp>
      <p:sp>
        <p:nvSpPr>
          <p:cNvPr id="3" name="Slide Number Placeholder 2">
            <a:extLst>
              <a:ext uri="{FF2B5EF4-FFF2-40B4-BE49-F238E27FC236}">
                <a16:creationId xmlns:a16="http://schemas.microsoft.com/office/drawing/2014/main" id="{9ADDF060-22FD-B641-9EC8-B268DEC4934A}"/>
              </a:ext>
            </a:extLst>
          </p:cNvPr>
          <p:cNvSpPr>
            <a:spLocks noGrp="1"/>
          </p:cNvSpPr>
          <p:nvPr>
            <p:ph type="sldNum" sz="quarter" idx="12"/>
          </p:nvPr>
        </p:nvSpPr>
        <p:spPr/>
        <p:txBody>
          <a:bodyPr/>
          <a:lstStyle/>
          <a:p>
            <a:fld id="{3552B95B-556F-44BD-91A5-D80C1B9E2BB3}" type="slidenum">
              <a:rPr lang="en-US" smtClean="0"/>
              <a:pPr/>
              <a:t>20</a:t>
            </a:fld>
            <a:endParaRPr lang="en-US"/>
          </a:p>
        </p:txBody>
      </p:sp>
    </p:spTree>
    <p:extLst>
      <p:ext uri="{BB962C8B-B14F-4D97-AF65-F5344CB8AC3E}">
        <p14:creationId xmlns:p14="http://schemas.microsoft.com/office/powerpoint/2010/main" val="309449584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B44D-1E13-2846-BE06-87032B457FE4}"/>
              </a:ext>
            </a:extLst>
          </p:cNvPr>
          <p:cNvSpPr>
            <a:spLocks noGrp="1"/>
          </p:cNvSpPr>
          <p:nvPr>
            <p:ph type="title"/>
          </p:nvPr>
        </p:nvSpPr>
        <p:spPr/>
        <p:txBody>
          <a:bodyPr/>
          <a:lstStyle/>
          <a:p>
            <a:r>
              <a:rPr lang="en-US" dirty="0"/>
              <a:t>Adding features is Fun™</a:t>
            </a:r>
          </a:p>
        </p:txBody>
      </p:sp>
      <p:sp>
        <p:nvSpPr>
          <p:cNvPr id="3" name="Content Placeholder 2">
            <a:extLst>
              <a:ext uri="{FF2B5EF4-FFF2-40B4-BE49-F238E27FC236}">
                <a16:creationId xmlns:a16="http://schemas.microsoft.com/office/drawing/2014/main" id="{0A92E0A3-A330-0644-928D-EEABCE3CF4CB}"/>
              </a:ext>
            </a:extLst>
          </p:cNvPr>
          <p:cNvSpPr>
            <a:spLocks noGrp="1"/>
          </p:cNvSpPr>
          <p:nvPr>
            <p:ph idx="1"/>
          </p:nvPr>
        </p:nvSpPr>
        <p:spPr/>
        <p:txBody>
          <a:bodyPr/>
          <a:lstStyle/>
          <a:p>
            <a:r>
              <a:rPr lang="en-US" dirty="0"/>
              <a:t>okay. now let's assume we've implemented lexing, parsing, semantic analysis, and </a:t>
            </a:r>
            <a:r>
              <a:rPr lang="en-US" dirty="0" err="1"/>
              <a:t>codegen</a:t>
            </a:r>
            <a:r>
              <a:rPr lang="en-US" dirty="0"/>
              <a:t> for </a:t>
            </a:r>
            <a:r>
              <a:rPr lang="en-US" b="1" dirty="0"/>
              <a:t>all the basic features</a:t>
            </a:r>
            <a:r>
              <a:rPr lang="en-US" dirty="0"/>
              <a:t> of our language:</a:t>
            </a:r>
          </a:p>
          <a:p>
            <a:pPr lvl="1"/>
            <a:r>
              <a:rPr lang="en-US" dirty="0"/>
              <a:t>variables, functions, </a:t>
            </a:r>
            <a:r>
              <a:rPr lang="en-US" dirty="0" err="1"/>
              <a:t>ints</a:t>
            </a:r>
            <a:r>
              <a:rPr lang="en-US" dirty="0"/>
              <a:t>, bools, strings. just the simple stuff.</a:t>
            </a:r>
          </a:p>
          <a:p>
            <a:r>
              <a:rPr lang="en-US" dirty="0"/>
              <a:t>let's now think about how we'd go about adding a </a:t>
            </a:r>
            <a:r>
              <a:rPr lang="en-US" b="1" dirty="0"/>
              <a:t>new feature </a:t>
            </a:r>
            <a:r>
              <a:rPr lang="en-US" dirty="0"/>
              <a:t>to the language, </a:t>
            </a:r>
            <a:r>
              <a:rPr lang="en-US" b="1" dirty="0"/>
              <a:t>from design all the way through to </a:t>
            </a:r>
            <a:r>
              <a:rPr lang="en-US" b="1" dirty="0" err="1"/>
              <a:t>codegen</a:t>
            </a:r>
            <a:r>
              <a:rPr lang="en-US" b="1" dirty="0"/>
              <a:t>.</a:t>
            </a:r>
          </a:p>
          <a:p>
            <a:pPr lvl="1"/>
            <a:r>
              <a:rPr lang="en-US" dirty="0"/>
              <a:t>and along the way, this might give you an appreciation for how parts of the language interact with one another.</a:t>
            </a:r>
          </a:p>
          <a:p>
            <a:r>
              <a:rPr lang="en-US" dirty="0"/>
              <a:t>we'll be adding </a:t>
            </a:r>
            <a:r>
              <a:rPr lang="en-US" b="1" dirty="0"/>
              <a:t>arrays, </a:t>
            </a:r>
            <a:r>
              <a:rPr lang="en-US" dirty="0"/>
              <a:t>which will work very similarly to how they do in Java, but with some slightly different syntax.</a:t>
            </a:r>
          </a:p>
        </p:txBody>
      </p:sp>
      <p:sp>
        <p:nvSpPr>
          <p:cNvPr id="4" name="Slide Number Placeholder 3">
            <a:extLst>
              <a:ext uri="{FF2B5EF4-FFF2-40B4-BE49-F238E27FC236}">
                <a16:creationId xmlns:a16="http://schemas.microsoft.com/office/drawing/2014/main" id="{B79260EA-EBFF-2444-9D9A-7ABB0726839A}"/>
              </a:ext>
            </a:extLst>
          </p:cNvPr>
          <p:cNvSpPr>
            <a:spLocks noGrp="1"/>
          </p:cNvSpPr>
          <p:nvPr>
            <p:ph type="sldNum" sz="quarter" idx="12"/>
          </p:nvPr>
        </p:nvSpPr>
        <p:spPr/>
        <p:txBody>
          <a:bodyPr/>
          <a:lstStyle/>
          <a:p>
            <a:fld id="{3552B95B-556F-44BD-91A5-D80C1B9E2BB3}" type="slidenum">
              <a:rPr lang="en-US" smtClean="0"/>
              <a:pPr/>
              <a:t>21</a:t>
            </a:fld>
            <a:endParaRPr lang="en-US"/>
          </a:p>
        </p:txBody>
      </p:sp>
    </p:spTree>
    <p:extLst>
      <p:ext uri="{BB962C8B-B14F-4D97-AF65-F5344CB8AC3E}">
        <p14:creationId xmlns:p14="http://schemas.microsoft.com/office/powerpoint/2010/main" val="370664750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BCCE2-ECEE-0649-94DA-2AF46F80F623}"/>
              </a:ext>
            </a:extLst>
          </p:cNvPr>
          <p:cNvSpPr>
            <a:spLocks noGrp="1"/>
          </p:cNvSpPr>
          <p:nvPr>
            <p:ph type="title"/>
          </p:nvPr>
        </p:nvSpPr>
        <p:spPr/>
        <p:txBody>
          <a:bodyPr/>
          <a:lstStyle/>
          <a:p>
            <a:r>
              <a:rPr lang="en-US" dirty="0"/>
              <a:t>Minimum Viable Product</a:t>
            </a:r>
          </a:p>
        </p:txBody>
      </p:sp>
      <p:sp>
        <p:nvSpPr>
          <p:cNvPr id="3" name="Content Placeholder 2">
            <a:extLst>
              <a:ext uri="{FF2B5EF4-FFF2-40B4-BE49-F238E27FC236}">
                <a16:creationId xmlns:a16="http://schemas.microsoft.com/office/drawing/2014/main" id="{6D01958D-4821-5A44-B268-C6C356B71EC0}"/>
              </a:ext>
            </a:extLst>
          </p:cNvPr>
          <p:cNvSpPr>
            <a:spLocks noGrp="1"/>
          </p:cNvSpPr>
          <p:nvPr>
            <p:ph idx="1"/>
          </p:nvPr>
        </p:nvSpPr>
        <p:spPr>
          <a:xfrm>
            <a:off x="152400" y="495301"/>
            <a:ext cx="8991600" cy="1523999"/>
          </a:xfrm>
        </p:spPr>
        <p:txBody>
          <a:bodyPr/>
          <a:lstStyle/>
          <a:p>
            <a:r>
              <a:rPr lang="en-US" dirty="0"/>
              <a:t>a good place to start is by writing some code to get a feel for how we want this feature to </a:t>
            </a:r>
            <a:r>
              <a:rPr lang="en-US" b="1" dirty="0"/>
              <a:t>look</a:t>
            </a:r>
            <a:r>
              <a:rPr lang="en-US" dirty="0"/>
              <a:t> and </a:t>
            </a:r>
            <a:r>
              <a:rPr lang="en-US" b="1" dirty="0"/>
              <a:t>work.</a:t>
            </a:r>
          </a:p>
          <a:p>
            <a:r>
              <a:rPr lang="en-US" dirty="0"/>
              <a:t>let's focus on the absolute </a:t>
            </a:r>
            <a:r>
              <a:rPr lang="en-US" b="1" dirty="0"/>
              <a:t>core features of arrays: </a:t>
            </a:r>
            <a:r>
              <a:rPr lang="en-US" dirty="0"/>
              <a:t>allocating them, accessing their items, and getting their length.</a:t>
            </a:r>
          </a:p>
        </p:txBody>
      </p:sp>
      <p:sp>
        <p:nvSpPr>
          <p:cNvPr id="4" name="Slide Number Placeholder 3">
            <a:extLst>
              <a:ext uri="{FF2B5EF4-FFF2-40B4-BE49-F238E27FC236}">
                <a16:creationId xmlns:a16="http://schemas.microsoft.com/office/drawing/2014/main" id="{C9AAB39F-FC3E-ED43-A4B1-5E64B8CDB86A}"/>
              </a:ext>
            </a:extLst>
          </p:cNvPr>
          <p:cNvSpPr>
            <a:spLocks noGrp="1"/>
          </p:cNvSpPr>
          <p:nvPr>
            <p:ph type="sldNum" sz="quarter" idx="12"/>
          </p:nvPr>
        </p:nvSpPr>
        <p:spPr/>
        <p:txBody>
          <a:bodyPr/>
          <a:lstStyle/>
          <a:p>
            <a:fld id="{3552B95B-556F-44BD-91A5-D80C1B9E2BB3}" type="slidenum">
              <a:rPr lang="en-US" smtClean="0"/>
              <a:pPr/>
              <a:t>22</a:t>
            </a:fld>
            <a:endParaRPr lang="en-US"/>
          </a:p>
        </p:txBody>
      </p:sp>
      <p:sp>
        <p:nvSpPr>
          <p:cNvPr id="5" name="TextBox 4">
            <a:extLst>
              <a:ext uri="{FF2B5EF4-FFF2-40B4-BE49-F238E27FC236}">
                <a16:creationId xmlns:a16="http://schemas.microsoft.com/office/drawing/2014/main" id="{F8727C84-E303-E64B-8933-88484F414C6D}"/>
              </a:ext>
            </a:extLst>
          </p:cNvPr>
          <p:cNvSpPr txBox="1"/>
          <p:nvPr/>
        </p:nvSpPr>
        <p:spPr>
          <a:xfrm>
            <a:off x="254916" y="2015580"/>
            <a:ext cx="3605474" cy="430887"/>
          </a:xfrm>
          <a:prstGeom prst="rect">
            <a:avLst/>
          </a:prstGeom>
          <a:noFill/>
        </p:spPr>
        <p:txBody>
          <a:bodyPr wrap="none" rtlCol="0">
            <a:spAutoFit/>
          </a:bodyPr>
          <a:lstStyle/>
          <a:p>
            <a:r>
              <a:rPr lang="en-US" sz="2200" b="1" dirty="0">
                <a:solidFill>
                  <a:srgbClr val="FF0000"/>
                </a:solidFill>
                <a:latin typeface="Consolas" panose="020B0609020204030204" pitchFamily="49" charset="0"/>
                <a:cs typeface="Consolas" panose="020B0609020204030204" pitchFamily="49" charset="0"/>
              </a:rPr>
              <a:t>let</a:t>
            </a:r>
            <a:r>
              <a:rPr lang="en-US" sz="2200" b="1" dirty="0">
                <a:latin typeface="Consolas" panose="020B0609020204030204" pitchFamily="49" charset="0"/>
                <a:cs typeface="Consolas" panose="020B0609020204030204" pitchFamily="49" charset="0"/>
              </a:rPr>
              <a:t> a = </a:t>
            </a: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a:t>
            </a:r>
          </a:p>
        </p:txBody>
      </p:sp>
      <p:sp>
        <p:nvSpPr>
          <p:cNvPr id="7" name="TextBox 6">
            <a:extLst>
              <a:ext uri="{FF2B5EF4-FFF2-40B4-BE49-F238E27FC236}">
                <a16:creationId xmlns:a16="http://schemas.microsoft.com/office/drawing/2014/main" id="{0796D70B-C577-234C-85C2-4C708C93F992}"/>
              </a:ext>
            </a:extLst>
          </p:cNvPr>
          <p:cNvSpPr txBox="1"/>
          <p:nvPr/>
        </p:nvSpPr>
        <p:spPr>
          <a:xfrm>
            <a:off x="616464" y="2469059"/>
            <a:ext cx="8298936" cy="769441"/>
          </a:xfrm>
          <a:prstGeom prst="rect">
            <a:avLst/>
          </a:prstGeom>
          <a:noFill/>
        </p:spPr>
        <p:txBody>
          <a:bodyPr wrap="square" rtlCol="0">
            <a:spAutoFit/>
          </a:bodyPr>
          <a:lstStyle/>
          <a:p>
            <a:r>
              <a:rPr lang="en-US" sz="2200" dirty="0"/>
              <a:t>this syntax might look a bit odd, but it's meant to echo a similar syntax used in Rust. it's also </a:t>
            </a:r>
            <a:r>
              <a:rPr lang="en-US" sz="2200" i="1" dirty="0"/>
              <a:t>easier to parse </a:t>
            </a:r>
            <a:r>
              <a:rPr lang="en-US" sz="2200" dirty="0"/>
              <a:t>than </a:t>
            </a:r>
            <a:r>
              <a:rPr lang="en-US" sz="2200" b="1" dirty="0">
                <a:solidFill>
                  <a:srgbClr val="FF0000"/>
                </a:solidFill>
                <a:latin typeface="Consolas" panose="020B0609020204030204" pitchFamily="49" charset="0"/>
                <a:cs typeface="Consolas" panose="020B0609020204030204" pitchFamily="49" charset="0"/>
              </a:rPr>
              <a:t>new int</a:t>
            </a:r>
            <a:r>
              <a:rPr lang="en-US" sz="2200" b="1" dirty="0">
                <a:latin typeface="Consolas" panose="020B0609020204030204" pitchFamily="49" charset="0"/>
                <a:cs typeface="Consolas" panose="020B0609020204030204" pitchFamily="49" charset="0"/>
              </a:rPr>
              <a:t>[</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a:t>
            </a:r>
            <a:r>
              <a:rPr lang="en-US" sz="2200" dirty="0"/>
              <a:t>.</a:t>
            </a:r>
            <a:endParaRPr lang="en-US" sz="2200" i="1" dirty="0"/>
          </a:p>
        </p:txBody>
      </p:sp>
      <p:sp>
        <p:nvSpPr>
          <p:cNvPr id="8" name="TextBox 7">
            <a:extLst>
              <a:ext uri="{FF2B5EF4-FFF2-40B4-BE49-F238E27FC236}">
                <a16:creationId xmlns:a16="http://schemas.microsoft.com/office/drawing/2014/main" id="{2F4E41CF-DE59-5D48-8A6B-162A268F0DAC}"/>
              </a:ext>
            </a:extLst>
          </p:cNvPr>
          <p:cNvSpPr txBox="1"/>
          <p:nvPr/>
        </p:nvSpPr>
        <p:spPr>
          <a:xfrm>
            <a:off x="254916" y="3217606"/>
            <a:ext cx="1584088" cy="430887"/>
          </a:xfrm>
          <a:prstGeom prst="rect">
            <a:avLst/>
          </a:prstGeom>
          <a:noFill/>
        </p:spPr>
        <p:txBody>
          <a:bodyPr wrap="none" rtlCol="0">
            <a:spAutoFit/>
          </a:bodyPr>
          <a:lstStyle/>
          <a:p>
            <a:r>
              <a:rPr lang="en-US" sz="2200" b="1" dirty="0">
                <a:latin typeface="Consolas" panose="020B0609020204030204" pitchFamily="49" charset="0"/>
                <a:cs typeface="Consolas" panose="020B0609020204030204" pitchFamily="49" charset="0"/>
              </a:rPr>
              <a:t>a[</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b="1" dirty="0">
                <a:latin typeface="Consolas" panose="020B0609020204030204" pitchFamily="49" charset="0"/>
                <a:cs typeface="Consolas" panose="020B0609020204030204" pitchFamily="49" charset="0"/>
              </a:rPr>
              <a:t>] = </a:t>
            </a:r>
            <a:r>
              <a:rPr lang="en-US" sz="2200" b="1" dirty="0">
                <a:solidFill>
                  <a:schemeClr val="accent3">
                    <a:lumMod val="75000"/>
                  </a:schemeClr>
                </a:solidFill>
                <a:latin typeface="Consolas" panose="020B0609020204030204" pitchFamily="49" charset="0"/>
                <a:cs typeface="Consolas" panose="020B0609020204030204" pitchFamily="49" charset="0"/>
              </a:rPr>
              <a:t>5</a:t>
            </a:r>
            <a:r>
              <a:rPr lang="en-US" sz="2200" b="1" dirty="0">
                <a:latin typeface="Consolas" panose="020B0609020204030204" pitchFamily="49" charset="0"/>
                <a:cs typeface="Consolas" panose="020B0609020204030204" pitchFamily="49" charset="0"/>
              </a:rPr>
              <a:t>;</a:t>
            </a:r>
          </a:p>
        </p:txBody>
      </p:sp>
      <p:sp>
        <p:nvSpPr>
          <p:cNvPr id="9" name="TextBox 8">
            <a:extLst>
              <a:ext uri="{FF2B5EF4-FFF2-40B4-BE49-F238E27FC236}">
                <a16:creationId xmlns:a16="http://schemas.microsoft.com/office/drawing/2014/main" id="{22A38270-D0FF-8141-8F4A-C1EBCBAE37C5}"/>
              </a:ext>
            </a:extLst>
          </p:cNvPr>
          <p:cNvSpPr txBox="1"/>
          <p:nvPr/>
        </p:nvSpPr>
        <p:spPr>
          <a:xfrm>
            <a:off x="616464" y="3671085"/>
            <a:ext cx="5048652" cy="430887"/>
          </a:xfrm>
          <a:prstGeom prst="rect">
            <a:avLst/>
          </a:prstGeom>
          <a:noFill/>
        </p:spPr>
        <p:txBody>
          <a:bodyPr wrap="square" rtlCol="0">
            <a:spAutoFit/>
          </a:bodyPr>
          <a:lstStyle/>
          <a:p>
            <a:r>
              <a:rPr lang="en-US" sz="2200" dirty="0"/>
              <a:t>I think it's clear what's happening here.</a:t>
            </a:r>
            <a:endParaRPr lang="en-US" sz="2200" i="1" dirty="0"/>
          </a:p>
        </p:txBody>
      </p:sp>
      <p:sp>
        <p:nvSpPr>
          <p:cNvPr id="10" name="TextBox 9">
            <a:extLst>
              <a:ext uri="{FF2B5EF4-FFF2-40B4-BE49-F238E27FC236}">
                <a16:creationId xmlns:a16="http://schemas.microsoft.com/office/drawing/2014/main" id="{78D76365-3435-504C-95A0-C8643F95BA35}"/>
              </a:ext>
            </a:extLst>
          </p:cNvPr>
          <p:cNvSpPr txBox="1"/>
          <p:nvPr/>
        </p:nvSpPr>
        <p:spPr>
          <a:xfrm>
            <a:off x="254916" y="4101972"/>
            <a:ext cx="6559809" cy="430887"/>
          </a:xfrm>
          <a:prstGeom prst="rect">
            <a:avLst/>
          </a:prstGeom>
          <a:noFill/>
        </p:spPr>
        <p:txBody>
          <a:bodyPr wrap="none" rtlCol="0">
            <a:spAutoFit/>
          </a:bodyPr>
          <a:lstStyle/>
          <a:p>
            <a:r>
              <a:rPr lang="en-US" sz="2200" b="1" dirty="0">
                <a:solidFill>
                  <a:srgbClr val="FF0000"/>
                </a:solidFill>
                <a:latin typeface="Consolas" panose="020B0609020204030204" pitchFamily="49" charset="0"/>
                <a:cs typeface="Consolas" panose="020B0609020204030204" pitchFamily="49" charset="0"/>
              </a:rPr>
              <a:t>for</a:t>
            </a:r>
            <a:r>
              <a:rPr lang="en-US" sz="2200" b="1" dirty="0">
                <a:latin typeface="Consolas" panose="020B0609020204030204" pitchFamily="49" charset="0"/>
                <a:cs typeface="Consolas" panose="020B0609020204030204" pitchFamily="49" charset="0"/>
              </a:rPr>
              <a:t> i </a:t>
            </a:r>
            <a:r>
              <a:rPr lang="en-US" sz="2200" b="1" dirty="0">
                <a:solidFill>
                  <a:srgbClr val="FF0000"/>
                </a:solidFill>
                <a:latin typeface="Consolas" panose="020B0609020204030204" pitchFamily="49" charset="0"/>
                <a:cs typeface="Consolas" panose="020B0609020204030204" pitchFamily="49" charset="0"/>
              </a:rPr>
              <a:t>in</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a.length</a:t>
            </a:r>
            <a:r>
              <a:rPr lang="en-US" sz="2200" b="1" dirty="0">
                <a:latin typeface="Consolas" panose="020B0609020204030204" pitchFamily="49" charset="0"/>
                <a:cs typeface="Consolas" panose="020B0609020204030204" pitchFamily="49" charset="0"/>
              </a:rPr>
              <a:t> { </a:t>
            </a:r>
            <a:r>
              <a:rPr lang="en-US" sz="2200" b="1" dirty="0" err="1">
                <a:latin typeface="Consolas" panose="020B0609020204030204" pitchFamily="49" charset="0"/>
                <a:cs typeface="Consolas" panose="020B0609020204030204" pitchFamily="49" charset="0"/>
              </a:rPr>
              <a:t>println_i</a:t>
            </a:r>
            <a:r>
              <a:rPr lang="en-US" sz="2200" b="1" dirty="0">
                <a:latin typeface="Consolas" panose="020B0609020204030204" pitchFamily="49" charset="0"/>
                <a:cs typeface="Consolas" panose="020B0609020204030204" pitchFamily="49" charset="0"/>
              </a:rPr>
              <a:t>(a[i]); }</a:t>
            </a:r>
          </a:p>
        </p:txBody>
      </p:sp>
      <p:sp>
        <p:nvSpPr>
          <p:cNvPr id="11" name="TextBox 10">
            <a:extLst>
              <a:ext uri="{FF2B5EF4-FFF2-40B4-BE49-F238E27FC236}">
                <a16:creationId xmlns:a16="http://schemas.microsoft.com/office/drawing/2014/main" id="{21861E0F-4C5F-9E43-BF6A-BECD0B0651C3}"/>
              </a:ext>
            </a:extLst>
          </p:cNvPr>
          <p:cNvSpPr txBox="1"/>
          <p:nvPr/>
        </p:nvSpPr>
        <p:spPr>
          <a:xfrm>
            <a:off x="616464" y="4532859"/>
            <a:ext cx="3117336" cy="430887"/>
          </a:xfrm>
          <a:prstGeom prst="rect">
            <a:avLst/>
          </a:prstGeom>
          <a:noFill/>
        </p:spPr>
        <p:txBody>
          <a:bodyPr wrap="square" rtlCol="0">
            <a:spAutoFit/>
          </a:bodyPr>
          <a:lstStyle/>
          <a:p>
            <a:r>
              <a:rPr lang="en-US" sz="2200" dirty="0"/>
              <a:t>and this is familiar too!</a:t>
            </a:r>
            <a:endParaRPr lang="en-US" sz="2200" i="1" dirty="0"/>
          </a:p>
        </p:txBody>
      </p:sp>
    </p:spTree>
    <p:extLst>
      <p:ext uri="{BB962C8B-B14F-4D97-AF65-F5344CB8AC3E}">
        <p14:creationId xmlns:p14="http://schemas.microsoft.com/office/powerpoint/2010/main" val="35667841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2FFB3-97C1-954D-B8EE-14861A541142}"/>
              </a:ext>
            </a:extLst>
          </p:cNvPr>
          <p:cNvSpPr>
            <a:spLocks noGrp="1"/>
          </p:cNvSpPr>
          <p:nvPr>
            <p:ph type="title"/>
          </p:nvPr>
        </p:nvSpPr>
        <p:spPr/>
        <p:txBody>
          <a:bodyPr/>
          <a:lstStyle/>
          <a:p>
            <a:r>
              <a:rPr lang="en-US" dirty="0"/>
              <a:t>Lexing and Parsing</a:t>
            </a:r>
          </a:p>
        </p:txBody>
      </p:sp>
      <p:sp>
        <p:nvSpPr>
          <p:cNvPr id="3" name="Content Placeholder 2">
            <a:extLst>
              <a:ext uri="{FF2B5EF4-FFF2-40B4-BE49-F238E27FC236}">
                <a16:creationId xmlns:a16="http://schemas.microsoft.com/office/drawing/2014/main" id="{841FA7A7-240A-9F47-9FA5-C8B80CA14C73}"/>
              </a:ext>
            </a:extLst>
          </p:cNvPr>
          <p:cNvSpPr>
            <a:spLocks noGrp="1"/>
          </p:cNvSpPr>
          <p:nvPr>
            <p:ph idx="1"/>
          </p:nvPr>
        </p:nvSpPr>
        <p:spPr>
          <a:xfrm>
            <a:off x="152400" y="495301"/>
            <a:ext cx="8991600" cy="914399"/>
          </a:xfrm>
        </p:spPr>
        <p:txBody>
          <a:bodyPr/>
          <a:lstStyle/>
          <a:p>
            <a:r>
              <a:rPr lang="en-US" dirty="0"/>
              <a:t>for lexing, we only need to add two tokens to our lexer: </a:t>
            </a:r>
            <a:r>
              <a:rPr lang="en-US" b="1" dirty="0"/>
              <a:t>[ </a:t>
            </a:r>
            <a:r>
              <a:rPr lang="en-US" dirty="0"/>
              <a:t>and </a:t>
            </a:r>
            <a:r>
              <a:rPr lang="en-US" b="1" dirty="0"/>
              <a:t>]</a:t>
            </a:r>
            <a:r>
              <a:rPr lang="en-US" dirty="0"/>
              <a:t>.</a:t>
            </a:r>
          </a:p>
          <a:p>
            <a:r>
              <a:rPr lang="en-US" dirty="0"/>
              <a:t>for parsing, we've got a few new rules to add.</a:t>
            </a:r>
          </a:p>
        </p:txBody>
      </p:sp>
      <p:sp>
        <p:nvSpPr>
          <p:cNvPr id="4" name="Slide Number Placeholder 3">
            <a:extLst>
              <a:ext uri="{FF2B5EF4-FFF2-40B4-BE49-F238E27FC236}">
                <a16:creationId xmlns:a16="http://schemas.microsoft.com/office/drawing/2014/main" id="{1A7DEDA5-F9C7-F84E-BA31-C708EBFCE083}"/>
              </a:ext>
            </a:extLst>
          </p:cNvPr>
          <p:cNvSpPr>
            <a:spLocks noGrp="1"/>
          </p:cNvSpPr>
          <p:nvPr>
            <p:ph type="sldNum" sz="quarter" idx="12"/>
          </p:nvPr>
        </p:nvSpPr>
        <p:spPr/>
        <p:txBody>
          <a:bodyPr/>
          <a:lstStyle/>
          <a:p>
            <a:fld id="{3552B95B-556F-44BD-91A5-D80C1B9E2BB3}" type="slidenum">
              <a:rPr lang="en-US" smtClean="0"/>
              <a:pPr/>
              <a:t>23</a:t>
            </a:fld>
            <a:endParaRPr lang="en-US"/>
          </a:p>
        </p:txBody>
      </p:sp>
      <p:sp>
        <p:nvSpPr>
          <p:cNvPr id="5" name="TextBox 4">
            <a:extLst>
              <a:ext uri="{FF2B5EF4-FFF2-40B4-BE49-F238E27FC236}">
                <a16:creationId xmlns:a16="http://schemas.microsoft.com/office/drawing/2014/main" id="{078AE351-18AE-334A-9493-95AB78CF43E5}"/>
              </a:ext>
            </a:extLst>
          </p:cNvPr>
          <p:cNvSpPr txBox="1"/>
          <p:nvPr/>
        </p:nvSpPr>
        <p:spPr>
          <a:xfrm>
            <a:off x="186813" y="1638300"/>
            <a:ext cx="2206053" cy="430887"/>
          </a:xfrm>
          <a:prstGeom prst="rect">
            <a:avLst/>
          </a:prstGeom>
          <a:noFill/>
        </p:spPr>
        <p:txBody>
          <a:bodyPr wrap="none" rtlCol="0">
            <a:spAutoFit/>
          </a:bodyPr>
          <a:lstStyle/>
          <a:p>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a:t>
            </a:r>
          </a:p>
        </p:txBody>
      </p:sp>
      <p:sp>
        <p:nvSpPr>
          <p:cNvPr id="7" name="TextBox 6">
            <a:extLst>
              <a:ext uri="{FF2B5EF4-FFF2-40B4-BE49-F238E27FC236}">
                <a16:creationId xmlns:a16="http://schemas.microsoft.com/office/drawing/2014/main" id="{28B9869E-616E-5148-94AC-76E373739426}"/>
              </a:ext>
            </a:extLst>
          </p:cNvPr>
          <p:cNvSpPr txBox="1"/>
          <p:nvPr/>
        </p:nvSpPr>
        <p:spPr>
          <a:xfrm>
            <a:off x="2847822" y="1345911"/>
            <a:ext cx="5686172" cy="1015663"/>
          </a:xfrm>
          <a:prstGeom prst="rect">
            <a:avLst/>
          </a:prstGeom>
          <a:noFill/>
        </p:spPr>
        <p:txBody>
          <a:bodyPr wrap="none" rtlCol="0">
            <a:spAutoFit/>
          </a:bodyPr>
          <a:lstStyle/>
          <a:p>
            <a:r>
              <a:rPr lang="en-US" sz="2000" b="1" dirty="0">
                <a:latin typeface="Consolas" panose="020B0609020204030204" pitchFamily="49" charset="0"/>
                <a:cs typeface="Consolas" panose="020B0609020204030204" pitchFamily="49" charset="0"/>
              </a:rPr>
              <a:t>New:       </a:t>
            </a:r>
            <a:r>
              <a:rPr lang="en-US" sz="2000" b="1" dirty="0">
                <a:solidFill>
                  <a:schemeClr val="accent6">
                    <a:lumMod val="75000"/>
                  </a:schemeClr>
                </a:solidFill>
                <a:latin typeface="Consolas" panose="020B0609020204030204" pitchFamily="49" charset="0"/>
                <a:cs typeface="Consolas" panose="020B0609020204030204" pitchFamily="49" charset="0"/>
              </a:rPr>
              <a:t>'new'</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StructNew</a:t>
            </a:r>
            <a:r>
              <a:rPr lang="en-US" sz="2000" b="1" dirty="0">
                <a:latin typeface="Consolas" panose="020B0609020204030204" pitchFamily="49" charset="0"/>
                <a:cs typeface="Consolas" panose="020B0609020204030204" pitchFamily="49" charset="0"/>
              </a:rPr>
              <a:t> | </a:t>
            </a:r>
            <a:r>
              <a:rPr lang="en-US" sz="2000" b="1" dirty="0" err="1">
                <a:highlight>
                  <a:srgbClr val="FCF9C5"/>
                </a:highlight>
                <a:latin typeface="Consolas" panose="020B0609020204030204" pitchFamily="49" charset="0"/>
                <a:cs typeface="Consolas" panose="020B0609020204030204" pitchFamily="49" charset="0"/>
              </a:rPr>
              <a:t>ArrayNew</a:t>
            </a:r>
            <a:r>
              <a:rPr lang="en-US" sz="2000" b="1" dirty="0">
                <a:latin typeface="Consolas" panose="020B0609020204030204" pitchFamily="49" charset="0"/>
                <a:cs typeface="Consolas" panose="020B0609020204030204" pitchFamily="49" charset="0"/>
              </a:rPr>
              <a:t>)</a:t>
            </a:r>
          </a:p>
          <a:p>
            <a:r>
              <a:rPr lang="en-US" sz="2000" b="1" dirty="0" err="1">
                <a:latin typeface="Consolas" panose="020B0609020204030204" pitchFamily="49" charset="0"/>
                <a:cs typeface="Consolas" panose="020B0609020204030204" pitchFamily="49" charset="0"/>
              </a:rPr>
              <a:t>StructNew</a:t>
            </a:r>
            <a:r>
              <a:rPr lang="en-US" sz="2000" b="1" dirty="0">
                <a:latin typeface="Consolas" panose="020B0609020204030204" pitchFamily="49" charset="0"/>
                <a:cs typeface="Consolas" panose="020B0609020204030204" pitchFamily="49" charset="0"/>
              </a:rPr>
              <a:t>: Id </a:t>
            </a:r>
            <a:r>
              <a:rPr lang="en-US" sz="2000" b="1" dirty="0">
                <a:solidFill>
                  <a:schemeClr val="accent6">
                    <a:lumMod val="75000"/>
                  </a:schemeClr>
                </a:solidFill>
                <a:latin typeface="Consolas" panose="020B0609020204030204" pitchFamily="49" charset="0"/>
                <a:cs typeface="Consolas" panose="020B0609020204030204" pitchFamily="49" charset="0"/>
              </a:rPr>
              <a:t>'('</a:t>
            </a:r>
            <a:r>
              <a:rPr lang="en-US" sz="2000" b="1" dirty="0">
                <a:latin typeface="Consolas" panose="020B0609020204030204" pitchFamily="49" charset="0"/>
                <a:cs typeface="Consolas" panose="020B0609020204030204" pitchFamily="49" charset="0"/>
              </a:rPr>
              <a:t> </a:t>
            </a:r>
            <a:r>
              <a:rPr lang="en-US" sz="2000" b="1" dirty="0">
                <a:solidFill>
                  <a:schemeClr val="accent6">
                    <a:lumMod val="75000"/>
                  </a:schemeClr>
                </a:solidFill>
                <a:latin typeface="Consolas" panose="020B0609020204030204" pitchFamily="49" charset="0"/>
                <a:cs typeface="Consolas" panose="020B0609020204030204" pitchFamily="49" charset="0"/>
              </a:rPr>
              <a:t>')'</a:t>
            </a:r>
          </a:p>
          <a:p>
            <a:r>
              <a:rPr lang="en-US" sz="2000" b="1" dirty="0" err="1">
                <a:highlight>
                  <a:srgbClr val="FCF9C5"/>
                </a:highlight>
                <a:latin typeface="Consolas" panose="020B0609020204030204" pitchFamily="49" charset="0"/>
                <a:cs typeface="Consolas" panose="020B0609020204030204" pitchFamily="49" charset="0"/>
              </a:rPr>
              <a:t>ArrayCtor</a:t>
            </a:r>
            <a:r>
              <a:rPr lang="en-US" sz="2000" b="1" dirty="0">
                <a:highlight>
                  <a:srgbClr val="FCF9C5"/>
                </a:highlight>
                <a:latin typeface="Consolas" panose="020B0609020204030204" pitchFamily="49" charset="0"/>
                <a:cs typeface="Consolas" panose="020B0609020204030204" pitchFamily="49" charset="0"/>
              </a:rPr>
              <a:t>: </a:t>
            </a:r>
            <a:r>
              <a:rPr lang="en-US" sz="2000" b="1" dirty="0">
                <a:solidFill>
                  <a:schemeClr val="accent6">
                    <a:lumMod val="75000"/>
                  </a:schemeClr>
                </a:solidFill>
                <a:highlight>
                  <a:srgbClr val="FCF9C5"/>
                </a:highlight>
                <a:latin typeface="Consolas" panose="020B0609020204030204" pitchFamily="49" charset="0"/>
                <a:cs typeface="Consolas" panose="020B0609020204030204" pitchFamily="49" charset="0"/>
              </a:rPr>
              <a:t>'['</a:t>
            </a:r>
            <a:r>
              <a:rPr lang="en-US" sz="2000" b="1" dirty="0">
                <a:highlight>
                  <a:srgbClr val="FCF9C5"/>
                </a:highlight>
                <a:latin typeface="Consolas" panose="020B0609020204030204" pitchFamily="49" charset="0"/>
                <a:cs typeface="Consolas" panose="020B0609020204030204" pitchFamily="49" charset="0"/>
              </a:rPr>
              <a:t> Type </a:t>
            </a:r>
            <a:r>
              <a:rPr lang="en-US" sz="2000" b="1" dirty="0">
                <a:solidFill>
                  <a:schemeClr val="accent6">
                    <a:lumMod val="75000"/>
                  </a:schemeClr>
                </a:solidFill>
                <a:highlight>
                  <a:srgbClr val="FCF9C5"/>
                </a:highlight>
                <a:latin typeface="Consolas" panose="020B0609020204030204" pitchFamily="49" charset="0"/>
                <a:cs typeface="Consolas" panose="020B0609020204030204" pitchFamily="49" charset="0"/>
              </a:rPr>
              <a:t>';'</a:t>
            </a:r>
            <a:r>
              <a:rPr lang="en-US" sz="2000" b="1" dirty="0">
                <a:highlight>
                  <a:srgbClr val="FCF9C5"/>
                </a:highlight>
                <a:latin typeface="Consolas" panose="020B0609020204030204" pitchFamily="49" charset="0"/>
                <a:cs typeface="Consolas" panose="020B0609020204030204" pitchFamily="49" charset="0"/>
              </a:rPr>
              <a:t> </a:t>
            </a:r>
            <a:r>
              <a:rPr lang="en-US" sz="2000" b="1" dirty="0" err="1">
                <a:highlight>
                  <a:srgbClr val="FCF9C5"/>
                </a:highlight>
                <a:latin typeface="Consolas" panose="020B0609020204030204" pitchFamily="49" charset="0"/>
                <a:cs typeface="Consolas" panose="020B0609020204030204" pitchFamily="49" charset="0"/>
              </a:rPr>
              <a:t>Exp</a:t>
            </a:r>
            <a:r>
              <a:rPr lang="en-US" sz="2000" b="1" dirty="0">
                <a:highlight>
                  <a:srgbClr val="FCF9C5"/>
                </a:highlight>
                <a:latin typeface="Consolas" panose="020B0609020204030204" pitchFamily="49" charset="0"/>
                <a:cs typeface="Consolas" panose="020B0609020204030204" pitchFamily="49" charset="0"/>
              </a:rPr>
              <a:t> </a:t>
            </a:r>
            <a:r>
              <a:rPr lang="en-US" sz="2000" b="1" dirty="0">
                <a:solidFill>
                  <a:schemeClr val="accent6">
                    <a:lumMod val="75000"/>
                  </a:schemeClr>
                </a:solidFill>
                <a:highlight>
                  <a:srgbClr val="FCF9C5"/>
                </a:highlight>
                <a:latin typeface="Consolas" panose="020B0609020204030204" pitchFamily="49" charset="0"/>
                <a:cs typeface="Consolas" panose="020B0609020204030204" pitchFamily="49" charset="0"/>
              </a:rPr>
              <a:t>']'</a:t>
            </a:r>
          </a:p>
        </p:txBody>
      </p:sp>
      <p:sp>
        <p:nvSpPr>
          <p:cNvPr id="8" name="TextBox 7">
            <a:extLst>
              <a:ext uri="{FF2B5EF4-FFF2-40B4-BE49-F238E27FC236}">
                <a16:creationId xmlns:a16="http://schemas.microsoft.com/office/drawing/2014/main" id="{4305C9F7-472B-BA4B-9D1B-E7F13B9152F8}"/>
              </a:ext>
            </a:extLst>
          </p:cNvPr>
          <p:cNvSpPr txBox="1"/>
          <p:nvPr/>
        </p:nvSpPr>
        <p:spPr>
          <a:xfrm>
            <a:off x="186813" y="2767400"/>
            <a:ext cx="1584088" cy="430887"/>
          </a:xfrm>
          <a:prstGeom prst="rect">
            <a:avLst/>
          </a:prstGeom>
          <a:noFill/>
        </p:spPr>
        <p:txBody>
          <a:bodyPr wrap="none" rtlCol="0">
            <a:spAutoFit/>
          </a:bodyPr>
          <a:lstStyle/>
          <a:p>
            <a:r>
              <a:rPr lang="en-US" sz="2200" b="1" dirty="0">
                <a:latin typeface="Consolas" panose="020B0609020204030204" pitchFamily="49" charset="0"/>
                <a:cs typeface="Consolas" panose="020B0609020204030204" pitchFamily="49" charset="0"/>
              </a:rPr>
              <a:t>a[</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b="1" dirty="0">
                <a:latin typeface="Consolas" panose="020B0609020204030204" pitchFamily="49" charset="0"/>
                <a:cs typeface="Consolas" panose="020B0609020204030204" pitchFamily="49" charset="0"/>
              </a:rPr>
              <a:t>] = </a:t>
            </a:r>
            <a:r>
              <a:rPr lang="en-US" sz="2200" b="1" dirty="0">
                <a:solidFill>
                  <a:schemeClr val="accent3">
                    <a:lumMod val="75000"/>
                  </a:schemeClr>
                </a:solidFill>
                <a:latin typeface="Consolas" panose="020B0609020204030204" pitchFamily="49" charset="0"/>
                <a:cs typeface="Consolas" panose="020B0609020204030204" pitchFamily="49" charset="0"/>
              </a:rPr>
              <a:t>5</a:t>
            </a:r>
            <a:r>
              <a:rPr lang="en-US" sz="2200" b="1" dirty="0">
                <a:latin typeface="Consolas" panose="020B0609020204030204" pitchFamily="49" charset="0"/>
                <a:cs typeface="Consolas" panose="020B0609020204030204" pitchFamily="49" charset="0"/>
              </a:rPr>
              <a:t>;</a:t>
            </a:r>
          </a:p>
        </p:txBody>
      </p:sp>
      <p:sp>
        <p:nvSpPr>
          <p:cNvPr id="9" name="TextBox 8">
            <a:extLst>
              <a:ext uri="{FF2B5EF4-FFF2-40B4-BE49-F238E27FC236}">
                <a16:creationId xmlns:a16="http://schemas.microsoft.com/office/drawing/2014/main" id="{14BB29E1-9FD7-CB4B-9F12-C084E9578946}"/>
              </a:ext>
            </a:extLst>
          </p:cNvPr>
          <p:cNvSpPr txBox="1"/>
          <p:nvPr/>
        </p:nvSpPr>
        <p:spPr>
          <a:xfrm>
            <a:off x="2847822" y="2628900"/>
            <a:ext cx="5121915" cy="707886"/>
          </a:xfrm>
          <a:prstGeom prst="rect">
            <a:avLst/>
          </a:prstGeom>
          <a:noFill/>
        </p:spPr>
        <p:txBody>
          <a:bodyPr wrap="none" rtlCol="0">
            <a:spAutoFit/>
          </a:bodyPr>
          <a:lstStyle/>
          <a:p>
            <a:r>
              <a:rPr lang="en-US" sz="2000" b="1" dirty="0" err="1">
                <a:latin typeface="Consolas" panose="020B0609020204030204" pitchFamily="49" charset="0"/>
                <a:cs typeface="Consolas" panose="020B0609020204030204" pitchFamily="49" charset="0"/>
              </a:rPr>
              <a:t>PostfixOp</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FuncCall</a:t>
            </a:r>
            <a:r>
              <a:rPr lang="en-US" sz="2000" b="1" dirty="0">
                <a:latin typeface="Consolas" panose="020B0609020204030204" pitchFamily="49" charset="0"/>
                <a:cs typeface="Consolas" panose="020B0609020204030204" pitchFamily="49" charset="0"/>
              </a:rPr>
              <a:t> | Field | </a:t>
            </a:r>
            <a:r>
              <a:rPr lang="en-US" sz="2000" b="1" dirty="0">
                <a:highlight>
                  <a:srgbClr val="FCF9C5"/>
                </a:highlight>
                <a:latin typeface="Consolas" panose="020B0609020204030204" pitchFamily="49" charset="0"/>
                <a:cs typeface="Consolas" panose="020B0609020204030204" pitchFamily="49" charset="0"/>
              </a:rPr>
              <a:t>Index</a:t>
            </a:r>
          </a:p>
          <a:p>
            <a:r>
              <a:rPr lang="en-US" sz="2000" b="1" dirty="0">
                <a:highlight>
                  <a:srgbClr val="FCF9C5"/>
                </a:highlight>
                <a:latin typeface="Consolas" panose="020B0609020204030204" pitchFamily="49" charset="0"/>
                <a:cs typeface="Consolas" panose="020B0609020204030204" pitchFamily="49" charset="0"/>
              </a:rPr>
              <a:t>Index:     </a:t>
            </a:r>
            <a:r>
              <a:rPr lang="en-US" sz="2000" b="1" dirty="0">
                <a:solidFill>
                  <a:schemeClr val="accent6">
                    <a:lumMod val="75000"/>
                  </a:schemeClr>
                </a:solidFill>
                <a:highlight>
                  <a:srgbClr val="FCF9C5"/>
                </a:highlight>
                <a:latin typeface="Consolas" panose="020B0609020204030204" pitchFamily="49" charset="0"/>
                <a:cs typeface="Consolas" panose="020B0609020204030204" pitchFamily="49" charset="0"/>
              </a:rPr>
              <a:t>'['</a:t>
            </a:r>
            <a:r>
              <a:rPr lang="en-US" sz="2000" b="1" dirty="0">
                <a:highlight>
                  <a:srgbClr val="FCF9C5"/>
                </a:highlight>
                <a:latin typeface="Consolas" panose="020B0609020204030204" pitchFamily="49" charset="0"/>
                <a:cs typeface="Consolas" panose="020B0609020204030204" pitchFamily="49" charset="0"/>
              </a:rPr>
              <a:t> </a:t>
            </a:r>
            <a:r>
              <a:rPr lang="en-US" sz="2000" b="1" dirty="0" err="1">
                <a:highlight>
                  <a:srgbClr val="FCF9C5"/>
                </a:highlight>
                <a:latin typeface="Consolas" panose="020B0609020204030204" pitchFamily="49" charset="0"/>
                <a:cs typeface="Consolas" panose="020B0609020204030204" pitchFamily="49" charset="0"/>
              </a:rPr>
              <a:t>Exp</a:t>
            </a:r>
            <a:r>
              <a:rPr lang="en-US" sz="2000" b="1" dirty="0">
                <a:highlight>
                  <a:srgbClr val="FCF9C5"/>
                </a:highlight>
                <a:latin typeface="Consolas" panose="020B0609020204030204" pitchFamily="49" charset="0"/>
                <a:cs typeface="Consolas" panose="020B0609020204030204" pitchFamily="49" charset="0"/>
              </a:rPr>
              <a:t> </a:t>
            </a:r>
            <a:r>
              <a:rPr lang="en-US" sz="2000" b="1" dirty="0">
                <a:solidFill>
                  <a:schemeClr val="accent6">
                    <a:lumMod val="75000"/>
                  </a:schemeClr>
                </a:solidFill>
                <a:highlight>
                  <a:srgbClr val="FCF9C5"/>
                </a:highlight>
                <a:latin typeface="Consolas" panose="020B0609020204030204" pitchFamily="49" charset="0"/>
                <a:cs typeface="Consolas" panose="020B0609020204030204" pitchFamily="49" charset="0"/>
              </a:rPr>
              <a:t>']'</a:t>
            </a:r>
          </a:p>
        </p:txBody>
      </p:sp>
      <p:sp>
        <p:nvSpPr>
          <p:cNvPr id="10" name="TextBox 9">
            <a:extLst>
              <a:ext uri="{FF2B5EF4-FFF2-40B4-BE49-F238E27FC236}">
                <a16:creationId xmlns:a16="http://schemas.microsoft.com/office/drawing/2014/main" id="{36677FDB-D679-4B41-9C8A-55BD87EC62C4}"/>
              </a:ext>
            </a:extLst>
          </p:cNvPr>
          <p:cNvSpPr txBox="1"/>
          <p:nvPr/>
        </p:nvSpPr>
        <p:spPr>
          <a:xfrm>
            <a:off x="685800" y="3366946"/>
            <a:ext cx="7772400" cy="769441"/>
          </a:xfrm>
          <a:prstGeom prst="rect">
            <a:avLst/>
          </a:prstGeom>
          <a:noFill/>
        </p:spPr>
        <p:txBody>
          <a:bodyPr wrap="square" rtlCol="0">
            <a:spAutoFit/>
          </a:bodyPr>
          <a:lstStyle/>
          <a:p>
            <a:pPr algn="ctr"/>
            <a:r>
              <a:rPr lang="en-US" sz="2200" dirty="0"/>
              <a:t>one more important rule: we have to be able to write </a:t>
            </a:r>
            <a:r>
              <a:rPr lang="en-US" sz="2200" b="1" dirty="0"/>
              <a:t>array types,</a:t>
            </a:r>
            <a:r>
              <a:rPr lang="en-US" sz="2200" dirty="0"/>
              <a:t> for things like function arguments and struct fields.</a:t>
            </a:r>
            <a:endParaRPr lang="en-US" sz="2200" i="1" dirty="0"/>
          </a:p>
        </p:txBody>
      </p:sp>
      <p:sp>
        <p:nvSpPr>
          <p:cNvPr id="11" name="TextBox 10">
            <a:extLst>
              <a:ext uri="{FF2B5EF4-FFF2-40B4-BE49-F238E27FC236}">
                <a16:creationId xmlns:a16="http://schemas.microsoft.com/office/drawing/2014/main" id="{FACF454C-383B-604F-9810-5D052F365BC0}"/>
              </a:ext>
            </a:extLst>
          </p:cNvPr>
          <p:cNvSpPr txBox="1"/>
          <p:nvPr/>
        </p:nvSpPr>
        <p:spPr>
          <a:xfrm>
            <a:off x="186813" y="4457700"/>
            <a:ext cx="2361544" cy="430887"/>
          </a:xfrm>
          <a:prstGeom prst="rect">
            <a:avLst/>
          </a:prstGeom>
          <a:noFill/>
        </p:spPr>
        <p:txBody>
          <a:bodyPr wrap="none" rtlCol="0">
            <a:spAutoFit/>
          </a:bodyPr>
          <a:lstStyle/>
          <a:p>
            <a:r>
              <a:rPr lang="en-US" sz="2200" b="1" dirty="0" err="1">
                <a:solidFill>
                  <a:srgbClr val="FF0000"/>
                </a:solidFill>
                <a:latin typeface="Consolas" panose="020B0609020204030204" pitchFamily="49" charset="0"/>
                <a:cs typeface="Consolas" panose="020B0609020204030204" pitchFamily="49" charset="0"/>
              </a:rPr>
              <a:t>fn</a:t>
            </a:r>
            <a:r>
              <a:rPr lang="en-US" sz="2200" b="1" dirty="0">
                <a:latin typeface="Consolas" panose="020B0609020204030204" pitchFamily="49" charset="0"/>
                <a:cs typeface="Consolas" panose="020B0609020204030204" pitchFamily="49" charset="0"/>
              </a:rPr>
              <a:t> f(a: [</a:t>
            </a:r>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a:t>
            </a:r>
          </a:p>
        </p:txBody>
      </p:sp>
      <p:sp>
        <p:nvSpPr>
          <p:cNvPr id="12" name="TextBox 11">
            <a:extLst>
              <a:ext uri="{FF2B5EF4-FFF2-40B4-BE49-F238E27FC236}">
                <a16:creationId xmlns:a16="http://schemas.microsoft.com/office/drawing/2014/main" id="{53725450-E07A-B440-8F28-13A7A5E68EC4}"/>
              </a:ext>
            </a:extLst>
          </p:cNvPr>
          <p:cNvSpPr txBox="1"/>
          <p:nvPr/>
        </p:nvSpPr>
        <p:spPr>
          <a:xfrm>
            <a:off x="2847821" y="4166547"/>
            <a:ext cx="5827236" cy="1323439"/>
          </a:xfrm>
          <a:prstGeom prst="rect">
            <a:avLst/>
          </a:prstGeom>
          <a:noFill/>
        </p:spPr>
        <p:txBody>
          <a:bodyPr wrap="none" rtlCol="0">
            <a:spAutoFit/>
          </a:bodyPr>
          <a:lstStyle/>
          <a:p>
            <a:r>
              <a:rPr lang="en-US" sz="2000" b="1" dirty="0">
                <a:latin typeface="Consolas" panose="020B0609020204030204" pitchFamily="49" charset="0"/>
                <a:cs typeface="Consolas" panose="020B0609020204030204" pitchFamily="49" charset="0"/>
              </a:rPr>
              <a:t>Type:       </a:t>
            </a:r>
            <a:r>
              <a:rPr lang="en-US" sz="2000" b="1" dirty="0" err="1">
                <a:latin typeface="Consolas" panose="020B0609020204030204" pitchFamily="49" charset="0"/>
                <a:cs typeface="Consolas" panose="020B0609020204030204" pitchFamily="49" charset="0"/>
              </a:rPr>
              <a:t>VoidType</a:t>
            </a:r>
            <a:r>
              <a:rPr lang="en-US" sz="2000" b="1" dirty="0">
                <a:latin typeface="Consolas" panose="020B0609020204030204" pitchFamily="49" charset="0"/>
                <a:cs typeface="Consolas" panose="020B0609020204030204" pitchFamily="49" charset="0"/>
              </a:rPr>
              <a:t> | </a:t>
            </a:r>
            <a:r>
              <a:rPr lang="en-US" sz="2000" b="1" dirty="0">
                <a:solidFill>
                  <a:schemeClr val="accent6">
                    <a:lumMod val="75000"/>
                  </a:schemeClr>
                </a:solidFill>
                <a:latin typeface="Consolas" panose="020B0609020204030204" pitchFamily="49" charset="0"/>
                <a:cs typeface="Consolas" panose="020B0609020204030204" pitchFamily="49" charset="0"/>
              </a:rPr>
              <a:t>'bool'</a:t>
            </a:r>
            <a:r>
              <a:rPr lang="en-US" sz="2000" b="1" dirty="0">
                <a:latin typeface="Consolas" panose="020B0609020204030204" pitchFamily="49" charset="0"/>
                <a:cs typeface="Consolas" panose="020B0609020204030204" pitchFamily="49" charset="0"/>
              </a:rPr>
              <a:t> | </a:t>
            </a:r>
            <a:r>
              <a:rPr lang="en-US" sz="2000" b="1" dirty="0">
                <a:solidFill>
                  <a:schemeClr val="accent6">
                    <a:lumMod val="75000"/>
                  </a:schemeClr>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 </a:t>
            </a:r>
          </a:p>
          <a:p>
            <a:r>
              <a:rPr lang="en-US" sz="2000" b="1" dirty="0">
                <a:latin typeface="Consolas" panose="020B0609020204030204" pitchFamily="49" charset="0"/>
                <a:cs typeface="Consolas" panose="020B0609020204030204" pitchFamily="49" charset="0"/>
              </a:rPr>
              <a:t>            </a:t>
            </a:r>
            <a:r>
              <a:rPr lang="en-US" sz="2000" b="1" dirty="0">
                <a:solidFill>
                  <a:schemeClr val="accent6">
                    <a:lumMod val="75000"/>
                  </a:schemeClr>
                </a:solidFill>
                <a:latin typeface="Consolas" panose="020B0609020204030204" pitchFamily="49" charset="0"/>
                <a:cs typeface="Consolas" panose="020B0609020204030204" pitchFamily="49" charset="0"/>
              </a:rPr>
              <a:t>'string'</a:t>
            </a:r>
            <a:r>
              <a:rPr lang="en-US" sz="2000" b="1" dirty="0">
                <a:latin typeface="Consolas" panose="020B0609020204030204" pitchFamily="49" charset="0"/>
                <a:cs typeface="Consolas" panose="020B0609020204030204" pitchFamily="49" charset="0"/>
              </a:rPr>
              <a:t> | </a:t>
            </a:r>
            <a:r>
              <a:rPr lang="en-US" sz="2000" b="1" dirty="0" err="1">
                <a:latin typeface="Consolas" panose="020B0609020204030204" pitchFamily="49" charset="0"/>
                <a:cs typeface="Consolas" panose="020B0609020204030204" pitchFamily="49" charset="0"/>
              </a:rPr>
              <a:t>FuncType</a:t>
            </a:r>
            <a:r>
              <a:rPr lang="en-US" sz="2000" b="1" dirty="0">
                <a:latin typeface="Consolas" panose="020B0609020204030204" pitchFamily="49" charset="0"/>
                <a:cs typeface="Consolas" panose="020B0609020204030204" pitchFamily="49" charset="0"/>
              </a:rPr>
              <a:t> | </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StructType</a:t>
            </a:r>
            <a:r>
              <a:rPr lang="en-US" sz="2000" b="1" dirty="0">
                <a:latin typeface="Consolas" panose="020B0609020204030204" pitchFamily="49" charset="0"/>
                <a:cs typeface="Consolas" panose="020B0609020204030204" pitchFamily="49" charset="0"/>
              </a:rPr>
              <a:t> | </a:t>
            </a:r>
            <a:r>
              <a:rPr lang="en-US" sz="2000" b="1" dirty="0" err="1">
                <a:highlight>
                  <a:srgbClr val="FCF9C5"/>
                </a:highlight>
                <a:latin typeface="Consolas" panose="020B0609020204030204" pitchFamily="49" charset="0"/>
                <a:cs typeface="Consolas" panose="020B0609020204030204" pitchFamily="49" charset="0"/>
              </a:rPr>
              <a:t>ArrayType</a:t>
            </a:r>
            <a:endParaRPr lang="en-US" sz="2000" b="1" dirty="0">
              <a:highlight>
                <a:srgbClr val="FCF9C5"/>
              </a:highlight>
              <a:latin typeface="Consolas" panose="020B0609020204030204" pitchFamily="49" charset="0"/>
              <a:cs typeface="Consolas" panose="020B0609020204030204" pitchFamily="49" charset="0"/>
            </a:endParaRPr>
          </a:p>
          <a:p>
            <a:r>
              <a:rPr lang="en-US" sz="2000" b="1" dirty="0" err="1">
                <a:highlight>
                  <a:srgbClr val="FCF9C5"/>
                </a:highlight>
                <a:latin typeface="Consolas" panose="020B0609020204030204" pitchFamily="49" charset="0"/>
                <a:cs typeface="Consolas" panose="020B0609020204030204" pitchFamily="49" charset="0"/>
              </a:rPr>
              <a:t>ArrayType</a:t>
            </a:r>
            <a:r>
              <a:rPr lang="en-US" sz="2000" b="1" dirty="0">
                <a:highlight>
                  <a:srgbClr val="FCF9C5"/>
                </a:highlight>
                <a:latin typeface="Consolas" panose="020B0609020204030204" pitchFamily="49" charset="0"/>
                <a:cs typeface="Consolas" panose="020B0609020204030204" pitchFamily="49" charset="0"/>
              </a:rPr>
              <a:t>:  </a:t>
            </a:r>
            <a:r>
              <a:rPr lang="en-US" sz="2000" b="1" dirty="0">
                <a:solidFill>
                  <a:schemeClr val="accent6">
                    <a:lumMod val="75000"/>
                  </a:schemeClr>
                </a:solidFill>
                <a:highlight>
                  <a:srgbClr val="FCF9C5"/>
                </a:highlight>
                <a:latin typeface="Consolas" panose="020B0609020204030204" pitchFamily="49" charset="0"/>
                <a:cs typeface="Consolas" panose="020B0609020204030204" pitchFamily="49" charset="0"/>
              </a:rPr>
              <a:t>'['</a:t>
            </a:r>
            <a:r>
              <a:rPr lang="en-US" sz="2000" b="1" dirty="0">
                <a:highlight>
                  <a:srgbClr val="FCF9C5"/>
                </a:highlight>
                <a:latin typeface="Consolas" panose="020B0609020204030204" pitchFamily="49" charset="0"/>
                <a:cs typeface="Consolas" panose="020B0609020204030204" pitchFamily="49" charset="0"/>
              </a:rPr>
              <a:t> Type </a:t>
            </a:r>
            <a:r>
              <a:rPr lang="en-US" sz="2000" b="1" dirty="0">
                <a:solidFill>
                  <a:schemeClr val="accent6">
                    <a:lumMod val="75000"/>
                  </a:schemeClr>
                </a:solidFill>
                <a:highlight>
                  <a:srgbClr val="FCF9C5"/>
                </a:highlight>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41923698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7618E-68DC-3948-A088-9BABEB0A3B5F}"/>
              </a:ext>
            </a:extLst>
          </p:cNvPr>
          <p:cNvSpPr>
            <a:spLocks noGrp="1"/>
          </p:cNvSpPr>
          <p:nvPr>
            <p:ph type="title"/>
          </p:nvPr>
        </p:nvSpPr>
        <p:spPr/>
        <p:txBody>
          <a:bodyPr/>
          <a:lstStyle/>
          <a:p>
            <a:r>
              <a:rPr lang="en-US" dirty="0"/>
              <a:t>Semantic analysis: typing rules</a:t>
            </a:r>
          </a:p>
        </p:txBody>
      </p:sp>
      <p:sp>
        <p:nvSpPr>
          <p:cNvPr id="3" name="Content Placeholder 2">
            <a:extLst>
              <a:ext uri="{FF2B5EF4-FFF2-40B4-BE49-F238E27FC236}">
                <a16:creationId xmlns:a16="http://schemas.microsoft.com/office/drawing/2014/main" id="{62181F00-8744-A641-B04D-FEBD042A9733}"/>
              </a:ext>
            </a:extLst>
          </p:cNvPr>
          <p:cNvSpPr>
            <a:spLocks noGrp="1"/>
          </p:cNvSpPr>
          <p:nvPr>
            <p:ph idx="1"/>
          </p:nvPr>
        </p:nvSpPr>
        <p:spPr>
          <a:xfrm>
            <a:off x="152400" y="495302"/>
            <a:ext cx="8991600" cy="495300"/>
          </a:xfrm>
        </p:spPr>
        <p:txBody>
          <a:bodyPr/>
          <a:lstStyle/>
          <a:p>
            <a:r>
              <a:rPr lang="en-US" dirty="0"/>
              <a:t>arrays don't interact with the </a:t>
            </a:r>
            <a:r>
              <a:rPr lang="en-US" i="1" dirty="0"/>
              <a:t>naming</a:t>
            </a:r>
            <a:r>
              <a:rPr lang="en-US" dirty="0"/>
              <a:t> rules at all, so let’s skip to types.</a:t>
            </a:r>
          </a:p>
          <a:p>
            <a:endParaRPr lang="en-US" dirty="0"/>
          </a:p>
        </p:txBody>
      </p:sp>
      <p:sp>
        <p:nvSpPr>
          <p:cNvPr id="4" name="Slide Number Placeholder 3">
            <a:extLst>
              <a:ext uri="{FF2B5EF4-FFF2-40B4-BE49-F238E27FC236}">
                <a16:creationId xmlns:a16="http://schemas.microsoft.com/office/drawing/2014/main" id="{402CA362-5937-7D48-90AA-730801FC919D}"/>
              </a:ext>
            </a:extLst>
          </p:cNvPr>
          <p:cNvSpPr>
            <a:spLocks noGrp="1"/>
          </p:cNvSpPr>
          <p:nvPr>
            <p:ph type="sldNum" sz="quarter" idx="12"/>
          </p:nvPr>
        </p:nvSpPr>
        <p:spPr/>
        <p:txBody>
          <a:bodyPr/>
          <a:lstStyle/>
          <a:p>
            <a:fld id="{3552B95B-556F-44BD-91A5-D80C1B9E2BB3}" type="slidenum">
              <a:rPr lang="en-US" smtClean="0"/>
              <a:pPr/>
              <a:t>24</a:t>
            </a:fld>
            <a:endParaRPr lang="en-US"/>
          </a:p>
        </p:txBody>
      </p:sp>
      <p:sp>
        <p:nvSpPr>
          <p:cNvPr id="5" name="TextBox 4">
            <a:extLst>
              <a:ext uri="{FF2B5EF4-FFF2-40B4-BE49-F238E27FC236}">
                <a16:creationId xmlns:a16="http://schemas.microsoft.com/office/drawing/2014/main" id="{BC844A5F-2368-5E48-8D80-F54E302641D7}"/>
              </a:ext>
            </a:extLst>
          </p:cNvPr>
          <p:cNvSpPr txBox="1"/>
          <p:nvPr/>
        </p:nvSpPr>
        <p:spPr>
          <a:xfrm>
            <a:off x="1076074" y="1252584"/>
            <a:ext cx="1739579" cy="430887"/>
          </a:xfrm>
          <a:prstGeom prst="rect">
            <a:avLst/>
          </a:prstGeom>
          <a:noFill/>
        </p:spPr>
        <p:txBody>
          <a:bodyPr wrap="none" rtlCol="0">
            <a:spAutoFit/>
          </a:bodyPr>
          <a:lstStyle/>
          <a:p>
            <a:pPr algn="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[T; n]</a:t>
            </a:r>
          </a:p>
        </p:txBody>
      </p:sp>
      <p:sp>
        <p:nvSpPr>
          <p:cNvPr id="6" name="TextBox 5">
            <a:extLst>
              <a:ext uri="{FF2B5EF4-FFF2-40B4-BE49-F238E27FC236}">
                <a16:creationId xmlns:a16="http://schemas.microsoft.com/office/drawing/2014/main" id="{8494EA7C-47C1-B343-986E-75115DC7A9C1}"/>
              </a:ext>
            </a:extLst>
          </p:cNvPr>
          <p:cNvSpPr txBox="1"/>
          <p:nvPr/>
        </p:nvSpPr>
        <p:spPr>
          <a:xfrm>
            <a:off x="2971800" y="1083306"/>
            <a:ext cx="6019800" cy="769441"/>
          </a:xfrm>
          <a:prstGeom prst="rect">
            <a:avLst/>
          </a:prstGeom>
          <a:noFill/>
        </p:spPr>
        <p:txBody>
          <a:bodyPr wrap="square" rtlCol="0">
            <a:spAutoFit/>
          </a:bodyPr>
          <a:lstStyle/>
          <a:p>
            <a:pPr marL="342900" indent="-342900">
              <a:buFont typeface="Wingdings" pitchFamily="2" charset="2"/>
              <a:buChar char="§"/>
            </a:pPr>
            <a:r>
              <a:rPr lang="en-US" sz="2200" b="1" dirty="0">
                <a:latin typeface="Consolas" panose="020B0609020204030204" pitchFamily="49" charset="0"/>
                <a:cs typeface="Consolas" panose="020B0609020204030204" pitchFamily="49" charset="0"/>
              </a:rPr>
              <a:t>n</a:t>
            </a:r>
            <a:r>
              <a:rPr lang="en-US" sz="2200" dirty="0"/>
              <a:t> must be </a:t>
            </a:r>
            <a:r>
              <a:rPr lang="en-US" sz="2200" b="1" dirty="0">
                <a:solidFill>
                  <a:srgbClr val="FF0000"/>
                </a:solidFill>
                <a:latin typeface="Consolas" panose="020B0609020204030204" pitchFamily="49" charset="0"/>
                <a:cs typeface="Consolas" panose="020B0609020204030204" pitchFamily="49" charset="0"/>
              </a:rPr>
              <a:t>int</a:t>
            </a:r>
          </a:p>
          <a:p>
            <a:pPr marL="342900" indent="-342900">
              <a:buFont typeface="Wingdings" pitchFamily="2" charset="2"/>
              <a:buChar char="§"/>
            </a:pPr>
            <a:r>
              <a:rPr lang="en-US" sz="2200" dirty="0"/>
              <a:t>the type of the whole expression is </a:t>
            </a:r>
            <a:r>
              <a:rPr lang="en-US" sz="2200" b="1" dirty="0">
                <a:latin typeface="Consolas" panose="020B0609020204030204" pitchFamily="49" charset="0"/>
                <a:cs typeface="Consolas" panose="020B0609020204030204" pitchFamily="49" charset="0"/>
              </a:rPr>
              <a:t>[T]</a:t>
            </a:r>
          </a:p>
        </p:txBody>
      </p:sp>
      <p:sp>
        <p:nvSpPr>
          <p:cNvPr id="7" name="TextBox 6">
            <a:extLst>
              <a:ext uri="{FF2B5EF4-FFF2-40B4-BE49-F238E27FC236}">
                <a16:creationId xmlns:a16="http://schemas.microsoft.com/office/drawing/2014/main" id="{C5405BFE-9ED9-6D47-BAE9-8DEBA8E089A5}"/>
              </a:ext>
            </a:extLst>
          </p:cNvPr>
          <p:cNvSpPr txBox="1"/>
          <p:nvPr/>
        </p:nvSpPr>
        <p:spPr>
          <a:xfrm>
            <a:off x="2009022" y="2497450"/>
            <a:ext cx="806631" cy="430887"/>
          </a:xfrm>
          <a:prstGeom prst="rect">
            <a:avLst/>
          </a:prstGeom>
          <a:noFill/>
        </p:spPr>
        <p:txBody>
          <a:bodyPr wrap="none" rtlCol="0">
            <a:spAutoFit/>
          </a:bodyPr>
          <a:lstStyle/>
          <a:p>
            <a:pPr algn="r"/>
            <a:r>
              <a:rPr lang="en-US" sz="2200" b="1" dirty="0">
                <a:latin typeface="Consolas" panose="020B0609020204030204" pitchFamily="49" charset="0"/>
                <a:cs typeface="Consolas" panose="020B0609020204030204" pitchFamily="49" charset="0"/>
              </a:rPr>
              <a:t>a[i]</a:t>
            </a:r>
          </a:p>
        </p:txBody>
      </p:sp>
      <p:sp>
        <p:nvSpPr>
          <p:cNvPr id="8" name="TextBox 7">
            <a:extLst>
              <a:ext uri="{FF2B5EF4-FFF2-40B4-BE49-F238E27FC236}">
                <a16:creationId xmlns:a16="http://schemas.microsoft.com/office/drawing/2014/main" id="{B341A8A6-059A-3344-9B8A-A035C4DAE177}"/>
              </a:ext>
            </a:extLst>
          </p:cNvPr>
          <p:cNvSpPr txBox="1"/>
          <p:nvPr/>
        </p:nvSpPr>
        <p:spPr>
          <a:xfrm>
            <a:off x="2971800" y="2229684"/>
            <a:ext cx="6019800" cy="1107996"/>
          </a:xfrm>
          <a:prstGeom prst="rect">
            <a:avLst/>
          </a:prstGeom>
          <a:noFill/>
        </p:spPr>
        <p:txBody>
          <a:bodyPr wrap="square" rtlCol="0">
            <a:spAutoFit/>
          </a:bodyPr>
          <a:lstStyle/>
          <a:p>
            <a:pPr marL="342900" indent="-342900">
              <a:buFont typeface="Wingdings" pitchFamily="2" charset="2"/>
              <a:buChar char="§"/>
            </a:pPr>
            <a:r>
              <a:rPr lang="en-US" sz="2200" b="1" dirty="0">
                <a:latin typeface="Consolas" panose="020B0609020204030204" pitchFamily="49" charset="0"/>
                <a:cs typeface="Consolas" panose="020B0609020204030204" pitchFamily="49" charset="0"/>
              </a:rPr>
              <a:t>a</a:t>
            </a:r>
            <a:r>
              <a:rPr lang="en-US" sz="2200" dirty="0"/>
              <a:t> must be </a:t>
            </a:r>
            <a:r>
              <a:rPr lang="en-US" sz="2200" b="1" dirty="0">
                <a:latin typeface="Consolas" panose="020B0609020204030204" pitchFamily="49" charset="0"/>
                <a:cs typeface="Consolas" panose="020B0609020204030204" pitchFamily="49" charset="0"/>
              </a:rPr>
              <a:t>[T]</a:t>
            </a:r>
          </a:p>
          <a:p>
            <a:pPr marL="342900" indent="-342900">
              <a:buFont typeface="Wingdings" pitchFamily="2" charset="2"/>
              <a:buChar char="§"/>
            </a:pPr>
            <a:r>
              <a:rPr lang="en-US" sz="2200" b="1" dirty="0">
                <a:latin typeface="Consolas" panose="020B0609020204030204" pitchFamily="49" charset="0"/>
                <a:cs typeface="Consolas" panose="020B0609020204030204" pitchFamily="49" charset="0"/>
              </a:rPr>
              <a:t>i</a:t>
            </a:r>
            <a:r>
              <a:rPr lang="en-US" sz="2200" dirty="0"/>
              <a:t> must be </a:t>
            </a:r>
            <a:r>
              <a:rPr lang="en-US" sz="2200" b="1" dirty="0">
                <a:solidFill>
                  <a:srgbClr val="FF0000"/>
                </a:solidFill>
                <a:latin typeface="Consolas" panose="020B0609020204030204" pitchFamily="49" charset="0"/>
                <a:cs typeface="Consolas" panose="020B0609020204030204" pitchFamily="49" charset="0"/>
              </a:rPr>
              <a:t>int</a:t>
            </a:r>
          </a:p>
          <a:p>
            <a:pPr marL="342900" indent="-342900">
              <a:buFont typeface="Wingdings" pitchFamily="2" charset="2"/>
              <a:buChar char="§"/>
            </a:pPr>
            <a:r>
              <a:rPr lang="en-US" sz="2200" dirty="0"/>
              <a:t>the type of the whole expression is </a:t>
            </a:r>
            <a:r>
              <a:rPr lang="en-US" sz="2200" b="1" dirty="0">
                <a:latin typeface="Consolas" panose="020B0609020204030204" pitchFamily="49" charset="0"/>
                <a:cs typeface="Consolas" panose="020B0609020204030204" pitchFamily="49" charset="0"/>
              </a:rPr>
              <a:t>T</a:t>
            </a:r>
          </a:p>
        </p:txBody>
      </p:sp>
      <p:sp>
        <p:nvSpPr>
          <p:cNvPr id="9" name="TextBox 8">
            <a:extLst>
              <a:ext uri="{FF2B5EF4-FFF2-40B4-BE49-F238E27FC236}">
                <a16:creationId xmlns:a16="http://schemas.microsoft.com/office/drawing/2014/main" id="{0B1987EE-436B-C249-B47B-F2450BEBA98B}"/>
              </a:ext>
            </a:extLst>
          </p:cNvPr>
          <p:cNvSpPr txBox="1"/>
          <p:nvPr/>
        </p:nvSpPr>
        <p:spPr>
          <a:xfrm>
            <a:off x="1387057" y="3910936"/>
            <a:ext cx="1428596" cy="430887"/>
          </a:xfrm>
          <a:prstGeom prst="rect">
            <a:avLst/>
          </a:prstGeom>
          <a:noFill/>
        </p:spPr>
        <p:txBody>
          <a:bodyPr wrap="none" rtlCol="0">
            <a:spAutoFit/>
          </a:bodyPr>
          <a:lstStyle/>
          <a:p>
            <a:pPr algn="r"/>
            <a:r>
              <a:rPr lang="en-US" sz="2200" b="1" dirty="0" err="1">
                <a:latin typeface="Consolas" panose="020B0609020204030204" pitchFamily="49" charset="0"/>
                <a:cs typeface="Consolas" panose="020B0609020204030204" pitchFamily="49" charset="0"/>
              </a:rPr>
              <a:t>a.length</a:t>
            </a:r>
            <a:endParaRPr lang="en-US" sz="2200" b="1" dirty="0">
              <a:latin typeface="Consolas" panose="020B0609020204030204" pitchFamily="49" charset="0"/>
              <a:cs typeface="Consolas" panose="020B0609020204030204" pitchFamily="49" charset="0"/>
            </a:endParaRPr>
          </a:p>
        </p:txBody>
      </p:sp>
      <p:sp>
        <p:nvSpPr>
          <p:cNvPr id="10" name="TextBox 9">
            <a:extLst>
              <a:ext uri="{FF2B5EF4-FFF2-40B4-BE49-F238E27FC236}">
                <a16:creationId xmlns:a16="http://schemas.microsoft.com/office/drawing/2014/main" id="{229C174C-3FB5-F64E-B1EE-8071F5DFAE62}"/>
              </a:ext>
            </a:extLst>
          </p:cNvPr>
          <p:cNvSpPr txBox="1"/>
          <p:nvPr/>
        </p:nvSpPr>
        <p:spPr>
          <a:xfrm>
            <a:off x="2971800" y="3741658"/>
            <a:ext cx="6019800" cy="1446550"/>
          </a:xfrm>
          <a:prstGeom prst="rect">
            <a:avLst/>
          </a:prstGeom>
          <a:noFill/>
        </p:spPr>
        <p:txBody>
          <a:bodyPr wrap="square" rtlCol="0">
            <a:spAutoFit/>
          </a:bodyPr>
          <a:lstStyle/>
          <a:p>
            <a:pPr marL="342900" indent="-342900">
              <a:buFont typeface="Wingdings" pitchFamily="2" charset="2"/>
              <a:buChar char="§"/>
            </a:pPr>
            <a:r>
              <a:rPr lang="en-US" sz="2200" dirty="0">
                <a:cs typeface="Consolas" panose="020B0609020204030204" pitchFamily="49" charset="0"/>
              </a:rPr>
              <a:t>if </a:t>
            </a:r>
            <a:r>
              <a:rPr lang="en-US" sz="2200" b="1" dirty="0">
                <a:latin typeface="Consolas" panose="020B0609020204030204" pitchFamily="49" charset="0"/>
                <a:cs typeface="Consolas" panose="020B0609020204030204" pitchFamily="49" charset="0"/>
              </a:rPr>
              <a:t>a</a:t>
            </a:r>
            <a:r>
              <a:rPr lang="en-US" sz="2200" dirty="0"/>
              <a:t> is </a:t>
            </a:r>
            <a:r>
              <a:rPr lang="en-US" sz="2200" b="1" dirty="0">
                <a:latin typeface="Consolas" panose="020B0609020204030204" pitchFamily="49" charset="0"/>
                <a:cs typeface="Consolas" panose="020B0609020204030204" pitchFamily="49" charset="0"/>
              </a:rPr>
              <a:t>[T]</a:t>
            </a:r>
            <a:r>
              <a:rPr lang="en-US" sz="2200" b="1" dirty="0">
                <a:cs typeface="Consolas" panose="020B0609020204030204" pitchFamily="49" charset="0"/>
              </a:rPr>
              <a:t>:</a:t>
            </a:r>
          </a:p>
          <a:p>
            <a:pPr marL="699516" lvl="1" indent="-342900">
              <a:buFont typeface="Wingdings" pitchFamily="2" charset="2"/>
              <a:buChar char="§"/>
            </a:pPr>
            <a:r>
              <a:rPr lang="en-US" sz="2200" dirty="0">
                <a:cs typeface="Consolas" panose="020B0609020204030204" pitchFamily="49" charset="0"/>
              </a:rPr>
              <a:t>the only allowed field is </a:t>
            </a:r>
            <a:r>
              <a:rPr lang="en-US" sz="2200" b="1" dirty="0">
                <a:latin typeface="Consolas" panose="020B0609020204030204" pitchFamily="49" charset="0"/>
                <a:cs typeface="Consolas" panose="020B0609020204030204" pitchFamily="49" charset="0"/>
              </a:rPr>
              <a:t>length</a:t>
            </a:r>
          </a:p>
          <a:p>
            <a:pPr marL="699516" lvl="1" indent="-342900">
              <a:buFont typeface="Wingdings" pitchFamily="2" charset="2"/>
              <a:buChar char="§"/>
            </a:pPr>
            <a:r>
              <a:rPr lang="en-US" sz="2200" dirty="0"/>
              <a:t>the type of the whole expression is </a:t>
            </a:r>
            <a:r>
              <a:rPr lang="en-US" sz="2200" b="1" dirty="0">
                <a:solidFill>
                  <a:srgbClr val="FF0000"/>
                </a:solidFill>
                <a:latin typeface="Consolas" panose="020B0609020204030204" pitchFamily="49" charset="0"/>
                <a:cs typeface="Consolas" panose="020B0609020204030204" pitchFamily="49" charset="0"/>
              </a:rPr>
              <a:t>int</a:t>
            </a:r>
          </a:p>
          <a:p>
            <a:pPr marL="699516" lvl="1" indent="-342900">
              <a:buFont typeface="Wingdings" pitchFamily="2" charset="2"/>
              <a:buChar char="§"/>
            </a:pPr>
            <a:r>
              <a:rPr lang="en-US" sz="2200" dirty="0"/>
              <a:t>and this </a:t>
            </a:r>
            <a:r>
              <a:rPr lang="en-US" sz="2200" b="1" dirty="0">
                <a:solidFill>
                  <a:srgbClr val="FF0000"/>
                </a:solidFill>
              </a:rPr>
              <a:t>cannot be the </a:t>
            </a:r>
            <a:r>
              <a:rPr lang="en-US" sz="2200" b="1" dirty="0" err="1">
                <a:solidFill>
                  <a:srgbClr val="FF0000"/>
                </a:solidFill>
              </a:rPr>
              <a:t>lhs</a:t>
            </a:r>
            <a:r>
              <a:rPr lang="en-US" sz="2200" b="1" dirty="0">
                <a:solidFill>
                  <a:srgbClr val="FF0000"/>
                </a:solidFill>
              </a:rPr>
              <a:t> of =</a:t>
            </a:r>
            <a:endParaRPr lang="en-US" sz="2200" dirty="0">
              <a:solidFill>
                <a:srgbClr val="FF0000"/>
              </a:solidFill>
            </a:endParaRPr>
          </a:p>
        </p:txBody>
      </p:sp>
    </p:spTree>
    <p:extLst>
      <p:ext uri="{BB962C8B-B14F-4D97-AF65-F5344CB8AC3E}">
        <p14:creationId xmlns:p14="http://schemas.microsoft.com/office/powerpoint/2010/main" val="15488646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bldLvl="5"/>
      <p:bldP spid="7" grpId="0"/>
      <p:bldP spid="8" grpId="0" build="p" bldLvl="5"/>
      <p:bldP spid="9" grpId="0"/>
      <p:bldP spid="10" grpId="0" build="p" bldLvl="5"/>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7E9A6-651E-834D-8969-4375F0D584CA}"/>
              </a:ext>
            </a:extLst>
          </p:cNvPr>
          <p:cNvSpPr>
            <a:spLocks noGrp="1"/>
          </p:cNvSpPr>
          <p:nvPr>
            <p:ph type="title"/>
          </p:nvPr>
        </p:nvSpPr>
        <p:spPr/>
        <p:txBody>
          <a:bodyPr/>
          <a:lstStyle/>
          <a:p>
            <a:r>
              <a:rPr lang="en-US" dirty="0"/>
              <a:t>More semantics: evaluation rules</a:t>
            </a:r>
          </a:p>
        </p:txBody>
      </p:sp>
      <p:sp>
        <p:nvSpPr>
          <p:cNvPr id="3" name="Content Placeholder 2">
            <a:extLst>
              <a:ext uri="{FF2B5EF4-FFF2-40B4-BE49-F238E27FC236}">
                <a16:creationId xmlns:a16="http://schemas.microsoft.com/office/drawing/2014/main" id="{72B3A9E7-2979-A947-8354-9DAD036E7B34}"/>
              </a:ext>
            </a:extLst>
          </p:cNvPr>
          <p:cNvSpPr>
            <a:spLocks noGrp="1"/>
          </p:cNvSpPr>
          <p:nvPr>
            <p:ph idx="1"/>
          </p:nvPr>
        </p:nvSpPr>
        <p:spPr>
          <a:xfrm>
            <a:off x="152400" y="495301"/>
            <a:ext cx="8991600" cy="838199"/>
          </a:xfrm>
        </p:spPr>
        <p:txBody>
          <a:bodyPr/>
          <a:lstStyle/>
          <a:p>
            <a:r>
              <a:rPr lang="en-US" dirty="0"/>
              <a:t>these explain </a:t>
            </a:r>
            <a:r>
              <a:rPr lang="en-US" b="1" dirty="0"/>
              <a:t>what the code does, </a:t>
            </a:r>
            <a:r>
              <a:rPr lang="en-US" dirty="0"/>
              <a:t>which can also require </a:t>
            </a:r>
            <a:r>
              <a:rPr lang="en-US" b="1" dirty="0"/>
              <a:t>runtime error checking.</a:t>
            </a:r>
          </a:p>
        </p:txBody>
      </p:sp>
      <p:sp>
        <p:nvSpPr>
          <p:cNvPr id="4" name="Slide Number Placeholder 3">
            <a:extLst>
              <a:ext uri="{FF2B5EF4-FFF2-40B4-BE49-F238E27FC236}">
                <a16:creationId xmlns:a16="http://schemas.microsoft.com/office/drawing/2014/main" id="{A00E8660-2695-694E-940E-6A7BA4DBC524}"/>
              </a:ext>
            </a:extLst>
          </p:cNvPr>
          <p:cNvSpPr>
            <a:spLocks noGrp="1"/>
          </p:cNvSpPr>
          <p:nvPr>
            <p:ph type="sldNum" sz="quarter" idx="12"/>
          </p:nvPr>
        </p:nvSpPr>
        <p:spPr/>
        <p:txBody>
          <a:bodyPr/>
          <a:lstStyle/>
          <a:p>
            <a:fld id="{3552B95B-556F-44BD-91A5-D80C1B9E2BB3}" type="slidenum">
              <a:rPr lang="en-US" smtClean="0"/>
              <a:pPr/>
              <a:t>25</a:t>
            </a:fld>
            <a:endParaRPr lang="en-US"/>
          </a:p>
        </p:txBody>
      </p:sp>
      <p:sp>
        <p:nvSpPr>
          <p:cNvPr id="5" name="TextBox 4">
            <a:extLst>
              <a:ext uri="{FF2B5EF4-FFF2-40B4-BE49-F238E27FC236}">
                <a16:creationId xmlns:a16="http://schemas.microsoft.com/office/drawing/2014/main" id="{B3422CC1-012F-1846-B17F-6CC9783907BF}"/>
              </a:ext>
            </a:extLst>
          </p:cNvPr>
          <p:cNvSpPr txBox="1"/>
          <p:nvPr/>
        </p:nvSpPr>
        <p:spPr>
          <a:xfrm>
            <a:off x="1046766" y="1432057"/>
            <a:ext cx="1739579" cy="430887"/>
          </a:xfrm>
          <a:prstGeom prst="rect">
            <a:avLst/>
          </a:prstGeom>
          <a:noFill/>
        </p:spPr>
        <p:txBody>
          <a:bodyPr wrap="none" rtlCol="0">
            <a:spAutoFit/>
          </a:bodyPr>
          <a:lstStyle/>
          <a:p>
            <a:pPr algn="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[T; n]</a:t>
            </a:r>
          </a:p>
        </p:txBody>
      </p:sp>
      <p:sp>
        <p:nvSpPr>
          <p:cNvPr id="6" name="TextBox 5">
            <a:extLst>
              <a:ext uri="{FF2B5EF4-FFF2-40B4-BE49-F238E27FC236}">
                <a16:creationId xmlns:a16="http://schemas.microsoft.com/office/drawing/2014/main" id="{03E0823B-7CD1-AC46-A73D-448B9E72BC57}"/>
              </a:ext>
            </a:extLst>
          </p:cNvPr>
          <p:cNvSpPr txBox="1"/>
          <p:nvPr/>
        </p:nvSpPr>
        <p:spPr>
          <a:xfrm>
            <a:off x="2942492" y="1308912"/>
            <a:ext cx="6019800" cy="1107996"/>
          </a:xfrm>
          <a:prstGeom prst="rect">
            <a:avLst/>
          </a:prstGeom>
          <a:noFill/>
        </p:spPr>
        <p:txBody>
          <a:bodyPr wrap="square" rtlCol="0">
            <a:spAutoFit/>
          </a:bodyPr>
          <a:lstStyle/>
          <a:p>
            <a:pPr marL="342900" indent="-342900">
              <a:buFont typeface="Wingdings" pitchFamily="2" charset="2"/>
              <a:buChar char="§"/>
            </a:pPr>
            <a:r>
              <a:rPr lang="en-US" sz="2200" dirty="0"/>
              <a:t>dynamically allocates an array on the heap.</a:t>
            </a:r>
          </a:p>
          <a:p>
            <a:pPr marL="342900" indent="-342900">
              <a:buFont typeface="Wingdings" pitchFamily="2" charset="2"/>
              <a:buChar char="§"/>
            </a:pPr>
            <a:r>
              <a:rPr lang="en-US" sz="2200" b="1" dirty="0">
                <a:latin typeface="Consolas" panose="020B0609020204030204" pitchFamily="49" charset="0"/>
                <a:cs typeface="Consolas" panose="020B0609020204030204" pitchFamily="49" charset="0"/>
              </a:rPr>
              <a:t>n</a:t>
            </a:r>
            <a:r>
              <a:rPr lang="en-US" sz="2200" dirty="0"/>
              <a:t> must be </a:t>
            </a:r>
            <a:r>
              <a:rPr lang="en-US" sz="2200" b="1" dirty="0">
                <a:latin typeface="Consolas" panose="020B0609020204030204" pitchFamily="49" charset="0"/>
                <a:cs typeface="Consolas" panose="020B0609020204030204" pitchFamily="49" charset="0"/>
              </a:rPr>
              <a:t>&gt;= </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dirty="0">
                <a:cs typeface="Consolas" panose="020B0609020204030204" pitchFamily="49" charset="0"/>
              </a:rPr>
              <a:t>.</a:t>
            </a:r>
          </a:p>
          <a:p>
            <a:pPr marL="699516" lvl="1" indent="-342900">
              <a:buFont typeface="Wingdings" pitchFamily="2" charset="2"/>
              <a:buChar char="§"/>
            </a:pPr>
            <a:r>
              <a:rPr lang="en-US" sz="2200" dirty="0"/>
              <a:t>if not, </a:t>
            </a:r>
            <a:r>
              <a:rPr lang="en-US" sz="2200" dirty="0">
                <a:solidFill>
                  <a:srgbClr val="FF0000"/>
                </a:solidFill>
              </a:rPr>
              <a:t>the program halts</a:t>
            </a:r>
            <a:r>
              <a:rPr lang="en-US" sz="2200" dirty="0"/>
              <a:t> with an error.</a:t>
            </a:r>
            <a:endParaRPr lang="en-US" sz="2200" b="1"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DDABD32B-3020-E64E-8BB8-2E4049CAD88C}"/>
              </a:ext>
            </a:extLst>
          </p:cNvPr>
          <p:cNvSpPr txBox="1"/>
          <p:nvPr/>
        </p:nvSpPr>
        <p:spPr>
          <a:xfrm>
            <a:off x="1979714" y="2952230"/>
            <a:ext cx="806631" cy="430887"/>
          </a:xfrm>
          <a:prstGeom prst="rect">
            <a:avLst/>
          </a:prstGeom>
          <a:noFill/>
        </p:spPr>
        <p:txBody>
          <a:bodyPr wrap="none" rtlCol="0">
            <a:spAutoFit/>
          </a:bodyPr>
          <a:lstStyle/>
          <a:p>
            <a:pPr algn="r"/>
            <a:r>
              <a:rPr lang="en-US" sz="2200" b="1" dirty="0">
                <a:latin typeface="Consolas" panose="020B0609020204030204" pitchFamily="49" charset="0"/>
                <a:cs typeface="Consolas" panose="020B0609020204030204" pitchFamily="49" charset="0"/>
              </a:rPr>
              <a:t>a[i]</a:t>
            </a:r>
          </a:p>
        </p:txBody>
      </p:sp>
      <p:sp>
        <p:nvSpPr>
          <p:cNvPr id="8" name="TextBox 7">
            <a:extLst>
              <a:ext uri="{FF2B5EF4-FFF2-40B4-BE49-F238E27FC236}">
                <a16:creationId xmlns:a16="http://schemas.microsoft.com/office/drawing/2014/main" id="{7403D983-A2A4-EE4D-8BA7-01E383556328}"/>
              </a:ext>
            </a:extLst>
          </p:cNvPr>
          <p:cNvSpPr txBox="1"/>
          <p:nvPr/>
        </p:nvSpPr>
        <p:spPr>
          <a:xfrm>
            <a:off x="2942492" y="2782550"/>
            <a:ext cx="6019800" cy="1446550"/>
          </a:xfrm>
          <a:prstGeom prst="rect">
            <a:avLst/>
          </a:prstGeom>
          <a:noFill/>
        </p:spPr>
        <p:txBody>
          <a:bodyPr wrap="square" rtlCol="0">
            <a:spAutoFit/>
          </a:bodyPr>
          <a:lstStyle/>
          <a:p>
            <a:pPr marL="342900" indent="-342900">
              <a:buFont typeface="Wingdings" pitchFamily="2" charset="2"/>
              <a:buChar char="§"/>
            </a:pPr>
            <a:r>
              <a:rPr lang="en-US" sz="2200" dirty="0"/>
              <a:t>gets the </a:t>
            </a:r>
            <a:r>
              <a:rPr lang="en-US" sz="2200" b="1" i="1" dirty="0" err="1">
                <a:latin typeface="Consolas" panose="020B0609020204030204" pitchFamily="49" charset="0"/>
                <a:cs typeface="Consolas" panose="020B0609020204030204" pitchFamily="49" charset="0"/>
              </a:rPr>
              <a:t>i</a:t>
            </a:r>
            <a:r>
              <a:rPr lang="en-US" sz="2200" dirty="0" err="1"/>
              <a:t>th</a:t>
            </a:r>
            <a:r>
              <a:rPr lang="en-US" sz="2200" dirty="0"/>
              <a:t> item in </a:t>
            </a:r>
            <a:r>
              <a:rPr lang="en-US" sz="2200" b="1" dirty="0">
                <a:latin typeface="Consolas" panose="020B0609020204030204" pitchFamily="49" charset="0"/>
                <a:cs typeface="Consolas" panose="020B0609020204030204" pitchFamily="49" charset="0"/>
              </a:rPr>
              <a:t>a</a:t>
            </a:r>
            <a:r>
              <a:rPr lang="en-US" sz="2200" dirty="0"/>
              <a:t>, zero-based.</a:t>
            </a:r>
          </a:p>
          <a:p>
            <a:pPr marL="342900" indent="-342900">
              <a:buFont typeface="Wingdings" pitchFamily="2" charset="2"/>
              <a:buChar char="§"/>
            </a:pPr>
            <a:r>
              <a:rPr lang="en-US" sz="2200" b="1" dirty="0">
                <a:latin typeface="Consolas" panose="020B0609020204030204" pitchFamily="49" charset="0"/>
                <a:cs typeface="Consolas" panose="020B0609020204030204" pitchFamily="49" charset="0"/>
              </a:rPr>
              <a:t>a</a:t>
            </a:r>
            <a:r>
              <a:rPr lang="en-US" sz="2200" dirty="0"/>
              <a:t> is evaluated before </a:t>
            </a:r>
            <a:r>
              <a:rPr lang="en-US" sz="2200" b="1" dirty="0">
                <a:latin typeface="Consolas" panose="020B0609020204030204" pitchFamily="49" charset="0"/>
                <a:cs typeface="Consolas" panose="020B0609020204030204" pitchFamily="49" charset="0"/>
              </a:rPr>
              <a:t>i</a:t>
            </a:r>
            <a:r>
              <a:rPr lang="en-US" sz="2200" dirty="0"/>
              <a:t>.</a:t>
            </a:r>
          </a:p>
          <a:p>
            <a:pPr marL="342900" indent="-342900">
              <a:buFont typeface="Wingdings" pitchFamily="2" charset="2"/>
              <a:buChar char="§"/>
            </a:pPr>
            <a:r>
              <a:rPr lang="en-US" sz="2200" b="1" dirty="0">
                <a:latin typeface="Consolas" panose="020B0609020204030204" pitchFamily="49" charset="0"/>
                <a:cs typeface="Consolas" panose="020B0609020204030204" pitchFamily="49" charset="0"/>
              </a:rPr>
              <a:t>i</a:t>
            </a:r>
            <a:r>
              <a:rPr lang="en-US" sz="2200" dirty="0"/>
              <a:t> must be </a:t>
            </a:r>
            <a:r>
              <a:rPr lang="en-US" sz="2200" b="1" dirty="0">
                <a:latin typeface="Consolas" panose="020B0609020204030204" pitchFamily="49" charset="0"/>
                <a:cs typeface="Consolas" panose="020B0609020204030204" pitchFamily="49" charset="0"/>
              </a:rPr>
              <a:t>&gt;= </a:t>
            </a:r>
            <a:r>
              <a:rPr lang="en-US" sz="2200" b="1" dirty="0">
                <a:solidFill>
                  <a:schemeClr val="accent3">
                    <a:lumMod val="75000"/>
                  </a:schemeClr>
                </a:solidFill>
                <a:latin typeface="Consolas" panose="020B0609020204030204" pitchFamily="49" charset="0"/>
                <a:cs typeface="Consolas" panose="020B0609020204030204" pitchFamily="49" charset="0"/>
              </a:rPr>
              <a:t>0 </a:t>
            </a:r>
            <a:r>
              <a:rPr lang="en-US" sz="2200" dirty="0"/>
              <a:t>and</a:t>
            </a:r>
            <a:r>
              <a:rPr lang="en-US" sz="2200" b="1" dirty="0">
                <a:latin typeface="Consolas" panose="020B0609020204030204" pitchFamily="49" charset="0"/>
                <a:cs typeface="Consolas" panose="020B0609020204030204" pitchFamily="49" charset="0"/>
              </a:rPr>
              <a:t> &lt; </a:t>
            </a:r>
            <a:r>
              <a:rPr lang="en-US" sz="2200" b="1" dirty="0" err="1">
                <a:latin typeface="Consolas" panose="020B0609020204030204" pitchFamily="49" charset="0"/>
                <a:cs typeface="Consolas" panose="020B0609020204030204" pitchFamily="49" charset="0"/>
              </a:rPr>
              <a:t>a.length</a:t>
            </a:r>
            <a:r>
              <a:rPr lang="en-US" sz="2200" dirty="0"/>
              <a:t>.</a:t>
            </a:r>
            <a:r>
              <a:rPr lang="en-US" sz="2200" b="1" dirty="0">
                <a:latin typeface="Consolas" panose="020B0609020204030204" pitchFamily="49" charset="0"/>
                <a:cs typeface="Consolas" panose="020B0609020204030204" pitchFamily="49" charset="0"/>
              </a:rPr>
              <a:t>	</a:t>
            </a:r>
          </a:p>
          <a:p>
            <a:pPr marL="699516" lvl="1" indent="-342900">
              <a:buFont typeface="Wingdings" pitchFamily="2" charset="2"/>
              <a:buChar char="§"/>
            </a:pPr>
            <a:r>
              <a:rPr lang="en-US" sz="2200" dirty="0"/>
              <a:t>if not, </a:t>
            </a:r>
            <a:r>
              <a:rPr lang="en-US" sz="2200" dirty="0">
                <a:solidFill>
                  <a:srgbClr val="FF0000"/>
                </a:solidFill>
              </a:rPr>
              <a:t>the program halts</a:t>
            </a:r>
            <a:r>
              <a:rPr lang="en-US" sz="2200" dirty="0"/>
              <a:t> with an error.</a:t>
            </a:r>
            <a:endParaRPr lang="en-US" sz="2200" b="1" dirty="0">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592AE7F5-ABB8-354D-A7B3-28EAF90F6D06}"/>
              </a:ext>
            </a:extLst>
          </p:cNvPr>
          <p:cNvSpPr txBox="1"/>
          <p:nvPr/>
        </p:nvSpPr>
        <p:spPr>
          <a:xfrm>
            <a:off x="1357749" y="4537903"/>
            <a:ext cx="1428596" cy="430887"/>
          </a:xfrm>
          <a:prstGeom prst="rect">
            <a:avLst/>
          </a:prstGeom>
          <a:noFill/>
        </p:spPr>
        <p:txBody>
          <a:bodyPr wrap="none" rtlCol="0">
            <a:spAutoFit/>
          </a:bodyPr>
          <a:lstStyle/>
          <a:p>
            <a:pPr algn="r"/>
            <a:r>
              <a:rPr lang="en-US" sz="2200" b="1" dirty="0" err="1">
                <a:latin typeface="Consolas" panose="020B0609020204030204" pitchFamily="49" charset="0"/>
                <a:cs typeface="Consolas" panose="020B0609020204030204" pitchFamily="49" charset="0"/>
              </a:rPr>
              <a:t>a.length</a:t>
            </a:r>
            <a:endParaRPr lang="en-US" sz="2200" b="1" dirty="0">
              <a:latin typeface="Consolas" panose="020B0609020204030204" pitchFamily="49" charset="0"/>
              <a:cs typeface="Consolas" panose="020B0609020204030204" pitchFamily="49" charset="0"/>
            </a:endParaRPr>
          </a:p>
        </p:txBody>
      </p:sp>
      <p:sp>
        <p:nvSpPr>
          <p:cNvPr id="10" name="TextBox 9">
            <a:extLst>
              <a:ext uri="{FF2B5EF4-FFF2-40B4-BE49-F238E27FC236}">
                <a16:creationId xmlns:a16="http://schemas.microsoft.com/office/drawing/2014/main" id="{0C9A8B0A-10C9-1D49-8A08-592F3B655494}"/>
              </a:ext>
            </a:extLst>
          </p:cNvPr>
          <p:cNvSpPr txBox="1"/>
          <p:nvPr/>
        </p:nvSpPr>
        <p:spPr>
          <a:xfrm>
            <a:off x="2942492" y="4533900"/>
            <a:ext cx="6019800" cy="430887"/>
          </a:xfrm>
          <a:prstGeom prst="rect">
            <a:avLst/>
          </a:prstGeom>
          <a:noFill/>
        </p:spPr>
        <p:txBody>
          <a:bodyPr wrap="square" rtlCol="0">
            <a:spAutoFit/>
          </a:bodyPr>
          <a:lstStyle/>
          <a:p>
            <a:pPr marL="342900" indent="-342900">
              <a:buFont typeface="Wingdings" pitchFamily="2" charset="2"/>
              <a:buChar char="§"/>
            </a:pPr>
            <a:r>
              <a:rPr lang="en-US" sz="2200" dirty="0">
                <a:cs typeface="Consolas" panose="020B0609020204030204" pitchFamily="49" charset="0"/>
              </a:rPr>
              <a:t>gets the length of </a:t>
            </a:r>
            <a:r>
              <a:rPr lang="en-US" sz="2200" b="1" dirty="0">
                <a:latin typeface="Consolas" panose="020B0609020204030204" pitchFamily="49" charset="0"/>
                <a:cs typeface="Consolas" panose="020B0609020204030204" pitchFamily="49" charset="0"/>
              </a:rPr>
              <a:t>a</a:t>
            </a:r>
            <a:r>
              <a:rPr lang="en-US" sz="2200" dirty="0">
                <a:cs typeface="Consolas" panose="020B0609020204030204" pitchFamily="49" charset="0"/>
              </a:rPr>
              <a:t>.</a:t>
            </a:r>
            <a:endParaRPr lang="en-US" sz="2200" dirty="0">
              <a:solidFill>
                <a:srgbClr val="FF0000"/>
              </a:solidFill>
            </a:endParaRPr>
          </a:p>
        </p:txBody>
      </p:sp>
    </p:spTree>
    <p:extLst>
      <p:ext uri="{BB962C8B-B14F-4D97-AF65-F5344CB8AC3E}">
        <p14:creationId xmlns:p14="http://schemas.microsoft.com/office/powerpoint/2010/main" val="20997338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bldLvl="5"/>
      <p:bldP spid="7" grpId="0"/>
      <p:bldP spid="8" grpId="0" build="p" bldLvl="5"/>
      <p:bldP spid="9" grpId="0"/>
      <p:bldP spid="10" grpId="0" build="p" bldLvl="5"/>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59B86-4487-8245-85BE-5B6F2D6E28B9}"/>
              </a:ext>
            </a:extLst>
          </p:cNvPr>
          <p:cNvSpPr>
            <a:spLocks noGrp="1"/>
          </p:cNvSpPr>
          <p:nvPr>
            <p:ph type="title"/>
          </p:nvPr>
        </p:nvSpPr>
        <p:spPr/>
        <p:txBody>
          <a:bodyPr/>
          <a:lstStyle/>
          <a:p>
            <a:r>
              <a:rPr lang="en-US" dirty="0"/>
              <a:t>Runtime representation: data</a:t>
            </a:r>
          </a:p>
        </p:txBody>
      </p:sp>
      <p:sp>
        <p:nvSpPr>
          <p:cNvPr id="3" name="Content Placeholder 2">
            <a:extLst>
              <a:ext uri="{FF2B5EF4-FFF2-40B4-BE49-F238E27FC236}">
                <a16:creationId xmlns:a16="http://schemas.microsoft.com/office/drawing/2014/main" id="{10A58E59-A337-4E4B-9237-6F28356A752C}"/>
              </a:ext>
            </a:extLst>
          </p:cNvPr>
          <p:cNvSpPr>
            <a:spLocks noGrp="1"/>
          </p:cNvSpPr>
          <p:nvPr>
            <p:ph idx="1"/>
          </p:nvPr>
        </p:nvSpPr>
        <p:spPr>
          <a:xfrm>
            <a:off x="152400" y="495301"/>
            <a:ext cx="8991600" cy="1219199"/>
          </a:xfrm>
        </p:spPr>
        <p:txBody>
          <a:bodyPr/>
          <a:lstStyle/>
          <a:p>
            <a:r>
              <a:rPr lang="en-US" dirty="0"/>
              <a:t>as you </a:t>
            </a:r>
            <a:r>
              <a:rPr lang="en-US" sz="1100" dirty="0"/>
              <a:t>hopefully</a:t>
            </a:r>
            <a:r>
              <a:rPr lang="en-US" dirty="0"/>
              <a:t> learned in 447, an array is represented in memory by placing its items next to each other, </a:t>
            </a:r>
            <a:r>
              <a:rPr lang="en-US" b="1" dirty="0"/>
              <a:t>equidistantly spaced.</a:t>
            </a:r>
          </a:p>
          <a:p>
            <a:r>
              <a:rPr lang="en-US" dirty="0"/>
              <a:t>consider an array of 3 </a:t>
            </a:r>
            <a:r>
              <a:rPr lang="en-US" b="1" dirty="0" err="1">
                <a:solidFill>
                  <a:srgbClr val="FF0000"/>
                </a:solidFill>
                <a:latin typeface="Consolas" panose="020B0609020204030204" pitchFamily="49" charset="0"/>
                <a:cs typeface="Consolas" panose="020B0609020204030204" pitchFamily="49" charset="0"/>
              </a:rPr>
              <a:t>int</a:t>
            </a:r>
            <a:r>
              <a:rPr lang="en-US" dirty="0" err="1"/>
              <a:t>s</a:t>
            </a:r>
            <a:r>
              <a:rPr lang="en-US" dirty="0"/>
              <a:t> which are </a:t>
            </a:r>
            <a:r>
              <a:rPr lang="en-US" b="1" dirty="0"/>
              <a:t>32 bits</a:t>
            </a:r>
            <a:r>
              <a:rPr lang="en-US" dirty="0"/>
              <a:t> (</a:t>
            </a:r>
            <a:r>
              <a:rPr lang="en-US" b="1" dirty="0"/>
              <a:t>4 Bytes</a:t>
            </a:r>
            <a:r>
              <a:rPr lang="en-US" dirty="0"/>
              <a:t>) each:</a:t>
            </a:r>
          </a:p>
        </p:txBody>
      </p:sp>
      <p:sp>
        <p:nvSpPr>
          <p:cNvPr id="4" name="Slide Number Placeholder 3">
            <a:extLst>
              <a:ext uri="{FF2B5EF4-FFF2-40B4-BE49-F238E27FC236}">
                <a16:creationId xmlns:a16="http://schemas.microsoft.com/office/drawing/2014/main" id="{F0908198-3028-4F44-B9FC-2E1CF3BE143B}"/>
              </a:ext>
            </a:extLst>
          </p:cNvPr>
          <p:cNvSpPr>
            <a:spLocks noGrp="1"/>
          </p:cNvSpPr>
          <p:nvPr>
            <p:ph type="sldNum" sz="quarter" idx="12"/>
          </p:nvPr>
        </p:nvSpPr>
        <p:spPr/>
        <p:txBody>
          <a:bodyPr/>
          <a:lstStyle/>
          <a:p>
            <a:fld id="{3552B95B-556F-44BD-91A5-D80C1B9E2BB3}" type="slidenum">
              <a:rPr lang="en-US" smtClean="0"/>
              <a:pPr/>
              <a:t>26</a:t>
            </a:fld>
            <a:endParaRPr lang="en-US"/>
          </a:p>
        </p:txBody>
      </p:sp>
      <p:graphicFrame>
        <p:nvGraphicFramePr>
          <p:cNvPr id="5" name="Table 4">
            <a:extLst>
              <a:ext uri="{FF2B5EF4-FFF2-40B4-BE49-F238E27FC236}">
                <a16:creationId xmlns:a16="http://schemas.microsoft.com/office/drawing/2014/main" id="{5E20844D-9B34-E549-841E-325DBD26EB8C}"/>
              </a:ext>
            </a:extLst>
          </p:cNvPr>
          <p:cNvGraphicFramePr>
            <a:graphicFrameLocks noGrp="1"/>
          </p:cNvGraphicFramePr>
          <p:nvPr>
            <p:extLst>
              <p:ext uri="{D42A27DB-BD31-4B8C-83A1-F6EECF244321}">
                <p14:modId xmlns:p14="http://schemas.microsoft.com/office/powerpoint/2010/main" val="499788849"/>
              </p:ext>
            </p:extLst>
          </p:nvPr>
        </p:nvGraphicFramePr>
        <p:xfrm>
          <a:off x="2057400" y="1638300"/>
          <a:ext cx="6705600" cy="1578820"/>
        </p:xfrm>
        <a:graphic>
          <a:graphicData uri="http://schemas.openxmlformats.org/drawingml/2006/table">
            <a:tbl>
              <a:tblPr bandRow="1">
                <a:tableStyleId>{5C22544A-7EE6-4342-B048-85BDC9FD1C3A}</a:tableStyleId>
              </a:tblPr>
              <a:tblGrid>
                <a:gridCol w="558800">
                  <a:extLst>
                    <a:ext uri="{9D8B030D-6E8A-4147-A177-3AD203B41FA5}">
                      <a16:colId xmlns:a16="http://schemas.microsoft.com/office/drawing/2014/main" val="2843318156"/>
                    </a:ext>
                  </a:extLst>
                </a:gridCol>
                <a:gridCol w="558800">
                  <a:extLst>
                    <a:ext uri="{9D8B030D-6E8A-4147-A177-3AD203B41FA5}">
                      <a16:colId xmlns:a16="http://schemas.microsoft.com/office/drawing/2014/main" val="3874333501"/>
                    </a:ext>
                  </a:extLst>
                </a:gridCol>
                <a:gridCol w="558800">
                  <a:extLst>
                    <a:ext uri="{9D8B030D-6E8A-4147-A177-3AD203B41FA5}">
                      <a16:colId xmlns:a16="http://schemas.microsoft.com/office/drawing/2014/main" val="3211686361"/>
                    </a:ext>
                  </a:extLst>
                </a:gridCol>
                <a:gridCol w="558800">
                  <a:extLst>
                    <a:ext uri="{9D8B030D-6E8A-4147-A177-3AD203B41FA5}">
                      <a16:colId xmlns:a16="http://schemas.microsoft.com/office/drawing/2014/main" val="274401377"/>
                    </a:ext>
                  </a:extLst>
                </a:gridCol>
                <a:gridCol w="558800">
                  <a:extLst>
                    <a:ext uri="{9D8B030D-6E8A-4147-A177-3AD203B41FA5}">
                      <a16:colId xmlns:a16="http://schemas.microsoft.com/office/drawing/2014/main" val="1914459889"/>
                    </a:ext>
                  </a:extLst>
                </a:gridCol>
                <a:gridCol w="558800">
                  <a:extLst>
                    <a:ext uri="{9D8B030D-6E8A-4147-A177-3AD203B41FA5}">
                      <a16:colId xmlns:a16="http://schemas.microsoft.com/office/drawing/2014/main" val="3560856121"/>
                    </a:ext>
                  </a:extLst>
                </a:gridCol>
                <a:gridCol w="558800">
                  <a:extLst>
                    <a:ext uri="{9D8B030D-6E8A-4147-A177-3AD203B41FA5}">
                      <a16:colId xmlns:a16="http://schemas.microsoft.com/office/drawing/2014/main" val="1137497979"/>
                    </a:ext>
                  </a:extLst>
                </a:gridCol>
                <a:gridCol w="558800">
                  <a:extLst>
                    <a:ext uri="{9D8B030D-6E8A-4147-A177-3AD203B41FA5}">
                      <a16:colId xmlns:a16="http://schemas.microsoft.com/office/drawing/2014/main" val="906996577"/>
                    </a:ext>
                  </a:extLst>
                </a:gridCol>
                <a:gridCol w="558800">
                  <a:extLst>
                    <a:ext uri="{9D8B030D-6E8A-4147-A177-3AD203B41FA5}">
                      <a16:colId xmlns:a16="http://schemas.microsoft.com/office/drawing/2014/main" val="3803660072"/>
                    </a:ext>
                  </a:extLst>
                </a:gridCol>
                <a:gridCol w="558800">
                  <a:extLst>
                    <a:ext uri="{9D8B030D-6E8A-4147-A177-3AD203B41FA5}">
                      <a16:colId xmlns:a16="http://schemas.microsoft.com/office/drawing/2014/main" val="2791716028"/>
                    </a:ext>
                  </a:extLst>
                </a:gridCol>
                <a:gridCol w="558800">
                  <a:extLst>
                    <a:ext uri="{9D8B030D-6E8A-4147-A177-3AD203B41FA5}">
                      <a16:colId xmlns:a16="http://schemas.microsoft.com/office/drawing/2014/main" val="86378430"/>
                    </a:ext>
                  </a:extLst>
                </a:gridCol>
                <a:gridCol w="558800">
                  <a:extLst>
                    <a:ext uri="{9D8B030D-6E8A-4147-A177-3AD203B41FA5}">
                      <a16:colId xmlns:a16="http://schemas.microsoft.com/office/drawing/2014/main" val="729434311"/>
                    </a:ext>
                  </a:extLst>
                </a:gridCol>
              </a:tblGrid>
              <a:tr h="560810">
                <a:tc gridSpan="4">
                  <a:txBody>
                    <a:bodyPr/>
                    <a:lstStyle/>
                    <a:p>
                      <a:r>
                        <a:rPr lang="en-US" sz="2400" b="1" i="0" dirty="0">
                          <a:latin typeface="Consolas" panose="020B0609020204030204" pitchFamily="49" charset="0"/>
                          <a:cs typeface="Consolas" panose="020B0609020204030204" pitchFamily="49" charset="0"/>
                        </a:rPr>
                        <a:t>A[0]</a:t>
                      </a:r>
                    </a:p>
                  </a:txBody>
                  <a:tcPr marL="0" marR="0" marT="0" marB="0" anchor="b">
                    <a:noFill/>
                  </a:tcPr>
                </a:tc>
                <a:tc hMerge="1">
                  <a:txBody>
                    <a:bodyPr/>
                    <a:lstStyle/>
                    <a:p>
                      <a:endParaRPr lang="en-US" sz="2400" b="0" i="1" dirty="0">
                        <a:latin typeface="Consolas" panose="020B0609020204030204" pitchFamily="49" charset="0"/>
                        <a:cs typeface="Consolas" panose="020B0609020204030204" pitchFamily="49" charset="0"/>
                      </a:endParaRPr>
                    </a:p>
                  </a:txBody>
                  <a:tcPr>
                    <a:noFill/>
                  </a:tcPr>
                </a:tc>
                <a:tc hMerge="1">
                  <a:txBody>
                    <a:bodyPr/>
                    <a:lstStyle/>
                    <a:p>
                      <a:endParaRPr lang="en-US" sz="2400" b="1" i="0" dirty="0">
                        <a:latin typeface="Consolas" panose="020B0609020204030204" pitchFamily="49" charset="0"/>
                        <a:cs typeface="Consolas" panose="020B0609020204030204" pitchFamily="49" charset="0"/>
                      </a:endParaRPr>
                    </a:p>
                  </a:txBody>
                  <a:tcPr marL="0" marR="0" marT="0" marB="0" anchor="b">
                    <a:noFill/>
                  </a:tcPr>
                </a:tc>
                <a:tc hMerge="1">
                  <a:txBody>
                    <a:bodyPr/>
                    <a:lstStyle/>
                    <a:p>
                      <a:endParaRPr lang="en-US" sz="2400" b="1" i="0" dirty="0">
                        <a:latin typeface="Consolas" panose="020B0609020204030204" pitchFamily="49" charset="0"/>
                        <a:cs typeface="Consolas" panose="020B0609020204030204" pitchFamily="49" charset="0"/>
                      </a:endParaRPr>
                    </a:p>
                  </a:txBody>
                  <a:tcPr marL="0" marR="0" marT="0" marB="0" anchor="b">
                    <a:noFill/>
                  </a:tcPr>
                </a:tc>
                <a:tc gridSpan="4">
                  <a:txBody>
                    <a:bodyPr/>
                    <a:lstStyle/>
                    <a:p>
                      <a:r>
                        <a:rPr lang="en-US" sz="2400" b="1" i="0" dirty="0">
                          <a:latin typeface="Consolas" panose="020B0609020204030204" pitchFamily="49" charset="0"/>
                          <a:cs typeface="Consolas" panose="020B0609020204030204" pitchFamily="49" charset="0"/>
                        </a:rPr>
                        <a:t>A[1]</a:t>
                      </a:r>
                    </a:p>
                  </a:txBody>
                  <a:tcPr marL="0" marR="0" marT="0" marB="0" anchor="b">
                    <a:noFill/>
                  </a:tcPr>
                </a:tc>
                <a:tc hMerge="1">
                  <a:txBody>
                    <a:bodyPr/>
                    <a:lstStyle/>
                    <a:p>
                      <a:endParaRPr lang="en-US" sz="2400" b="0" i="1" dirty="0">
                        <a:latin typeface="Consolas" panose="020B0609020204030204" pitchFamily="49" charset="0"/>
                        <a:cs typeface="Consolas" panose="020B0609020204030204" pitchFamily="49" charset="0"/>
                      </a:endParaRPr>
                    </a:p>
                  </a:txBody>
                  <a:tcPr>
                    <a:noFill/>
                  </a:tcPr>
                </a:tc>
                <a:tc hMerge="1">
                  <a:txBody>
                    <a:bodyPr/>
                    <a:lstStyle/>
                    <a:p>
                      <a:endParaRPr lang="en-US" sz="2400" b="1" i="0" dirty="0">
                        <a:latin typeface="Consolas" panose="020B0609020204030204" pitchFamily="49" charset="0"/>
                        <a:cs typeface="Consolas" panose="020B0609020204030204" pitchFamily="49" charset="0"/>
                      </a:endParaRPr>
                    </a:p>
                  </a:txBody>
                  <a:tcPr marL="0" marR="0" marT="0" marB="0" anchor="b">
                    <a:noFill/>
                  </a:tcPr>
                </a:tc>
                <a:tc hMerge="1">
                  <a:txBody>
                    <a:bodyPr/>
                    <a:lstStyle/>
                    <a:p>
                      <a:endParaRPr lang="en-US" sz="2400" b="1" i="0" dirty="0">
                        <a:latin typeface="Consolas" panose="020B0609020204030204" pitchFamily="49" charset="0"/>
                        <a:cs typeface="Consolas" panose="020B0609020204030204" pitchFamily="49" charset="0"/>
                      </a:endParaRPr>
                    </a:p>
                  </a:txBody>
                  <a:tcPr marL="0" marR="0" marT="0" marB="0" anchor="b">
                    <a:noFill/>
                  </a:tcPr>
                </a:tc>
                <a:tc gridSpan="4">
                  <a:txBody>
                    <a:bodyPr/>
                    <a:lstStyle/>
                    <a:p>
                      <a:r>
                        <a:rPr lang="en-US" sz="2400" b="1" i="0" dirty="0">
                          <a:latin typeface="Consolas" panose="020B0609020204030204" pitchFamily="49" charset="0"/>
                          <a:cs typeface="Consolas" panose="020B0609020204030204" pitchFamily="49" charset="0"/>
                        </a:rPr>
                        <a:t>A[2]</a:t>
                      </a:r>
                    </a:p>
                  </a:txBody>
                  <a:tcPr marL="0" marR="0" marT="0" marB="0" anchor="b">
                    <a:noFill/>
                  </a:tcPr>
                </a:tc>
                <a:tc hMerge="1">
                  <a:txBody>
                    <a:bodyPr/>
                    <a:lstStyle/>
                    <a:p>
                      <a:endParaRPr lang="en-US" sz="2400" b="0" i="1" dirty="0">
                        <a:latin typeface="Consolas" panose="020B0609020204030204" pitchFamily="49" charset="0"/>
                        <a:cs typeface="Consolas" panose="020B0609020204030204" pitchFamily="49" charset="0"/>
                      </a:endParaRPr>
                    </a:p>
                  </a:txBody>
                  <a:tcPr>
                    <a:noFill/>
                  </a:tcPr>
                </a:tc>
                <a:tc hMerge="1">
                  <a:txBody>
                    <a:bodyPr/>
                    <a:lstStyle/>
                    <a:p>
                      <a:endParaRPr lang="en-US" sz="2400" b="0" i="1" dirty="0">
                        <a:latin typeface="Consolas" panose="020B0609020204030204" pitchFamily="49" charset="0"/>
                        <a:cs typeface="Consolas" panose="020B0609020204030204" pitchFamily="49" charset="0"/>
                      </a:endParaRPr>
                    </a:p>
                  </a:txBody>
                  <a:tcPr>
                    <a:noFill/>
                  </a:tcPr>
                </a:tc>
                <a:tc hMerge="1">
                  <a:txBody>
                    <a:bodyPr/>
                    <a:lstStyle/>
                    <a:p>
                      <a:endParaRPr lang="en-US" sz="2400" b="0" i="1" dirty="0">
                        <a:latin typeface="Consolas" panose="020B0609020204030204" pitchFamily="49" charset="0"/>
                        <a:cs typeface="Consolas" panose="020B0609020204030204" pitchFamily="49" charset="0"/>
                      </a:endParaRPr>
                    </a:p>
                  </a:txBody>
                  <a:tcPr>
                    <a:noFill/>
                  </a:tcPr>
                </a:tc>
                <a:extLst>
                  <a:ext uri="{0D108BD9-81ED-4DB2-BD59-A6C34878D82A}">
                    <a16:rowId xmlns:a16="http://schemas.microsoft.com/office/drawing/2014/main" val="720952047"/>
                  </a:ext>
                </a:extLst>
              </a:tr>
              <a:tr h="560810">
                <a:tc>
                  <a:txBody>
                    <a:bodyPr/>
                    <a:lstStyle/>
                    <a:p>
                      <a:endParaRPr lang="en-US" dirty="0"/>
                    </a:p>
                  </a:txBody>
                  <a:tcPr>
                    <a:solidFill>
                      <a:schemeClr val="accent4">
                        <a:lumMod val="60000"/>
                        <a:lumOff val="40000"/>
                      </a:schemeClr>
                    </a:solidFill>
                  </a:tcPr>
                </a:tc>
                <a:tc>
                  <a:txBody>
                    <a:bodyPr/>
                    <a:lstStyle/>
                    <a:p>
                      <a:endParaRPr lang="en-US" dirty="0"/>
                    </a:p>
                  </a:txBody>
                  <a:tcPr>
                    <a:solidFill>
                      <a:schemeClr val="accent4">
                        <a:lumMod val="60000"/>
                        <a:lumOff val="40000"/>
                      </a:schemeClr>
                    </a:solidFill>
                  </a:tcPr>
                </a:tc>
                <a:tc>
                  <a:txBody>
                    <a:bodyPr/>
                    <a:lstStyle/>
                    <a:p>
                      <a:endParaRPr lang="en-US" dirty="0"/>
                    </a:p>
                  </a:txBody>
                  <a:tcPr>
                    <a:solidFill>
                      <a:schemeClr val="accent4">
                        <a:lumMod val="60000"/>
                        <a:lumOff val="40000"/>
                      </a:schemeClr>
                    </a:solidFill>
                  </a:tcPr>
                </a:tc>
                <a:tc>
                  <a:txBody>
                    <a:bodyPr/>
                    <a:lstStyle/>
                    <a:p>
                      <a:endParaRPr lang="en-US" dirty="0"/>
                    </a:p>
                  </a:txBody>
                  <a:tcPr>
                    <a:solidFill>
                      <a:schemeClr val="accent4">
                        <a:lumMod val="60000"/>
                        <a:lumOff val="40000"/>
                      </a:schemeClr>
                    </a:solidFill>
                  </a:tcPr>
                </a:tc>
                <a:tc>
                  <a:txBody>
                    <a:bodyPr/>
                    <a:lstStyle/>
                    <a:p>
                      <a:endParaRPr lang="en-US" dirty="0"/>
                    </a:p>
                  </a:txBody>
                  <a:tcPr>
                    <a:solidFill>
                      <a:schemeClr val="accent4">
                        <a:lumMod val="40000"/>
                        <a:lumOff val="60000"/>
                      </a:schemeClr>
                    </a:solidFill>
                  </a:tcPr>
                </a:tc>
                <a:tc>
                  <a:txBody>
                    <a:bodyPr/>
                    <a:lstStyle/>
                    <a:p>
                      <a:endParaRPr lang="en-US" dirty="0"/>
                    </a:p>
                  </a:txBody>
                  <a:tcPr>
                    <a:solidFill>
                      <a:schemeClr val="accent4">
                        <a:lumMod val="40000"/>
                        <a:lumOff val="60000"/>
                      </a:schemeClr>
                    </a:solidFill>
                  </a:tcPr>
                </a:tc>
                <a:tc>
                  <a:txBody>
                    <a:bodyPr/>
                    <a:lstStyle/>
                    <a:p>
                      <a:endParaRPr lang="en-US" dirty="0"/>
                    </a:p>
                  </a:txBody>
                  <a:tcPr>
                    <a:solidFill>
                      <a:schemeClr val="accent4">
                        <a:lumMod val="40000"/>
                        <a:lumOff val="60000"/>
                      </a:schemeClr>
                    </a:solidFill>
                  </a:tcPr>
                </a:tc>
                <a:tc>
                  <a:txBody>
                    <a:bodyPr/>
                    <a:lstStyle/>
                    <a:p>
                      <a:endParaRPr lang="en-US" dirty="0"/>
                    </a:p>
                  </a:txBody>
                  <a:tcPr>
                    <a:solidFill>
                      <a:schemeClr val="accent4">
                        <a:lumMod val="40000"/>
                        <a:lumOff val="60000"/>
                      </a:schemeClr>
                    </a:solidFill>
                  </a:tcPr>
                </a:tc>
                <a:tc>
                  <a:txBody>
                    <a:bodyPr/>
                    <a:lstStyle/>
                    <a:p>
                      <a:endParaRPr lang="en-US" dirty="0"/>
                    </a:p>
                  </a:txBody>
                  <a:tcPr>
                    <a:solidFill>
                      <a:schemeClr val="accent4">
                        <a:lumMod val="60000"/>
                        <a:lumOff val="40000"/>
                      </a:schemeClr>
                    </a:solidFill>
                  </a:tcPr>
                </a:tc>
                <a:tc>
                  <a:txBody>
                    <a:bodyPr/>
                    <a:lstStyle/>
                    <a:p>
                      <a:endParaRPr lang="en-US" dirty="0"/>
                    </a:p>
                  </a:txBody>
                  <a:tcPr>
                    <a:solidFill>
                      <a:schemeClr val="accent4">
                        <a:lumMod val="60000"/>
                        <a:lumOff val="40000"/>
                      </a:schemeClr>
                    </a:solidFill>
                  </a:tcPr>
                </a:tc>
                <a:tc>
                  <a:txBody>
                    <a:bodyPr/>
                    <a:lstStyle/>
                    <a:p>
                      <a:endParaRPr lang="en-US" dirty="0"/>
                    </a:p>
                  </a:txBody>
                  <a:tcPr>
                    <a:solidFill>
                      <a:schemeClr val="accent4">
                        <a:lumMod val="60000"/>
                        <a:lumOff val="40000"/>
                      </a:schemeClr>
                    </a:solidFill>
                  </a:tcPr>
                </a:tc>
                <a:tc>
                  <a:txBody>
                    <a:bodyPr/>
                    <a:lstStyle/>
                    <a:p>
                      <a:endParaRPr lang="en-US" dirty="0"/>
                    </a:p>
                  </a:txBody>
                  <a:tcPr>
                    <a:solidFill>
                      <a:schemeClr val="accent4">
                        <a:lumMod val="60000"/>
                        <a:lumOff val="40000"/>
                      </a:schemeClr>
                    </a:solidFill>
                  </a:tcPr>
                </a:tc>
                <a:extLst>
                  <a:ext uri="{0D108BD9-81ED-4DB2-BD59-A6C34878D82A}">
                    <a16:rowId xmlns:a16="http://schemas.microsoft.com/office/drawing/2014/main" val="4132591043"/>
                  </a:ext>
                </a:extLst>
              </a:tr>
              <a:tr h="397491">
                <a:tc>
                  <a:txBody>
                    <a:bodyPr/>
                    <a:lstStyle/>
                    <a:p>
                      <a:pPr algn="ctr"/>
                      <a:r>
                        <a:rPr lang="en-US" sz="2400" i="1" dirty="0">
                          <a:latin typeface="Consolas" panose="020B0609020204030204" pitchFamily="49" charset="0"/>
                          <a:cs typeface="Consolas" panose="020B0609020204030204" pitchFamily="49" charset="0"/>
                        </a:rPr>
                        <a:t>0</a:t>
                      </a:r>
                    </a:p>
                  </a:txBody>
                  <a:tcPr>
                    <a:noFill/>
                  </a:tcPr>
                </a:tc>
                <a:tc>
                  <a:txBody>
                    <a:bodyPr/>
                    <a:lstStyle/>
                    <a:p>
                      <a:pPr algn="ctr"/>
                      <a:r>
                        <a:rPr lang="en-US" sz="2400" i="1" dirty="0">
                          <a:latin typeface="Consolas" panose="020B0609020204030204" pitchFamily="49" charset="0"/>
                          <a:cs typeface="Consolas" panose="020B0609020204030204" pitchFamily="49" charset="0"/>
                        </a:rPr>
                        <a:t>1</a:t>
                      </a:r>
                    </a:p>
                  </a:txBody>
                  <a:tcPr>
                    <a:noFill/>
                  </a:tcPr>
                </a:tc>
                <a:tc>
                  <a:txBody>
                    <a:bodyPr/>
                    <a:lstStyle/>
                    <a:p>
                      <a:pPr algn="ctr"/>
                      <a:r>
                        <a:rPr lang="en-US" sz="2400" i="1" dirty="0">
                          <a:latin typeface="Consolas" panose="020B0609020204030204" pitchFamily="49" charset="0"/>
                          <a:cs typeface="Consolas" panose="020B0609020204030204" pitchFamily="49" charset="0"/>
                        </a:rPr>
                        <a:t>2</a:t>
                      </a:r>
                    </a:p>
                  </a:txBody>
                  <a:tcPr>
                    <a:noFill/>
                  </a:tcPr>
                </a:tc>
                <a:tc>
                  <a:txBody>
                    <a:bodyPr/>
                    <a:lstStyle/>
                    <a:p>
                      <a:pPr algn="ctr"/>
                      <a:r>
                        <a:rPr lang="en-US" sz="2400" i="1" dirty="0">
                          <a:latin typeface="Consolas" panose="020B0609020204030204" pitchFamily="49" charset="0"/>
                          <a:cs typeface="Consolas" panose="020B0609020204030204" pitchFamily="49" charset="0"/>
                        </a:rPr>
                        <a:t>3</a:t>
                      </a:r>
                    </a:p>
                  </a:txBody>
                  <a:tcPr>
                    <a:noFill/>
                  </a:tcPr>
                </a:tc>
                <a:tc>
                  <a:txBody>
                    <a:bodyPr/>
                    <a:lstStyle/>
                    <a:p>
                      <a:pPr algn="ctr"/>
                      <a:r>
                        <a:rPr lang="en-US" sz="2400" i="1" dirty="0">
                          <a:latin typeface="Consolas" panose="020B0609020204030204" pitchFamily="49" charset="0"/>
                          <a:cs typeface="Consolas" panose="020B0609020204030204" pitchFamily="49" charset="0"/>
                        </a:rPr>
                        <a:t>4</a:t>
                      </a:r>
                    </a:p>
                  </a:txBody>
                  <a:tcPr>
                    <a:noFill/>
                  </a:tcPr>
                </a:tc>
                <a:tc>
                  <a:txBody>
                    <a:bodyPr/>
                    <a:lstStyle/>
                    <a:p>
                      <a:pPr algn="ctr"/>
                      <a:r>
                        <a:rPr lang="en-US" sz="2400" i="1" dirty="0">
                          <a:latin typeface="Consolas" panose="020B0609020204030204" pitchFamily="49" charset="0"/>
                          <a:cs typeface="Consolas" panose="020B0609020204030204" pitchFamily="49" charset="0"/>
                        </a:rPr>
                        <a:t>5</a:t>
                      </a:r>
                    </a:p>
                  </a:txBody>
                  <a:tcPr>
                    <a:noFill/>
                  </a:tcPr>
                </a:tc>
                <a:tc>
                  <a:txBody>
                    <a:bodyPr/>
                    <a:lstStyle/>
                    <a:p>
                      <a:pPr algn="ctr"/>
                      <a:r>
                        <a:rPr lang="en-US" sz="2400" i="1" dirty="0">
                          <a:latin typeface="Consolas" panose="020B0609020204030204" pitchFamily="49" charset="0"/>
                          <a:cs typeface="Consolas" panose="020B0609020204030204" pitchFamily="49" charset="0"/>
                        </a:rPr>
                        <a:t>6</a:t>
                      </a:r>
                    </a:p>
                  </a:txBody>
                  <a:tcPr>
                    <a:noFill/>
                  </a:tcPr>
                </a:tc>
                <a:tc>
                  <a:txBody>
                    <a:bodyPr/>
                    <a:lstStyle/>
                    <a:p>
                      <a:pPr algn="ctr"/>
                      <a:r>
                        <a:rPr lang="en-US" sz="2400" i="1" dirty="0">
                          <a:latin typeface="Consolas" panose="020B0609020204030204" pitchFamily="49" charset="0"/>
                          <a:cs typeface="Consolas" panose="020B0609020204030204" pitchFamily="49" charset="0"/>
                        </a:rPr>
                        <a:t>7</a:t>
                      </a:r>
                    </a:p>
                  </a:txBody>
                  <a:tcPr>
                    <a:noFill/>
                  </a:tcPr>
                </a:tc>
                <a:tc>
                  <a:txBody>
                    <a:bodyPr/>
                    <a:lstStyle/>
                    <a:p>
                      <a:pPr algn="ctr"/>
                      <a:r>
                        <a:rPr lang="en-US" sz="2400" i="1" dirty="0">
                          <a:latin typeface="Consolas" panose="020B0609020204030204" pitchFamily="49" charset="0"/>
                          <a:cs typeface="Consolas" panose="020B0609020204030204" pitchFamily="49" charset="0"/>
                        </a:rPr>
                        <a:t>8</a:t>
                      </a:r>
                    </a:p>
                  </a:txBody>
                  <a:tcPr>
                    <a:noFill/>
                  </a:tcPr>
                </a:tc>
                <a:tc>
                  <a:txBody>
                    <a:bodyPr/>
                    <a:lstStyle/>
                    <a:p>
                      <a:pPr algn="ctr"/>
                      <a:r>
                        <a:rPr lang="en-US" sz="2400" i="1" dirty="0">
                          <a:latin typeface="Consolas" panose="020B0609020204030204" pitchFamily="49" charset="0"/>
                          <a:cs typeface="Consolas" panose="020B0609020204030204" pitchFamily="49" charset="0"/>
                        </a:rPr>
                        <a:t>9</a:t>
                      </a:r>
                    </a:p>
                  </a:txBody>
                  <a:tcPr>
                    <a:noFill/>
                  </a:tcPr>
                </a:tc>
                <a:tc>
                  <a:txBody>
                    <a:bodyPr/>
                    <a:lstStyle/>
                    <a:p>
                      <a:pPr algn="ctr"/>
                      <a:r>
                        <a:rPr lang="en-US" sz="2400" i="1" dirty="0">
                          <a:latin typeface="Consolas" panose="020B0609020204030204" pitchFamily="49" charset="0"/>
                          <a:cs typeface="Consolas" panose="020B0609020204030204" pitchFamily="49" charset="0"/>
                        </a:rPr>
                        <a:t>10</a:t>
                      </a:r>
                    </a:p>
                  </a:txBody>
                  <a:tcPr>
                    <a:noFill/>
                  </a:tcPr>
                </a:tc>
                <a:tc>
                  <a:txBody>
                    <a:bodyPr/>
                    <a:lstStyle/>
                    <a:p>
                      <a:pPr algn="ctr"/>
                      <a:r>
                        <a:rPr lang="en-US" sz="2400" i="1" dirty="0">
                          <a:latin typeface="Consolas" panose="020B0609020204030204" pitchFamily="49" charset="0"/>
                          <a:cs typeface="Consolas" panose="020B0609020204030204" pitchFamily="49" charset="0"/>
                        </a:rPr>
                        <a:t>11</a:t>
                      </a:r>
                    </a:p>
                  </a:txBody>
                  <a:tcPr>
                    <a:noFill/>
                  </a:tcPr>
                </a:tc>
                <a:extLst>
                  <a:ext uri="{0D108BD9-81ED-4DB2-BD59-A6C34878D82A}">
                    <a16:rowId xmlns:a16="http://schemas.microsoft.com/office/drawing/2014/main" val="3143929862"/>
                  </a:ext>
                </a:extLst>
              </a:tr>
            </a:tbl>
          </a:graphicData>
        </a:graphic>
      </p:graphicFrame>
      <p:sp>
        <p:nvSpPr>
          <p:cNvPr id="6" name="TextBox 5">
            <a:extLst>
              <a:ext uri="{FF2B5EF4-FFF2-40B4-BE49-F238E27FC236}">
                <a16:creationId xmlns:a16="http://schemas.microsoft.com/office/drawing/2014/main" id="{DD7B051F-2326-A94F-A10F-CA3EC18E1998}"/>
              </a:ext>
            </a:extLst>
          </p:cNvPr>
          <p:cNvSpPr txBox="1"/>
          <p:nvPr/>
        </p:nvSpPr>
        <p:spPr>
          <a:xfrm>
            <a:off x="146256" y="2749972"/>
            <a:ext cx="1905000" cy="430887"/>
          </a:xfrm>
          <a:prstGeom prst="rect">
            <a:avLst/>
          </a:prstGeom>
          <a:noFill/>
        </p:spPr>
        <p:txBody>
          <a:bodyPr wrap="square" rtlCol="0">
            <a:spAutoFit/>
          </a:bodyPr>
          <a:lstStyle/>
          <a:p>
            <a:pPr algn="r"/>
            <a:r>
              <a:rPr lang="en-US" sz="2200" i="1" dirty="0"/>
              <a:t>byte offset:</a:t>
            </a:r>
          </a:p>
        </p:txBody>
      </p:sp>
      <p:sp>
        <p:nvSpPr>
          <p:cNvPr id="7" name="TextBox 6">
            <a:extLst>
              <a:ext uri="{FF2B5EF4-FFF2-40B4-BE49-F238E27FC236}">
                <a16:creationId xmlns:a16="http://schemas.microsoft.com/office/drawing/2014/main" id="{56CB591E-93E1-B645-AAC8-D958E99F0540}"/>
              </a:ext>
            </a:extLst>
          </p:cNvPr>
          <p:cNvSpPr txBox="1"/>
          <p:nvPr/>
        </p:nvSpPr>
        <p:spPr>
          <a:xfrm>
            <a:off x="1143000" y="3409619"/>
            <a:ext cx="7232136" cy="1107996"/>
          </a:xfrm>
          <a:prstGeom prst="rect">
            <a:avLst/>
          </a:prstGeom>
          <a:noFill/>
        </p:spPr>
        <p:txBody>
          <a:bodyPr wrap="square" rtlCol="0">
            <a:spAutoFit/>
          </a:bodyPr>
          <a:lstStyle/>
          <a:p>
            <a:pPr algn="ctr"/>
            <a:r>
              <a:rPr lang="en-US" sz="2200" dirty="0"/>
              <a:t>given a pointer A that points to the </a:t>
            </a:r>
            <a:r>
              <a:rPr lang="en-US" sz="2200" b="1" dirty="0"/>
              <a:t>beginning </a:t>
            </a:r>
            <a:r>
              <a:rPr lang="en-US" sz="2200" dirty="0"/>
              <a:t>of the array, we can get the</a:t>
            </a:r>
            <a:r>
              <a:rPr lang="en-US" sz="2200" b="1" i="1" dirty="0"/>
              <a:t> </a:t>
            </a:r>
            <a:r>
              <a:rPr lang="en-US" sz="2200" b="1" i="1" dirty="0" err="1"/>
              <a:t>i</a:t>
            </a:r>
            <a:r>
              <a:rPr lang="en-US" sz="2200" dirty="0" err="1"/>
              <a:t>th</a:t>
            </a:r>
            <a:r>
              <a:rPr lang="en-US" sz="2200" dirty="0"/>
              <a:t> item with the formula </a:t>
            </a:r>
            <a:r>
              <a:rPr lang="en-US" sz="2200" b="1" dirty="0">
                <a:solidFill>
                  <a:srgbClr val="FF0000"/>
                </a:solidFill>
              </a:rPr>
              <a:t>A + </a:t>
            </a:r>
            <a:r>
              <a:rPr lang="en-US" sz="2200" b="1" dirty="0" err="1">
                <a:solidFill>
                  <a:srgbClr val="FF0000"/>
                </a:solidFill>
              </a:rPr>
              <a:t>S·i</a:t>
            </a:r>
            <a:r>
              <a:rPr lang="en-US" sz="2200" b="1" dirty="0"/>
              <a:t>, </a:t>
            </a:r>
            <a:r>
              <a:rPr lang="en-US" sz="2200" dirty="0"/>
              <a:t>where </a:t>
            </a:r>
            <a:r>
              <a:rPr lang="en-US" sz="2200" b="1" dirty="0"/>
              <a:t>S</a:t>
            </a:r>
            <a:r>
              <a:rPr lang="en-US" sz="2200" dirty="0"/>
              <a:t> is the size of one item.</a:t>
            </a:r>
            <a:endParaRPr lang="en-US" sz="2200" i="1" dirty="0"/>
          </a:p>
        </p:txBody>
      </p:sp>
      <p:sp>
        <p:nvSpPr>
          <p:cNvPr id="8" name="TextBox 7">
            <a:extLst>
              <a:ext uri="{FF2B5EF4-FFF2-40B4-BE49-F238E27FC236}">
                <a16:creationId xmlns:a16="http://schemas.microsoft.com/office/drawing/2014/main" id="{F712E100-C674-D54D-A396-0FB5BCB42251}"/>
              </a:ext>
            </a:extLst>
          </p:cNvPr>
          <p:cNvSpPr txBox="1"/>
          <p:nvPr/>
        </p:nvSpPr>
        <p:spPr>
          <a:xfrm>
            <a:off x="1170039" y="4735761"/>
            <a:ext cx="7232136" cy="430887"/>
          </a:xfrm>
          <a:prstGeom prst="rect">
            <a:avLst/>
          </a:prstGeom>
          <a:noFill/>
        </p:spPr>
        <p:txBody>
          <a:bodyPr wrap="square" rtlCol="0">
            <a:spAutoFit/>
          </a:bodyPr>
          <a:lstStyle/>
          <a:p>
            <a:pPr algn="ctr"/>
            <a:r>
              <a:rPr lang="en-US" sz="2200" dirty="0"/>
              <a:t>here, </a:t>
            </a:r>
            <a:r>
              <a:rPr lang="en-US" sz="2200" b="1" dirty="0"/>
              <a:t>S = 4</a:t>
            </a:r>
            <a:r>
              <a:rPr lang="en-US" sz="2200" dirty="0"/>
              <a:t>, so </a:t>
            </a:r>
            <a:r>
              <a:rPr lang="en-US" sz="2200" b="1" dirty="0"/>
              <a:t>A + 4·i</a:t>
            </a:r>
            <a:r>
              <a:rPr lang="en-US" sz="2200" dirty="0"/>
              <a:t> gives us the byte offset of item </a:t>
            </a:r>
            <a:r>
              <a:rPr lang="en-US" sz="2200" b="1" dirty="0"/>
              <a:t>i</a:t>
            </a:r>
            <a:r>
              <a:rPr lang="en-US" sz="2200" dirty="0"/>
              <a:t>.</a:t>
            </a:r>
            <a:endParaRPr lang="en-US" sz="2200" i="1" dirty="0"/>
          </a:p>
        </p:txBody>
      </p:sp>
    </p:spTree>
    <p:extLst>
      <p:ext uri="{BB962C8B-B14F-4D97-AF65-F5344CB8AC3E}">
        <p14:creationId xmlns:p14="http://schemas.microsoft.com/office/powerpoint/2010/main" val="420853052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7512C-7967-AF4C-B3A6-2B680F137701}"/>
              </a:ext>
            </a:extLst>
          </p:cNvPr>
          <p:cNvSpPr>
            <a:spLocks noGrp="1"/>
          </p:cNvSpPr>
          <p:nvPr>
            <p:ph type="title"/>
          </p:nvPr>
        </p:nvSpPr>
        <p:spPr/>
        <p:txBody>
          <a:bodyPr/>
          <a:lstStyle/>
          <a:p>
            <a:r>
              <a:rPr lang="en-US" dirty="0"/>
              <a:t>Runtime representation: length</a:t>
            </a:r>
          </a:p>
        </p:txBody>
      </p:sp>
      <p:sp>
        <p:nvSpPr>
          <p:cNvPr id="3" name="Content Placeholder 2">
            <a:extLst>
              <a:ext uri="{FF2B5EF4-FFF2-40B4-BE49-F238E27FC236}">
                <a16:creationId xmlns:a16="http://schemas.microsoft.com/office/drawing/2014/main" id="{C45E3C42-5B41-1649-86DE-4136D4C8B9E1}"/>
              </a:ext>
            </a:extLst>
          </p:cNvPr>
          <p:cNvSpPr>
            <a:spLocks noGrp="1"/>
          </p:cNvSpPr>
          <p:nvPr>
            <p:ph idx="1"/>
          </p:nvPr>
        </p:nvSpPr>
        <p:spPr>
          <a:xfrm>
            <a:off x="152400" y="495301"/>
            <a:ext cx="8991600" cy="838199"/>
          </a:xfrm>
        </p:spPr>
        <p:txBody>
          <a:bodyPr/>
          <a:lstStyle/>
          <a:p>
            <a:r>
              <a:rPr lang="en-US" dirty="0"/>
              <a:t>each array </a:t>
            </a:r>
            <a:r>
              <a:rPr lang="en-US" b="1" dirty="0"/>
              <a:t>also has to remember its length, </a:t>
            </a:r>
            <a:r>
              <a:rPr lang="en-US" dirty="0"/>
              <a:t>because there's nothing to tell you where "the end of the array" is.</a:t>
            </a:r>
          </a:p>
        </p:txBody>
      </p:sp>
      <p:sp>
        <p:nvSpPr>
          <p:cNvPr id="4" name="Slide Number Placeholder 3">
            <a:extLst>
              <a:ext uri="{FF2B5EF4-FFF2-40B4-BE49-F238E27FC236}">
                <a16:creationId xmlns:a16="http://schemas.microsoft.com/office/drawing/2014/main" id="{773099BE-E2A8-A741-8038-1813EB5D6D06}"/>
              </a:ext>
            </a:extLst>
          </p:cNvPr>
          <p:cNvSpPr>
            <a:spLocks noGrp="1"/>
          </p:cNvSpPr>
          <p:nvPr>
            <p:ph type="sldNum" sz="quarter" idx="12"/>
          </p:nvPr>
        </p:nvSpPr>
        <p:spPr/>
        <p:txBody>
          <a:bodyPr/>
          <a:lstStyle/>
          <a:p>
            <a:fld id="{3552B95B-556F-44BD-91A5-D80C1B9E2BB3}" type="slidenum">
              <a:rPr lang="en-US" smtClean="0"/>
              <a:pPr/>
              <a:t>27</a:t>
            </a:fld>
            <a:endParaRPr lang="en-US"/>
          </a:p>
        </p:txBody>
      </p:sp>
      <p:sp>
        <p:nvSpPr>
          <p:cNvPr id="5" name="TextBox 4">
            <a:extLst>
              <a:ext uri="{FF2B5EF4-FFF2-40B4-BE49-F238E27FC236}">
                <a16:creationId xmlns:a16="http://schemas.microsoft.com/office/drawing/2014/main" id="{F35EDF50-8963-2041-84C9-9C763CB35227}"/>
              </a:ext>
            </a:extLst>
          </p:cNvPr>
          <p:cNvSpPr txBox="1"/>
          <p:nvPr/>
        </p:nvSpPr>
        <p:spPr>
          <a:xfrm>
            <a:off x="479323" y="1333500"/>
            <a:ext cx="3449983" cy="430887"/>
          </a:xfrm>
          <a:prstGeom prst="rect">
            <a:avLst/>
          </a:prstGeom>
          <a:noFill/>
        </p:spPr>
        <p:txBody>
          <a:bodyPr wrap="none" rtlCol="0">
            <a:spAutoFit/>
          </a:bodyPr>
          <a:lstStyle/>
          <a:p>
            <a:r>
              <a:rPr lang="en-US" sz="2200" b="1" dirty="0">
                <a:solidFill>
                  <a:srgbClr val="FF0000"/>
                </a:solidFill>
                <a:latin typeface="Consolas" panose="020B0609020204030204" pitchFamily="49" charset="0"/>
                <a:cs typeface="Consolas" panose="020B0609020204030204" pitchFamily="49" charset="0"/>
              </a:rPr>
              <a:t>let</a:t>
            </a:r>
            <a:r>
              <a:rPr lang="en-US" sz="2200" b="1" dirty="0">
                <a:latin typeface="Consolas" panose="020B0609020204030204" pitchFamily="49" charset="0"/>
                <a:cs typeface="Consolas" panose="020B0609020204030204" pitchFamily="49" charset="0"/>
              </a:rPr>
              <a:t> a = </a:t>
            </a: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3</a:t>
            </a:r>
            <a:r>
              <a:rPr lang="en-US" sz="2200" b="1" dirty="0">
                <a:latin typeface="Consolas" panose="020B0609020204030204" pitchFamily="49" charset="0"/>
                <a:cs typeface="Consolas" panose="020B0609020204030204" pitchFamily="49" charset="0"/>
              </a:rPr>
              <a:t>];</a:t>
            </a:r>
          </a:p>
        </p:txBody>
      </p:sp>
      <p:graphicFrame>
        <p:nvGraphicFramePr>
          <p:cNvPr id="6" name="Table 5">
            <a:extLst>
              <a:ext uri="{FF2B5EF4-FFF2-40B4-BE49-F238E27FC236}">
                <a16:creationId xmlns:a16="http://schemas.microsoft.com/office/drawing/2014/main" id="{FC95BAA1-59EA-AC43-8FEE-FE273CA48CB2}"/>
              </a:ext>
            </a:extLst>
          </p:cNvPr>
          <p:cNvGraphicFramePr>
            <a:graphicFrameLocks noGrp="1"/>
          </p:cNvGraphicFramePr>
          <p:nvPr>
            <p:extLst>
              <p:ext uri="{D42A27DB-BD31-4B8C-83A1-F6EECF244321}">
                <p14:modId xmlns:p14="http://schemas.microsoft.com/office/powerpoint/2010/main" val="1357009506"/>
              </p:ext>
            </p:extLst>
          </p:nvPr>
        </p:nvGraphicFramePr>
        <p:xfrm>
          <a:off x="2079525" y="2089014"/>
          <a:ext cx="4800600" cy="440334"/>
        </p:xfrm>
        <a:graphic>
          <a:graphicData uri="http://schemas.openxmlformats.org/drawingml/2006/table">
            <a:tbl>
              <a:tblPr>
                <a:tableStyleId>{5C22544A-7EE6-4342-B048-85BDC9FD1C3A}</a:tableStyleId>
              </a:tblPr>
              <a:tblGrid>
                <a:gridCol w="1200150">
                  <a:extLst>
                    <a:ext uri="{9D8B030D-6E8A-4147-A177-3AD203B41FA5}">
                      <a16:colId xmlns:a16="http://schemas.microsoft.com/office/drawing/2014/main" val="1070351580"/>
                    </a:ext>
                  </a:extLst>
                </a:gridCol>
                <a:gridCol w="1200150">
                  <a:extLst>
                    <a:ext uri="{9D8B030D-6E8A-4147-A177-3AD203B41FA5}">
                      <a16:colId xmlns:a16="http://schemas.microsoft.com/office/drawing/2014/main" val="69544773"/>
                    </a:ext>
                  </a:extLst>
                </a:gridCol>
                <a:gridCol w="1200150">
                  <a:extLst>
                    <a:ext uri="{9D8B030D-6E8A-4147-A177-3AD203B41FA5}">
                      <a16:colId xmlns:a16="http://schemas.microsoft.com/office/drawing/2014/main" val="696323950"/>
                    </a:ext>
                  </a:extLst>
                </a:gridCol>
                <a:gridCol w="1200150">
                  <a:extLst>
                    <a:ext uri="{9D8B030D-6E8A-4147-A177-3AD203B41FA5}">
                      <a16:colId xmlns:a16="http://schemas.microsoft.com/office/drawing/2014/main" val="846523487"/>
                    </a:ext>
                  </a:extLst>
                </a:gridCol>
              </a:tblGrid>
              <a:tr h="440334">
                <a:tc>
                  <a:txBody>
                    <a:bodyPr/>
                    <a:lstStyle/>
                    <a:p>
                      <a:pPr algn="ctr"/>
                      <a:r>
                        <a:rPr lang="en-US" sz="2000" b="1" dirty="0">
                          <a:latin typeface="Consolas" panose="020B0609020204030204" pitchFamily="49" charset="0"/>
                          <a:cs typeface="Consolas" panose="020B0609020204030204" pitchFamily="49" charset="0"/>
                        </a:rPr>
                        <a:t>3</a:t>
                      </a:r>
                    </a:p>
                  </a:txBody>
                  <a:tcPr anchor="ctr">
                    <a:solidFill>
                      <a:schemeClr val="accent3">
                        <a:lumMod val="60000"/>
                        <a:lumOff val="40000"/>
                      </a:schemeClr>
                    </a:solidFill>
                  </a:tcPr>
                </a:tc>
                <a:tc>
                  <a:txBody>
                    <a:bodyPr/>
                    <a:lstStyle/>
                    <a:p>
                      <a:pPr algn="ctr"/>
                      <a:r>
                        <a:rPr lang="en-US" sz="2000" b="1" dirty="0">
                          <a:latin typeface="Consolas" panose="020B0609020204030204" pitchFamily="49" charset="0"/>
                          <a:cs typeface="Consolas" panose="020B0609020204030204" pitchFamily="49" charset="0"/>
                        </a:rPr>
                        <a:t>0</a:t>
                      </a:r>
                    </a:p>
                  </a:txBody>
                  <a:tcPr anchor="ctr">
                    <a:solidFill>
                      <a:schemeClr val="accent4">
                        <a:lumMod val="60000"/>
                        <a:lumOff val="40000"/>
                      </a:schemeClr>
                    </a:solidFill>
                  </a:tcPr>
                </a:tc>
                <a:tc>
                  <a:txBody>
                    <a:bodyPr/>
                    <a:lstStyle/>
                    <a:p>
                      <a:pPr algn="ctr"/>
                      <a:r>
                        <a:rPr lang="en-US" sz="2000" b="1" dirty="0">
                          <a:latin typeface="Consolas" panose="020B0609020204030204" pitchFamily="49" charset="0"/>
                          <a:cs typeface="Consolas" panose="020B0609020204030204" pitchFamily="49" charset="0"/>
                        </a:rPr>
                        <a:t>0</a:t>
                      </a:r>
                    </a:p>
                  </a:txBody>
                  <a:tcPr anchor="ctr">
                    <a:solidFill>
                      <a:schemeClr val="accent4">
                        <a:lumMod val="60000"/>
                        <a:lumOff val="40000"/>
                      </a:schemeClr>
                    </a:solidFill>
                  </a:tcPr>
                </a:tc>
                <a:tc>
                  <a:txBody>
                    <a:bodyPr/>
                    <a:lstStyle/>
                    <a:p>
                      <a:pPr algn="ctr"/>
                      <a:r>
                        <a:rPr lang="en-US" sz="2000" b="1" dirty="0">
                          <a:latin typeface="Consolas" panose="020B0609020204030204" pitchFamily="49" charset="0"/>
                          <a:cs typeface="Consolas" panose="020B0609020204030204" pitchFamily="49" charset="0"/>
                        </a:rPr>
                        <a:t>0</a:t>
                      </a:r>
                    </a:p>
                  </a:txBody>
                  <a:tcPr anchor="ctr">
                    <a:solidFill>
                      <a:schemeClr val="accent4">
                        <a:lumMod val="60000"/>
                        <a:lumOff val="40000"/>
                      </a:schemeClr>
                    </a:solidFill>
                  </a:tcPr>
                </a:tc>
                <a:extLst>
                  <a:ext uri="{0D108BD9-81ED-4DB2-BD59-A6C34878D82A}">
                    <a16:rowId xmlns:a16="http://schemas.microsoft.com/office/drawing/2014/main" val="2952256906"/>
                  </a:ext>
                </a:extLst>
              </a:tr>
            </a:tbl>
          </a:graphicData>
        </a:graphic>
      </p:graphicFrame>
      <p:sp>
        <p:nvSpPr>
          <p:cNvPr id="7" name="Arc 6">
            <a:extLst>
              <a:ext uri="{FF2B5EF4-FFF2-40B4-BE49-F238E27FC236}">
                <a16:creationId xmlns:a16="http://schemas.microsoft.com/office/drawing/2014/main" id="{1C0CD13D-2C7F-E24E-ABD2-4B4AC2A37085}"/>
              </a:ext>
            </a:extLst>
          </p:cNvPr>
          <p:cNvSpPr/>
          <p:nvPr/>
        </p:nvSpPr>
        <p:spPr>
          <a:xfrm rot="16200000" flipH="1">
            <a:off x="1172668" y="1043449"/>
            <a:ext cx="1159864" cy="1371600"/>
          </a:xfrm>
          <a:prstGeom prst="arc">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02EA7F17-D5C8-BC4F-9B91-5D9744DE5A89}"/>
              </a:ext>
            </a:extLst>
          </p:cNvPr>
          <p:cNvSpPr txBox="1"/>
          <p:nvPr/>
        </p:nvSpPr>
        <p:spPr>
          <a:xfrm>
            <a:off x="304800" y="2602586"/>
            <a:ext cx="2984090" cy="769441"/>
          </a:xfrm>
          <a:prstGeom prst="rect">
            <a:avLst/>
          </a:prstGeom>
          <a:noFill/>
        </p:spPr>
        <p:txBody>
          <a:bodyPr wrap="square" rtlCol="0">
            <a:spAutoFit/>
          </a:bodyPr>
          <a:lstStyle/>
          <a:p>
            <a:pPr algn="ctr"/>
            <a:r>
              <a:rPr lang="en-US" sz="2200" dirty="0"/>
              <a:t>the </a:t>
            </a:r>
            <a:r>
              <a:rPr lang="en-US" sz="2200" b="1" dirty="0"/>
              <a:t>length</a:t>
            </a:r>
            <a:r>
              <a:rPr lang="en-US" sz="2200" dirty="0"/>
              <a:t> comes first and takes up 4 bytes.</a:t>
            </a:r>
            <a:endParaRPr lang="en-US" sz="2200" i="1" dirty="0"/>
          </a:p>
        </p:txBody>
      </p:sp>
      <p:sp>
        <p:nvSpPr>
          <p:cNvPr id="9" name="TextBox 8">
            <a:extLst>
              <a:ext uri="{FF2B5EF4-FFF2-40B4-BE49-F238E27FC236}">
                <a16:creationId xmlns:a16="http://schemas.microsoft.com/office/drawing/2014/main" id="{7A7D1E87-A229-CA4B-A42D-C32ACF348214}"/>
              </a:ext>
            </a:extLst>
          </p:cNvPr>
          <p:cNvSpPr txBox="1"/>
          <p:nvPr/>
        </p:nvSpPr>
        <p:spPr>
          <a:xfrm>
            <a:off x="3603523" y="2602586"/>
            <a:ext cx="5334000" cy="769441"/>
          </a:xfrm>
          <a:prstGeom prst="rect">
            <a:avLst/>
          </a:prstGeom>
          <a:noFill/>
        </p:spPr>
        <p:txBody>
          <a:bodyPr wrap="square" rtlCol="0">
            <a:spAutoFit/>
          </a:bodyPr>
          <a:lstStyle/>
          <a:p>
            <a:pPr algn="ctr"/>
            <a:r>
              <a:rPr lang="en-US" sz="2200" dirty="0"/>
              <a:t>so now our item access formula must be offset by 4 to skip the length: </a:t>
            </a:r>
            <a:r>
              <a:rPr lang="en-US" sz="2200" b="1" dirty="0">
                <a:solidFill>
                  <a:srgbClr val="FF0000"/>
                </a:solidFill>
              </a:rPr>
              <a:t>A + </a:t>
            </a:r>
            <a:r>
              <a:rPr lang="en-US" sz="2200" b="1" dirty="0" err="1">
                <a:solidFill>
                  <a:srgbClr val="FF0000"/>
                </a:solidFill>
              </a:rPr>
              <a:t>S·i</a:t>
            </a:r>
            <a:r>
              <a:rPr lang="en-US" sz="2200" b="1" dirty="0">
                <a:solidFill>
                  <a:srgbClr val="FF0000"/>
                </a:solidFill>
              </a:rPr>
              <a:t> + 4</a:t>
            </a:r>
            <a:endParaRPr lang="en-US" sz="2200" b="1" i="1" dirty="0">
              <a:solidFill>
                <a:srgbClr val="FF0000"/>
              </a:solidFill>
            </a:endParaRPr>
          </a:p>
        </p:txBody>
      </p:sp>
      <p:sp>
        <p:nvSpPr>
          <p:cNvPr id="10" name="TextBox 9">
            <a:extLst>
              <a:ext uri="{FF2B5EF4-FFF2-40B4-BE49-F238E27FC236}">
                <a16:creationId xmlns:a16="http://schemas.microsoft.com/office/drawing/2014/main" id="{B6695B8B-A83B-A441-AAF0-0AA3A3FF5187}"/>
              </a:ext>
            </a:extLst>
          </p:cNvPr>
          <p:cNvSpPr txBox="1"/>
          <p:nvPr/>
        </p:nvSpPr>
        <p:spPr>
          <a:xfrm>
            <a:off x="3984523" y="3422238"/>
            <a:ext cx="4572000" cy="646331"/>
          </a:xfrm>
          <a:prstGeom prst="rect">
            <a:avLst/>
          </a:prstGeom>
          <a:noFill/>
        </p:spPr>
        <p:txBody>
          <a:bodyPr wrap="square" rtlCol="0">
            <a:spAutoFit/>
          </a:bodyPr>
          <a:lstStyle/>
          <a:p>
            <a:pPr algn="ctr"/>
            <a:r>
              <a:rPr lang="en-US" sz="1800" dirty="0"/>
              <a:t>(different types use different values of S, so we can't do </a:t>
            </a:r>
            <a:r>
              <a:rPr lang="en-US" sz="1800" b="1" dirty="0"/>
              <a:t>A + S(i + 1)</a:t>
            </a:r>
            <a:r>
              <a:rPr lang="en-US" sz="1800" dirty="0"/>
              <a:t> in general.)</a:t>
            </a:r>
            <a:endParaRPr lang="en-US" sz="1800" b="1" i="1" dirty="0">
              <a:solidFill>
                <a:srgbClr val="FF0000"/>
              </a:solidFill>
            </a:endParaRPr>
          </a:p>
        </p:txBody>
      </p:sp>
      <p:sp>
        <p:nvSpPr>
          <p:cNvPr id="11" name="TextBox 10">
            <a:extLst>
              <a:ext uri="{FF2B5EF4-FFF2-40B4-BE49-F238E27FC236}">
                <a16:creationId xmlns:a16="http://schemas.microsoft.com/office/drawing/2014/main" id="{532795FE-C421-1843-8320-B60AD29C66BF}"/>
              </a:ext>
            </a:extLst>
          </p:cNvPr>
          <p:cNvSpPr txBox="1"/>
          <p:nvPr/>
        </p:nvSpPr>
        <p:spPr>
          <a:xfrm>
            <a:off x="1143000" y="4344841"/>
            <a:ext cx="6858000" cy="769441"/>
          </a:xfrm>
          <a:prstGeom prst="rect">
            <a:avLst/>
          </a:prstGeom>
          <a:noFill/>
        </p:spPr>
        <p:txBody>
          <a:bodyPr wrap="square" rtlCol="0">
            <a:spAutoFit/>
          </a:bodyPr>
          <a:lstStyle/>
          <a:p>
            <a:pPr algn="ctr"/>
            <a:r>
              <a:rPr lang="en-US" sz="2200" dirty="0"/>
              <a:t>now we have all we need to be able to implement </a:t>
            </a:r>
            <a:r>
              <a:rPr lang="en-US" sz="2200" b="1" dirty="0">
                <a:latin typeface="Consolas" panose="020B0609020204030204" pitchFamily="49" charset="0"/>
                <a:cs typeface="Consolas" panose="020B0609020204030204" pitchFamily="49" charset="0"/>
              </a:rPr>
              <a:t>a[i]</a:t>
            </a:r>
            <a:r>
              <a:rPr lang="en-US" sz="2200" dirty="0"/>
              <a:t> and </a:t>
            </a:r>
            <a:r>
              <a:rPr lang="en-US" sz="2200" b="1" dirty="0" err="1">
                <a:latin typeface="Consolas" panose="020B0609020204030204" pitchFamily="49" charset="0"/>
                <a:cs typeface="Consolas" panose="020B0609020204030204" pitchFamily="49" charset="0"/>
              </a:rPr>
              <a:t>a.length</a:t>
            </a:r>
            <a:r>
              <a:rPr lang="en-US" sz="2200" dirty="0"/>
              <a:t>! but what about </a:t>
            </a: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a:t>
            </a:r>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3</a:t>
            </a:r>
            <a:r>
              <a:rPr lang="en-US" sz="2200" b="1" dirty="0">
                <a:latin typeface="Consolas" panose="020B0609020204030204" pitchFamily="49" charset="0"/>
                <a:cs typeface="Consolas" panose="020B0609020204030204" pitchFamily="49" charset="0"/>
              </a:rPr>
              <a:t>]</a:t>
            </a:r>
            <a:r>
              <a:rPr lang="en-US" sz="2200" dirty="0"/>
              <a:t>?</a:t>
            </a:r>
            <a:endParaRPr lang="en-US" sz="2200" i="1" dirty="0"/>
          </a:p>
        </p:txBody>
      </p:sp>
    </p:spTree>
    <p:extLst>
      <p:ext uri="{BB962C8B-B14F-4D97-AF65-F5344CB8AC3E}">
        <p14:creationId xmlns:p14="http://schemas.microsoft.com/office/powerpoint/2010/main" val="29209032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p:bldP spid="9" grpId="0"/>
      <p:bldP spid="10" grpId="0"/>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DE4D2-E92E-5543-BF6B-AAE95CCF8339}"/>
              </a:ext>
            </a:extLst>
          </p:cNvPr>
          <p:cNvSpPr>
            <a:spLocks noGrp="1"/>
          </p:cNvSpPr>
          <p:nvPr>
            <p:ph type="title"/>
          </p:nvPr>
        </p:nvSpPr>
        <p:spPr/>
        <p:txBody>
          <a:bodyPr/>
          <a:lstStyle/>
          <a:p>
            <a:r>
              <a:rPr lang="en-US" dirty="0"/>
              <a:t>Runtime library: allocating arrays</a:t>
            </a:r>
          </a:p>
        </p:txBody>
      </p:sp>
      <p:sp>
        <p:nvSpPr>
          <p:cNvPr id="3" name="Content Placeholder 2">
            <a:extLst>
              <a:ext uri="{FF2B5EF4-FFF2-40B4-BE49-F238E27FC236}">
                <a16:creationId xmlns:a16="http://schemas.microsoft.com/office/drawing/2014/main" id="{279BD105-7F93-1B40-9DAB-3BE7F03BEBE2}"/>
              </a:ext>
            </a:extLst>
          </p:cNvPr>
          <p:cNvSpPr>
            <a:spLocks noGrp="1"/>
          </p:cNvSpPr>
          <p:nvPr>
            <p:ph idx="1"/>
          </p:nvPr>
        </p:nvSpPr>
        <p:spPr/>
        <p:txBody>
          <a:bodyPr/>
          <a:lstStyle/>
          <a:p>
            <a:r>
              <a:rPr lang="en-US" b="1" dirty="0"/>
              <a:t>dynamic memory allocation</a:t>
            </a:r>
            <a:r>
              <a:rPr lang="en-US" dirty="0"/>
              <a:t> is something the runtime library is responsible for. so, we'll need a function to allocate arrays.</a:t>
            </a:r>
          </a:p>
          <a:p>
            <a:r>
              <a:rPr lang="en-US" b="1" dirty="0" err="1">
                <a:solidFill>
                  <a:srgbClr val="FF0000"/>
                </a:solidFill>
                <a:latin typeface="Consolas" panose="020B0609020204030204" pitchFamily="49" charset="0"/>
                <a:cs typeface="Consolas" panose="020B0609020204030204" pitchFamily="49" charset="0"/>
              </a:rPr>
              <a:t>fn</a:t>
            </a:r>
            <a:r>
              <a:rPr lang="en-US" b="1" dirty="0">
                <a:latin typeface="Consolas" panose="020B0609020204030204" pitchFamily="49" charset="0"/>
                <a:cs typeface="Consolas" panose="020B0609020204030204" pitchFamily="49" charset="0"/>
              </a:rPr>
              <a:t> </a:t>
            </a:r>
            <a:r>
              <a:rPr lang="en-US" b="1" dirty="0" err="1">
                <a:latin typeface="Consolas" panose="020B0609020204030204" pitchFamily="49" charset="0"/>
                <a:cs typeface="Consolas" panose="020B0609020204030204" pitchFamily="49" charset="0"/>
              </a:rPr>
              <a:t>rt$new_array</a:t>
            </a:r>
            <a:r>
              <a:rPr lang="en-US" b="1" dirty="0">
                <a:latin typeface="Consolas" panose="020B0609020204030204" pitchFamily="49" charset="0"/>
                <a:cs typeface="Consolas" panose="020B0609020204030204" pitchFamily="49" charset="0"/>
              </a:rPr>
              <a:t>(</a:t>
            </a:r>
            <a:r>
              <a:rPr lang="en-US" b="1" dirty="0" err="1">
                <a:latin typeface="Consolas" panose="020B0609020204030204" pitchFamily="49" charset="0"/>
                <a:cs typeface="Consolas" panose="020B0609020204030204" pitchFamily="49" charset="0"/>
              </a:rPr>
              <a:t>item_size</a:t>
            </a:r>
            <a:r>
              <a:rPr lang="en-US" b="1"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a:t>
            </a:r>
            <a:r>
              <a:rPr lang="en-US" b="1" dirty="0" err="1">
                <a:latin typeface="Consolas" panose="020B0609020204030204" pitchFamily="49" charset="0"/>
                <a:cs typeface="Consolas" panose="020B0609020204030204" pitchFamily="49" charset="0"/>
              </a:rPr>
              <a:t>len</a:t>
            </a:r>
            <a:r>
              <a:rPr lang="en-US" b="1"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a:t>
            </a:r>
          </a:p>
          <a:p>
            <a:pPr lvl="1"/>
            <a:r>
              <a:rPr lang="en-US" dirty="0"/>
              <a:t>this will allocate an array of </a:t>
            </a:r>
            <a:r>
              <a:rPr lang="en-US" b="1" dirty="0" err="1">
                <a:latin typeface="Consolas" panose="020B0609020204030204" pitchFamily="49" charset="0"/>
                <a:cs typeface="Consolas" panose="020B0609020204030204" pitchFamily="49" charset="0"/>
              </a:rPr>
              <a:t>len</a:t>
            </a:r>
            <a:r>
              <a:rPr lang="en-US" b="1" dirty="0"/>
              <a:t> </a:t>
            </a:r>
            <a:r>
              <a:rPr lang="en-US" dirty="0"/>
              <a:t>items, where each item is </a:t>
            </a:r>
            <a:r>
              <a:rPr lang="en-US" b="1" dirty="0" err="1">
                <a:latin typeface="Consolas" panose="020B0609020204030204" pitchFamily="49" charset="0"/>
                <a:cs typeface="Consolas" panose="020B0609020204030204" pitchFamily="49" charset="0"/>
              </a:rPr>
              <a:t>item_size</a:t>
            </a:r>
            <a:r>
              <a:rPr lang="en-US" b="1" dirty="0"/>
              <a:t> </a:t>
            </a:r>
            <a:r>
              <a:rPr lang="en-US" dirty="0"/>
              <a:t>bytes; zero out the data; set its </a:t>
            </a:r>
            <a:r>
              <a:rPr lang="en-US" b="1" dirty="0">
                <a:latin typeface="Consolas" panose="020B0609020204030204" pitchFamily="49" charset="0"/>
                <a:cs typeface="Consolas" panose="020B0609020204030204" pitchFamily="49" charset="0"/>
              </a:rPr>
              <a:t>length</a:t>
            </a:r>
            <a:r>
              <a:rPr lang="en-US" dirty="0"/>
              <a:t> field to </a:t>
            </a:r>
            <a:r>
              <a:rPr lang="en-US" b="1" dirty="0" err="1">
                <a:latin typeface="Consolas" panose="020B0609020204030204" pitchFamily="49" charset="0"/>
                <a:cs typeface="Consolas" panose="020B0609020204030204" pitchFamily="49" charset="0"/>
              </a:rPr>
              <a:t>len</a:t>
            </a:r>
            <a:r>
              <a:rPr lang="en-US" dirty="0"/>
              <a:t>; and return a pointer to it.</a:t>
            </a:r>
          </a:p>
          <a:p>
            <a:pPr lvl="1"/>
            <a:r>
              <a:rPr lang="en-US" dirty="0"/>
              <a:t>it will also crash the program if </a:t>
            </a:r>
            <a:r>
              <a:rPr lang="en-US" b="1" dirty="0" err="1"/>
              <a:t>len</a:t>
            </a:r>
            <a:r>
              <a:rPr lang="en-US" dirty="0"/>
              <a:t> is negative, as per the evaluation semantics.</a:t>
            </a:r>
          </a:p>
          <a:p>
            <a:r>
              <a:rPr lang="en-US" dirty="0"/>
              <a:t>the code generation will turn array allocations into calls to this function, using a constant for </a:t>
            </a:r>
            <a:r>
              <a:rPr lang="en-US" b="1" dirty="0" err="1">
                <a:latin typeface="Consolas" panose="020B0609020204030204" pitchFamily="49" charset="0"/>
                <a:cs typeface="Consolas" panose="020B0609020204030204" pitchFamily="49" charset="0"/>
              </a:rPr>
              <a:t>item_size</a:t>
            </a:r>
            <a:r>
              <a:rPr lang="en-US" b="1" dirty="0"/>
              <a:t> </a:t>
            </a:r>
            <a:r>
              <a:rPr lang="en-US" dirty="0"/>
              <a:t>based on the type.</a:t>
            </a:r>
          </a:p>
          <a:p>
            <a:pPr lvl="1"/>
            <a:r>
              <a:rPr lang="en-US" dirty="0"/>
              <a:t>e.g. for an array of </a:t>
            </a:r>
            <a:r>
              <a:rPr lang="en-US" b="1" dirty="0"/>
              <a:t>bool, </a:t>
            </a:r>
            <a:r>
              <a:rPr lang="en-US" b="1" dirty="0" err="1">
                <a:latin typeface="Consolas" panose="020B0609020204030204" pitchFamily="49" charset="0"/>
                <a:cs typeface="Consolas" panose="020B0609020204030204" pitchFamily="49" charset="0"/>
              </a:rPr>
              <a:t>item_size</a:t>
            </a:r>
            <a:r>
              <a:rPr lang="en-US" dirty="0"/>
              <a:t> is 1; for </a:t>
            </a:r>
            <a:r>
              <a:rPr lang="en-US" b="1" dirty="0"/>
              <a:t>int</a:t>
            </a:r>
            <a:r>
              <a:rPr lang="en-US" dirty="0"/>
              <a:t> it's 4; etc.</a:t>
            </a:r>
          </a:p>
        </p:txBody>
      </p:sp>
      <p:sp>
        <p:nvSpPr>
          <p:cNvPr id="4" name="Slide Number Placeholder 3">
            <a:extLst>
              <a:ext uri="{FF2B5EF4-FFF2-40B4-BE49-F238E27FC236}">
                <a16:creationId xmlns:a16="http://schemas.microsoft.com/office/drawing/2014/main" id="{B995C4EF-EF96-3449-86CF-26B54B5C4C71}"/>
              </a:ext>
            </a:extLst>
          </p:cNvPr>
          <p:cNvSpPr>
            <a:spLocks noGrp="1"/>
          </p:cNvSpPr>
          <p:nvPr>
            <p:ph type="sldNum" sz="quarter" idx="12"/>
          </p:nvPr>
        </p:nvSpPr>
        <p:spPr/>
        <p:txBody>
          <a:bodyPr/>
          <a:lstStyle/>
          <a:p>
            <a:fld id="{3552B95B-556F-44BD-91A5-D80C1B9E2BB3}" type="slidenum">
              <a:rPr lang="en-US" smtClean="0"/>
              <a:pPr/>
              <a:t>28</a:t>
            </a:fld>
            <a:endParaRPr lang="en-US"/>
          </a:p>
        </p:txBody>
      </p:sp>
    </p:spTree>
    <p:extLst>
      <p:ext uri="{BB962C8B-B14F-4D97-AF65-F5344CB8AC3E}">
        <p14:creationId xmlns:p14="http://schemas.microsoft.com/office/powerpoint/2010/main" val="521629434"/>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3EC92-511A-DB4B-AAAC-AB1CE12F1E2D}"/>
              </a:ext>
            </a:extLst>
          </p:cNvPr>
          <p:cNvSpPr>
            <a:spLocks noGrp="1"/>
          </p:cNvSpPr>
          <p:nvPr>
            <p:ph type="title"/>
          </p:nvPr>
        </p:nvSpPr>
        <p:spPr/>
        <p:txBody>
          <a:bodyPr/>
          <a:lstStyle/>
          <a:p>
            <a:r>
              <a:rPr lang="en-US" dirty="0" err="1"/>
              <a:t>Codegen</a:t>
            </a:r>
            <a:endParaRPr lang="en-US" dirty="0"/>
          </a:p>
        </p:txBody>
      </p:sp>
      <p:sp>
        <p:nvSpPr>
          <p:cNvPr id="3" name="Content Placeholder 2">
            <a:extLst>
              <a:ext uri="{FF2B5EF4-FFF2-40B4-BE49-F238E27FC236}">
                <a16:creationId xmlns:a16="http://schemas.microsoft.com/office/drawing/2014/main" id="{E1F24B5D-E7C3-0C47-8538-C483E0D827E1}"/>
              </a:ext>
            </a:extLst>
          </p:cNvPr>
          <p:cNvSpPr>
            <a:spLocks noGrp="1"/>
          </p:cNvSpPr>
          <p:nvPr>
            <p:ph idx="1"/>
          </p:nvPr>
        </p:nvSpPr>
        <p:spPr>
          <a:xfrm>
            <a:off x="152400" y="495301"/>
            <a:ext cx="8991600" cy="495301"/>
          </a:xfrm>
        </p:spPr>
        <p:txBody>
          <a:bodyPr/>
          <a:lstStyle/>
          <a:p>
            <a:r>
              <a:rPr lang="en-US" dirty="0"/>
              <a:t>finally, code generation is fairly straightforward.</a:t>
            </a:r>
          </a:p>
        </p:txBody>
      </p:sp>
      <p:sp>
        <p:nvSpPr>
          <p:cNvPr id="4" name="Slide Number Placeholder 3">
            <a:extLst>
              <a:ext uri="{FF2B5EF4-FFF2-40B4-BE49-F238E27FC236}">
                <a16:creationId xmlns:a16="http://schemas.microsoft.com/office/drawing/2014/main" id="{816C65B0-858B-F94B-AA5A-5246841862FE}"/>
              </a:ext>
            </a:extLst>
          </p:cNvPr>
          <p:cNvSpPr>
            <a:spLocks noGrp="1"/>
          </p:cNvSpPr>
          <p:nvPr>
            <p:ph type="sldNum" sz="quarter" idx="12"/>
          </p:nvPr>
        </p:nvSpPr>
        <p:spPr/>
        <p:txBody>
          <a:bodyPr/>
          <a:lstStyle/>
          <a:p>
            <a:fld id="{3552B95B-556F-44BD-91A5-D80C1B9E2BB3}" type="slidenum">
              <a:rPr lang="en-US" smtClean="0"/>
              <a:pPr/>
              <a:t>29</a:t>
            </a:fld>
            <a:endParaRPr lang="en-US"/>
          </a:p>
        </p:txBody>
      </p:sp>
      <p:sp>
        <p:nvSpPr>
          <p:cNvPr id="5" name="TextBox 4">
            <a:extLst>
              <a:ext uri="{FF2B5EF4-FFF2-40B4-BE49-F238E27FC236}">
                <a16:creationId xmlns:a16="http://schemas.microsoft.com/office/drawing/2014/main" id="{79F96964-6443-5941-B18C-CCE71DB646CF}"/>
              </a:ext>
            </a:extLst>
          </p:cNvPr>
          <p:cNvSpPr txBox="1"/>
          <p:nvPr/>
        </p:nvSpPr>
        <p:spPr>
          <a:xfrm>
            <a:off x="533400" y="1252584"/>
            <a:ext cx="1739579" cy="430887"/>
          </a:xfrm>
          <a:prstGeom prst="rect">
            <a:avLst/>
          </a:prstGeom>
          <a:noFill/>
        </p:spPr>
        <p:txBody>
          <a:bodyPr wrap="none" rtlCol="0">
            <a:spAutoFit/>
          </a:bodyPr>
          <a:lstStyle/>
          <a:p>
            <a:pPr algn="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[T; n]</a:t>
            </a:r>
          </a:p>
        </p:txBody>
      </p:sp>
      <p:sp>
        <p:nvSpPr>
          <p:cNvPr id="6" name="TextBox 5">
            <a:extLst>
              <a:ext uri="{FF2B5EF4-FFF2-40B4-BE49-F238E27FC236}">
                <a16:creationId xmlns:a16="http://schemas.microsoft.com/office/drawing/2014/main" id="{6F346E89-01A7-194C-B9DE-59DD59819A51}"/>
              </a:ext>
            </a:extLst>
          </p:cNvPr>
          <p:cNvSpPr txBox="1"/>
          <p:nvPr/>
        </p:nvSpPr>
        <p:spPr>
          <a:xfrm>
            <a:off x="1466348" y="2731413"/>
            <a:ext cx="806631" cy="430887"/>
          </a:xfrm>
          <a:prstGeom prst="rect">
            <a:avLst/>
          </a:prstGeom>
          <a:noFill/>
        </p:spPr>
        <p:txBody>
          <a:bodyPr wrap="none" rtlCol="0">
            <a:spAutoFit/>
          </a:bodyPr>
          <a:lstStyle/>
          <a:p>
            <a:pPr algn="r"/>
            <a:r>
              <a:rPr lang="en-US" sz="2200" b="1" dirty="0">
                <a:latin typeface="Consolas" panose="020B0609020204030204" pitchFamily="49" charset="0"/>
                <a:cs typeface="Consolas" panose="020B0609020204030204" pitchFamily="49" charset="0"/>
              </a:rPr>
              <a:t>a[i]</a:t>
            </a:r>
          </a:p>
        </p:txBody>
      </p:sp>
      <p:sp>
        <p:nvSpPr>
          <p:cNvPr id="7" name="TextBox 6">
            <a:extLst>
              <a:ext uri="{FF2B5EF4-FFF2-40B4-BE49-F238E27FC236}">
                <a16:creationId xmlns:a16="http://schemas.microsoft.com/office/drawing/2014/main" id="{129EE3A3-7217-4945-BD45-4191BDC15522}"/>
              </a:ext>
            </a:extLst>
          </p:cNvPr>
          <p:cNvSpPr txBox="1"/>
          <p:nvPr/>
        </p:nvSpPr>
        <p:spPr>
          <a:xfrm>
            <a:off x="844383" y="1956831"/>
            <a:ext cx="1428596" cy="430887"/>
          </a:xfrm>
          <a:prstGeom prst="rect">
            <a:avLst/>
          </a:prstGeom>
          <a:noFill/>
        </p:spPr>
        <p:txBody>
          <a:bodyPr wrap="none" rtlCol="0">
            <a:spAutoFit/>
          </a:bodyPr>
          <a:lstStyle/>
          <a:p>
            <a:pPr algn="r"/>
            <a:r>
              <a:rPr lang="en-US" sz="2200" b="1" dirty="0" err="1">
                <a:latin typeface="Consolas" panose="020B0609020204030204" pitchFamily="49" charset="0"/>
                <a:cs typeface="Consolas" panose="020B0609020204030204" pitchFamily="49" charset="0"/>
              </a:rPr>
              <a:t>a.length</a:t>
            </a:r>
            <a:endParaRPr lang="en-US" sz="2200" b="1" dirty="0">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261A0D8F-062C-8A4C-B0CF-C8710200DC62}"/>
              </a:ext>
            </a:extLst>
          </p:cNvPr>
          <p:cNvSpPr txBox="1"/>
          <p:nvPr/>
        </p:nvSpPr>
        <p:spPr>
          <a:xfrm>
            <a:off x="2438400" y="1252583"/>
            <a:ext cx="6477000" cy="430887"/>
          </a:xfrm>
          <a:prstGeom prst="rect">
            <a:avLst/>
          </a:prstGeom>
          <a:noFill/>
        </p:spPr>
        <p:txBody>
          <a:bodyPr wrap="square" rtlCol="0">
            <a:spAutoFit/>
          </a:bodyPr>
          <a:lstStyle/>
          <a:p>
            <a:r>
              <a:rPr lang="en-US" sz="2200" dirty="0"/>
              <a:t>generated as a call to </a:t>
            </a:r>
            <a:r>
              <a:rPr lang="en-US" sz="2200" b="1" dirty="0" err="1">
                <a:latin typeface="Consolas" panose="020B0609020204030204" pitchFamily="49" charset="0"/>
                <a:cs typeface="Consolas" panose="020B0609020204030204" pitchFamily="49" charset="0"/>
              </a:rPr>
              <a:t>rt$new_array</a:t>
            </a:r>
            <a:r>
              <a:rPr lang="en-US" sz="2200" b="1" dirty="0">
                <a:latin typeface="Consolas" panose="020B0609020204030204" pitchFamily="49" charset="0"/>
                <a:cs typeface="Consolas" panose="020B0609020204030204" pitchFamily="49" charset="0"/>
              </a:rPr>
              <a:t>(S, n)</a:t>
            </a:r>
            <a:endParaRPr lang="en-US" sz="2200" b="1" i="1" dirty="0">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6AEA1023-3557-444E-BC82-B5FA28048895}"/>
              </a:ext>
            </a:extLst>
          </p:cNvPr>
          <p:cNvSpPr txBox="1"/>
          <p:nvPr/>
        </p:nvSpPr>
        <p:spPr>
          <a:xfrm>
            <a:off x="2438400" y="2731413"/>
            <a:ext cx="6477000" cy="769441"/>
          </a:xfrm>
          <a:prstGeom prst="rect">
            <a:avLst/>
          </a:prstGeom>
          <a:noFill/>
        </p:spPr>
        <p:txBody>
          <a:bodyPr wrap="square" rtlCol="0">
            <a:spAutoFit/>
          </a:bodyPr>
          <a:lstStyle/>
          <a:p>
            <a:r>
              <a:rPr lang="en-US" sz="2200" dirty="0"/>
              <a:t>first, crash if </a:t>
            </a:r>
            <a:r>
              <a:rPr lang="en-US" sz="2200" b="1" dirty="0">
                <a:latin typeface="Consolas" panose="020B0609020204030204" pitchFamily="49" charset="0"/>
                <a:cs typeface="Consolas" panose="020B0609020204030204" pitchFamily="49" charset="0"/>
              </a:rPr>
              <a:t>i</a:t>
            </a:r>
            <a:r>
              <a:rPr lang="en-US" sz="2200" dirty="0"/>
              <a:t> is negative or </a:t>
            </a:r>
            <a:r>
              <a:rPr lang="en-US" sz="2200" b="1" dirty="0">
                <a:latin typeface="Consolas" panose="020B0609020204030204" pitchFamily="49" charset="0"/>
                <a:cs typeface="Consolas" panose="020B0609020204030204" pitchFamily="49" charset="0"/>
              </a:rPr>
              <a:t>&gt;= </a:t>
            </a:r>
            <a:r>
              <a:rPr lang="en-US" sz="2200" b="1" dirty="0" err="1">
                <a:latin typeface="Consolas" panose="020B0609020204030204" pitchFamily="49" charset="0"/>
                <a:cs typeface="Consolas" panose="020B0609020204030204" pitchFamily="49" charset="0"/>
              </a:rPr>
              <a:t>a.length</a:t>
            </a:r>
            <a:r>
              <a:rPr lang="en-US" sz="2200" dirty="0"/>
              <a:t>. if not, calculate address as </a:t>
            </a:r>
            <a:r>
              <a:rPr lang="en-US" sz="2200" b="1" dirty="0">
                <a:latin typeface="Consolas" panose="020B0609020204030204" pitchFamily="49" charset="0"/>
                <a:cs typeface="Consolas" panose="020B0609020204030204" pitchFamily="49" charset="0"/>
              </a:rPr>
              <a:t>a + Si + 4</a:t>
            </a:r>
            <a:r>
              <a:rPr lang="en-US" sz="2200" dirty="0"/>
              <a:t>; then load/store</a:t>
            </a:r>
            <a:endParaRPr lang="en-US" sz="2200" b="1" i="1" dirty="0">
              <a:latin typeface="Consolas" panose="020B0609020204030204" pitchFamily="49" charset="0"/>
              <a:cs typeface="Consolas" panose="020B0609020204030204" pitchFamily="49" charset="0"/>
            </a:endParaRPr>
          </a:p>
        </p:txBody>
      </p:sp>
      <p:sp>
        <p:nvSpPr>
          <p:cNvPr id="10" name="TextBox 9">
            <a:extLst>
              <a:ext uri="{FF2B5EF4-FFF2-40B4-BE49-F238E27FC236}">
                <a16:creationId xmlns:a16="http://schemas.microsoft.com/office/drawing/2014/main" id="{D24B2CCD-D13A-224E-BD93-7BEFD9C2D669}"/>
              </a:ext>
            </a:extLst>
          </p:cNvPr>
          <p:cNvSpPr txBox="1"/>
          <p:nvPr/>
        </p:nvSpPr>
        <p:spPr>
          <a:xfrm>
            <a:off x="2438400" y="1943100"/>
            <a:ext cx="6477000" cy="430887"/>
          </a:xfrm>
          <a:prstGeom prst="rect">
            <a:avLst/>
          </a:prstGeom>
          <a:noFill/>
        </p:spPr>
        <p:txBody>
          <a:bodyPr wrap="square" rtlCol="0">
            <a:spAutoFit/>
          </a:bodyPr>
          <a:lstStyle/>
          <a:p>
            <a:r>
              <a:rPr lang="en-US" sz="2200" dirty="0"/>
              <a:t>load an int from the memory </a:t>
            </a:r>
            <a:r>
              <a:rPr lang="en-US" sz="2200" b="1" dirty="0">
                <a:latin typeface="Consolas" panose="020B0609020204030204" pitchFamily="49" charset="0"/>
                <a:cs typeface="Consolas" panose="020B0609020204030204" pitchFamily="49" charset="0"/>
              </a:rPr>
              <a:t>a</a:t>
            </a:r>
            <a:r>
              <a:rPr lang="en-US" sz="2200" dirty="0"/>
              <a:t> points to</a:t>
            </a:r>
            <a:endParaRPr lang="en-US" sz="2200" b="1" i="1" dirty="0">
              <a:latin typeface="Consolas" panose="020B0609020204030204" pitchFamily="49" charset="0"/>
              <a:cs typeface="Consolas" panose="020B0609020204030204" pitchFamily="49" charset="0"/>
            </a:endParaRPr>
          </a:p>
        </p:txBody>
      </p:sp>
      <p:sp>
        <p:nvSpPr>
          <p:cNvPr id="11" name="TextBox 10">
            <a:extLst>
              <a:ext uri="{FF2B5EF4-FFF2-40B4-BE49-F238E27FC236}">
                <a16:creationId xmlns:a16="http://schemas.microsoft.com/office/drawing/2014/main" id="{EB7EF630-C797-0945-9514-8B036440B037}"/>
              </a:ext>
            </a:extLst>
          </p:cNvPr>
          <p:cNvSpPr txBox="1"/>
          <p:nvPr/>
        </p:nvSpPr>
        <p:spPr>
          <a:xfrm>
            <a:off x="1370532" y="3722013"/>
            <a:ext cx="6477000" cy="430887"/>
          </a:xfrm>
          <a:prstGeom prst="rect">
            <a:avLst/>
          </a:prstGeom>
          <a:noFill/>
        </p:spPr>
        <p:txBody>
          <a:bodyPr wrap="square" rtlCol="0">
            <a:spAutoFit/>
          </a:bodyPr>
          <a:lstStyle/>
          <a:p>
            <a:pPr algn="ctr"/>
            <a:r>
              <a:rPr lang="en-US" sz="2200" dirty="0"/>
              <a:t>and we're done! yay, our language has arrays now!</a:t>
            </a:r>
            <a:endParaRPr lang="en-US" sz="2200" b="1" i="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42941788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9B1A5-E7FC-6344-B2DE-150CD45675EC}"/>
              </a:ext>
            </a:extLst>
          </p:cNvPr>
          <p:cNvSpPr>
            <a:spLocks noGrp="1"/>
          </p:cNvSpPr>
          <p:nvPr>
            <p:ph type="title"/>
          </p:nvPr>
        </p:nvSpPr>
        <p:spPr/>
        <p:txBody>
          <a:bodyPr/>
          <a:lstStyle/>
          <a:p>
            <a:r>
              <a:rPr lang="en-US" dirty="0"/>
              <a:t>Or does it?</a:t>
            </a:r>
          </a:p>
        </p:txBody>
      </p:sp>
      <p:sp>
        <p:nvSpPr>
          <p:cNvPr id="3" name="Content Placeholder 2">
            <a:extLst>
              <a:ext uri="{FF2B5EF4-FFF2-40B4-BE49-F238E27FC236}">
                <a16:creationId xmlns:a16="http://schemas.microsoft.com/office/drawing/2014/main" id="{CAC25217-88D3-1B47-8D75-C75A5AE1EA95}"/>
              </a:ext>
            </a:extLst>
          </p:cNvPr>
          <p:cNvSpPr>
            <a:spLocks noGrp="1"/>
          </p:cNvSpPr>
          <p:nvPr>
            <p:ph idx="1"/>
          </p:nvPr>
        </p:nvSpPr>
        <p:spPr/>
        <p:txBody>
          <a:bodyPr/>
          <a:lstStyle/>
          <a:p>
            <a:r>
              <a:rPr lang="en-US" dirty="0"/>
              <a:t>this is just the </a:t>
            </a:r>
            <a:r>
              <a:rPr lang="en-US" i="1" dirty="0"/>
              <a:t>minimum viable version </a:t>
            </a:r>
            <a:r>
              <a:rPr lang="en-US" dirty="0"/>
              <a:t>of this feature.</a:t>
            </a:r>
          </a:p>
          <a:p>
            <a:r>
              <a:rPr lang="en-US" dirty="0"/>
              <a:t>what about things like:</a:t>
            </a:r>
          </a:p>
          <a:p>
            <a:pPr lvl="1"/>
            <a:r>
              <a:rPr lang="en-US" b="1" dirty="0"/>
              <a:t>array initializers/literals, </a:t>
            </a:r>
            <a:r>
              <a:rPr lang="en-US" dirty="0"/>
              <a:t>for allocating and filling in arrays at the same time like in Java: </a:t>
            </a:r>
            <a:r>
              <a:rPr lang="en-US" b="1" dirty="0">
                <a:solidFill>
                  <a:srgbClr val="FF0000"/>
                </a:solidFill>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a = </a:t>
            </a:r>
            <a:r>
              <a:rPr lang="en-US" b="1" dirty="0">
                <a:solidFill>
                  <a:srgbClr val="FF0000"/>
                </a:solidFill>
                <a:latin typeface="Consolas" panose="020B0609020204030204" pitchFamily="49" charset="0"/>
                <a:cs typeface="Consolas" panose="020B0609020204030204" pitchFamily="49" charset="0"/>
              </a:rPr>
              <a:t>new</a:t>
            </a:r>
            <a:r>
              <a:rPr lang="en-US" b="1"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a:t>
            </a:r>
            <a:r>
              <a:rPr lang="en-US" b="1" dirty="0">
                <a:solidFill>
                  <a:schemeClr val="accent3">
                    <a:lumMod val="75000"/>
                  </a:schemeClr>
                </a:solidFill>
                <a:latin typeface="Consolas" panose="020B0609020204030204" pitchFamily="49" charset="0"/>
                <a:cs typeface="Consolas" panose="020B0609020204030204" pitchFamily="49" charset="0"/>
              </a:rPr>
              <a:t>1</a:t>
            </a:r>
            <a:r>
              <a:rPr lang="en-US" b="1" dirty="0">
                <a:latin typeface="Consolas" panose="020B0609020204030204" pitchFamily="49" charset="0"/>
                <a:cs typeface="Consolas" panose="020B0609020204030204" pitchFamily="49" charset="0"/>
              </a:rPr>
              <a:t>, </a:t>
            </a:r>
            <a:r>
              <a:rPr lang="en-US" b="1" dirty="0">
                <a:solidFill>
                  <a:schemeClr val="accent3">
                    <a:lumMod val="75000"/>
                  </a:schemeClr>
                </a:solidFill>
                <a:latin typeface="Consolas" panose="020B0609020204030204" pitchFamily="49" charset="0"/>
                <a:cs typeface="Consolas" panose="020B0609020204030204" pitchFamily="49" charset="0"/>
              </a:rPr>
              <a:t>2</a:t>
            </a:r>
            <a:r>
              <a:rPr lang="en-US" b="1" dirty="0">
                <a:latin typeface="Consolas" panose="020B0609020204030204" pitchFamily="49" charset="0"/>
                <a:cs typeface="Consolas" panose="020B0609020204030204" pitchFamily="49" charset="0"/>
              </a:rPr>
              <a:t>, </a:t>
            </a:r>
            <a:r>
              <a:rPr lang="en-US" b="1" dirty="0">
                <a:solidFill>
                  <a:schemeClr val="accent3">
                    <a:lumMod val="75000"/>
                  </a:schemeClr>
                </a:solidFill>
                <a:latin typeface="Consolas" panose="020B0609020204030204" pitchFamily="49" charset="0"/>
                <a:cs typeface="Consolas" panose="020B0609020204030204" pitchFamily="49" charset="0"/>
              </a:rPr>
              <a:t>3</a:t>
            </a:r>
            <a:r>
              <a:rPr lang="en-US" b="1" dirty="0">
                <a:latin typeface="Consolas" panose="020B0609020204030204" pitchFamily="49" charset="0"/>
                <a:cs typeface="Consolas" panose="020B0609020204030204" pitchFamily="49" charset="0"/>
              </a:rPr>
              <a:t> };</a:t>
            </a:r>
          </a:p>
          <a:p>
            <a:pPr lvl="1"/>
            <a:r>
              <a:rPr lang="en-US" b="1" dirty="0"/>
              <a:t>better multi-dimensional array initialization, </a:t>
            </a:r>
            <a:r>
              <a:rPr lang="en-US" dirty="0"/>
              <a:t>again like Java: </a:t>
            </a:r>
            <a:r>
              <a:rPr lang="en-US" b="1" dirty="0">
                <a:solidFill>
                  <a:srgbClr val="FF0000"/>
                </a:solidFill>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a = </a:t>
            </a:r>
            <a:r>
              <a:rPr lang="en-US" b="1" dirty="0">
                <a:solidFill>
                  <a:srgbClr val="FF0000"/>
                </a:solidFill>
                <a:latin typeface="Consolas" panose="020B0609020204030204" pitchFamily="49" charset="0"/>
                <a:cs typeface="Consolas" panose="020B0609020204030204" pitchFamily="49" charset="0"/>
              </a:rPr>
              <a:t>new int</a:t>
            </a:r>
            <a:r>
              <a:rPr lang="en-US" b="1" dirty="0">
                <a:latin typeface="Consolas" panose="020B0609020204030204" pitchFamily="49" charset="0"/>
                <a:cs typeface="Consolas" panose="020B0609020204030204" pitchFamily="49" charset="0"/>
              </a:rPr>
              <a:t>[</a:t>
            </a:r>
            <a:r>
              <a:rPr lang="en-US" b="1" dirty="0">
                <a:solidFill>
                  <a:schemeClr val="accent3">
                    <a:lumMod val="75000"/>
                  </a:schemeClr>
                </a:solidFill>
                <a:latin typeface="Consolas" panose="020B0609020204030204" pitchFamily="49" charset="0"/>
                <a:cs typeface="Consolas" panose="020B0609020204030204" pitchFamily="49" charset="0"/>
              </a:rPr>
              <a:t>10</a:t>
            </a:r>
            <a:r>
              <a:rPr lang="en-US" b="1" dirty="0">
                <a:latin typeface="Consolas" panose="020B0609020204030204" pitchFamily="49" charset="0"/>
                <a:cs typeface="Consolas" panose="020B0609020204030204" pitchFamily="49" charset="0"/>
              </a:rPr>
              <a:t>][</a:t>
            </a:r>
            <a:r>
              <a:rPr lang="en-US" b="1" dirty="0">
                <a:solidFill>
                  <a:schemeClr val="accent3">
                    <a:lumMod val="75000"/>
                  </a:schemeClr>
                </a:solidFill>
                <a:latin typeface="Consolas" panose="020B0609020204030204" pitchFamily="49" charset="0"/>
                <a:cs typeface="Consolas" panose="020B0609020204030204" pitchFamily="49" charset="0"/>
              </a:rPr>
              <a:t>20</a:t>
            </a:r>
            <a:r>
              <a:rPr lang="en-US" b="1" dirty="0">
                <a:latin typeface="Consolas" panose="020B0609020204030204" pitchFamily="49" charset="0"/>
                <a:cs typeface="Consolas" panose="020B0609020204030204" pitchFamily="49" charset="0"/>
              </a:rPr>
              <a:t>];</a:t>
            </a:r>
          </a:p>
          <a:p>
            <a:pPr lvl="2"/>
            <a:r>
              <a:rPr lang="en-US" dirty="0"/>
              <a:t>remember, this is an </a:t>
            </a:r>
            <a:r>
              <a:rPr lang="en-US" i="1" dirty="0"/>
              <a:t>array of arrays: </a:t>
            </a:r>
            <a:r>
              <a:rPr lang="en-US" b="1" dirty="0"/>
              <a:t>each item</a:t>
            </a:r>
            <a:r>
              <a:rPr lang="en-US" dirty="0"/>
              <a:t> in the outer array (the </a:t>
            </a:r>
            <a:r>
              <a:rPr lang="en-US" b="1" dirty="0">
                <a:solidFill>
                  <a:schemeClr val="accent3">
                    <a:lumMod val="75000"/>
                  </a:schemeClr>
                </a:solidFill>
              </a:rPr>
              <a:t>10</a:t>
            </a:r>
            <a:r>
              <a:rPr lang="en-US" dirty="0"/>
              <a:t> dimension) is a reference to an array of 20 </a:t>
            </a:r>
            <a:r>
              <a:rPr lang="en-US" dirty="0" err="1"/>
              <a:t>ints</a:t>
            </a:r>
            <a:endParaRPr lang="en-US" dirty="0"/>
          </a:p>
          <a:p>
            <a:pPr lvl="1"/>
            <a:r>
              <a:rPr lang="en-US" b="1" dirty="0"/>
              <a:t>standard library functions </a:t>
            </a:r>
            <a:r>
              <a:rPr lang="en-US" dirty="0"/>
              <a:t>for sorting, searching, filling, modifying arrays?</a:t>
            </a:r>
          </a:p>
          <a:p>
            <a:r>
              <a:rPr lang="en-US" dirty="0"/>
              <a:t>such a simple-seeming feature, and yet so many things to consider…</a:t>
            </a:r>
          </a:p>
          <a:p>
            <a:pPr lvl="1"/>
            <a:r>
              <a:rPr lang="en-US" dirty="0"/>
              <a:t>but think about how each of these might be implemented </a:t>
            </a:r>
            <a:r>
              <a:rPr lang="en-US" b="1" dirty="0"/>
              <a:t>on top of </a:t>
            </a:r>
            <a:r>
              <a:rPr lang="en-US" dirty="0"/>
              <a:t>the basic features we talked about here.</a:t>
            </a:r>
          </a:p>
        </p:txBody>
      </p:sp>
      <p:sp>
        <p:nvSpPr>
          <p:cNvPr id="4" name="Slide Number Placeholder 3">
            <a:extLst>
              <a:ext uri="{FF2B5EF4-FFF2-40B4-BE49-F238E27FC236}">
                <a16:creationId xmlns:a16="http://schemas.microsoft.com/office/drawing/2014/main" id="{F1634F8F-D3F8-7D47-A27C-221D6EE86AEB}"/>
              </a:ext>
            </a:extLst>
          </p:cNvPr>
          <p:cNvSpPr>
            <a:spLocks noGrp="1"/>
          </p:cNvSpPr>
          <p:nvPr>
            <p:ph type="sldNum" sz="quarter" idx="12"/>
          </p:nvPr>
        </p:nvSpPr>
        <p:spPr/>
        <p:txBody>
          <a:bodyPr/>
          <a:lstStyle/>
          <a:p>
            <a:fld id="{3552B95B-556F-44BD-91A5-D80C1B9E2BB3}" type="slidenum">
              <a:rPr lang="en-US" smtClean="0"/>
              <a:pPr/>
              <a:t>30</a:t>
            </a:fld>
            <a:endParaRPr lang="en-US"/>
          </a:p>
        </p:txBody>
      </p:sp>
    </p:spTree>
    <p:extLst>
      <p:ext uri="{BB962C8B-B14F-4D97-AF65-F5344CB8AC3E}">
        <p14:creationId xmlns:p14="http://schemas.microsoft.com/office/powerpoint/2010/main" val="863980681"/>
      </p:ext>
    </p:extLst>
  </p:cSld>
  <p:clrMapOvr>
    <a:masterClrMapping/>
  </p:clrMapOvr>
  <p:transition/>
</p:sld>
</file>

<file path=ppt/theme/theme1.xml><?xml version="1.0" encoding="utf-8"?>
<a:theme xmlns:a="http://schemas.openxmlformats.org/drawingml/2006/main" name="02 - C - Basics">
  <a:themeElements>
    <a:clrScheme name="Custom 2">
      <a:dk1>
        <a:srgbClr val="000000"/>
      </a:dk1>
      <a:lt1>
        <a:srgbClr val="FFFFFF"/>
      </a:lt1>
      <a:dk2>
        <a:srgbClr val="3B481E"/>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Segoe WP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lides_fall_2017" id="{93D034CE-FEB5-4D4D-96F7-6B7F8A5EB99A}" vid="{194AE869-5029-ED49-81EA-C574BDDBE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01 - Welcome and Review</Template>
  <TotalTime>22827</TotalTime>
  <Words>4236</Words>
  <Application>Microsoft Macintosh PowerPoint</Application>
  <PresentationFormat>On-screen Show (16:10)</PresentationFormat>
  <Paragraphs>458</Paragraphs>
  <Slides>30</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Calibri</vt:lpstr>
      <vt:lpstr>Consolas</vt:lpstr>
      <vt:lpstr>Courier New</vt:lpstr>
      <vt:lpstr>Segoe UI</vt:lpstr>
      <vt:lpstr>Segoe WP Semibold</vt:lpstr>
      <vt:lpstr>Trebuchet MS</vt:lpstr>
      <vt:lpstr>Wingdings</vt:lpstr>
      <vt:lpstr>02 - C - Basics</vt:lpstr>
      <vt:lpstr>More Codegen and Arrays</vt:lpstr>
      <vt:lpstr>Class Announcements</vt:lpstr>
      <vt:lpstr>Quick Recap - Our Calling Convention</vt:lpstr>
      <vt:lpstr>Caller</vt:lpstr>
      <vt:lpstr>Callee</vt:lpstr>
      <vt:lpstr>Prologue and Epilogue</vt:lpstr>
      <vt:lpstr>The Code Inside Functions</vt:lpstr>
      <vt:lpstr>Not a tutorial</vt:lpstr>
      <vt:lpstr>Block statements</vt:lpstr>
      <vt:lpstr>Accessing variables</vt:lpstr>
      <vt:lpstr>Evaluating expressions</vt:lpstr>
      <vt:lpstr>The need for saved registers</vt:lpstr>
      <vt:lpstr>A little detour</vt:lpstr>
      <vt:lpstr>Ok? And? How does that help?</vt:lpstr>
      <vt:lpstr>The last piece of the calling convention</vt:lpstr>
      <vt:lpstr>Some last register allocation thoughts</vt:lpstr>
      <vt:lpstr>Control flow statements</vt:lpstr>
      <vt:lpstr>Lazy operators ("short-circuiting")</vt:lpstr>
      <vt:lpstr>You can assign comparison operators into variables</vt:lpstr>
      <vt:lpstr>Arrays</vt:lpstr>
      <vt:lpstr>Adding features is Fun™</vt:lpstr>
      <vt:lpstr>Minimum Viable Product</vt:lpstr>
      <vt:lpstr>Lexing and Parsing</vt:lpstr>
      <vt:lpstr>Semantic analysis: typing rules</vt:lpstr>
      <vt:lpstr>More semantics: evaluation rules</vt:lpstr>
      <vt:lpstr>Runtime representation: data</vt:lpstr>
      <vt:lpstr>Runtime representation: length</vt:lpstr>
      <vt:lpstr>Runtime library: allocating arrays</vt:lpstr>
      <vt:lpstr>Codegen</vt:lpstr>
      <vt:lpstr>Or does 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Intro to Computer Architecture!</dc:title>
  <dc:creator>me</dc:creator>
  <cp:lastModifiedBy>Billingsley, Jarrett F</cp:lastModifiedBy>
  <cp:revision>1035</cp:revision>
  <dcterms:created xsi:type="dcterms:W3CDTF">2017-01-05T04:29:56Z</dcterms:created>
  <dcterms:modified xsi:type="dcterms:W3CDTF">2022-07-12T17:31:58Z</dcterms:modified>
</cp:coreProperties>
</file>