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Layouts/slideLayout3.xml" ContentType="application/vnd.openxmlformats-officedocument.presentationml.slideLayout+xml"/>
  <Default Extension="jpeg" ContentType="image/jpeg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1"/>
  </p:notesMasterIdLst>
  <p:sldIdLst>
    <p:sldId id="304" r:id="rId2"/>
    <p:sldId id="305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723" autoAdjust="0"/>
    <p:restoredTop sz="94660"/>
  </p:normalViewPr>
  <p:slideViewPr>
    <p:cSldViewPr>
      <p:cViewPr varScale="1">
        <p:scale>
          <a:sx n="83" d="100"/>
          <a:sy n="83" d="100"/>
        </p:scale>
        <p:origin x="-1411" y="-7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3E38C08-4F32-4DC9-ACBD-68075187CC08}" type="datetimeFigureOut">
              <a:rPr lang="en-US" smtClean="0"/>
              <a:pPr/>
              <a:t>9/28/2016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16F344-B28C-4DFF-A291-41922BD30AC8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 smtClean="0">
              <a:solidFill>
                <a:schemeClr val="bg1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CF3729B-6402-44F1-9CCC-CD59807E9918}" type="slidenum">
              <a:rPr lang="en-US" smtClean="0"/>
              <a:pPr/>
              <a:t>15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 smtClean="0">
              <a:solidFill>
                <a:schemeClr val="bg1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CF3729B-6402-44F1-9CCC-CD59807E9918}" type="slidenum">
              <a:rPr lang="en-US" smtClean="0"/>
              <a:pPr/>
              <a:t>16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Remember this (from slide 20)?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CF3729B-6402-44F1-9CCC-CD59807E9918}" type="slidenum">
              <a:rPr lang="en-US" smtClean="0"/>
              <a:pPr/>
              <a:t>18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 smtClean="0">
              <a:solidFill>
                <a:schemeClr val="bg1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CF3729B-6402-44F1-9CCC-CD59807E9918}" type="slidenum">
              <a:rPr lang="en-US" smtClean="0"/>
              <a:pPr/>
              <a:t>22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 smtClean="0">
              <a:solidFill>
                <a:schemeClr val="bg1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CF3729B-6402-44F1-9CCC-CD59807E9918}" type="slidenum">
              <a:rPr lang="en-US" smtClean="0"/>
              <a:pPr/>
              <a:t>23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 smtClean="0">
              <a:solidFill>
                <a:schemeClr val="bg1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CF3729B-6402-44F1-9CCC-CD59807E9918}" type="slidenum">
              <a:rPr lang="en-US" smtClean="0"/>
              <a:pPr/>
              <a:t>24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 smtClean="0">
              <a:solidFill>
                <a:schemeClr val="bg1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CF3729B-6402-44F1-9CCC-CD59807E9918}" type="slidenum">
              <a:rPr lang="en-US" smtClean="0"/>
              <a:pPr/>
              <a:t>25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 smtClean="0">
              <a:solidFill>
                <a:schemeClr val="bg1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CF3729B-6402-44F1-9CCC-CD59807E9918}" type="slidenum">
              <a:rPr lang="en-US" smtClean="0"/>
              <a:pPr/>
              <a:t>27</a:t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 smtClean="0">
              <a:solidFill>
                <a:schemeClr val="bg1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CF3729B-6402-44F1-9CCC-CD59807E9918}" type="slidenum">
              <a:rPr lang="en-US" smtClean="0"/>
              <a:pPr/>
              <a:t>29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2F0B1C-6C3E-4D64-83A1-8C4221AFFEC8}" type="datetimeFigureOut">
              <a:rPr lang="en-US" smtClean="0"/>
              <a:pPr/>
              <a:t>9/28/2016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83DD8C-2432-4FFE-9D91-DD44FFA89C5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2F0B1C-6C3E-4D64-83A1-8C4221AFFEC8}" type="datetimeFigureOut">
              <a:rPr lang="en-US" smtClean="0"/>
              <a:pPr/>
              <a:t>9/28/2016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83DD8C-2432-4FFE-9D91-DD44FFA89C5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2F0B1C-6C3E-4D64-83A1-8C4221AFFEC8}" type="datetimeFigureOut">
              <a:rPr lang="en-US" smtClean="0"/>
              <a:pPr/>
              <a:t>9/28/2016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83DD8C-2432-4FFE-9D91-DD44FFA89C5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2F0B1C-6C3E-4D64-83A1-8C4221AFFEC8}" type="datetimeFigureOut">
              <a:rPr lang="en-US" smtClean="0"/>
              <a:pPr/>
              <a:t>9/28/2016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83DD8C-2432-4FFE-9D91-DD44FFA89C5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2F0B1C-6C3E-4D64-83A1-8C4221AFFEC8}" type="datetimeFigureOut">
              <a:rPr lang="en-US" smtClean="0"/>
              <a:pPr/>
              <a:t>9/28/2016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83DD8C-2432-4FFE-9D91-DD44FFA89C5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2F0B1C-6C3E-4D64-83A1-8C4221AFFEC8}" type="datetimeFigureOut">
              <a:rPr lang="en-US" smtClean="0"/>
              <a:pPr/>
              <a:t>9/28/2016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83DD8C-2432-4FFE-9D91-DD44FFA89C5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2F0B1C-6C3E-4D64-83A1-8C4221AFFEC8}" type="datetimeFigureOut">
              <a:rPr lang="en-US" smtClean="0"/>
              <a:pPr/>
              <a:t>9/28/2016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83DD8C-2432-4FFE-9D91-DD44FFA89C5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2F0B1C-6C3E-4D64-83A1-8C4221AFFEC8}" type="datetimeFigureOut">
              <a:rPr lang="en-US" smtClean="0"/>
              <a:pPr/>
              <a:t>9/28/2016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83DD8C-2432-4FFE-9D91-DD44FFA89C5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2F0B1C-6C3E-4D64-83A1-8C4221AFFEC8}" type="datetimeFigureOut">
              <a:rPr lang="en-US" smtClean="0"/>
              <a:pPr/>
              <a:t>9/28/2016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83DD8C-2432-4FFE-9D91-DD44FFA89C5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2F0B1C-6C3E-4D64-83A1-8C4221AFFEC8}" type="datetimeFigureOut">
              <a:rPr lang="en-US" smtClean="0"/>
              <a:pPr/>
              <a:t>9/28/2016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83DD8C-2432-4FFE-9D91-DD44FFA89C5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2F0B1C-6C3E-4D64-83A1-8C4221AFFEC8}" type="datetimeFigureOut">
              <a:rPr lang="en-US" smtClean="0"/>
              <a:pPr/>
              <a:t>9/28/2016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83DD8C-2432-4FFE-9D91-DD44FFA89C5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E2F0B1C-6C3E-4D64-83A1-8C4221AFFEC8}" type="datetimeFigureOut">
              <a:rPr lang="en-US" smtClean="0"/>
              <a:pPr/>
              <a:t>9/28/2016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283DD8C-2432-4FFE-9D91-DD44FFA89C5E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CS 0007: Introduction to Java</a:t>
            </a:r>
            <a:br>
              <a:rPr lang="en-US" dirty="0" smtClean="0">
                <a:solidFill>
                  <a:schemeClr val="bg1"/>
                </a:solidFill>
              </a:rPr>
            </a:br>
            <a:r>
              <a:rPr lang="en-US" dirty="0" smtClean="0">
                <a:solidFill>
                  <a:schemeClr val="bg1"/>
                </a:solidFill>
              </a:rPr>
              <a:t>Lecture 8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Nathan </a:t>
            </a:r>
            <a:r>
              <a:rPr lang="en-US" dirty="0" err="1" smtClean="0"/>
              <a:t>Ong</a:t>
            </a:r>
            <a:endParaRPr lang="en-US" dirty="0" smtClean="0"/>
          </a:p>
          <a:p>
            <a:r>
              <a:rPr lang="en-US" dirty="0" smtClean="0"/>
              <a:t>University of Pittsburgh</a:t>
            </a:r>
          </a:p>
          <a:p>
            <a:r>
              <a:rPr lang="en-US" dirty="0" smtClean="0"/>
              <a:t>September 27, 2016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Announcement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Your midterm exam is scheduled for Tuesday, October 11, during the normal class period.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Anything from the lecture, homework, quiz, labs, is fair game.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You should also be comfortable with analyzing previously unseen code in conjunction with using the API (as seen in several </a:t>
            </a:r>
            <a:r>
              <a:rPr lang="en-US" dirty="0" err="1" smtClean="0">
                <a:solidFill>
                  <a:schemeClr val="bg1"/>
                </a:solidFill>
              </a:rPr>
              <a:t>homeworks</a:t>
            </a:r>
            <a:r>
              <a:rPr lang="en-US" dirty="0" smtClean="0">
                <a:solidFill>
                  <a:schemeClr val="bg1"/>
                </a:solidFill>
              </a:rPr>
              <a:t>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Function Components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71600" y="1600200"/>
            <a:ext cx="7772400" cy="4525963"/>
          </a:xfrm>
        </p:spPr>
        <p:txBody>
          <a:bodyPr>
            <a:normAutofit fontScale="85000" lnSpcReduction="2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dirty="0" smtClean="0">
                <a:solidFill>
                  <a:schemeClr val="bg1"/>
                </a:solidFill>
                <a:cs typeface="Courier New" pitchFamily="49" charset="0"/>
              </a:rPr>
              <a:t> </a:t>
            </a:r>
            <a:r>
              <a:rPr lang="en-US" dirty="0" smtClean="0">
                <a:solidFill>
                  <a:srgbClr val="FF0000"/>
                </a:solidFill>
                <a:cs typeface="Courier New" pitchFamily="49" charset="0"/>
              </a:rPr>
              <a:t>Visibility</a:t>
            </a:r>
            <a:r>
              <a:rPr lang="en-US" dirty="0" smtClean="0">
                <a:solidFill>
                  <a:schemeClr val="bg1"/>
                </a:solidFill>
                <a:cs typeface="Courier New" pitchFamily="49" charset="0"/>
              </a:rPr>
              <a:t> type (</a:t>
            </a:r>
            <a:r>
              <a:rPr lang="en-US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public</a:t>
            </a:r>
            <a:r>
              <a:rPr lang="en-US" dirty="0" smtClean="0">
                <a:solidFill>
                  <a:schemeClr val="bg1"/>
                </a:solidFill>
              </a:rPr>
              <a:t>/</a:t>
            </a:r>
            <a:r>
              <a:rPr lang="en-US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protected</a:t>
            </a:r>
            <a:r>
              <a:rPr lang="en-US" dirty="0" smtClean="0">
                <a:solidFill>
                  <a:schemeClr val="bg1"/>
                </a:solidFill>
              </a:rPr>
              <a:t>/</a:t>
            </a:r>
            <a:r>
              <a:rPr lang="en-US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private</a:t>
            </a:r>
            <a:r>
              <a:rPr lang="en-US" dirty="0" smtClean="0">
                <a:solidFill>
                  <a:schemeClr val="bg1"/>
                </a:solidFill>
                <a:cs typeface="Courier New" pitchFamily="49" charset="0"/>
              </a:rPr>
              <a:t>)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 smtClean="0">
                <a:solidFill>
                  <a:schemeClr val="bg1"/>
                </a:solidFill>
                <a:cs typeface="Courier New" pitchFamily="49" charset="0"/>
              </a:rPr>
              <a:t> </a:t>
            </a:r>
            <a:r>
              <a:rPr lang="en-US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static</a:t>
            </a:r>
            <a:r>
              <a:rPr lang="en-US" dirty="0" smtClean="0">
                <a:solidFill>
                  <a:schemeClr val="bg1"/>
                </a:solidFill>
                <a:cs typeface="Courier New" pitchFamily="49" charset="0"/>
              </a:rPr>
              <a:t> (For now, required)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 smtClean="0">
                <a:solidFill>
                  <a:schemeClr val="bg1"/>
                </a:solidFill>
              </a:rPr>
              <a:t> Return Type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 smtClean="0">
                <a:solidFill>
                  <a:schemeClr val="bg1"/>
                </a:solidFill>
              </a:rPr>
              <a:t> </a:t>
            </a:r>
            <a:r>
              <a:rPr lang="en-US" dirty="0" err="1" smtClean="0">
                <a:solidFill>
                  <a:schemeClr val="bg1"/>
                </a:solidFill>
              </a:rPr>
              <a:t>functionName</a:t>
            </a:r>
            <a:endParaRPr lang="en-US" dirty="0" smtClean="0">
              <a:solidFill>
                <a:schemeClr val="bg1"/>
              </a:solidFill>
            </a:endParaRPr>
          </a:p>
          <a:p>
            <a:pPr marL="514350" indent="-514350">
              <a:buFont typeface="+mj-lt"/>
              <a:buAutoNum type="arabicPeriod"/>
            </a:pPr>
            <a:r>
              <a:rPr lang="en-US" dirty="0" smtClean="0">
                <a:solidFill>
                  <a:schemeClr val="bg1"/>
                </a:solidFill>
              </a:rPr>
              <a:t> Parentheses “()”</a:t>
            </a:r>
          </a:p>
          <a:p>
            <a:pPr marL="914400" lvl="1" indent="-514350"/>
            <a:r>
              <a:rPr lang="en-US" dirty="0" smtClean="0">
                <a:solidFill>
                  <a:schemeClr val="bg1"/>
                </a:solidFill>
              </a:rPr>
              <a:t> Parameters</a:t>
            </a:r>
          </a:p>
          <a:p>
            <a:pPr marL="914400" lvl="1" indent="-514350">
              <a:buFont typeface="+mj-lt"/>
              <a:buAutoNum type="alphaLcParenR"/>
            </a:pPr>
            <a:r>
              <a:rPr lang="en-US" dirty="0" smtClean="0">
                <a:solidFill>
                  <a:schemeClr val="bg1"/>
                </a:solidFill>
              </a:rPr>
              <a:t> Type1 parameterName1</a:t>
            </a:r>
          </a:p>
          <a:p>
            <a:pPr marL="914400" lvl="1" indent="-514350">
              <a:buFont typeface="+mj-lt"/>
              <a:buAutoNum type="alphaLcParenR"/>
            </a:pPr>
            <a:r>
              <a:rPr lang="en-US" dirty="0" smtClean="0">
                <a:solidFill>
                  <a:schemeClr val="bg1"/>
                </a:solidFill>
              </a:rPr>
              <a:t> Type2 parameterName2</a:t>
            </a:r>
          </a:p>
          <a:p>
            <a:pPr marL="914400" lvl="1" indent="-514350">
              <a:buFont typeface="+mj-lt"/>
              <a:buAutoNum type="alphaLcParenR"/>
            </a:pPr>
            <a:r>
              <a:rPr lang="en-US" dirty="0" smtClean="0">
                <a:solidFill>
                  <a:schemeClr val="bg1"/>
                </a:solidFill>
              </a:rPr>
              <a:t> …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 smtClean="0">
                <a:solidFill>
                  <a:schemeClr val="bg1"/>
                </a:solidFill>
              </a:rPr>
              <a:t> Curly Brackets/Braces “{}”</a:t>
            </a:r>
          </a:p>
          <a:p>
            <a:pPr marL="914400" lvl="1" indent="-514350"/>
            <a:r>
              <a:rPr lang="en-US" b="1" dirty="0" smtClean="0">
                <a:solidFill>
                  <a:schemeClr val="bg1"/>
                </a:solidFill>
                <a:cs typeface="Courier New" pitchFamily="49" charset="0"/>
              </a:rPr>
              <a:t> </a:t>
            </a:r>
            <a:r>
              <a:rPr lang="en-US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return</a:t>
            </a:r>
            <a:r>
              <a:rPr lang="en-US" b="1" dirty="0" smtClean="0">
                <a:solidFill>
                  <a:srgbClr val="7030A0"/>
                </a:solidFill>
                <a:cs typeface="Courier New" pitchFamily="49" charset="0"/>
              </a:rPr>
              <a:t> </a:t>
            </a:r>
            <a:r>
              <a:rPr lang="en-US" dirty="0" smtClean="0">
                <a:solidFill>
                  <a:schemeClr val="bg1"/>
                </a:solidFill>
                <a:cs typeface="Courier New" pitchFamily="49" charset="0"/>
              </a:rPr>
              <a:t>a value</a:t>
            </a:r>
            <a:endParaRPr lang="en-US" dirty="0">
              <a:solidFill>
                <a:srgbClr val="7030A0"/>
              </a:solidFill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4" name="Right Brace 3"/>
          <p:cNvSpPr/>
          <p:nvPr/>
        </p:nvSpPr>
        <p:spPr>
          <a:xfrm flipH="1">
            <a:off x="1066800" y="1600200"/>
            <a:ext cx="609600" cy="3505200"/>
          </a:xfrm>
          <a:prstGeom prst="rightBrace">
            <a:avLst/>
          </a:prstGeom>
          <a:ln w="50800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-1751" y="2895600"/>
            <a:ext cx="129715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b="1" dirty="0" smtClean="0">
                <a:solidFill>
                  <a:srgbClr val="FF0000"/>
                </a:solidFill>
              </a:rPr>
              <a:t>Function</a:t>
            </a:r>
          </a:p>
          <a:p>
            <a:pPr algn="ctr"/>
            <a:r>
              <a:rPr lang="en-US" sz="2400" b="1" dirty="0" smtClean="0">
                <a:solidFill>
                  <a:srgbClr val="FF0000"/>
                </a:solidFill>
              </a:rPr>
              <a:t>Header</a:t>
            </a:r>
            <a:endParaRPr lang="en-US" sz="2400" b="1" dirty="0">
              <a:solidFill>
                <a:srgbClr val="FF0000"/>
              </a:solidFill>
            </a:endParaRPr>
          </a:p>
        </p:txBody>
      </p:sp>
      <p:sp>
        <p:nvSpPr>
          <p:cNvPr id="6" name="Right Brace 5"/>
          <p:cNvSpPr/>
          <p:nvPr/>
        </p:nvSpPr>
        <p:spPr>
          <a:xfrm flipH="1">
            <a:off x="1066800" y="5105400"/>
            <a:ext cx="609600" cy="762000"/>
          </a:xfrm>
          <a:prstGeom prst="rightBrace">
            <a:avLst/>
          </a:prstGeom>
          <a:ln w="50800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-1751" y="5029200"/>
            <a:ext cx="129715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b="1" dirty="0" smtClean="0">
                <a:solidFill>
                  <a:srgbClr val="FF0000"/>
                </a:solidFill>
              </a:rPr>
              <a:t>Function</a:t>
            </a:r>
          </a:p>
          <a:p>
            <a:pPr algn="ctr"/>
            <a:r>
              <a:rPr lang="en-US" sz="2400" b="1" dirty="0" smtClean="0">
                <a:solidFill>
                  <a:srgbClr val="FF0000"/>
                </a:solidFill>
              </a:rPr>
              <a:t>Body</a:t>
            </a:r>
            <a:endParaRPr lang="en-US" sz="2400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Function Overloading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Sometimes, the function name that was already used fits perfectly with a function you need to create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They have similar functions, but operate on different parameters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Turns out, you can use the same name, in what is called </a:t>
            </a:r>
            <a:r>
              <a:rPr lang="en-US" dirty="0" smtClean="0">
                <a:solidFill>
                  <a:srgbClr val="FF0000"/>
                </a:solidFill>
              </a:rPr>
              <a:t>function overloading</a:t>
            </a:r>
            <a:endParaRPr lang="en-US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Function Overloading Rules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Functions with the same name MUST have different typed parameters, or a different number of parameters.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We have seen this before!!!  (</a:t>
            </a:r>
            <a:r>
              <a:rPr lang="en-US" b="1" dirty="0" err="1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System.out.println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()</a:t>
            </a:r>
            <a:r>
              <a:rPr lang="en-US" dirty="0" smtClean="0">
                <a:solidFill>
                  <a:schemeClr val="bg1"/>
                </a:solidFill>
              </a:rPr>
              <a:t>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Examples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Title 5"/>
          <p:cNvSpPr txBox="1">
            <a:spLocks/>
          </p:cNvSpPr>
          <p:nvPr/>
        </p:nvSpPr>
        <p:spPr>
          <a:xfrm>
            <a:off x="304800" y="1371600"/>
            <a:ext cx="8686800" cy="487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70000" lnSpcReduction="20000"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1" i="0" u="none" strike="noStrike" kern="1200" cap="none" spc="0" normalizeH="0" baseline="0" noProof="0" dirty="0" smtClean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Courier New" pitchFamily="49" charset="0"/>
                <a:ea typeface="+mj-ea"/>
                <a:cs typeface="Courier New" pitchFamily="49" charset="0"/>
              </a:rPr>
              <a:t>public static void</a:t>
            </a:r>
            <a:r>
              <a:rPr kumimoji="0" lang="en-US" sz="4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itchFamily="49" charset="0"/>
                <a:ea typeface="+mj-ea"/>
                <a:cs typeface="Courier New" pitchFamily="49" charset="0"/>
              </a:rPr>
              <a:t> </a:t>
            </a:r>
            <a:r>
              <a:rPr kumimoji="0" lang="en-US" sz="4400" b="1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itchFamily="49" charset="0"/>
                <a:ea typeface="+mj-ea"/>
                <a:cs typeface="Courier New" pitchFamily="49" charset="0"/>
              </a:rPr>
              <a:t>britishGreeting</a:t>
            </a:r>
            <a:r>
              <a:rPr kumimoji="0" lang="en-US" sz="4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itchFamily="49" charset="0"/>
                <a:ea typeface="+mj-ea"/>
                <a:cs typeface="Courier New" pitchFamily="49" charset="0"/>
              </a:rPr>
              <a:t/>
            </a:r>
            <a:br>
              <a:rPr kumimoji="0" lang="en-US" sz="4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itchFamily="49" charset="0"/>
                <a:ea typeface="+mj-ea"/>
                <a:cs typeface="Courier New" pitchFamily="49" charset="0"/>
              </a:rPr>
            </a:br>
            <a:r>
              <a:rPr kumimoji="0" lang="en-US" sz="4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itchFamily="49" charset="0"/>
                <a:ea typeface="+mj-ea"/>
                <a:cs typeface="Courier New" pitchFamily="49" charset="0"/>
              </a:rPr>
              <a:t>		(String </a:t>
            </a:r>
            <a:r>
              <a:rPr kumimoji="0" lang="en-US" sz="4400" b="1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itchFamily="49" charset="0"/>
                <a:ea typeface="+mj-ea"/>
                <a:cs typeface="Courier New" pitchFamily="49" charset="0"/>
              </a:rPr>
              <a:t>fullName</a:t>
            </a:r>
            <a:r>
              <a:rPr kumimoji="0" lang="en-US" sz="4400" b="1" i="0" u="none" strike="noStrike" kern="1200" cap="none" spc="0" normalizeH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itchFamily="49" charset="0"/>
                <a:ea typeface="+mj-ea"/>
                <a:cs typeface="Courier New" pitchFamily="49" charset="0"/>
              </a:rPr>
              <a:t>)</a:t>
            </a:r>
          </a:p>
          <a:p>
            <a:pPr>
              <a:spcBef>
                <a:spcPct val="0"/>
              </a:spcBef>
              <a:defRPr/>
            </a:pPr>
            <a:endParaRPr lang="en-US" sz="4400" b="1" dirty="0" smtClean="0">
              <a:solidFill>
                <a:srgbClr val="7030A0"/>
              </a:solidFill>
              <a:latin typeface="Courier New" pitchFamily="49" charset="0"/>
              <a:cs typeface="Courier New" pitchFamily="49" charset="0"/>
            </a:endParaRPr>
          </a:p>
          <a:p>
            <a:pPr>
              <a:spcBef>
                <a:spcPct val="0"/>
              </a:spcBef>
              <a:defRPr/>
            </a:pPr>
            <a:r>
              <a:rPr lang="en-US" sz="3400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public static void</a:t>
            </a:r>
            <a:r>
              <a:rPr lang="en-US" sz="3400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3400" b="1" dirty="0" err="1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britishGreeting</a:t>
            </a:r>
            <a:r>
              <a:rPr lang="en-US" sz="3400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/>
            </a:r>
            <a:br>
              <a:rPr lang="en-US" sz="3400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</a:br>
            <a:r>
              <a:rPr lang="en-US" sz="3400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		(String </a:t>
            </a:r>
            <a:r>
              <a:rPr lang="en-US" sz="3400" b="1" dirty="0" err="1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yourName</a:t>
            </a:r>
            <a:r>
              <a:rPr lang="en-US" sz="3400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, String </a:t>
            </a:r>
            <a:r>
              <a:rPr lang="en-US" sz="3400" b="1" dirty="0" err="1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childName</a:t>
            </a:r>
            <a:r>
              <a:rPr lang="en-US" sz="3400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)</a:t>
            </a:r>
          </a:p>
          <a:p>
            <a:pPr>
              <a:spcBef>
                <a:spcPct val="0"/>
              </a:spcBef>
              <a:defRPr/>
            </a:pPr>
            <a:endParaRPr lang="en-US" sz="4400" b="1" dirty="0" smtClean="0">
              <a:solidFill>
                <a:srgbClr val="7030A0"/>
              </a:solidFill>
              <a:latin typeface="Courier New" pitchFamily="49" charset="0"/>
              <a:cs typeface="Courier New" pitchFamily="49" charset="0"/>
            </a:endParaRPr>
          </a:p>
          <a:p>
            <a:pPr>
              <a:spcBef>
                <a:spcPct val="0"/>
              </a:spcBef>
              <a:defRPr/>
            </a:pPr>
            <a:r>
              <a:rPr lang="en-US" sz="4400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public static </a:t>
            </a:r>
            <a:r>
              <a:rPr lang="en-US" sz="4400" b="1" dirty="0" err="1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sz="4400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4400" b="1" dirty="0" err="1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britishGreeting</a:t>
            </a:r>
            <a:r>
              <a:rPr lang="en-US" sz="4400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/>
            </a:r>
            <a:br>
              <a:rPr lang="en-US" sz="4400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</a:br>
            <a:r>
              <a:rPr lang="en-US" sz="4400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		(</a:t>
            </a:r>
            <a:r>
              <a:rPr lang="en-US" sz="4400" b="1" dirty="0" err="1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sz="4400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4400" b="1" dirty="0" err="1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numOfPeople</a:t>
            </a:r>
            <a:r>
              <a:rPr lang="en-US" sz="4400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)</a:t>
            </a:r>
          </a:p>
          <a:p>
            <a:pPr>
              <a:spcBef>
                <a:spcPct val="0"/>
              </a:spcBef>
              <a:defRPr/>
            </a:pPr>
            <a:endParaRPr lang="en-US" sz="4400" b="1" dirty="0" smtClean="0">
              <a:solidFill>
                <a:srgbClr val="7030A0"/>
              </a:solidFill>
              <a:latin typeface="Courier New" pitchFamily="49" charset="0"/>
              <a:cs typeface="Courier New" pitchFamily="49" charset="0"/>
            </a:endParaRPr>
          </a:p>
          <a:p>
            <a:pPr>
              <a:spcBef>
                <a:spcPct val="0"/>
              </a:spcBef>
              <a:defRPr/>
            </a:pPr>
            <a:r>
              <a:rPr lang="en-US" sz="4400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public static char</a:t>
            </a:r>
            <a:r>
              <a:rPr lang="en-US" sz="4400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4400" b="1" dirty="0" err="1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britishGreeting</a:t>
            </a:r>
            <a:r>
              <a:rPr lang="en-US" sz="4400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/>
            </a:r>
            <a:br>
              <a:rPr lang="en-US" sz="4400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</a:br>
            <a:r>
              <a:rPr lang="en-US" sz="4400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		(String </a:t>
            </a:r>
            <a:r>
              <a:rPr lang="en-US" sz="4400" b="1" dirty="0" err="1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firstNameOnly</a:t>
            </a:r>
            <a:r>
              <a:rPr lang="en-US" sz="4400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)</a:t>
            </a:r>
          </a:p>
        </p:txBody>
      </p:sp>
      <p:sp>
        <p:nvSpPr>
          <p:cNvPr id="5" name="Multiply 4"/>
          <p:cNvSpPr/>
          <p:nvPr/>
        </p:nvSpPr>
        <p:spPr>
          <a:xfrm>
            <a:off x="2286000" y="4800600"/>
            <a:ext cx="4648200" cy="1371600"/>
          </a:xfrm>
          <a:prstGeom prst="mathMultiply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Special Functions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Constructors: Functions that create new objects, preceded by the keyword </a:t>
            </a:r>
            <a:r>
              <a:rPr lang="en-US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new</a:t>
            </a:r>
            <a:r>
              <a:rPr lang="en-US" dirty="0" smtClean="0">
                <a:solidFill>
                  <a:schemeClr val="bg1"/>
                </a:solidFill>
              </a:rPr>
              <a:t> before calling it.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main: The first function that is always run by any Java program.  It always has a 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String[]</a:t>
            </a:r>
            <a:r>
              <a:rPr lang="en-US" dirty="0" smtClean="0">
                <a:solidFill>
                  <a:schemeClr val="bg1"/>
                </a:solidFill>
              </a:rPr>
              <a:t> as the only parameter.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Functions common to all objects: we may return to this later.</a:t>
            </a:r>
            <a:endParaRPr lang="en-US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If Statements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6" name="Text Placeholder 5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And More Booleans and Scope</a:t>
            </a:r>
            <a:endParaRPr 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If Statements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English usage?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“If it will rain today, then I will bring my umbrella.”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Rain today would indicate that I have brought my umbrella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Cause and effect relationship: when a condition is met, a behavior is elicited.</a:t>
            </a:r>
            <a:endParaRPr lang="en-US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Skeleton Statement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dirty="0" smtClean="0">
                <a:solidFill>
                  <a:schemeClr val="bg1"/>
                </a:solidFill>
              </a:rPr>
              <a:t>if(&lt;</a:t>
            </a:r>
            <a:r>
              <a:rPr lang="en-US" dirty="0" err="1" smtClean="0">
                <a:solidFill>
                  <a:schemeClr val="bg1"/>
                </a:solidFill>
              </a:rPr>
              <a:t>boolean</a:t>
            </a:r>
            <a:r>
              <a:rPr lang="en-US" dirty="0" smtClean="0">
                <a:solidFill>
                  <a:schemeClr val="bg1"/>
                </a:solidFill>
              </a:rPr>
              <a:t> condition&gt;)</a:t>
            </a:r>
          </a:p>
          <a:p>
            <a:pPr>
              <a:buNone/>
            </a:pPr>
            <a:r>
              <a:rPr lang="en-US" dirty="0" smtClean="0">
                <a:solidFill>
                  <a:schemeClr val="bg1"/>
                </a:solidFill>
              </a:rPr>
              <a:t>{</a:t>
            </a:r>
          </a:p>
          <a:p>
            <a:pPr>
              <a:buNone/>
            </a:pPr>
            <a:r>
              <a:rPr lang="en-US" dirty="0" smtClean="0">
                <a:solidFill>
                  <a:schemeClr val="bg1"/>
                </a:solidFill>
              </a:rPr>
              <a:t>	…</a:t>
            </a:r>
          </a:p>
          <a:p>
            <a:pPr>
              <a:buNone/>
            </a:pPr>
            <a:r>
              <a:rPr lang="en-US" dirty="0" smtClean="0">
                <a:solidFill>
                  <a:schemeClr val="bg1"/>
                </a:solidFill>
              </a:rPr>
              <a:t>}</a:t>
            </a:r>
          </a:p>
          <a:p>
            <a:pPr>
              <a:buNone/>
            </a:pPr>
            <a:r>
              <a:rPr lang="en-US" dirty="0" smtClean="0">
                <a:solidFill>
                  <a:schemeClr val="bg1"/>
                </a:solidFill>
              </a:rPr>
              <a:t>…</a:t>
            </a:r>
            <a:endParaRPr lang="en-US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Boolean Condition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Must evaluate to true in order for the statements within the </a:t>
            </a:r>
            <a:r>
              <a:rPr lang="en-US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if</a:t>
            </a:r>
            <a:r>
              <a:rPr lang="en-US" dirty="0" smtClean="0">
                <a:solidFill>
                  <a:schemeClr val="bg1"/>
                </a:solidFill>
              </a:rPr>
              <a:t>-block to execute.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Evaluating to false will skip the block.</a:t>
            </a:r>
            <a:endParaRPr lang="en-US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Java Example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>
              <a:buNone/>
            </a:pPr>
            <a:r>
              <a:rPr lang="en-US" b="1" dirty="0" smtClean="0">
                <a:solidFill>
                  <a:schemeClr val="accent3">
                    <a:lumMod val="50000"/>
                  </a:schemeClr>
                </a:solidFill>
                <a:latin typeface="Courier New" pitchFamily="49" charset="0"/>
                <a:cs typeface="Courier New" pitchFamily="49" charset="0"/>
              </a:rPr>
              <a:t>	/*	</a:t>
            </a:r>
            <a:r>
              <a:rPr lang="en-US" b="1" dirty="0" err="1" smtClean="0">
                <a:solidFill>
                  <a:schemeClr val="accent3">
                    <a:lumMod val="50000"/>
                  </a:schemeClr>
                </a:solidFill>
                <a:latin typeface="Courier New" pitchFamily="49" charset="0"/>
                <a:cs typeface="Courier New" pitchFamily="49" charset="0"/>
              </a:rPr>
              <a:t>checkWeather</a:t>
            </a:r>
            <a:r>
              <a:rPr lang="en-US" b="1" dirty="0" smtClean="0">
                <a:solidFill>
                  <a:schemeClr val="accent3">
                    <a:lumMod val="50000"/>
                  </a:schemeClr>
                </a:solidFill>
                <a:latin typeface="Courier New" pitchFamily="49" charset="0"/>
                <a:cs typeface="Courier New" pitchFamily="49" charset="0"/>
              </a:rPr>
              <a:t> returns true if it</a:t>
            </a:r>
          </a:p>
          <a:p>
            <a:pPr>
              <a:buNone/>
            </a:pPr>
            <a:r>
              <a:rPr lang="en-US" b="1" dirty="0" smtClean="0">
                <a:solidFill>
                  <a:schemeClr val="accent3">
                    <a:lumMod val="50000"/>
                  </a:schemeClr>
                </a:solidFill>
                <a:latin typeface="Courier New" pitchFamily="49" charset="0"/>
                <a:cs typeface="Courier New" pitchFamily="49" charset="0"/>
              </a:rPr>
              <a:t>	 *	will rain today.*/</a:t>
            </a:r>
          </a:p>
          <a:p>
            <a:pPr>
              <a:buNone/>
            </a:pPr>
            <a:r>
              <a:rPr lang="en-US" b="1" dirty="0" err="1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boolean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b="1" dirty="0" err="1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rainToday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= </a:t>
            </a:r>
            <a:r>
              <a:rPr lang="en-US" b="1" dirty="0" err="1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checkWeather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();</a:t>
            </a:r>
          </a:p>
          <a:p>
            <a:pPr>
              <a:buNone/>
            </a:pPr>
            <a:r>
              <a:rPr lang="en-US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if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(</a:t>
            </a:r>
            <a:r>
              <a:rPr lang="en-US" b="1" dirty="0" err="1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rainToday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)</a:t>
            </a:r>
          </a:p>
          <a:p>
            <a:pPr>
              <a:buNone/>
            </a:pP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{</a:t>
            </a:r>
          </a:p>
          <a:p>
            <a:pPr>
              <a:buNone/>
            </a:pP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		</a:t>
            </a:r>
            <a:r>
              <a:rPr lang="en-US" b="1" dirty="0" err="1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bringUmbrella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();</a:t>
            </a:r>
          </a:p>
          <a:p>
            <a:pPr>
              <a:buNone/>
            </a:pP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}</a:t>
            </a:r>
          </a:p>
          <a:p>
            <a:pPr>
              <a:buNone/>
            </a:pPr>
            <a:r>
              <a:rPr lang="en-US" b="1" dirty="0" err="1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goToSchool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();</a:t>
            </a:r>
            <a:endParaRPr lang="en-US" b="1" dirty="0">
              <a:solidFill>
                <a:schemeClr val="bg1"/>
              </a:solidFill>
              <a:latin typeface="Courier New" pitchFamily="49" charset="0"/>
              <a:cs typeface="Courier New" pitchFamily="49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457200" y="4724400"/>
            <a:ext cx="82296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 smtClean="0">
                <a:solidFill>
                  <a:schemeClr val="bg1"/>
                </a:solidFill>
                <a:cs typeface="Courier New" pitchFamily="49" charset="0"/>
              </a:rPr>
              <a:t>Remember this?</a:t>
            </a:r>
          </a:p>
          <a:p>
            <a:pPr algn="ctr"/>
            <a:r>
              <a:rPr lang="en-US" sz="3200" dirty="0" smtClean="0">
                <a:solidFill>
                  <a:schemeClr val="bg1"/>
                </a:solidFill>
                <a:cs typeface="Courier New" pitchFamily="49" charset="0"/>
              </a:rPr>
              <a:t>"has a </a:t>
            </a:r>
            <a:r>
              <a:rPr lang="en-US" sz="3200" dirty="0" err="1" smtClean="0">
                <a:solidFill>
                  <a:schemeClr val="bg1"/>
                </a:solidFill>
                <a:cs typeface="Courier New" pitchFamily="49" charset="0"/>
              </a:rPr>
              <a:t>Facebook</a:t>
            </a:r>
            <a:r>
              <a:rPr lang="en-US" sz="3200" dirty="0" smtClean="0">
                <a:solidFill>
                  <a:schemeClr val="bg1"/>
                </a:solidFill>
                <a:cs typeface="Courier New" pitchFamily="49" charset="0"/>
              </a:rPr>
              <a:t>: true“</a:t>
            </a:r>
          </a:p>
          <a:p>
            <a:pPr algn="ctr"/>
            <a:r>
              <a:rPr lang="en-US" sz="3200" dirty="0" smtClean="0">
                <a:solidFill>
                  <a:schemeClr val="bg1"/>
                </a:solidFill>
                <a:cs typeface="Courier New" pitchFamily="49" charset="0"/>
              </a:rPr>
              <a:t>How do we fix this?</a:t>
            </a:r>
          </a:p>
        </p:txBody>
      </p:sp>
      <p:pic>
        <p:nvPicPr>
          <p:cNvPr id="7" name="Content Placeholder 6" descr="Picture 3.jpg"/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458562" y="381000"/>
            <a:ext cx="8217352" cy="4114800"/>
          </a:xfrm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Code Reminder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pPr>
              <a:buNone/>
            </a:pPr>
            <a:r>
              <a:rPr lang="en-US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public class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Name</a:t>
            </a:r>
          </a:p>
          <a:p>
            <a:pPr>
              <a:buNone/>
            </a:pP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{</a:t>
            </a:r>
          </a:p>
          <a:p>
            <a:pPr>
              <a:buNone/>
            </a:pP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	</a:t>
            </a:r>
            <a:r>
              <a:rPr lang="en-US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public static void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main(String[] </a:t>
            </a:r>
            <a:r>
              <a:rPr lang="en-US" b="1" dirty="0" err="1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args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)</a:t>
            </a:r>
          </a:p>
          <a:p>
            <a:pPr>
              <a:buNone/>
            </a:pP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	{</a:t>
            </a:r>
          </a:p>
          <a:p>
            <a:pPr>
              <a:buNone/>
            </a:pP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		String </a:t>
            </a:r>
            <a:r>
              <a:rPr lang="en-US" b="1" dirty="0" err="1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firstName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= </a:t>
            </a:r>
            <a:r>
              <a:rPr lang="en-US" b="1" dirty="0" smtClean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"Nathan"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;</a:t>
            </a:r>
          </a:p>
          <a:p>
            <a:pPr>
              <a:buNone/>
            </a:pP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		</a:t>
            </a:r>
            <a:r>
              <a:rPr lang="en-US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char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b="1" dirty="0" err="1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midInitial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= </a:t>
            </a:r>
            <a:r>
              <a:rPr lang="en-US" b="1" dirty="0" smtClean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'R'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;</a:t>
            </a:r>
          </a:p>
          <a:p>
            <a:pPr>
              <a:buNone/>
            </a:pP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		String </a:t>
            </a:r>
            <a:r>
              <a:rPr lang="en-US" b="1" dirty="0" err="1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lastName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= </a:t>
            </a:r>
            <a:r>
              <a:rPr lang="en-US" b="1" dirty="0" smtClean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"</a:t>
            </a:r>
            <a:r>
              <a:rPr lang="en-US" b="1" dirty="0" err="1" smtClean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Ong</a:t>
            </a:r>
            <a:r>
              <a:rPr lang="en-US" b="1" dirty="0" smtClean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"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;</a:t>
            </a:r>
          </a:p>
          <a:p>
            <a:pPr>
              <a:buNone/>
            </a:pP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		</a:t>
            </a:r>
            <a:r>
              <a:rPr lang="en-US" b="1" dirty="0" err="1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age = </a:t>
            </a:r>
            <a:r>
              <a:rPr lang="en-US" b="1" dirty="0" smtClean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19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;</a:t>
            </a:r>
          </a:p>
          <a:p>
            <a:pPr>
              <a:buNone/>
            </a:pP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		</a:t>
            </a:r>
            <a:r>
              <a:rPr lang="en-US" b="1" dirty="0" err="1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boolean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b="1" dirty="0" err="1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hasFacebook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= </a:t>
            </a:r>
            <a:r>
              <a:rPr lang="en-US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true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;</a:t>
            </a:r>
          </a:p>
          <a:p>
            <a:pPr>
              <a:buNone/>
            </a:pP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		</a:t>
            </a:r>
            <a:r>
              <a:rPr lang="en-US" b="1" dirty="0" err="1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System.out.println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(</a:t>
            </a:r>
            <a:r>
              <a:rPr lang="en-US" b="1" dirty="0" err="1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firstName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+ </a:t>
            </a:r>
            <a:r>
              <a:rPr lang="en-US" b="1" dirty="0" smtClean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" "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+ </a:t>
            </a:r>
            <a:r>
              <a:rPr lang="en-US" b="1" dirty="0" err="1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midInitial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+ 			</a:t>
            </a:r>
            <a:r>
              <a:rPr lang="en-US" b="1" dirty="0" smtClean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" "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+ </a:t>
            </a:r>
            <a:r>
              <a:rPr lang="en-US" b="1" dirty="0" err="1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lastName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+ </a:t>
            </a:r>
            <a:r>
              <a:rPr lang="en-US" b="1" dirty="0" smtClean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", age: "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	+ age + 			</a:t>
            </a:r>
            <a:r>
              <a:rPr lang="en-US" b="1" dirty="0" smtClean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", has a </a:t>
            </a:r>
            <a:r>
              <a:rPr lang="en-US" b="1" dirty="0" err="1" smtClean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Facebook</a:t>
            </a:r>
            <a:r>
              <a:rPr lang="en-US" b="1" dirty="0" smtClean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: "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+ </a:t>
            </a:r>
            <a:r>
              <a:rPr lang="en-US" b="1" dirty="0" err="1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hasFacebook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);</a:t>
            </a:r>
          </a:p>
          <a:p>
            <a:pPr>
              <a:buNone/>
            </a:pP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	}</a:t>
            </a:r>
            <a:r>
              <a:rPr lang="en-US" b="1" dirty="0" smtClean="0">
                <a:solidFill>
                  <a:schemeClr val="accent3">
                    <a:lumMod val="50000"/>
                  </a:schemeClr>
                </a:solidFill>
                <a:latin typeface="Courier New" pitchFamily="49" charset="0"/>
                <a:cs typeface="Courier New" pitchFamily="49" charset="0"/>
              </a:rPr>
              <a:t>//end method main</a:t>
            </a:r>
          </a:p>
          <a:p>
            <a:pPr>
              <a:buNone/>
            </a:pP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}</a:t>
            </a:r>
            <a:r>
              <a:rPr lang="en-US" b="1" dirty="0" smtClean="0">
                <a:solidFill>
                  <a:schemeClr val="accent3">
                    <a:lumMod val="50000"/>
                  </a:schemeClr>
                </a:solidFill>
                <a:latin typeface="Courier New" pitchFamily="49" charset="0"/>
                <a:cs typeface="Courier New" pitchFamily="49" charset="0"/>
              </a:rPr>
              <a:t>//End class Name</a:t>
            </a:r>
          </a:p>
          <a:p>
            <a:pPr>
              <a:buNone/>
            </a:pPr>
            <a:endParaRPr lang="en-US" b="1" dirty="0" smtClean="0">
              <a:solidFill>
                <a:schemeClr val="accent3">
                  <a:lumMod val="50000"/>
                </a:schemeClr>
              </a:solidFill>
              <a:latin typeface="Courier New" pitchFamily="49" charset="0"/>
              <a:cs typeface="Courier New" pitchFamily="49" charset="0"/>
            </a:endParaRPr>
          </a:p>
          <a:p>
            <a:pPr>
              <a:buNone/>
            </a:pPr>
            <a:r>
              <a:rPr lang="en-US" b="1" dirty="0" smtClean="0">
                <a:solidFill>
                  <a:schemeClr val="accent3">
                    <a:lumMod val="50000"/>
                  </a:schemeClr>
                </a:solidFill>
                <a:latin typeface="Courier New" pitchFamily="49" charset="0"/>
                <a:cs typeface="Courier New" pitchFamily="49" charset="0"/>
              </a:rPr>
              <a:t> </a:t>
            </a:r>
          </a:p>
          <a:p>
            <a:pPr>
              <a:buNone/>
            </a:pPr>
            <a:endParaRPr lang="en-US" dirty="0">
              <a:solidFill>
                <a:schemeClr val="bg1"/>
              </a:solidFill>
              <a:latin typeface="Courier New" pitchFamily="49" charset="0"/>
              <a:cs typeface="Courier New" pitchFamily="49" charset="0"/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  <a:latin typeface="+mn-lt"/>
                <a:cs typeface="Courier New" pitchFamily="49" charset="0"/>
              </a:rPr>
              <a:t>A More Useful Output</a:t>
            </a:r>
            <a:endParaRPr lang="en-US" dirty="0">
              <a:solidFill>
                <a:schemeClr val="bg1"/>
              </a:solidFill>
              <a:latin typeface="+mn-lt"/>
              <a:cs typeface="Courier New" pitchFamily="49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if </a:t>
            </a:r>
            <a:r>
              <a:rPr lang="en-US" dirty="0" err="1" smtClean="0">
                <a:solidFill>
                  <a:schemeClr val="bg1"/>
                </a:solidFill>
              </a:rPr>
              <a:t>hasFacebook</a:t>
            </a:r>
            <a:r>
              <a:rPr lang="en-US" dirty="0" smtClean="0">
                <a:solidFill>
                  <a:schemeClr val="bg1"/>
                </a:solidFill>
              </a:rPr>
              <a:t> is true, then print what?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"has a </a:t>
            </a:r>
            <a:r>
              <a:rPr lang="en-US" dirty="0" err="1" smtClean="0">
                <a:solidFill>
                  <a:schemeClr val="bg1"/>
                </a:solidFill>
              </a:rPr>
              <a:t>Facebook</a:t>
            </a:r>
            <a:r>
              <a:rPr lang="en-US" dirty="0" smtClean="0">
                <a:solidFill>
                  <a:schemeClr val="bg1"/>
                </a:solidFill>
              </a:rPr>
              <a:t>"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Otherwise, if </a:t>
            </a:r>
            <a:r>
              <a:rPr lang="en-US" dirty="0" err="1" smtClean="0">
                <a:solidFill>
                  <a:schemeClr val="bg1"/>
                </a:solidFill>
              </a:rPr>
              <a:t>hasFacebook</a:t>
            </a:r>
            <a:r>
              <a:rPr lang="en-US" dirty="0" smtClean="0">
                <a:solidFill>
                  <a:schemeClr val="bg1"/>
                </a:solidFill>
              </a:rPr>
              <a:t> is false, then print what?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"does not have a </a:t>
            </a:r>
            <a:r>
              <a:rPr lang="en-US" dirty="0" err="1" smtClean="0">
                <a:solidFill>
                  <a:schemeClr val="bg1"/>
                </a:solidFill>
              </a:rPr>
              <a:t>Facebook</a:t>
            </a:r>
            <a:r>
              <a:rPr lang="en-US" dirty="0" smtClean="0">
                <a:solidFill>
                  <a:schemeClr val="bg1"/>
                </a:solidFill>
              </a:rPr>
              <a:t>"</a:t>
            </a:r>
            <a:endParaRPr lang="en-US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if</a:t>
            </a:r>
            <a:r>
              <a:rPr lang="en-US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()</a:t>
            </a:r>
            <a:endParaRPr lang="en-US" dirty="0">
              <a:solidFill>
                <a:schemeClr val="bg1"/>
              </a:solidFill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if </a:t>
            </a:r>
            <a:r>
              <a:rPr lang="en-US" dirty="0" err="1" smtClean="0">
                <a:solidFill>
                  <a:schemeClr val="bg1"/>
                </a:solidFill>
              </a:rPr>
              <a:t>hasFacebook</a:t>
            </a:r>
            <a:r>
              <a:rPr lang="en-US" dirty="0" smtClean="0">
                <a:solidFill>
                  <a:schemeClr val="bg1"/>
                </a:solidFill>
              </a:rPr>
              <a:t> is true, then print "has a </a:t>
            </a:r>
            <a:r>
              <a:rPr lang="en-US" dirty="0" err="1" smtClean="0">
                <a:solidFill>
                  <a:schemeClr val="bg1"/>
                </a:solidFill>
              </a:rPr>
              <a:t>Facebook</a:t>
            </a:r>
            <a:r>
              <a:rPr lang="en-US" dirty="0" smtClean="0">
                <a:solidFill>
                  <a:schemeClr val="bg1"/>
                </a:solidFill>
              </a:rPr>
              <a:t>"</a:t>
            </a:r>
          </a:p>
          <a:p>
            <a:pPr>
              <a:buNone/>
            </a:pPr>
            <a:r>
              <a:rPr lang="en-US" dirty="0" smtClean="0">
                <a:solidFill>
                  <a:schemeClr val="bg1"/>
                </a:solidFill>
              </a:rPr>
              <a:t>if(</a:t>
            </a:r>
            <a:r>
              <a:rPr lang="en-US" dirty="0" err="1" smtClean="0">
                <a:solidFill>
                  <a:schemeClr val="bg1"/>
                </a:solidFill>
              </a:rPr>
              <a:t>hasFacebook</a:t>
            </a:r>
            <a:r>
              <a:rPr lang="en-US" dirty="0" smtClean="0">
                <a:solidFill>
                  <a:schemeClr val="bg1"/>
                </a:solidFill>
              </a:rPr>
              <a:t> is true)</a:t>
            </a:r>
          </a:p>
          <a:p>
            <a:pPr>
              <a:buNone/>
            </a:pPr>
            <a:r>
              <a:rPr lang="en-US" dirty="0" smtClean="0">
                <a:solidFill>
                  <a:schemeClr val="bg1"/>
                </a:solidFill>
              </a:rPr>
              <a:t>{</a:t>
            </a:r>
          </a:p>
          <a:p>
            <a:pPr>
              <a:buNone/>
            </a:pPr>
            <a:r>
              <a:rPr lang="en-US" dirty="0" smtClean="0">
                <a:solidFill>
                  <a:schemeClr val="bg1"/>
                </a:solidFill>
              </a:rPr>
              <a:t>		</a:t>
            </a:r>
            <a:r>
              <a:rPr lang="en-US" dirty="0" err="1" smtClean="0">
                <a:solidFill>
                  <a:schemeClr val="bg1"/>
                </a:solidFill>
              </a:rPr>
              <a:t>System.out.println</a:t>
            </a:r>
            <a:r>
              <a:rPr lang="en-US" dirty="0" smtClean="0">
                <a:solidFill>
                  <a:schemeClr val="bg1"/>
                </a:solidFill>
              </a:rPr>
              <a:t>("has a </a:t>
            </a:r>
            <a:r>
              <a:rPr lang="en-US" dirty="0" err="1" smtClean="0">
                <a:solidFill>
                  <a:schemeClr val="bg1"/>
                </a:solidFill>
              </a:rPr>
              <a:t>Facebook</a:t>
            </a:r>
            <a:r>
              <a:rPr lang="en-US" dirty="0" smtClean="0">
                <a:solidFill>
                  <a:schemeClr val="bg1"/>
                </a:solidFill>
              </a:rPr>
              <a:t>");</a:t>
            </a:r>
          </a:p>
          <a:p>
            <a:pPr>
              <a:buNone/>
            </a:pPr>
            <a:r>
              <a:rPr lang="en-US" dirty="0" smtClean="0">
                <a:solidFill>
                  <a:schemeClr val="bg1"/>
                </a:solidFill>
              </a:rPr>
              <a:t>}//end block if(</a:t>
            </a:r>
            <a:r>
              <a:rPr lang="en-US" dirty="0" err="1" smtClean="0">
                <a:solidFill>
                  <a:schemeClr val="bg1"/>
                </a:solidFill>
              </a:rPr>
              <a:t>hasFacebook</a:t>
            </a:r>
            <a:r>
              <a:rPr lang="en-US" dirty="0" smtClean="0">
                <a:solidFill>
                  <a:schemeClr val="bg1"/>
                </a:solidFill>
              </a:rPr>
              <a:t> is true)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>
                <a:solidFill>
                  <a:schemeClr val="bg1"/>
                </a:solidFill>
              </a:rPr>
              <a:t>hasFacebook</a:t>
            </a:r>
            <a:r>
              <a:rPr lang="en-US" dirty="0" smtClean="0">
                <a:solidFill>
                  <a:schemeClr val="bg1"/>
                </a:solidFill>
              </a:rPr>
              <a:t> is true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How do we model this?</a:t>
            </a:r>
          </a:p>
          <a:p>
            <a:r>
              <a:rPr lang="en-US" b="1" dirty="0" err="1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hasFacebook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= </a:t>
            </a:r>
            <a:r>
              <a:rPr lang="en-US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true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; </a:t>
            </a:r>
            <a:r>
              <a:rPr lang="en-US" b="1" dirty="0" smtClean="0">
                <a:solidFill>
                  <a:schemeClr val="accent3">
                    <a:lumMod val="50000"/>
                  </a:schemeClr>
                </a:solidFill>
                <a:latin typeface="Courier New" pitchFamily="49" charset="0"/>
                <a:cs typeface="Courier New" pitchFamily="49" charset="0"/>
              </a:rPr>
              <a:t>//?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But that let us do name-changing!</a:t>
            </a:r>
          </a:p>
          <a:p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name = </a:t>
            </a:r>
            <a:r>
              <a:rPr lang="en-US" b="1" dirty="0" smtClean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"Brandon </a:t>
            </a:r>
            <a:r>
              <a:rPr lang="en-US" b="1" dirty="0" err="1" smtClean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Ong</a:t>
            </a:r>
            <a:r>
              <a:rPr lang="en-US" b="1" dirty="0" smtClean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"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;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457200" y="990600"/>
            <a:ext cx="8229600" cy="4267200"/>
          </a:xfrm>
        </p:spPr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Making a new thing:</a:t>
            </a:r>
            <a:br>
              <a:rPr lang="en-US" dirty="0" smtClean="0">
                <a:solidFill>
                  <a:schemeClr val="bg1"/>
                </a:solidFill>
              </a:rPr>
            </a:br>
            <a:r>
              <a:rPr lang="en-US" dirty="0" smtClean="0">
                <a:solidFill>
                  <a:schemeClr val="bg1"/>
                </a:solidFill>
              </a:rPr>
              <a:t>Type name = value;</a:t>
            </a:r>
            <a:br>
              <a:rPr lang="en-US" dirty="0" smtClean="0">
                <a:solidFill>
                  <a:schemeClr val="bg1"/>
                </a:solidFill>
              </a:rPr>
            </a:br>
            <a:r>
              <a:rPr lang="en-US" dirty="0" smtClean="0">
                <a:solidFill>
                  <a:schemeClr val="bg1"/>
                </a:solidFill>
              </a:rPr>
              <a:t/>
            </a:r>
            <a:br>
              <a:rPr lang="en-US" dirty="0" smtClean="0">
                <a:solidFill>
                  <a:schemeClr val="bg1"/>
                </a:solidFill>
              </a:rPr>
            </a:br>
            <a:r>
              <a:rPr lang="en-US" dirty="0" smtClean="0">
                <a:solidFill>
                  <a:schemeClr val="bg1"/>
                </a:solidFill>
              </a:rPr>
              <a:t>Changing the old thing:</a:t>
            </a:r>
            <a:br>
              <a:rPr lang="en-US" dirty="0" smtClean="0">
                <a:solidFill>
                  <a:schemeClr val="bg1"/>
                </a:solidFill>
              </a:rPr>
            </a:br>
            <a:r>
              <a:rPr lang="en-US" dirty="0" smtClean="0">
                <a:solidFill>
                  <a:schemeClr val="bg1"/>
                </a:solidFill>
              </a:rPr>
              <a:t>name = </a:t>
            </a:r>
            <a:r>
              <a:rPr lang="en-US" dirty="0" err="1" smtClean="0">
                <a:solidFill>
                  <a:schemeClr val="bg1"/>
                </a:solidFill>
              </a:rPr>
              <a:t>newValue</a:t>
            </a:r>
            <a:r>
              <a:rPr lang="en-US" dirty="0" smtClean="0">
                <a:solidFill>
                  <a:schemeClr val="bg1"/>
                </a:solidFill>
              </a:rPr>
              <a:t>;</a:t>
            </a:r>
            <a:endParaRPr lang="en-US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>
                <a:solidFill>
                  <a:schemeClr val="bg1"/>
                </a:solidFill>
              </a:rPr>
              <a:t>hasFacebook</a:t>
            </a:r>
            <a:r>
              <a:rPr lang="en-US" dirty="0" smtClean="0">
                <a:solidFill>
                  <a:schemeClr val="bg1"/>
                </a:solidFill>
              </a:rPr>
              <a:t> is true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How do we model this?</a:t>
            </a:r>
          </a:p>
          <a:p>
            <a:r>
              <a:rPr lang="en-US" b="1" dirty="0" err="1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hasFacebook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= </a:t>
            </a:r>
            <a:r>
              <a:rPr lang="en-US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true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b="1" dirty="0" smtClean="0">
                <a:solidFill>
                  <a:schemeClr val="accent3">
                    <a:lumMod val="50000"/>
                  </a:schemeClr>
                </a:solidFill>
                <a:latin typeface="Courier New" pitchFamily="49" charset="0"/>
                <a:cs typeface="Courier New" pitchFamily="49" charset="0"/>
              </a:rPr>
              <a:t>//?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But that let us do name-changing!</a:t>
            </a:r>
          </a:p>
          <a:p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name = </a:t>
            </a:r>
            <a:r>
              <a:rPr lang="en-US" b="1" dirty="0" smtClean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"Brandon </a:t>
            </a:r>
            <a:r>
              <a:rPr lang="en-US" b="1" dirty="0" err="1" smtClean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Ong</a:t>
            </a:r>
            <a:r>
              <a:rPr lang="en-US" b="1" dirty="0" smtClean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"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;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So no, we can't do this to check for equality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We instead use double equals (==)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== </a:t>
            </a:r>
            <a:r>
              <a:rPr lang="en-US" dirty="0" err="1" smtClean="0">
                <a:solidFill>
                  <a:schemeClr val="bg1"/>
                </a:solidFill>
              </a:rPr>
              <a:t>vs</a:t>
            </a:r>
            <a:r>
              <a:rPr lang="en-US" dirty="0" smtClean="0">
                <a:solidFill>
                  <a:schemeClr val="bg1"/>
                </a:solidFill>
              </a:rPr>
              <a:t> =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dirty="0" smtClean="0">
                <a:solidFill>
                  <a:schemeClr val="bg1"/>
                </a:solidFill>
              </a:rPr>
              <a:t>= is for assignment</a:t>
            </a:r>
          </a:p>
          <a:p>
            <a:pPr lvl="1"/>
            <a:r>
              <a:rPr lang="en-US" dirty="0" smtClean="0">
                <a:solidFill>
                  <a:schemeClr val="bg1"/>
                </a:solidFill>
                <a:cs typeface="Courier New" pitchFamily="49" charset="0"/>
              </a:rPr>
              <a:t> 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String name = </a:t>
            </a:r>
            <a:r>
              <a:rPr lang="en-US" b="1" dirty="0" smtClean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"Nathan </a:t>
            </a:r>
            <a:r>
              <a:rPr lang="en-US" b="1" dirty="0" err="1" smtClean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Ong</a:t>
            </a:r>
            <a:r>
              <a:rPr lang="en-US" b="1" dirty="0" smtClean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"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;</a:t>
            </a:r>
          </a:p>
          <a:p>
            <a:pPr lvl="1"/>
            <a:r>
              <a:rPr lang="en-US" dirty="0" smtClean="0">
                <a:solidFill>
                  <a:schemeClr val="bg1"/>
                </a:solidFill>
                <a:cs typeface="Courier New" pitchFamily="49" charset="0"/>
              </a:rPr>
              <a:t> name has value?</a:t>
            </a:r>
          </a:p>
          <a:p>
            <a:pPr lvl="1"/>
            <a:r>
              <a:rPr lang="en-US" dirty="0" smtClean="0">
                <a:solidFill>
                  <a:schemeClr val="bg1"/>
                </a:solidFill>
                <a:cs typeface="Courier New" pitchFamily="49" charset="0"/>
              </a:rPr>
              <a:t> </a:t>
            </a:r>
            <a:r>
              <a:rPr lang="en-US" b="1" dirty="0" err="1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age = </a:t>
            </a:r>
            <a:r>
              <a:rPr lang="en-US" b="1" dirty="0" smtClean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19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;</a:t>
            </a:r>
          </a:p>
          <a:p>
            <a:pPr lvl="1"/>
            <a:r>
              <a:rPr lang="en-US" dirty="0" smtClean="0">
                <a:solidFill>
                  <a:schemeClr val="bg1"/>
                </a:solidFill>
                <a:cs typeface="Courier New" pitchFamily="49" charset="0"/>
              </a:rPr>
              <a:t> age has value?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== is for comparison (equal or not equal)</a:t>
            </a:r>
          </a:p>
          <a:p>
            <a:pPr lvl="1"/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age == </a:t>
            </a:r>
            <a:r>
              <a:rPr lang="en-US" b="1" dirty="0" smtClean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19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;</a:t>
            </a:r>
          </a:p>
          <a:p>
            <a:pPr lvl="1"/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name == </a:t>
            </a:r>
            <a:r>
              <a:rPr lang="en-US" b="1" dirty="0" smtClean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"Nathan </a:t>
            </a:r>
            <a:r>
              <a:rPr lang="en-US" b="1" dirty="0" err="1" smtClean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Ong</a:t>
            </a:r>
            <a:r>
              <a:rPr lang="en-US" b="1" dirty="0" smtClean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"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;</a:t>
            </a:r>
          </a:p>
          <a:p>
            <a:r>
              <a:rPr lang="en-US" dirty="0" smtClean="0">
                <a:solidFill>
                  <a:schemeClr val="bg1"/>
                </a:solidFill>
                <a:cs typeface="Courier New" pitchFamily="49" charset="0"/>
              </a:rPr>
              <a:t>What values do we get for the last two statements?</a:t>
            </a:r>
          </a:p>
          <a:p>
            <a:r>
              <a:rPr lang="en-US" dirty="0" smtClean="0">
                <a:solidFill>
                  <a:schemeClr val="bg1"/>
                </a:solidFill>
                <a:cs typeface="Courier New" pitchFamily="49" charset="0"/>
              </a:rPr>
              <a:t>What type are they?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rgbClr val="FF0000"/>
                </a:solidFill>
              </a:rPr>
              <a:t>WARNING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Be careful when comparing non-primitive values!!!</a:t>
            </a:r>
          </a:p>
          <a:p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name == </a:t>
            </a:r>
            <a:r>
              <a:rPr lang="en-US" b="1" dirty="0" smtClean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"Nathan </a:t>
            </a:r>
            <a:r>
              <a:rPr lang="en-US" b="1" dirty="0" err="1" smtClean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Ong</a:t>
            </a:r>
            <a:r>
              <a:rPr lang="en-US" b="1" dirty="0" smtClean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"</a:t>
            </a:r>
            <a:r>
              <a:rPr lang="en-US" dirty="0" smtClean="0">
                <a:solidFill>
                  <a:schemeClr val="bg1"/>
                </a:solidFill>
              </a:rPr>
              <a:t> could actually give us </a:t>
            </a:r>
            <a:r>
              <a:rPr lang="en-US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false</a:t>
            </a:r>
            <a:r>
              <a:rPr lang="en-US" dirty="0" smtClean="0">
                <a:solidFill>
                  <a:schemeClr val="bg1"/>
                </a:solidFill>
              </a:rPr>
              <a:t>!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Instead you will need to use 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equals()</a:t>
            </a:r>
          </a:p>
          <a:p>
            <a:r>
              <a:rPr lang="en-US" b="1" dirty="0" err="1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name.equals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(</a:t>
            </a:r>
            <a:r>
              <a:rPr lang="en-US" b="1" dirty="0" smtClean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"Nathan </a:t>
            </a:r>
            <a:r>
              <a:rPr lang="en-US" b="1" dirty="0" err="1" smtClean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Ong</a:t>
            </a:r>
            <a:r>
              <a:rPr lang="en-US" b="1" dirty="0" smtClean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"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);</a:t>
            </a:r>
            <a:endParaRPr lang="en-US" b="1" dirty="0">
              <a:solidFill>
                <a:schemeClr val="bg1"/>
              </a:solidFill>
              <a:latin typeface="Courier New" pitchFamily="49" charset="0"/>
              <a:cs typeface="Courier New" pitchFamily="49" charset="0"/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if</a:t>
            </a:r>
            <a:r>
              <a:rPr lang="en-US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()</a:t>
            </a:r>
            <a:endParaRPr lang="en-US" dirty="0">
              <a:solidFill>
                <a:schemeClr val="bg1"/>
              </a:solidFill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1600200"/>
            <a:ext cx="8991600" cy="4525963"/>
          </a:xfrm>
        </p:spPr>
        <p:txBody>
          <a:bodyPr>
            <a:normAutofit/>
          </a:bodyPr>
          <a:lstStyle/>
          <a:p>
            <a:r>
              <a:rPr lang="en-US" dirty="0" smtClean="0">
                <a:solidFill>
                  <a:schemeClr val="bg1"/>
                </a:solidFill>
              </a:rPr>
              <a:t>if </a:t>
            </a:r>
            <a:r>
              <a:rPr lang="en-US" dirty="0" err="1" smtClean="0">
                <a:solidFill>
                  <a:schemeClr val="bg1"/>
                </a:solidFill>
              </a:rPr>
              <a:t>hasFacebook</a:t>
            </a:r>
            <a:r>
              <a:rPr lang="en-US" dirty="0" smtClean="0">
                <a:solidFill>
                  <a:schemeClr val="bg1"/>
                </a:solidFill>
              </a:rPr>
              <a:t> is true, then print "has a </a:t>
            </a:r>
            <a:r>
              <a:rPr lang="en-US" dirty="0" err="1" smtClean="0">
                <a:solidFill>
                  <a:schemeClr val="bg1"/>
                </a:solidFill>
              </a:rPr>
              <a:t>Facebook</a:t>
            </a:r>
            <a:r>
              <a:rPr lang="en-US" dirty="0" smtClean="0">
                <a:solidFill>
                  <a:schemeClr val="bg1"/>
                </a:solidFill>
              </a:rPr>
              <a:t>"</a:t>
            </a:r>
          </a:p>
          <a:p>
            <a:pPr>
              <a:buNone/>
            </a:pPr>
            <a:r>
              <a:rPr lang="en-US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if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(</a:t>
            </a:r>
            <a:r>
              <a:rPr lang="en-US" b="1" dirty="0" err="1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hasFacebook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== </a:t>
            </a:r>
            <a:r>
              <a:rPr lang="en-US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true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)</a:t>
            </a:r>
          </a:p>
          <a:p>
            <a:pPr>
              <a:buNone/>
            </a:pP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{</a:t>
            </a:r>
          </a:p>
          <a:p>
            <a:pPr>
              <a:buNone/>
            </a:pP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		</a:t>
            </a:r>
            <a:r>
              <a:rPr lang="en-US" b="1" dirty="0" err="1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System.out.println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(</a:t>
            </a:r>
            <a:r>
              <a:rPr lang="en-US" b="1" dirty="0" smtClean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"has a 					</a:t>
            </a:r>
            <a:r>
              <a:rPr lang="en-US" b="1" dirty="0" err="1" smtClean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Facebook</a:t>
            </a:r>
            <a:r>
              <a:rPr lang="en-US" b="1" dirty="0" smtClean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"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);</a:t>
            </a:r>
          </a:p>
          <a:p>
            <a:pPr>
              <a:buNone/>
            </a:pP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}</a:t>
            </a:r>
            <a:r>
              <a:rPr lang="en-US" b="1" dirty="0" smtClean="0">
                <a:solidFill>
                  <a:schemeClr val="accent3">
                    <a:lumMod val="50000"/>
                  </a:schemeClr>
                </a:solidFill>
                <a:latin typeface="Courier New" pitchFamily="49" charset="0"/>
                <a:cs typeface="Courier New" pitchFamily="49" charset="0"/>
              </a:rPr>
              <a:t>//end block if(</a:t>
            </a:r>
            <a:r>
              <a:rPr lang="en-US" b="1" dirty="0" err="1" smtClean="0">
                <a:solidFill>
                  <a:schemeClr val="accent3">
                    <a:lumMod val="50000"/>
                  </a:schemeClr>
                </a:solidFill>
                <a:latin typeface="Courier New" pitchFamily="49" charset="0"/>
                <a:cs typeface="Courier New" pitchFamily="49" charset="0"/>
              </a:rPr>
              <a:t>hasFacebook</a:t>
            </a:r>
            <a:r>
              <a:rPr lang="en-US" b="1" dirty="0" smtClean="0">
                <a:solidFill>
                  <a:schemeClr val="accent3">
                    <a:lumMod val="50000"/>
                  </a:schemeClr>
                </a:solidFill>
                <a:latin typeface="Courier New" pitchFamily="49" charset="0"/>
                <a:cs typeface="Courier New" pitchFamily="49" charset="0"/>
              </a:rPr>
              <a:t> == true)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But how do I represent when </a:t>
            </a:r>
            <a:r>
              <a:rPr lang="en-US" dirty="0" err="1" smtClean="0">
                <a:solidFill>
                  <a:schemeClr val="bg1"/>
                </a:solidFill>
              </a:rPr>
              <a:t>hasFacebook</a:t>
            </a:r>
            <a:r>
              <a:rPr lang="en-US" dirty="0" smtClean="0">
                <a:solidFill>
                  <a:schemeClr val="bg1"/>
                </a:solidFill>
              </a:rPr>
              <a:t> is false?</a:t>
            </a:r>
            <a:endParaRPr lang="en-US" b="1" dirty="0" smtClean="0">
              <a:solidFill>
                <a:schemeClr val="accent3">
                  <a:lumMod val="50000"/>
                </a:schemeClr>
              </a:solidFill>
              <a:latin typeface="Courier New" pitchFamily="49" charset="0"/>
              <a:cs typeface="Courier New" pitchFamily="49" charset="0"/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else if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()</a:t>
            </a:r>
            <a:endParaRPr lang="en-US" b="1" dirty="0">
              <a:solidFill>
                <a:schemeClr val="bg1"/>
              </a:solidFill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>
                <a:solidFill>
                  <a:schemeClr val="bg1"/>
                </a:solidFill>
                <a:cs typeface="Courier New" pitchFamily="49" charset="0"/>
              </a:rPr>
              <a:t>If an </a:t>
            </a:r>
            <a:r>
              <a:rPr lang="en-US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if</a:t>
            </a:r>
            <a:r>
              <a:rPr lang="en-US" dirty="0" smtClean="0">
                <a:solidFill>
                  <a:schemeClr val="bg1"/>
                </a:solidFill>
                <a:cs typeface="Courier New" pitchFamily="49" charset="0"/>
              </a:rPr>
              <a:t> condition fails (the </a:t>
            </a:r>
            <a:r>
              <a:rPr lang="en-US" dirty="0" err="1" smtClean="0">
                <a:solidFill>
                  <a:schemeClr val="bg1"/>
                </a:solidFill>
                <a:cs typeface="Courier New" pitchFamily="49" charset="0"/>
              </a:rPr>
              <a:t>boolean</a:t>
            </a:r>
            <a:r>
              <a:rPr lang="en-US" dirty="0" smtClean="0">
                <a:solidFill>
                  <a:schemeClr val="bg1"/>
                </a:solidFill>
                <a:cs typeface="Courier New" pitchFamily="49" charset="0"/>
              </a:rPr>
              <a:t> condition evaluates to false), it will check the condition for the subsequent </a:t>
            </a:r>
            <a:r>
              <a:rPr lang="en-US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else if</a:t>
            </a:r>
            <a:r>
              <a:rPr lang="en-US" dirty="0" smtClean="0">
                <a:solidFill>
                  <a:schemeClr val="bg1"/>
                </a:solidFill>
                <a:cs typeface="Courier New" pitchFamily="49" charset="0"/>
              </a:rPr>
              <a:t>.</a:t>
            </a:r>
          </a:p>
          <a:p>
            <a:r>
              <a:rPr lang="en-US" dirty="0" smtClean="0">
                <a:solidFill>
                  <a:schemeClr val="bg1"/>
                </a:solidFill>
                <a:cs typeface="Courier New" pitchFamily="49" charset="0"/>
              </a:rPr>
              <a:t>Can also be placed directly after another </a:t>
            </a:r>
            <a:r>
              <a:rPr lang="en-US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else if</a:t>
            </a:r>
            <a:r>
              <a:rPr lang="en-US" dirty="0" smtClean="0">
                <a:solidFill>
                  <a:schemeClr val="bg1"/>
                </a:solidFill>
                <a:cs typeface="Courier New" pitchFamily="49" charset="0"/>
              </a:rPr>
              <a:t> block (i.e. you can have several).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else if</a:t>
            </a:r>
            <a:r>
              <a:rPr lang="en-US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()</a:t>
            </a:r>
            <a:endParaRPr lang="en-US" dirty="0">
              <a:solidFill>
                <a:schemeClr val="bg1"/>
              </a:solidFill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>
                <a:solidFill>
                  <a:schemeClr val="bg1"/>
                </a:solidFill>
              </a:rPr>
              <a:t>Otherwise, if </a:t>
            </a:r>
            <a:r>
              <a:rPr lang="en-US" dirty="0" err="1" smtClean="0">
                <a:solidFill>
                  <a:schemeClr val="bg1"/>
                </a:solidFill>
              </a:rPr>
              <a:t>hasFacebook</a:t>
            </a:r>
            <a:r>
              <a:rPr lang="en-US" dirty="0" smtClean="0">
                <a:solidFill>
                  <a:schemeClr val="bg1"/>
                </a:solidFill>
              </a:rPr>
              <a:t> is false, then print "does not have a </a:t>
            </a:r>
            <a:r>
              <a:rPr lang="en-US" dirty="0" err="1" smtClean="0">
                <a:solidFill>
                  <a:schemeClr val="bg1"/>
                </a:solidFill>
              </a:rPr>
              <a:t>Facebook</a:t>
            </a:r>
            <a:r>
              <a:rPr lang="en-US" dirty="0" smtClean="0">
                <a:solidFill>
                  <a:schemeClr val="bg1"/>
                </a:solidFill>
              </a:rPr>
              <a:t>"</a:t>
            </a:r>
          </a:p>
          <a:p>
            <a:pPr>
              <a:buNone/>
            </a:pPr>
            <a:r>
              <a:rPr lang="en-US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else if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(</a:t>
            </a:r>
            <a:r>
              <a:rPr lang="en-US" b="1" dirty="0" err="1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hasFacebook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== </a:t>
            </a:r>
            <a:r>
              <a:rPr lang="en-US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false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)</a:t>
            </a:r>
          </a:p>
          <a:p>
            <a:pPr>
              <a:buNone/>
            </a:pP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{</a:t>
            </a:r>
          </a:p>
          <a:p>
            <a:pPr>
              <a:buNone/>
            </a:pP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		</a:t>
            </a:r>
            <a:r>
              <a:rPr lang="en-US" b="1" dirty="0" err="1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System.out.println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(</a:t>
            </a:r>
            <a:r>
              <a:rPr lang="en-US" b="1" dirty="0" smtClean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"does not 			have a </a:t>
            </a:r>
            <a:r>
              <a:rPr lang="en-US" b="1" dirty="0" err="1" smtClean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Facebook</a:t>
            </a:r>
            <a:r>
              <a:rPr lang="en-US" b="1" dirty="0" smtClean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"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);</a:t>
            </a:r>
          </a:p>
          <a:p>
            <a:pPr>
              <a:buNone/>
            </a:pP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}</a:t>
            </a:r>
            <a:r>
              <a:rPr lang="en-US" b="1" dirty="0" smtClean="0">
                <a:solidFill>
                  <a:schemeClr val="accent3">
                    <a:lumMod val="50000"/>
                  </a:schemeClr>
                </a:solidFill>
                <a:latin typeface="Courier New" pitchFamily="49" charset="0"/>
                <a:cs typeface="Courier New" pitchFamily="49" charset="0"/>
              </a:rPr>
              <a:t>//end block else if(</a:t>
            </a:r>
            <a:r>
              <a:rPr lang="en-US" b="1" dirty="0" err="1" smtClean="0">
                <a:solidFill>
                  <a:schemeClr val="accent3">
                    <a:lumMod val="50000"/>
                  </a:schemeClr>
                </a:solidFill>
                <a:latin typeface="Courier New" pitchFamily="49" charset="0"/>
                <a:cs typeface="Courier New" pitchFamily="49" charset="0"/>
              </a:rPr>
              <a:t>hasFacebook</a:t>
            </a:r>
            <a:endParaRPr lang="en-US" b="1" dirty="0" smtClean="0">
              <a:solidFill>
                <a:schemeClr val="accent3">
                  <a:lumMod val="50000"/>
                </a:schemeClr>
              </a:solidFill>
              <a:latin typeface="Courier New" pitchFamily="49" charset="0"/>
              <a:cs typeface="Courier New" pitchFamily="49" charset="0"/>
            </a:endParaRPr>
          </a:p>
          <a:p>
            <a:pPr>
              <a:buNone/>
            </a:pPr>
            <a:r>
              <a:rPr lang="en-US" b="1" dirty="0" smtClean="0">
                <a:solidFill>
                  <a:schemeClr val="accent3">
                    <a:lumMod val="50000"/>
                  </a:schemeClr>
                </a:solidFill>
                <a:latin typeface="Courier New" pitchFamily="49" charset="0"/>
                <a:cs typeface="Courier New" pitchFamily="49" charset="0"/>
              </a:rPr>
              <a:t> // == false)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else if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()</a:t>
            </a:r>
            <a:endParaRPr lang="en-US" b="1" dirty="0">
              <a:solidFill>
                <a:schemeClr val="bg1"/>
              </a:solidFill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>
              <a:buNone/>
            </a:pPr>
            <a:r>
              <a:rPr lang="en-US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if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(</a:t>
            </a:r>
            <a:r>
              <a:rPr lang="en-US" b="1" dirty="0" err="1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hasFacebook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== </a:t>
            </a:r>
            <a:r>
              <a:rPr lang="en-US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true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)</a:t>
            </a:r>
          </a:p>
          <a:p>
            <a:pPr>
              <a:buNone/>
            </a:pP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{</a:t>
            </a:r>
          </a:p>
          <a:p>
            <a:pPr>
              <a:buNone/>
            </a:pP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		</a:t>
            </a:r>
            <a:r>
              <a:rPr lang="en-US" b="1" dirty="0" err="1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System.out.println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(</a:t>
            </a:r>
            <a:r>
              <a:rPr lang="en-US" b="1" dirty="0" smtClean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"has a </a:t>
            </a:r>
            <a:r>
              <a:rPr lang="en-US" b="1" dirty="0" err="1" smtClean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Facebook</a:t>
            </a:r>
            <a:r>
              <a:rPr lang="en-US" b="1" dirty="0" smtClean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"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);</a:t>
            </a:r>
          </a:p>
          <a:p>
            <a:pPr>
              <a:buNone/>
            </a:pP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}</a:t>
            </a:r>
            <a:r>
              <a:rPr lang="en-US" b="1" dirty="0" smtClean="0">
                <a:solidFill>
                  <a:schemeClr val="accent3">
                    <a:lumMod val="50000"/>
                  </a:schemeClr>
                </a:solidFill>
                <a:latin typeface="Courier New" pitchFamily="49" charset="0"/>
                <a:cs typeface="Courier New" pitchFamily="49" charset="0"/>
              </a:rPr>
              <a:t>//end block if(</a:t>
            </a:r>
            <a:r>
              <a:rPr lang="en-US" b="1" dirty="0" err="1" smtClean="0">
                <a:solidFill>
                  <a:schemeClr val="accent3">
                    <a:lumMod val="50000"/>
                  </a:schemeClr>
                </a:solidFill>
                <a:latin typeface="Courier New" pitchFamily="49" charset="0"/>
                <a:cs typeface="Courier New" pitchFamily="49" charset="0"/>
              </a:rPr>
              <a:t>hasFacebook</a:t>
            </a:r>
            <a:r>
              <a:rPr lang="en-US" b="1" dirty="0" smtClean="0">
                <a:solidFill>
                  <a:schemeClr val="accent3">
                    <a:lumMod val="50000"/>
                  </a:schemeClr>
                </a:solidFill>
                <a:latin typeface="Courier New" pitchFamily="49" charset="0"/>
                <a:cs typeface="Courier New" pitchFamily="49" charset="0"/>
              </a:rPr>
              <a:t> == true)</a:t>
            </a:r>
            <a:endParaRPr lang="en-US" b="1" dirty="0" smtClean="0">
              <a:solidFill>
                <a:schemeClr val="accent3">
                  <a:lumMod val="50000"/>
                </a:schemeClr>
              </a:solidFill>
              <a:cs typeface="Courier New" pitchFamily="49" charset="0"/>
            </a:endParaRPr>
          </a:p>
          <a:p>
            <a:pPr>
              <a:buNone/>
            </a:pPr>
            <a:r>
              <a:rPr lang="en-US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else if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(</a:t>
            </a:r>
            <a:r>
              <a:rPr lang="en-US" b="1" dirty="0" err="1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hasFacebook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== </a:t>
            </a:r>
            <a:r>
              <a:rPr lang="en-US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false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)</a:t>
            </a:r>
          </a:p>
          <a:p>
            <a:pPr>
              <a:buNone/>
            </a:pP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{</a:t>
            </a:r>
          </a:p>
          <a:p>
            <a:pPr>
              <a:buNone/>
            </a:pP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		</a:t>
            </a:r>
            <a:r>
              <a:rPr lang="en-US" b="1" dirty="0" err="1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System.out.println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(</a:t>
            </a:r>
            <a:r>
              <a:rPr lang="en-US" b="1" dirty="0" smtClean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"does not have a 			</a:t>
            </a:r>
            <a:r>
              <a:rPr lang="en-US" b="1" dirty="0" err="1" smtClean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Facebook</a:t>
            </a:r>
            <a:r>
              <a:rPr lang="en-US" b="1" dirty="0" smtClean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"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);</a:t>
            </a:r>
          </a:p>
          <a:p>
            <a:pPr>
              <a:buNone/>
            </a:pP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}</a:t>
            </a:r>
            <a:r>
              <a:rPr lang="en-US" b="1" dirty="0" smtClean="0">
                <a:solidFill>
                  <a:schemeClr val="accent3">
                    <a:lumMod val="50000"/>
                  </a:schemeClr>
                </a:solidFill>
                <a:latin typeface="Courier New" pitchFamily="49" charset="0"/>
                <a:cs typeface="Courier New" pitchFamily="49" charset="0"/>
              </a:rPr>
              <a:t>//end block else if(</a:t>
            </a:r>
            <a:r>
              <a:rPr lang="en-US" b="1" dirty="0" err="1" smtClean="0">
                <a:solidFill>
                  <a:schemeClr val="accent3">
                    <a:lumMod val="50000"/>
                  </a:schemeClr>
                </a:solidFill>
                <a:latin typeface="Courier New" pitchFamily="49" charset="0"/>
                <a:cs typeface="Courier New" pitchFamily="49" charset="0"/>
              </a:rPr>
              <a:t>hasFacebook</a:t>
            </a:r>
            <a:r>
              <a:rPr lang="en-US" b="1" dirty="0" smtClean="0">
                <a:solidFill>
                  <a:schemeClr val="accent3">
                    <a:lumMod val="50000"/>
                  </a:schemeClr>
                </a:solidFill>
                <a:latin typeface="Courier New" pitchFamily="49" charset="0"/>
                <a:cs typeface="Courier New" pitchFamily="49" charset="0"/>
              </a:rPr>
              <a:t> == false)</a:t>
            </a:r>
          </a:p>
          <a:p>
            <a:pPr>
              <a:buNone/>
            </a:pPr>
            <a:r>
              <a:rPr lang="en-US" sz="4100" dirty="0" smtClean="0">
                <a:solidFill>
                  <a:schemeClr val="bg1"/>
                </a:solidFill>
                <a:cs typeface="Courier New" pitchFamily="49" charset="0"/>
              </a:rPr>
              <a:t>Seems </a:t>
            </a:r>
            <a:r>
              <a:rPr lang="en-US" sz="4100" dirty="0" err="1" smtClean="0">
                <a:solidFill>
                  <a:schemeClr val="bg1"/>
                </a:solidFill>
                <a:cs typeface="Courier New" pitchFamily="49" charset="0"/>
              </a:rPr>
              <a:t>kinda</a:t>
            </a:r>
            <a:r>
              <a:rPr lang="en-US" sz="4100" dirty="0" smtClean="0">
                <a:solidFill>
                  <a:schemeClr val="bg1"/>
                </a:solidFill>
                <a:cs typeface="Courier New" pitchFamily="49" charset="0"/>
              </a:rPr>
              <a:t> wordy…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hasFacebook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== </a:t>
            </a:r>
            <a:r>
              <a:rPr lang="en-US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true</a:t>
            </a:r>
            <a:endParaRPr lang="en-US" b="1" dirty="0">
              <a:solidFill>
                <a:srgbClr val="7030A0"/>
              </a:solidFill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dirty="0" smtClean="0">
                <a:solidFill>
                  <a:schemeClr val="bg1"/>
                </a:solidFill>
              </a:rPr>
              <a:t>What does that give us?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What type?</a:t>
            </a:r>
          </a:p>
          <a:p>
            <a:r>
              <a:rPr lang="en-US" b="1" dirty="0" err="1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hasFacebook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== </a:t>
            </a:r>
            <a:r>
              <a:rPr lang="en-US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true</a:t>
            </a:r>
            <a:r>
              <a:rPr lang="en-US" dirty="0" smtClean="0">
                <a:solidFill>
                  <a:schemeClr val="bg1"/>
                </a:solidFill>
              </a:rPr>
              <a:t> when </a:t>
            </a:r>
            <a:r>
              <a:rPr lang="en-US" b="1" dirty="0" err="1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hasFacebook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= </a:t>
            </a:r>
            <a:r>
              <a:rPr lang="en-US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true</a:t>
            </a:r>
            <a:r>
              <a:rPr lang="en-US" dirty="0" smtClean="0">
                <a:solidFill>
                  <a:schemeClr val="bg1"/>
                </a:solidFill>
              </a:rPr>
              <a:t> gives us?</a:t>
            </a:r>
          </a:p>
          <a:p>
            <a:r>
              <a:rPr lang="en-US" b="1" dirty="0" err="1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hasFacebook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== </a:t>
            </a:r>
            <a:r>
              <a:rPr lang="en-US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true</a:t>
            </a:r>
            <a:r>
              <a:rPr lang="en-US" dirty="0" smtClean="0">
                <a:solidFill>
                  <a:schemeClr val="bg1"/>
                </a:solidFill>
              </a:rPr>
              <a:t> when </a:t>
            </a:r>
            <a:r>
              <a:rPr lang="en-US" b="1" dirty="0" err="1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hasFacebook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= </a:t>
            </a:r>
            <a:r>
              <a:rPr lang="en-US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false</a:t>
            </a:r>
            <a:r>
              <a:rPr lang="en-US" dirty="0" smtClean="0">
                <a:solidFill>
                  <a:schemeClr val="bg1"/>
                </a:solidFill>
              </a:rPr>
              <a:t> gives us?</a:t>
            </a:r>
          </a:p>
          <a:p>
            <a:r>
              <a:rPr lang="en-US" b="1" dirty="0" err="1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hasFacebook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== </a:t>
            </a:r>
            <a:r>
              <a:rPr lang="en-US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true</a:t>
            </a:r>
            <a:r>
              <a:rPr lang="en-US" dirty="0" smtClean="0">
                <a:solidFill>
                  <a:schemeClr val="bg1"/>
                </a:solidFill>
              </a:rPr>
              <a:t> </a:t>
            </a:r>
            <a:r>
              <a:rPr lang="en-US" dirty="0" smtClean="0">
                <a:solidFill>
                  <a:schemeClr val="bg1"/>
                </a:solidFill>
                <a:sym typeface="Wingdings" pitchFamily="2" charset="2"/>
              </a:rPr>
              <a:t> </a:t>
            </a:r>
            <a:r>
              <a:rPr lang="en-US" b="1" dirty="0" err="1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  <a:sym typeface="Wingdings" pitchFamily="2" charset="2"/>
              </a:rPr>
              <a:t>hasFacebook</a:t>
            </a:r>
            <a:endParaRPr lang="en-US" b="1" dirty="0" smtClean="0">
              <a:solidFill>
                <a:schemeClr val="bg1"/>
              </a:solidFill>
              <a:latin typeface="Courier New" pitchFamily="49" charset="0"/>
              <a:cs typeface="Courier New" pitchFamily="49" charset="0"/>
              <a:sym typeface="Wingdings" pitchFamily="2" charset="2"/>
            </a:endParaRPr>
          </a:p>
          <a:p>
            <a:r>
              <a:rPr lang="en-US" dirty="0" smtClean="0">
                <a:solidFill>
                  <a:schemeClr val="bg1"/>
                </a:solidFill>
                <a:cs typeface="Courier New" pitchFamily="49" charset="0"/>
                <a:sym typeface="Wingdings" pitchFamily="2" charset="2"/>
              </a:rPr>
              <a:t>*Gasp*</a:t>
            </a:r>
            <a:endParaRPr lang="en-US" dirty="0">
              <a:solidFill>
                <a:schemeClr val="bg1"/>
              </a:solidFill>
              <a:cs typeface="Courier New" pitchFamily="49" charset="0"/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if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()</a:t>
            </a:r>
            <a:endParaRPr lang="en-US" b="1" dirty="0">
              <a:solidFill>
                <a:schemeClr val="bg1"/>
              </a:solidFill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>
              <a:buNone/>
            </a:pPr>
            <a:r>
              <a:rPr lang="en-US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if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(</a:t>
            </a:r>
            <a:r>
              <a:rPr lang="en-US" b="1" dirty="0" err="1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hasFacebook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)</a:t>
            </a:r>
          </a:p>
          <a:p>
            <a:pPr>
              <a:buNone/>
            </a:pP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{</a:t>
            </a:r>
          </a:p>
          <a:p>
            <a:pPr>
              <a:buNone/>
            </a:pP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		</a:t>
            </a:r>
            <a:r>
              <a:rPr lang="en-US" b="1" dirty="0" err="1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System.out.println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(</a:t>
            </a:r>
            <a:r>
              <a:rPr lang="en-US" b="1" dirty="0" smtClean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"has a </a:t>
            </a:r>
            <a:r>
              <a:rPr lang="en-US" b="1" dirty="0" err="1" smtClean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Facebook</a:t>
            </a:r>
            <a:r>
              <a:rPr lang="en-US" b="1" dirty="0" smtClean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"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);</a:t>
            </a:r>
          </a:p>
          <a:p>
            <a:pPr>
              <a:buNone/>
            </a:pP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}</a:t>
            </a:r>
            <a:r>
              <a:rPr lang="en-US" b="1" dirty="0" smtClean="0">
                <a:solidFill>
                  <a:schemeClr val="accent3">
                    <a:lumMod val="50000"/>
                  </a:schemeClr>
                </a:solidFill>
                <a:latin typeface="Courier New" pitchFamily="49" charset="0"/>
                <a:cs typeface="Courier New" pitchFamily="49" charset="0"/>
              </a:rPr>
              <a:t>//end block if(</a:t>
            </a:r>
            <a:r>
              <a:rPr lang="en-US" b="1" dirty="0" err="1" smtClean="0">
                <a:solidFill>
                  <a:schemeClr val="accent3">
                    <a:lumMod val="50000"/>
                  </a:schemeClr>
                </a:solidFill>
                <a:latin typeface="Courier New" pitchFamily="49" charset="0"/>
                <a:cs typeface="Courier New" pitchFamily="49" charset="0"/>
              </a:rPr>
              <a:t>hasFacebook</a:t>
            </a:r>
            <a:r>
              <a:rPr lang="en-US" b="1" dirty="0" smtClean="0">
                <a:solidFill>
                  <a:schemeClr val="accent3">
                    <a:lumMod val="50000"/>
                  </a:schemeClr>
                </a:solidFill>
                <a:latin typeface="Courier New" pitchFamily="49" charset="0"/>
                <a:cs typeface="Courier New" pitchFamily="49" charset="0"/>
              </a:rPr>
              <a:t>)</a:t>
            </a:r>
            <a:endParaRPr lang="en-US" b="1" dirty="0" smtClean="0">
              <a:solidFill>
                <a:schemeClr val="accent3">
                  <a:lumMod val="50000"/>
                </a:schemeClr>
              </a:solidFill>
              <a:cs typeface="Courier New" pitchFamily="49" charset="0"/>
            </a:endParaRPr>
          </a:p>
          <a:p>
            <a:pPr>
              <a:buNone/>
            </a:pPr>
            <a:r>
              <a:rPr lang="en-US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else if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(</a:t>
            </a:r>
            <a:r>
              <a:rPr lang="en-US" b="1" dirty="0" err="1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hasFacebook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== </a:t>
            </a:r>
            <a:r>
              <a:rPr lang="en-US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false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)</a:t>
            </a:r>
          </a:p>
          <a:p>
            <a:pPr>
              <a:buNone/>
            </a:pP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{</a:t>
            </a:r>
          </a:p>
          <a:p>
            <a:pPr>
              <a:buNone/>
            </a:pP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		</a:t>
            </a:r>
            <a:r>
              <a:rPr lang="en-US" b="1" dirty="0" err="1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System.out.println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(</a:t>
            </a:r>
            <a:r>
              <a:rPr lang="en-US" b="1" dirty="0" smtClean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"does not have a 			</a:t>
            </a:r>
            <a:r>
              <a:rPr lang="en-US" b="1" dirty="0" err="1" smtClean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Facebook</a:t>
            </a:r>
            <a:r>
              <a:rPr lang="en-US" b="1" dirty="0" smtClean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"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);</a:t>
            </a:r>
          </a:p>
          <a:p>
            <a:pPr>
              <a:buNone/>
            </a:pP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}</a:t>
            </a:r>
            <a:r>
              <a:rPr lang="en-US" b="1" dirty="0" smtClean="0">
                <a:solidFill>
                  <a:schemeClr val="accent3">
                    <a:lumMod val="50000"/>
                  </a:schemeClr>
                </a:solidFill>
                <a:latin typeface="Courier New" pitchFamily="49" charset="0"/>
                <a:cs typeface="Courier New" pitchFamily="49" charset="0"/>
              </a:rPr>
              <a:t>//end block else if(</a:t>
            </a:r>
            <a:r>
              <a:rPr lang="en-US" b="1" dirty="0" err="1" smtClean="0">
                <a:solidFill>
                  <a:schemeClr val="accent3">
                    <a:lumMod val="50000"/>
                  </a:schemeClr>
                </a:solidFill>
                <a:latin typeface="Courier New" pitchFamily="49" charset="0"/>
                <a:cs typeface="Courier New" pitchFamily="49" charset="0"/>
              </a:rPr>
              <a:t>hasFacebook</a:t>
            </a:r>
            <a:r>
              <a:rPr lang="en-US" b="1" dirty="0" smtClean="0">
                <a:solidFill>
                  <a:schemeClr val="accent3">
                    <a:lumMod val="50000"/>
                  </a:schemeClr>
                </a:solidFill>
                <a:latin typeface="Courier New" pitchFamily="49" charset="0"/>
                <a:cs typeface="Courier New" pitchFamily="49" charset="0"/>
              </a:rPr>
              <a:t> == false)</a:t>
            </a:r>
          </a:p>
          <a:p>
            <a:pPr>
              <a:buNone/>
            </a:pPr>
            <a:r>
              <a:rPr lang="en-US" sz="4100" dirty="0" smtClean="0">
                <a:solidFill>
                  <a:schemeClr val="bg1"/>
                </a:solidFill>
                <a:cs typeface="Courier New" pitchFamily="49" charset="0"/>
              </a:rPr>
              <a:t>Still </a:t>
            </a:r>
            <a:r>
              <a:rPr lang="en-US" sz="4100" dirty="0" err="1" smtClean="0">
                <a:solidFill>
                  <a:schemeClr val="bg1"/>
                </a:solidFill>
                <a:cs typeface="Courier New" pitchFamily="49" charset="0"/>
              </a:rPr>
              <a:t>kinda</a:t>
            </a:r>
            <a:r>
              <a:rPr lang="en-US" sz="4100" dirty="0" smtClean="0">
                <a:solidFill>
                  <a:schemeClr val="bg1"/>
                </a:solidFill>
                <a:cs typeface="Courier New" pitchFamily="49" charset="0"/>
              </a:rPr>
              <a:t> wordy…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hasFacebook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== </a:t>
            </a:r>
            <a:r>
              <a:rPr lang="en-US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false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We want to use the same trick we did before, except this time with </a:t>
            </a:r>
            <a:r>
              <a:rPr lang="en-US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false</a:t>
            </a:r>
            <a:r>
              <a:rPr lang="en-US" dirty="0" smtClean="0">
                <a:solidFill>
                  <a:schemeClr val="bg1"/>
                </a:solidFill>
              </a:rPr>
              <a:t> instead of </a:t>
            </a:r>
            <a:r>
              <a:rPr lang="en-US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true</a:t>
            </a:r>
            <a:r>
              <a:rPr lang="en-US" dirty="0" smtClean="0">
                <a:solidFill>
                  <a:schemeClr val="bg1"/>
                </a:solidFill>
              </a:rPr>
              <a:t>.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Remember the </a:t>
            </a:r>
            <a:r>
              <a:rPr lang="en-US" b="1" dirty="0" err="1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boolean</a:t>
            </a:r>
            <a:r>
              <a:rPr lang="en-US" dirty="0" smtClean="0">
                <a:solidFill>
                  <a:schemeClr val="bg1"/>
                </a:solidFill>
              </a:rPr>
              <a:t> operators?</a:t>
            </a:r>
            <a:endParaRPr lang="en-US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if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()</a:t>
            </a:r>
            <a:endParaRPr lang="en-US" b="1" dirty="0">
              <a:solidFill>
                <a:schemeClr val="bg1"/>
              </a:solidFill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>
              <a:buNone/>
            </a:pPr>
            <a:r>
              <a:rPr lang="en-US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if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(</a:t>
            </a:r>
            <a:r>
              <a:rPr lang="en-US" b="1" dirty="0" err="1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hasFacebook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)</a:t>
            </a:r>
          </a:p>
          <a:p>
            <a:pPr>
              <a:buNone/>
            </a:pP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{</a:t>
            </a:r>
          </a:p>
          <a:p>
            <a:pPr>
              <a:buNone/>
            </a:pP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		</a:t>
            </a:r>
            <a:r>
              <a:rPr lang="en-US" b="1" dirty="0" err="1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System.out.println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(</a:t>
            </a:r>
            <a:r>
              <a:rPr lang="en-US" b="1" dirty="0" smtClean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"has a </a:t>
            </a:r>
            <a:r>
              <a:rPr lang="en-US" b="1" dirty="0" err="1" smtClean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Facebook</a:t>
            </a:r>
            <a:r>
              <a:rPr lang="en-US" b="1" dirty="0" smtClean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"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);</a:t>
            </a:r>
          </a:p>
          <a:p>
            <a:pPr>
              <a:buNone/>
            </a:pP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}</a:t>
            </a:r>
            <a:r>
              <a:rPr lang="en-US" b="1" dirty="0" smtClean="0">
                <a:solidFill>
                  <a:schemeClr val="accent3">
                    <a:lumMod val="50000"/>
                  </a:schemeClr>
                </a:solidFill>
                <a:latin typeface="Courier New" pitchFamily="49" charset="0"/>
                <a:cs typeface="Courier New" pitchFamily="49" charset="0"/>
              </a:rPr>
              <a:t>//end block if(</a:t>
            </a:r>
            <a:r>
              <a:rPr lang="en-US" b="1" dirty="0" err="1" smtClean="0">
                <a:solidFill>
                  <a:schemeClr val="accent3">
                    <a:lumMod val="50000"/>
                  </a:schemeClr>
                </a:solidFill>
                <a:latin typeface="Courier New" pitchFamily="49" charset="0"/>
                <a:cs typeface="Courier New" pitchFamily="49" charset="0"/>
              </a:rPr>
              <a:t>hasFacebook</a:t>
            </a:r>
            <a:r>
              <a:rPr lang="en-US" b="1" dirty="0" smtClean="0">
                <a:solidFill>
                  <a:schemeClr val="accent3">
                    <a:lumMod val="50000"/>
                  </a:schemeClr>
                </a:solidFill>
                <a:latin typeface="Courier New" pitchFamily="49" charset="0"/>
                <a:cs typeface="Courier New" pitchFamily="49" charset="0"/>
              </a:rPr>
              <a:t>)</a:t>
            </a:r>
            <a:endParaRPr lang="en-US" b="1" dirty="0" smtClean="0">
              <a:solidFill>
                <a:schemeClr val="accent3">
                  <a:lumMod val="50000"/>
                </a:schemeClr>
              </a:solidFill>
              <a:cs typeface="Courier New" pitchFamily="49" charset="0"/>
            </a:endParaRPr>
          </a:p>
          <a:p>
            <a:pPr>
              <a:buNone/>
            </a:pPr>
            <a:r>
              <a:rPr lang="en-US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else if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(!</a:t>
            </a:r>
            <a:r>
              <a:rPr lang="en-US" b="1" dirty="0" err="1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hasFacebook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)</a:t>
            </a:r>
          </a:p>
          <a:p>
            <a:pPr>
              <a:buNone/>
            </a:pP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{</a:t>
            </a:r>
          </a:p>
          <a:p>
            <a:pPr>
              <a:buNone/>
            </a:pP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		</a:t>
            </a:r>
            <a:r>
              <a:rPr lang="en-US" b="1" dirty="0" err="1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System.out.println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(</a:t>
            </a:r>
            <a:r>
              <a:rPr lang="en-US" b="1" dirty="0" smtClean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"does not have a 			</a:t>
            </a:r>
            <a:r>
              <a:rPr lang="en-US" b="1" dirty="0" err="1" smtClean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Facebook</a:t>
            </a:r>
            <a:r>
              <a:rPr lang="en-US" b="1" dirty="0" smtClean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"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);</a:t>
            </a:r>
          </a:p>
          <a:p>
            <a:pPr>
              <a:buNone/>
            </a:pP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}</a:t>
            </a:r>
            <a:r>
              <a:rPr lang="en-US" b="1" dirty="0" smtClean="0">
                <a:solidFill>
                  <a:schemeClr val="accent3">
                    <a:lumMod val="50000"/>
                  </a:schemeClr>
                </a:solidFill>
                <a:latin typeface="Courier New" pitchFamily="49" charset="0"/>
                <a:cs typeface="Courier New" pitchFamily="49" charset="0"/>
              </a:rPr>
              <a:t>//end block else if(!</a:t>
            </a:r>
            <a:r>
              <a:rPr lang="en-US" b="1" dirty="0" err="1" smtClean="0">
                <a:solidFill>
                  <a:schemeClr val="accent3">
                    <a:lumMod val="50000"/>
                  </a:schemeClr>
                </a:solidFill>
                <a:latin typeface="Courier New" pitchFamily="49" charset="0"/>
                <a:cs typeface="Courier New" pitchFamily="49" charset="0"/>
              </a:rPr>
              <a:t>hasFacebook</a:t>
            </a:r>
            <a:r>
              <a:rPr lang="en-US" b="1" dirty="0" smtClean="0">
                <a:solidFill>
                  <a:schemeClr val="accent3">
                    <a:lumMod val="50000"/>
                  </a:schemeClr>
                </a:solidFill>
                <a:latin typeface="Courier New" pitchFamily="49" charset="0"/>
                <a:cs typeface="Courier New" pitchFamily="49" charset="0"/>
              </a:rPr>
              <a:t>)</a:t>
            </a:r>
          </a:p>
          <a:p>
            <a:pPr>
              <a:buNone/>
            </a:pPr>
            <a:r>
              <a:rPr lang="en-US" sz="4100" dirty="0" smtClean="0">
                <a:solidFill>
                  <a:schemeClr val="bg1"/>
                </a:solidFill>
                <a:cs typeface="Courier New" pitchFamily="49" charset="0"/>
              </a:rPr>
              <a:t>Still </a:t>
            </a:r>
            <a:r>
              <a:rPr lang="en-US" sz="4100" dirty="0" err="1" smtClean="0">
                <a:solidFill>
                  <a:schemeClr val="bg1"/>
                </a:solidFill>
                <a:cs typeface="Courier New" pitchFamily="49" charset="0"/>
              </a:rPr>
              <a:t>kinda</a:t>
            </a:r>
            <a:r>
              <a:rPr lang="en-US" sz="4100" dirty="0" smtClean="0">
                <a:solidFill>
                  <a:schemeClr val="bg1"/>
                </a:solidFill>
                <a:cs typeface="Courier New" pitchFamily="49" charset="0"/>
              </a:rPr>
              <a:t> wordy…</a:t>
            </a:r>
          </a:p>
          <a:p>
            <a:pPr>
              <a:buNone/>
            </a:pPr>
            <a:r>
              <a:rPr lang="en-US" sz="4100" dirty="0" smtClean="0">
                <a:solidFill>
                  <a:schemeClr val="bg1"/>
                </a:solidFill>
                <a:cs typeface="Courier New" pitchFamily="49" charset="0"/>
              </a:rPr>
              <a:t> 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53</TotalTime>
  <Words>785</Words>
  <Application>Microsoft Office PowerPoint</Application>
  <PresentationFormat>On-screen Show (4:3)</PresentationFormat>
  <Paragraphs>194</Paragraphs>
  <Slides>29</Slides>
  <Notes>9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0" baseType="lpstr">
      <vt:lpstr>Office Theme</vt:lpstr>
      <vt:lpstr>CS 0007: Introduction to Java Lecture 8</vt:lpstr>
      <vt:lpstr>Announcement</vt:lpstr>
      <vt:lpstr>Function Components</vt:lpstr>
      <vt:lpstr>Function Overloading</vt:lpstr>
      <vt:lpstr>Function Overloading Rules</vt:lpstr>
      <vt:lpstr>Examples</vt:lpstr>
      <vt:lpstr>Special Functions</vt:lpstr>
      <vt:lpstr>If Statements</vt:lpstr>
      <vt:lpstr>If Statements</vt:lpstr>
      <vt:lpstr>Skeleton Statement</vt:lpstr>
      <vt:lpstr>Boolean Condition</vt:lpstr>
      <vt:lpstr>Java Example</vt:lpstr>
      <vt:lpstr>Slide 13</vt:lpstr>
      <vt:lpstr>Code Reminder</vt:lpstr>
      <vt:lpstr>A More Useful Output</vt:lpstr>
      <vt:lpstr>if()</vt:lpstr>
      <vt:lpstr>hasFacebook is true</vt:lpstr>
      <vt:lpstr>Making a new thing: Type name = value;  Changing the old thing: name = newValue;</vt:lpstr>
      <vt:lpstr>hasFacebook is true</vt:lpstr>
      <vt:lpstr>== vs =</vt:lpstr>
      <vt:lpstr>WARNING</vt:lpstr>
      <vt:lpstr>if()</vt:lpstr>
      <vt:lpstr>else if()</vt:lpstr>
      <vt:lpstr>else if()</vt:lpstr>
      <vt:lpstr>else if()</vt:lpstr>
      <vt:lpstr>hasFacebook == true</vt:lpstr>
      <vt:lpstr>if()</vt:lpstr>
      <vt:lpstr>hasFacebook == false</vt:lpstr>
      <vt:lpstr>if()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 0007: Introduction to Java Lecture 8</dc:title>
  <dc:creator>Eleonor Rico</dc:creator>
  <cp:lastModifiedBy>Eleonor Rico</cp:lastModifiedBy>
  <cp:revision>8</cp:revision>
  <dcterms:created xsi:type="dcterms:W3CDTF">2016-09-26T17:58:44Z</dcterms:created>
  <dcterms:modified xsi:type="dcterms:W3CDTF">2016-09-28T18:22:53Z</dcterms:modified>
</cp:coreProperties>
</file>