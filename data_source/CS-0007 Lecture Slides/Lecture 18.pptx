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056"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CC990EA-0DBA-47C4-937D-BB763E1CBE4C}" type="datetimeFigureOut">
              <a:rPr lang="en-US" smtClean="0"/>
              <a:pPr/>
              <a:t>11/9/2016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C990EA-0DBA-47C4-937D-BB763E1CBE4C}" type="datetimeFigureOut">
              <a:rPr lang="en-US" smtClean="0"/>
              <a:pPr/>
              <a:t>11/9/2016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CC990EA-0DBA-47C4-937D-BB763E1CBE4C}" type="datetimeFigureOut">
              <a:rPr lang="en-US" smtClean="0"/>
              <a:pPr/>
              <a:t>11/9/2016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CC990EA-0DBA-47C4-937D-BB763E1CBE4C}" type="datetimeFigureOut">
              <a:rPr lang="en-US" smtClean="0"/>
              <a:pPr/>
              <a:t>11/9/2016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CC990EA-0DBA-47C4-937D-BB763E1CBE4C}" type="datetimeFigureOut">
              <a:rPr lang="en-US" smtClean="0"/>
              <a:pPr/>
              <a:t>11/9/2016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CC990EA-0DBA-47C4-937D-BB763E1CBE4C}" type="datetimeFigureOut">
              <a:rPr lang="en-US" smtClean="0"/>
              <a:pPr/>
              <a:t>11/9/2016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C990EA-0DBA-47C4-937D-BB763E1CBE4C}" type="datetimeFigureOut">
              <a:rPr lang="en-US" smtClean="0"/>
              <a:pPr/>
              <a:t>11/9/2016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C990EA-0DBA-47C4-937D-BB763E1CBE4C}" type="datetimeFigureOut">
              <a:rPr lang="en-US" smtClean="0"/>
              <a:pPr/>
              <a:t>11/9/2016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C990EA-0DBA-47C4-937D-BB763E1CBE4C}" type="datetimeFigureOut">
              <a:rPr lang="en-US" smtClean="0"/>
              <a:pPr/>
              <a:t>11/9/2016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C990EA-0DBA-47C4-937D-BB763E1CBE4C}" type="datetimeFigureOut">
              <a:rPr lang="en-US" smtClean="0"/>
              <a:pPr/>
              <a:t>11/9/2016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C990EA-0DBA-47C4-937D-BB763E1CBE4C}" type="datetimeFigureOut">
              <a:rPr lang="en-US" smtClean="0"/>
              <a:pPr/>
              <a:t>11/9/2016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688D1D-AB8D-48E7-A41E-50B218591DD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C990EA-0DBA-47C4-937D-BB763E1CBE4C}" type="datetimeFigureOut">
              <a:rPr lang="en-US" smtClean="0"/>
              <a:pPr/>
              <a:t>11/9/2016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688D1D-AB8D-48E7-A41E-50B218591DD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chemeClr val="bg1"/>
                </a:solidFill>
              </a:rPr>
              <a:t>CS 0007: Introduction to Java</a:t>
            </a:r>
            <a:br>
              <a:rPr lang="en-US" dirty="0" smtClean="0">
                <a:solidFill>
                  <a:schemeClr val="bg1"/>
                </a:solidFill>
              </a:rPr>
            </a:br>
            <a:r>
              <a:rPr lang="en-US" dirty="0" smtClean="0">
                <a:solidFill>
                  <a:schemeClr val="bg1"/>
                </a:solidFill>
              </a:rPr>
              <a:t>Lecture 18</a:t>
            </a:r>
            <a:endParaRPr lang="en-US" dirty="0"/>
          </a:p>
        </p:txBody>
      </p:sp>
      <p:sp>
        <p:nvSpPr>
          <p:cNvPr id="3" name="Subtitle 2"/>
          <p:cNvSpPr>
            <a:spLocks noGrp="1"/>
          </p:cNvSpPr>
          <p:nvPr>
            <p:ph type="subTitle" idx="1"/>
          </p:nvPr>
        </p:nvSpPr>
        <p:spPr/>
        <p:txBody>
          <a:bodyPr/>
          <a:lstStyle/>
          <a:p>
            <a:r>
              <a:rPr lang="en-US" dirty="0" smtClean="0"/>
              <a:t>Nathan </a:t>
            </a:r>
            <a:r>
              <a:rPr lang="en-US" dirty="0" err="1" smtClean="0"/>
              <a:t>Ong</a:t>
            </a:r>
            <a:endParaRPr lang="en-US" dirty="0" smtClean="0"/>
          </a:p>
          <a:p>
            <a:r>
              <a:rPr lang="en-US" dirty="0" smtClean="0"/>
              <a:t>University of Pittsburgh</a:t>
            </a:r>
          </a:p>
          <a:p>
            <a:r>
              <a:rPr lang="en-US" dirty="0" smtClean="0"/>
              <a:t>November 8, 2016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Main Portions of OOP</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Building a class</a:t>
            </a:r>
          </a:p>
          <a:p>
            <a:r>
              <a:rPr lang="en-US" dirty="0" smtClean="0">
                <a:solidFill>
                  <a:schemeClr val="bg1"/>
                </a:solidFill>
              </a:rPr>
              <a:t>Determining inter-class relationships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Class Components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Class-level/Instance Variables</a:t>
            </a:r>
          </a:p>
          <a:p>
            <a:r>
              <a:rPr lang="en-US" dirty="0" smtClean="0">
                <a:solidFill>
                  <a:schemeClr val="bg1"/>
                </a:solidFill>
              </a:rPr>
              <a:t>Methods</a:t>
            </a:r>
          </a:p>
          <a:p>
            <a:r>
              <a:rPr lang="en-US" dirty="0" smtClean="0">
                <a:solidFill>
                  <a:schemeClr val="bg1"/>
                </a:solidFill>
              </a:rPr>
              <a:t>Constructor(s)</a:t>
            </a:r>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Inter-class Relationships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Building a single class is useless.  It needs to be used in context.</a:t>
            </a:r>
          </a:p>
          <a:p>
            <a:r>
              <a:rPr lang="en-US" dirty="0" smtClean="0">
                <a:solidFill>
                  <a:schemeClr val="bg1"/>
                </a:solidFill>
              </a:rPr>
              <a:t>There are two main relationships between classes</a:t>
            </a:r>
          </a:p>
          <a:p>
            <a:pPr lvl="1"/>
            <a:r>
              <a:rPr lang="en-US" dirty="0" smtClean="0">
                <a:solidFill>
                  <a:schemeClr val="bg1"/>
                </a:solidFill>
              </a:rPr>
              <a:t>Sub/Super class</a:t>
            </a:r>
          </a:p>
          <a:p>
            <a:pPr lvl="1"/>
            <a:r>
              <a:rPr lang="en-US" dirty="0" smtClean="0">
                <a:solidFill>
                  <a:schemeClr val="bg1"/>
                </a:solidFill>
              </a:rPr>
              <a:t>Ownership</a:t>
            </a:r>
            <a:endParaRPr lang="en-US"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Modeling a Problem</a:t>
            </a:r>
            <a:endParaRPr lang="en-US" dirty="0">
              <a:solidFill>
                <a:schemeClr val="bg1"/>
              </a:solidFill>
            </a:endParaRPr>
          </a:p>
        </p:txBody>
      </p:sp>
      <p:sp>
        <p:nvSpPr>
          <p:cNvPr id="3" name="Content Placeholder 2"/>
          <p:cNvSpPr>
            <a:spLocks noGrp="1"/>
          </p:cNvSpPr>
          <p:nvPr>
            <p:ph idx="1"/>
          </p:nvPr>
        </p:nvSpPr>
        <p:spPr/>
        <p:txBody>
          <a:bodyPr>
            <a:normAutofit fontScale="85000" lnSpcReduction="10000"/>
          </a:bodyPr>
          <a:lstStyle/>
          <a:p>
            <a:pPr>
              <a:buNone/>
            </a:pPr>
            <a:r>
              <a:rPr lang="en-US" dirty="0" smtClean="0">
                <a:solidFill>
                  <a:schemeClr val="bg1"/>
                </a:solidFill>
              </a:rPr>
              <a:t>	“Joe’s Automotive Shop services foreign cars, and specializes in servicing cars made by Mercedes, Porsche, and BMW.  When a customer brings a car to the shop, the manager gets the customer’s name, address, and telephone number.  Then the manager determines the make, model, and year of the car, and gives the customer a service quote.  The service quote shows the estimated parts charges, estimated labor charges, sales tax, and total estimated charges.”</a:t>
            </a:r>
          </a:p>
          <a:p>
            <a:pPr>
              <a:buNone/>
            </a:pPr>
            <a:r>
              <a:rPr lang="en-US" dirty="0" smtClean="0">
                <a:solidFill>
                  <a:schemeClr val="bg1"/>
                </a:solidFill>
              </a:rPr>
              <a:t>Source: </a:t>
            </a:r>
            <a:r>
              <a:rPr lang="en-US" u="sng" dirty="0" smtClean="0">
                <a:solidFill>
                  <a:schemeClr val="bg1"/>
                </a:solidFill>
              </a:rPr>
              <a:t>Starting Out with Java: From Control Structures through Objects</a:t>
            </a:r>
            <a:r>
              <a:rPr lang="en-US" dirty="0" smtClean="0">
                <a:solidFill>
                  <a:schemeClr val="bg1"/>
                </a:solidFill>
              </a:rPr>
              <a:t> by Tony Gaddis</a:t>
            </a:r>
            <a:endParaRPr lang="en-US" dirty="0">
              <a:solidFill>
                <a:schemeClr val="bg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Find the Nouns</a:t>
            </a:r>
            <a:endParaRPr lang="en-US" dirty="0">
              <a:solidFill>
                <a:schemeClr val="bg1"/>
              </a:solidFill>
            </a:endParaRPr>
          </a:p>
        </p:txBody>
      </p:sp>
      <p:sp>
        <p:nvSpPr>
          <p:cNvPr id="3" name="Content Placeholder 2"/>
          <p:cNvSpPr>
            <a:spLocks noGrp="1"/>
          </p:cNvSpPr>
          <p:nvPr>
            <p:ph idx="1"/>
          </p:nvPr>
        </p:nvSpPr>
        <p:spPr/>
        <p:txBody>
          <a:bodyPr>
            <a:normAutofit fontScale="92500" lnSpcReduction="10000"/>
          </a:bodyPr>
          <a:lstStyle/>
          <a:p>
            <a:pPr>
              <a:buNone/>
            </a:pPr>
            <a:r>
              <a:rPr lang="en-US" dirty="0" smtClean="0">
                <a:solidFill>
                  <a:schemeClr val="bg1"/>
                </a:solidFill>
              </a:rPr>
              <a:t>	“</a:t>
            </a:r>
            <a:r>
              <a:rPr lang="en-US" dirty="0" smtClean="0">
                <a:solidFill>
                  <a:schemeClr val="accent6">
                    <a:lumMod val="75000"/>
                  </a:schemeClr>
                </a:solidFill>
              </a:rPr>
              <a:t>Joe’s Automotive Shop</a:t>
            </a:r>
            <a:r>
              <a:rPr lang="en-US" dirty="0" smtClean="0">
                <a:solidFill>
                  <a:schemeClr val="bg1"/>
                </a:solidFill>
              </a:rPr>
              <a:t> services </a:t>
            </a:r>
            <a:r>
              <a:rPr lang="en-US" dirty="0" smtClean="0">
                <a:solidFill>
                  <a:schemeClr val="accent6">
                    <a:lumMod val="75000"/>
                  </a:schemeClr>
                </a:solidFill>
              </a:rPr>
              <a:t>foreign cars</a:t>
            </a:r>
            <a:r>
              <a:rPr lang="en-US" dirty="0" smtClean="0">
                <a:solidFill>
                  <a:schemeClr val="bg1"/>
                </a:solidFill>
              </a:rPr>
              <a:t>, and specializes in servicing </a:t>
            </a:r>
            <a:r>
              <a:rPr lang="en-US" dirty="0" smtClean="0">
                <a:solidFill>
                  <a:schemeClr val="accent6">
                    <a:lumMod val="75000"/>
                  </a:schemeClr>
                </a:solidFill>
              </a:rPr>
              <a:t>cars</a:t>
            </a:r>
            <a:r>
              <a:rPr lang="en-US" dirty="0" smtClean="0">
                <a:solidFill>
                  <a:schemeClr val="bg1"/>
                </a:solidFill>
              </a:rPr>
              <a:t> made by </a:t>
            </a:r>
            <a:r>
              <a:rPr lang="en-US" dirty="0" smtClean="0">
                <a:solidFill>
                  <a:schemeClr val="accent6">
                    <a:lumMod val="75000"/>
                  </a:schemeClr>
                </a:solidFill>
              </a:rPr>
              <a:t>Mercedes</a:t>
            </a:r>
            <a:r>
              <a:rPr lang="en-US" dirty="0" smtClean="0">
                <a:solidFill>
                  <a:schemeClr val="bg1"/>
                </a:solidFill>
              </a:rPr>
              <a:t>, </a:t>
            </a:r>
            <a:r>
              <a:rPr lang="en-US" dirty="0" smtClean="0">
                <a:solidFill>
                  <a:schemeClr val="accent6">
                    <a:lumMod val="75000"/>
                  </a:schemeClr>
                </a:solidFill>
              </a:rPr>
              <a:t>Porsche</a:t>
            </a:r>
            <a:r>
              <a:rPr lang="en-US" dirty="0" smtClean="0">
                <a:solidFill>
                  <a:schemeClr val="bg1"/>
                </a:solidFill>
              </a:rPr>
              <a:t>, and </a:t>
            </a:r>
            <a:r>
              <a:rPr lang="en-US" dirty="0" smtClean="0">
                <a:solidFill>
                  <a:schemeClr val="accent6">
                    <a:lumMod val="75000"/>
                  </a:schemeClr>
                </a:solidFill>
              </a:rPr>
              <a:t>BMW</a:t>
            </a:r>
            <a:r>
              <a:rPr lang="en-US" dirty="0" smtClean="0">
                <a:solidFill>
                  <a:schemeClr val="bg1"/>
                </a:solidFill>
              </a:rPr>
              <a:t>.  When a </a:t>
            </a:r>
            <a:r>
              <a:rPr lang="en-US" dirty="0" smtClean="0">
                <a:solidFill>
                  <a:schemeClr val="accent6">
                    <a:lumMod val="75000"/>
                  </a:schemeClr>
                </a:solidFill>
              </a:rPr>
              <a:t>customer</a:t>
            </a:r>
            <a:r>
              <a:rPr lang="en-US" dirty="0" smtClean="0">
                <a:solidFill>
                  <a:schemeClr val="bg1"/>
                </a:solidFill>
              </a:rPr>
              <a:t> brings a </a:t>
            </a:r>
            <a:r>
              <a:rPr lang="en-US" dirty="0" smtClean="0">
                <a:solidFill>
                  <a:schemeClr val="accent6">
                    <a:lumMod val="75000"/>
                  </a:schemeClr>
                </a:solidFill>
              </a:rPr>
              <a:t>car</a:t>
            </a:r>
            <a:r>
              <a:rPr lang="en-US" dirty="0" smtClean="0">
                <a:solidFill>
                  <a:schemeClr val="bg1"/>
                </a:solidFill>
              </a:rPr>
              <a:t> to the </a:t>
            </a:r>
            <a:r>
              <a:rPr lang="en-US" dirty="0" smtClean="0">
                <a:solidFill>
                  <a:schemeClr val="accent6">
                    <a:lumMod val="75000"/>
                  </a:schemeClr>
                </a:solidFill>
              </a:rPr>
              <a:t>shop</a:t>
            </a:r>
            <a:r>
              <a:rPr lang="en-US" dirty="0" smtClean="0">
                <a:solidFill>
                  <a:schemeClr val="bg1"/>
                </a:solidFill>
              </a:rPr>
              <a:t>, the </a:t>
            </a:r>
            <a:r>
              <a:rPr lang="en-US" dirty="0" smtClean="0">
                <a:solidFill>
                  <a:schemeClr val="accent6">
                    <a:lumMod val="75000"/>
                  </a:schemeClr>
                </a:solidFill>
              </a:rPr>
              <a:t>manager</a:t>
            </a:r>
            <a:r>
              <a:rPr lang="en-US" dirty="0" smtClean="0">
                <a:solidFill>
                  <a:schemeClr val="bg1"/>
                </a:solidFill>
              </a:rPr>
              <a:t> gets the </a:t>
            </a:r>
            <a:r>
              <a:rPr lang="en-US" dirty="0" smtClean="0">
                <a:solidFill>
                  <a:schemeClr val="accent6">
                    <a:lumMod val="75000"/>
                  </a:schemeClr>
                </a:solidFill>
              </a:rPr>
              <a:t>customer</a:t>
            </a:r>
            <a:r>
              <a:rPr lang="en-US" dirty="0" smtClean="0">
                <a:solidFill>
                  <a:schemeClr val="bg1"/>
                </a:solidFill>
              </a:rPr>
              <a:t>’s </a:t>
            </a:r>
            <a:r>
              <a:rPr lang="en-US" dirty="0" smtClean="0">
                <a:solidFill>
                  <a:schemeClr val="accent6">
                    <a:lumMod val="75000"/>
                  </a:schemeClr>
                </a:solidFill>
              </a:rPr>
              <a:t>name</a:t>
            </a:r>
            <a:r>
              <a:rPr lang="en-US" dirty="0" smtClean="0">
                <a:solidFill>
                  <a:schemeClr val="bg1"/>
                </a:solidFill>
              </a:rPr>
              <a:t>, </a:t>
            </a:r>
            <a:r>
              <a:rPr lang="en-US" dirty="0" smtClean="0">
                <a:solidFill>
                  <a:schemeClr val="accent6">
                    <a:lumMod val="75000"/>
                  </a:schemeClr>
                </a:solidFill>
              </a:rPr>
              <a:t>address</a:t>
            </a:r>
            <a:r>
              <a:rPr lang="en-US" dirty="0" smtClean="0">
                <a:solidFill>
                  <a:schemeClr val="bg1"/>
                </a:solidFill>
              </a:rPr>
              <a:t>, and </a:t>
            </a:r>
            <a:r>
              <a:rPr lang="en-US" dirty="0" smtClean="0">
                <a:solidFill>
                  <a:schemeClr val="accent6">
                    <a:lumMod val="75000"/>
                  </a:schemeClr>
                </a:solidFill>
              </a:rPr>
              <a:t>telephone number</a:t>
            </a:r>
            <a:r>
              <a:rPr lang="en-US" dirty="0" smtClean="0">
                <a:solidFill>
                  <a:schemeClr val="bg1"/>
                </a:solidFill>
              </a:rPr>
              <a:t>.  Then the </a:t>
            </a:r>
            <a:r>
              <a:rPr lang="en-US" dirty="0" smtClean="0">
                <a:solidFill>
                  <a:schemeClr val="accent6">
                    <a:lumMod val="75000"/>
                  </a:schemeClr>
                </a:solidFill>
              </a:rPr>
              <a:t>manager</a:t>
            </a:r>
            <a:r>
              <a:rPr lang="en-US" dirty="0" smtClean="0">
                <a:solidFill>
                  <a:schemeClr val="bg1"/>
                </a:solidFill>
              </a:rPr>
              <a:t> determines the </a:t>
            </a:r>
            <a:r>
              <a:rPr lang="en-US" dirty="0" smtClean="0">
                <a:solidFill>
                  <a:schemeClr val="accent6">
                    <a:lumMod val="75000"/>
                  </a:schemeClr>
                </a:solidFill>
              </a:rPr>
              <a:t>make</a:t>
            </a:r>
            <a:r>
              <a:rPr lang="en-US" dirty="0" smtClean="0">
                <a:solidFill>
                  <a:schemeClr val="bg1"/>
                </a:solidFill>
              </a:rPr>
              <a:t>, </a:t>
            </a:r>
            <a:r>
              <a:rPr lang="en-US" dirty="0" smtClean="0">
                <a:solidFill>
                  <a:schemeClr val="accent6">
                    <a:lumMod val="75000"/>
                  </a:schemeClr>
                </a:solidFill>
              </a:rPr>
              <a:t>model</a:t>
            </a:r>
            <a:r>
              <a:rPr lang="en-US" dirty="0" smtClean="0">
                <a:solidFill>
                  <a:schemeClr val="bg1"/>
                </a:solidFill>
              </a:rPr>
              <a:t>, and </a:t>
            </a:r>
            <a:r>
              <a:rPr lang="en-US" dirty="0" smtClean="0">
                <a:solidFill>
                  <a:schemeClr val="accent6">
                    <a:lumMod val="75000"/>
                  </a:schemeClr>
                </a:solidFill>
              </a:rPr>
              <a:t>year</a:t>
            </a:r>
            <a:r>
              <a:rPr lang="en-US" dirty="0" smtClean="0">
                <a:solidFill>
                  <a:schemeClr val="bg1"/>
                </a:solidFill>
              </a:rPr>
              <a:t> of the </a:t>
            </a:r>
            <a:r>
              <a:rPr lang="en-US" dirty="0" smtClean="0">
                <a:solidFill>
                  <a:schemeClr val="accent6">
                    <a:lumMod val="75000"/>
                  </a:schemeClr>
                </a:solidFill>
              </a:rPr>
              <a:t>car</a:t>
            </a:r>
            <a:r>
              <a:rPr lang="en-US" dirty="0" smtClean="0">
                <a:solidFill>
                  <a:schemeClr val="bg1"/>
                </a:solidFill>
              </a:rPr>
              <a:t>, and gives the </a:t>
            </a:r>
            <a:r>
              <a:rPr lang="en-US" dirty="0" smtClean="0">
                <a:solidFill>
                  <a:schemeClr val="accent6">
                    <a:lumMod val="75000"/>
                  </a:schemeClr>
                </a:solidFill>
              </a:rPr>
              <a:t>customer</a:t>
            </a:r>
            <a:r>
              <a:rPr lang="en-US" dirty="0" smtClean="0">
                <a:solidFill>
                  <a:schemeClr val="bg1"/>
                </a:solidFill>
              </a:rPr>
              <a:t> a </a:t>
            </a:r>
            <a:r>
              <a:rPr lang="en-US" dirty="0" smtClean="0">
                <a:solidFill>
                  <a:schemeClr val="accent6">
                    <a:lumMod val="75000"/>
                  </a:schemeClr>
                </a:solidFill>
              </a:rPr>
              <a:t>service quote</a:t>
            </a:r>
            <a:r>
              <a:rPr lang="en-US" dirty="0" smtClean="0">
                <a:solidFill>
                  <a:schemeClr val="bg1"/>
                </a:solidFill>
              </a:rPr>
              <a:t>.  The </a:t>
            </a:r>
            <a:r>
              <a:rPr lang="en-US" dirty="0" smtClean="0">
                <a:solidFill>
                  <a:schemeClr val="accent6">
                    <a:lumMod val="75000"/>
                  </a:schemeClr>
                </a:solidFill>
              </a:rPr>
              <a:t>service quote</a:t>
            </a:r>
            <a:r>
              <a:rPr lang="en-US" dirty="0" smtClean="0">
                <a:solidFill>
                  <a:schemeClr val="bg1"/>
                </a:solidFill>
              </a:rPr>
              <a:t> shows the </a:t>
            </a:r>
            <a:r>
              <a:rPr lang="en-US" dirty="0" smtClean="0">
                <a:solidFill>
                  <a:schemeClr val="accent6">
                    <a:lumMod val="75000"/>
                  </a:schemeClr>
                </a:solidFill>
              </a:rPr>
              <a:t>estimated parts charges</a:t>
            </a:r>
            <a:r>
              <a:rPr lang="en-US" dirty="0" smtClean="0">
                <a:solidFill>
                  <a:schemeClr val="bg1"/>
                </a:solidFill>
              </a:rPr>
              <a:t>, </a:t>
            </a:r>
            <a:r>
              <a:rPr lang="en-US" dirty="0" smtClean="0">
                <a:solidFill>
                  <a:schemeClr val="accent6">
                    <a:lumMod val="75000"/>
                  </a:schemeClr>
                </a:solidFill>
              </a:rPr>
              <a:t>estimated labor charges</a:t>
            </a:r>
            <a:r>
              <a:rPr lang="en-US" dirty="0" smtClean="0">
                <a:solidFill>
                  <a:schemeClr val="bg1"/>
                </a:solidFill>
              </a:rPr>
              <a:t>, </a:t>
            </a:r>
            <a:r>
              <a:rPr lang="en-US" dirty="0" smtClean="0">
                <a:solidFill>
                  <a:schemeClr val="accent6">
                    <a:lumMod val="75000"/>
                  </a:schemeClr>
                </a:solidFill>
              </a:rPr>
              <a:t>sales tax</a:t>
            </a:r>
            <a:r>
              <a:rPr lang="en-US" dirty="0" smtClean="0">
                <a:solidFill>
                  <a:schemeClr val="bg1"/>
                </a:solidFill>
              </a:rPr>
              <a:t>, and </a:t>
            </a:r>
            <a:r>
              <a:rPr lang="en-US" dirty="0" smtClean="0">
                <a:solidFill>
                  <a:schemeClr val="accent6">
                    <a:lumMod val="75000"/>
                  </a:schemeClr>
                </a:solidFill>
              </a:rPr>
              <a:t>total estimated charges</a:t>
            </a:r>
            <a:r>
              <a:rPr lang="en-US" dirty="0" smtClean="0">
                <a:solidFill>
                  <a:schemeClr val="bg1"/>
                </a:solidFill>
              </a:rPr>
              <a: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Coalescing</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b="1" u="sng" dirty="0" smtClean="0">
                <a:solidFill>
                  <a:srgbClr val="00B050"/>
                </a:solidFill>
              </a:rPr>
              <a:t>foreign cars</a:t>
            </a:r>
            <a:r>
              <a:rPr lang="en-US" sz="1800" dirty="0" smtClean="0">
                <a:solidFill>
                  <a:schemeClr val="bg1"/>
                </a:solidFill>
              </a:rPr>
              <a:t>		Porsche</a:t>
            </a:r>
          </a:p>
          <a:p>
            <a:pPr>
              <a:buNone/>
            </a:pPr>
            <a:r>
              <a:rPr lang="en-US" sz="1800" dirty="0" smtClean="0">
                <a:solidFill>
                  <a:schemeClr val="bg1"/>
                </a:solidFill>
              </a:rPr>
              <a:t>BMW			</a:t>
            </a:r>
            <a:r>
              <a:rPr lang="en-US" sz="1800" b="1" u="sng" dirty="0" smtClean="0">
                <a:solidFill>
                  <a:srgbClr val="00B0F0"/>
                </a:solidFill>
              </a:rPr>
              <a:t>Joe’s Automotive Shop</a:t>
            </a:r>
            <a:r>
              <a:rPr lang="en-US" sz="1800" dirty="0" smtClean="0">
                <a:solidFill>
                  <a:schemeClr val="bg1"/>
                </a:solidFill>
              </a:rPr>
              <a:t>	sales tax</a:t>
            </a:r>
          </a:p>
          <a:p>
            <a:pPr>
              <a:buNone/>
            </a:pPr>
            <a:r>
              <a:rPr lang="en-US" sz="1800" b="1" u="sng" dirty="0" smtClean="0">
                <a:solidFill>
                  <a:srgbClr val="00B050"/>
                </a:solidFill>
              </a:rPr>
              <a:t>car</a:t>
            </a:r>
            <a:r>
              <a:rPr lang="en-US" sz="1800" dirty="0" smtClean="0">
                <a:solidFill>
                  <a:schemeClr val="bg1"/>
                </a:solidFill>
              </a:rPr>
              <a:t>				make			service quote</a:t>
            </a:r>
          </a:p>
          <a:p>
            <a:pPr>
              <a:buNone/>
            </a:pPr>
            <a:r>
              <a:rPr lang="en-US" sz="1800" b="1" u="sng" dirty="0" smtClean="0">
                <a:solidFill>
                  <a:srgbClr val="00B050"/>
                </a:solidFill>
              </a:rPr>
              <a:t>cars</a:t>
            </a:r>
            <a:r>
              <a:rPr lang="en-US" sz="1800" dirty="0" smtClean="0">
                <a:solidFill>
                  <a:schemeClr val="bg1"/>
                </a:solidFill>
              </a:rPr>
              <a:t>			manager			</a:t>
            </a:r>
            <a:r>
              <a:rPr lang="en-US" sz="1800" b="1" u="sng" dirty="0" smtClean="0">
                <a:solidFill>
                  <a:srgbClr val="00B0F0"/>
                </a:solidFill>
              </a:rPr>
              <a:t>shop</a:t>
            </a:r>
          </a:p>
          <a:p>
            <a:pPr>
              <a:buNone/>
            </a:pPr>
            <a:r>
              <a:rPr lang="en-US" sz="1800" dirty="0" smtClean="0">
                <a:solidFill>
                  <a:schemeClr val="bg1"/>
                </a:solidFill>
              </a:rPr>
              <a:t>customer			Mercedes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endParaRPr lang="en-US" sz="18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Noun Out of Scope</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Porsche</a:t>
            </a:r>
          </a:p>
          <a:p>
            <a:pPr>
              <a:buNone/>
            </a:pPr>
            <a:r>
              <a:rPr lang="en-US" sz="1800" dirty="0" smtClean="0">
                <a:solidFill>
                  <a:schemeClr val="bg1"/>
                </a:solidFill>
              </a:rPr>
              <a:t>BMW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dirty="0" smtClean="0">
                <a:solidFill>
                  <a:schemeClr val="bg1"/>
                </a:solidFill>
              </a:rPr>
              <a:t>car				make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b="1" u="sng" dirty="0" smtClean="0">
                <a:solidFill>
                  <a:srgbClr val="FF0000"/>
                </a:solidFill>
              </a:rPr>
              <a:t>manager</a:t>
            </a:r>
            <a:r>
              <a:rPr lang="en-US" sz="1800" dirty="0" smtClean="0">
                <a:solidFill>
                  <a:schemeClr val="bg1"/>
                </a:solidFill>
              </a:rPr>
              <a:t>			shop</a:t>
            </a:r>
          </a:p>
          <a:p>
            <a:pPr>
              <a:buNone/>
            </a:pPr>
            <a:r>
              <a:rPr lang="en-US" sz="1800" dirty="0" smtClean="0">
                <a:solidFill>
                  <a:schemeClr val="bg1"/>
                </a:solidFill>
              </a:rPr>
              <a:t>customer			Mercedes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endParaRPr lang="en-US" sz="18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Subtypes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b="1" u="sng" dirty="0" smtClean="0">
                <a:solidFill>
                  <a:srgbClr val="00B050"/>
                </a:solidFill>
              </a:rPr>
              <a:t>Porsche</a:t>
            </a:r>
          </a:p>
          <a:p>
            <a:pPr>
              <a:buNone/>
            </a:pPr>
            <a:r>
              <a:rPr lang="en-US" sz="1800" b="1" u="sng" dirty="0" smtClean="0">
                <a:solidFill>
                  <a:srgbClr val="00B050"/>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dirty="0" smtClean="0">
                <a:solidFill>
                  <a:srgbClr val="00B050"/>
                </a:solidFill>
              </a:rPr>
              <a:t>car</a:t>
            </a:r>
            <a:r>
              <a:rPr lang="en-US" sz="1800" dirty="0" smtClean="0">
                <a:solidFill>
                  <a:schemeClr val="bg1"/>
                </a:solidFill>
              </a:rPr>
              <a:t>				make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dirty="0" smtClean="0">
                <a:solidFill>
                  <a:schemeClr val="bg1"/>
                </a:solidFill>
              </a:rPr>
              <a:t>customer			</a:t>
            </a:r>
            <a:r>
              <a:rPr lang="en-US" sz="1800" b="1" u="sng" dirty="0" smtClean="0">
                <a:solidFill>
                  <a:srgbClr val="00B050"/>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p>
          <a:p>
            <a:pPr>
              <a:buNone/>
            </a:pPr>
            <a:endParaRPr lang="en-US" sz="1800" dirty="0" smtClean="0">
              <a:solidFill>
                <a:schemeClr val="bg1"/>
              </a:solidFill>
            </a:endParaRPr>
          </a:p>
          <a:p>
            <a:pPr>
              <a:buNone/>
            </a:pPr>
            <a:r>
              <a:rPr lang="en-US" sz="2800" dirty="0" smtClean="0">
                <a:solidFill>
                  <a:schemeClr val="bg1"/>
                </a:solidFill>
              </a:rPr>
              <a:t>Whether these subtypes are specific objects (instances) or more specific types of cars (subclasses) will depend on your needs.  In this scenario, there is no need to represent them as classes.</a:t>
            </a:r>
            <a:endParaRPr lang="en-US" sz="28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dirty="0" smtClean="0">
                <a:solidFill>
                  <a:schemeClr val="bg1"/>
                </a:solidFill>
              </a:rPr>
              <a:t>car				make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dirty="0" smtClean="0">
                <a:solidFill>
                  <a:schemeClr val="bg1"/>
                </a:solidFill>
              </a:rPr>
              <a:t>customer			</a:t>
            </a:r>
            <a:r>
              <a:rPr lang="en-US" sz="1800" dirty="0" smtClean="0">
                <a:solidFill>
                  <a:schemeClr val="tx1">
                    <a:lumMod val="75000"/>
                    <a:lumOff val="25000"/>
                  </a:schemeClr>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p>
          <a:p>
            <a:pPr>
              <a:buNone/>
            </a:pPr>
            <a:endParaRPr lang="en-US" sz="1800" dirty="0" smtClean="0">
              <a:solidFill>
                <a:schemeClr val="bg1"/>
              </a:solidFill>
            </a:endParaRPr>
          </a:p>
          <a:p>
            <a:pPr>
              <a:buNone/>
            </a:pPr>
            <a:r>
              <a:rPr lang="en-US" dirty="0" smtClean="0">
                <a:solidFill>
                  <a:schemeClr val="bg1"/>
                </a:solidFill>
              </a:rPr>
              <a:t>Simple properties can be composed of primitives or preexisting object definitions, and fall under a particular object class.</a:t>
            </a:r>
            <a:endParaRPr 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make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dirty="0" smtClean="0">
                <a:solidFill>
                  <a:schemeClr val="bg1"/>
                </a:solidFill>
              </a:rPr>
              <a:t>customer			</a:t>
            </a:r>
            <a:r>
              <a:rPr lang="en-US" sz="1800" dirty="0" smtClean="0">
                <a:solidFill>
                  <a:schemeClr val="tx1">
                    <a:lumMod val="75000"/>
                    <a:lumOff val="25000"/>
                  </a:schemeClr>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model			total estimated charges</a:t>
            </a:r>
          </a:p>
          <a:p>
            <a:pPr>
              <a:buNone/>
            </a:pPr>
            <a:r>
              <a:rPr lang="en-US" sz="1800" dirty="0" smtClean="0">
                <a:solidFill>
                  <a:schemeClr val="bg1"/>
                </a:solidFill>
              </a:rPr>
              <a:t>estimated parts charges	name			year</a:t>
            </a:r>
          </a:p>
          <a:p>
            <a:pPr>
              <a:buNone/>
            </a:pPr>
            <a:endParaRPr lang="en-US" sz="1800" dirty="0" smtClean="0">
              <a:solidFill>
                <a:schemeClr val="bg1"/>
              </a:solidFill>
            </a:endParaRPr>
          </a:p>
          <a:p>
            <a:pPr>
              <a:buNone/>
            </a:pPr>
            <a:r>
              <a:rPr lang="en-US" dirty="0" smtClean="0">
                <a:solidFill>
                  <a:schemeClr val="bg1"/>
                </a:solidFill>
              </a:rPr>
              <a:t>A car had three simple properties in our scenario.  What types would they be?</a:t>
            </a:r>
            <a:endParaRPr lang="en-US"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dirty="0" smtClean="0">
                <a:solidFill>
                  <a:schemeClr val="bg1"/>
                </a:solidFill>
              </a:rPr>
              <a:t>customer			</a:t>
            </a:r>
            <a:r>
              <a:rPr lang="en-US" sz="1800" dirty="0" smtClean="0">
                <a:solidFill>
                  <a:schemeClr val="tx1">
                    <a:lumMod val="75000"/>
                    <a:lumOff val="25000"/>
                  </a:schemeClr>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a:t>
            </a:r>
            <a:r>
              <a:rPr lang="en-US" sz="1800" dirty="0" smtClean="0">
                <a:solidFill>
                  <a:srgbClr val="00B050"/>
                </a:solidFill>
              </a:rPr>
              <a:t>model</a:t>
            </a:r>
            <a:r>
              <a:rPr lang="en-US" sz="1800" dirty="0" smtClean="0">
                <a:solidFill>
                  <a:schemeClr val="bg1"/>
                </a:solidFill>
              </a:rPr>
              <a:t>			total estimated charges</a:t>
            </a:r>
          </a:p>
          <a:p>
            <a:pPr>
              <a:buNone/>
            </a:pPr>
            <a:r>
              <a:rPr lang="en-US" sz="1800" dirty="0" smtClean="0">
                <a:solidFill>
                  <a:schemeClr val="bg1"/>
                </a:solidFill>
              </a:rPr>
              <a:t>estimated parts charges	name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car had three simple properties in our scenario.  What types would they be?</a:t>
            </a:r>
            <a:endParaRPr lang="en-US"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chemeClr val="bg1"/>
                </a:solidFill>
              </a:rPr>
              <a:t>address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telephone number</a:t>
            </a:r>
          </a:p>
          <a:p>
            <a:pPr>
              <a:buNone/>
            </a:pPr>
            <a:r>
              <a:rPr lang="en-US" sz="1800" dirty="0" smtClean="0">
                <a:solidFill>
                  <a:schemeClr val="bg1"/>
                </a:solidFill>
              </a:rPr>
              <a:t>estimated labor charges	</a:t>
            </a:r>
            <a:r>
              <a:rPr lang="en-US" sz="1800" dirty="0" smtClean="0">
                <a:solidFill>
                  <a:srgbClr val="00B050"/>
                </a:solidFill>
              </a:rPr>
              <a:t>model</a:t>
            </a:r>
            <a:r>
              <a:rPr lang="en-US" sz="1800" dirty="0" smtClean="0">
                <a:solidFill>
                  <a:schemeClr val="bg1"/>
                </a:solidFill>
              </a:rPr>
              <a:t>			total estimated charges</a:t>
            </a:r>
          </a:p>
          <a:p>
            <a:pPr>
              <a:buNone/>
            </a:pPr>
            <a:r>
              <a:rPr lang="en-US" sz="1800" dirty="0" smtClean="0">
                <a:solidFill>
                  <a:schemeClr val="bg1"/>
                </a:solidFill>
              </a:rPr>
              <a:t>estimated parts charges	name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customer had three simple properties in our scenario.  What types would they be?</a:t>
            </a:r>
            <a:endParaRPr lang="en-US"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rgbClr val="00B0F0"/>
                </a:solidFill>
              </a:rPr>
              <a:t>address</a:t>
            </a:r>
            <a:r>
              <a:rPr lang="en-US" sz="1800" dirty="0" smtClean="0">
                <a:solidFill>
                  <a:schemeClr val="bg1"/>
                </a:solidFill>
              </a:rPr>
              <a:t>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a:t>
            </a:r>
            <a:r>
              <a:rPr lang="en-US" sz="1800" dirty="0" smtClean="0">
                <a:solidFill>
                  <a:srgbClr val="00B0F0"/>
                </a:solidFill>
              </a:rPr>
              <a:t>telephone number</a:t>
            </a:r>
          </a:p>
          <a:p>
            <a:pPr>
              <a:buNone/>
            </a:pPr>
            <a:r>
              <a:rPr lang="en-US" sz="1800" dirty="0" smtClean="0">
                <a:solidFill>
                  <a:schemeClr val="bg1"/>
                </a:solidFill>
              </a:rPr>
              <a:t>estimated labor charges	</a:t>
            </a:r>
            <a:r>
              <a:rPr lang="en-US" sz="1800" dirty="0" smtClean="0">
                <a:solidFill>
                  <a:srgbClr val="00B050"/>
                </a:solidFill>
              </a:rPr>
              <a:t>model</a:t>
            </a:r>
            <a:r>
              <a:rPr lang="en-US" sz="1800" dirty="0" smtClean="0">
                <a:solidFill>
                  <a:schemeClr val="bg1"/>
                </a:solidFill>
              </a:rPr>
              <a:t>			total estimated charges</a:t>
            </a:r>
          </a:p>
          <a:p>
            <a:pPr>
              <a:buNone/>
            </a:pPr>
            <a:r>
              <a:rPr lang="en-US" sz="1800" dirty="0" smtClean="0">
                <a:solidFill>
                  <a:schemeClr val="bg1"/>
                </a:solidFill>
              </a:rPr>
              <a:t>estimated parts charges	</a:t>
            </a:r>
            <a:r>
              <a:rPr lang="en-US" sz="1800" dirty="0" smtClean="0">
                <a:solidFill>
                  <a:srgbClr val="00B0F0"/>
                </a:solidFill>
              </a:rPr>
              <a:t>name</a:t>
            </a:r>
            <a:r>
              <a:rPr lang="en-US" sz="1800" dirty="0" smtClean="0">
                <a:solidFill>
                  <a:schemeClr val="bg1"/>
                </a:solidFill>
              </a:rPr>
              <a:t>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customer had three simple properties in our scenario.  What types would they be?</a:t>
            </a:r>
            <a:endParaRPr lang="en-US"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rgbClr val="00B0F0"/>
                </a:solidFill>
              </a:rPr>
              <a:t>address</a:t>
            </a:r>
            <a:r>
              <a:rPr lang="en-US" sz="1800" dirty="0" smtClean="0">
                <a:solidFill>
                  <a:schemeClr val="bg1"/>
                </a:solidFill>
              </a:rPr>
              <a:t>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a:t>
            </a:r>
            <a:r>
              <a:rPr lang="en-US" sz="1800" i="1" u="sng" dirty="0" smtClean="0">
                <a:solidFill>
                  <a:srgbClr val="FFC000"/>
                </a:solidFill>
              </a:rPr>
              <a:t>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a:t>
            </a:r>
            <a:r>
              <a:rPr lang="en-US" sz="1800" dirty="0" smtClean="0">
                <a:solidFill>
                  <a:srgbClr val="00B0F0"/>
                </a:solidFill>
              </a:rPr>
              <a:t>telephone number</a:t>
            </a:r>
          </a:p>
          <a:p>
            <a:pPr>
              <a:buNone/>
            </a:pPr>
            <a:r>
              <a:rPr lang="en-US" sz="1800" dirty="0" smtClean="0">
                <a:solidFill>
                  <a:schemeClr val="bg1"/>
                </a:solidFill>
              </a:rPr>
              <a:t>estimated labor charges	</a:t>
            </a:r>
            <a:r>
              <a:rPr lang="en-US" sz="1800" dirty="0" smtClean="0">
                <a:solidFill>
                  <a:srgbClr val="00B050"/>
                </a:solidFill>
              </a:rPr>
              <a:t>model</a:t>
            </a:r>
            <a:r>
              <a:rPr lang="en-US" sz="1800" dirty="0" smtClean="0">
                <a:solidFill>
                  <a:schemeClr val="bg1"/>
                </a:solidFill>
              </a:rPr>
              <a:t>			total estimated charges</a:t>
            </a:r>
          </a:p>
          <a:p>
            <a:pPr>
              <a:buNone/>
            </a:pPr>
            <a:r>
              <a:rPr lang="en-US" sz="1800" dirty="0" smtClean="0">
                <a:solidFill>
                  <a:schemeClr val="bg1"/>
                </a:solidFill>
              </a:rPr>
              <a:t>estimated parts charges	</a:t>
            </a:r>
            <a:r>
              <a:rPr lang="en-US" sz="1800" dirty="0" smtClean="0">
                <a:solidFill>
                  <a:srgbClr val="00B0F0"/>
                </a:solidFill>
              </a:rPr>
              <a:t>name</a:t>
            </a:r>
            <a:r>
              <a:rPr lang="en-US" sz="1800" dirty="0" smtClean="0">
                <a:solidFill>
                  <a:schemeClr val="bg1"/>
                </a:solidFill>
              </a:rPr>
              <a:t>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service quote had four simple properties in our scenario.  What types would they be?</a:t>
            </a:r>
            <a:endParaRPr lang="en-US"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Simple Properties</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rgbClr val="00B0F0"/>
                </a:solidFill>
              </a:rPr>
              <a:t>address</a:t>
            </a:r>
            <a:r>
              <a:rPr lang="en-US" sz="1800" dirty="0" smtClean="0">
                <a:solidFill>
                  <a:schemeClr val="bg1"/>
                </a:solidFill>
              </a:rPr>
              <a:t>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a:t>
            </a:r>
            <a:r>
              <a:rPr lang="en-US" sz="1800" dirty="0" smtClean="0">
                <a:solidFill>
                  <a:srgbClr val="FFC000"/>
                </a:solidFill>
              </a:rPr>
              <a:t>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a:t>
            </a:r>
            <a:r>
              <a:rPr lang="en-US" sz="1800" i="1" u="sng" dirty="0" smtClean="0">
                <a:solidFill>
                  <a:srgbClr val="FFC000"/>
                </a:solidFill>
              </a:rPr>
              <a:t>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a:t>
            </a:r>
            <a:r>
              <a:rPr lang="en-US" sz="1800" dirty="0" smtClean="0">
                <a:solidFill>
                  <a:srgbClr val="00B0F0"/>
                </a:solidFill>
              </a:rPr>
              <a:t>telephone number</a:t>
            </a:r>
          </a:p>
          <a:p>
            <a:pPr>
              <a:buNone/>
            </a:pPr>
            <a:r>
              <a:rPr lang="en-US" sz="1800" dirty="0" smtClean="0">
                <a:solidFill>
                  <a:srgbClr val="FFC000"/>
                </a:solidFill>
              </a:rPr>
              <a:t>estimated labor charges</a:t>
            </a:r>
            <a:r>
              <a:rPr lang="en-US" sz="1800" dirty="0" smtClean="0">
                <a:solidFill>
                  <a:schemeClr val="bg1"/>
                </a:solidFill>
              </a:rPr>
              <a:t>	</a:t>
            </a:r>
            <a:r>
              <a:rPr lang="en-US" sz="1800" dirty="0" smtClean="0">
                <a:solidFill>
                  <a:srgbClr val="00B050"/>
                </a:solidFill>
              </a:rPr>
              <a:t>model</a:t>
            </a:r>
            <a:r>
              <a:rPr lang="en-US" sz="1800" dirty="0" smtClean="0">
                <a:solidFill>
                  <a:schemeClr val="bg1"/>
                </a:solidFill>
              </a:rPr>
              <a:t>			</a:t>
            </a:r>
            <a:r>
              <a:rPr lang="en-US" sz="1800" dirty="0" smtClean="0">
                <a:solidFill>
                  <a:srgbClr val="FFC000"/>
                </a:solidFill>
              </a:rPr>
              <a:t>total estimated charges</a:t>
            </a:r>
          </a:p>
          <a:p>
            <a:pPr>
              <a:buNone/>
            </a:pPr>
            <a:r>
              <a:rPr lang="en-US" sz="1800" dirty="0" smtClean="0">
                <a:solidFill>
                  <a:srgbClr val="FFC000"/>
                </a:solidFill>
              </a:rPr>
              <a:t>estimated parts charges</a:t>
            </a:r>
            <a:r>
              <a:rPr lang="en-US" sz="1800" dirty="0" smtClean="0">
                <a:solidFill>
                  <a:schemeClr val="bg1"/>
                </a:solidFill>
              </a:rPr>
              <a:t>	</a:t>
            </a:r>
            <a:r>
              <a:rPr lang="en-US" sz="1800" dirty="0" smtClean="0">
                <a:solidFill>
                  <a:srgbClr val="00B0F0"/>
                </a:solidFill>
              </a:rPr>
              <a:t>name</a:t>
            </a:r>
            <a:r>
              <a:rPr lang="en-US" sz="1800" dirty="0" smtClean="0">
                <a:solidFill>
                  <a:schemeClr val="bg1"/>
                </a:solidFill>
              </a:rPr>
              <a:t>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A service quote had four simple properties in our scenario.  What types would they be?</a:t>
            </a:r>
            <a:endParaRPr lang="en-US"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Who Owns Everything?</a:t>
            </a:r>
            <a:endParaRPr lang="en-US" dirty="0">
              <a:solidFill>
                <a:schemeClr val="bg1"/>
              </a:solidFill>
            </a:endParaRPr>
          </a:p>
        </p:txBody>
      </p:sp>
      <p:sp>
        <p:nvSpPr>
          <p:cNvPr id="3" name="Content Placeholder 2"/>
          <p:cNvSpPr>
            <a:spLocks noGrp="1"/>
          </p:cNvSpPr>
          <p:nvPr>
            <p:ph idx="1"/>
          </p:nvPr>
        </p:nvSpPr>
        <p:spPr/>
        <p:txBody>
          <a:bodyPr>
            <a:normAutofit/>
          </a:bodyPr>
          <a:lstStyle/>
          <a:p>
            <a:pPr>
              <a:buNone/>
            </a:pPr>
            <a:r>
              <a:rPr lang="en-US" sz="1800" dirty="0" smtClean="0">
                <a:solidFill>
                  <a:srgbClr val="00B0F0"/>
                </a:solidFill>
              </a:rPr>
              <a:t>address</a:t>
            </a:r>
            <a:r>
              <a:rPr lang="en-US" sz="1800" dirty="0" smtClean="0">
                <a:solidFill>
                  <a:schemeClr val="bg1"/>
                </a:solidFill>
              </a:rPr>
              <a:t>			</a:t>
            </a:r>
            <a:r>
              <a:rPr lang="en-US" sz="1800" dirty="0" smtClean="0">
                <a:solidFill>
                  <a:schemeClr val="tx1">
                    <a:lumMod val="75000"/>
                    <a:lumOff val="25000"/>
                  </a:schemeClr>
                </a:solidFill>
              </a:rPr>
              <a:t>foreign cars</a:t>
            </a:r>
            <a:r>
              <a:rPr lang="en-US" sz="1800" dirty="0" smtClean="0">
                <a:solidFill>
                  <a:schemeClr val="bg1"/>
                </a:solidFill>
              </a:rPr>
              <a:t>		</a:t>
            </a:r>
            <a:r>
              <a:rPr lang="en-US" sz="1800" dirty="0" smtClean="0">
                <a:solidFill>
                  <a:schemeClr val="tx1">
                    <a:lumMod val="75000"/>
                    <a:lumOff val="25000"/>
                  </a:schemeClr>
                </a:solidFill>
              </a:rPr>
              <a:t>Porsche</a:t>
            </a:r>
          </a:p>
          <a:p>
            <a:pPr>
              <a:buNone/>
            </a:pPr>
            <a:r>
              <a:rPr lang="en-US" sz="1800" dirty="0" smtClean="0">
                <a:solidFill>
                  <a:schemeClr val="tx1">
                    <a:lumMod val="75000"/>
                    <a:lumOff val="25000"/>
                  </a:schemeClr>
                </a:solidFill>
              </a:rPr>
              <a:t>BMW</a:t>
            </a:r>
            <a:r>
              <a:rPr lang="en-US" sz="1800" dirty="0" smtClean="0">
                <a:solidFill>
                  <a:schemeClr val="bg1"/>
                </a:solidFill>
              </a:rPr>
              <a:t>			</a:t>
            </a:r>
            <a:r>
              <a:rPr lang="en-US" sz="1800" dirty="0" smtClean="0">
                <a:solidFill>
                  <a:schemeClr val="tx1">
                    <a:lumMod val="75000"/>
                    <a:lumOff val="25000"/>
                  </a:schemeClr>
                </a:solidFill>
              </a:rPr>
              <a:t>Joe’s Automotive Shop</a:t>
            </a:r>
            <a:r>
              <a:rPr lang="en-US" sz="1800" dirty="0" smtClean="0">
                <a:solidFill>
                  <a:schemeClr val="bg1"/>
                </a:solidFill>
              </a:rPr>
              <a:t>	</a:t>
            </a:r>
            <a:r>
              <a:rPr lang="en-US" sz="1800" dirty="0" smtClean="0">
                <a:solidFill>
                  <a:srgbClr val="FFC000"/>
                </a:solidFill>
              </a:rPr>
              <a:t>sales tax</a:t>
            </a:r>
          </a:p>
          <a:p>
            <a:pPr>
              <a:buNone/>
            </a:pPr>
            <a:r>
              <a:rPr lang="en-US" sz="1800" i="1" u="sng" dirty="0" smtClean="0">
                <a:solidFill>
                  <a:srgbClr val="00B050"/>
                </a:solidFill>
              </a:rPr>
              <a:t>car</a:t>
            </a:r>
            <a:r>
              <a:rPr lang="en-US" sz="1800" dirty="0" smtClean="0">
                <a:solidFill>
                  <a:schemeClr val="bg1"/>
                </a:solidFill>
              </a:rPr>
              <a:t>				</a:t>
            </a:r>
            <a:r>
              <a:rPr lang="en-US" sz="1800" dirty="0" smtClean="0">
                <a:solidFill>
                  <a:srgbClr val="00B050"/>
                </a:solidFill>
              </a:rPr>
              <a:t>make</a:t>
            </a:r>
            <a:r>
              <a:rPr lang="en-US" sz="1800" dirty="0" smtClean="0">
                <a:solidFill>
                  <a:schemeClr val="bg1"/>
                </a:solidFill>
              </a:rPr>
              <a:t>			</a:t>
            </a:r>
            <a:r>
              <a:rPr lang="en-US" sz="1800" i="1" u="sng" dirty="0" smtClean="0">
                <a:solidFill>
                  <a:srgbClr val="FFC000"/>
                </a:solidFill>
              </a:rPr>
              <a:t>service quote</a:t>
            </a:r>
          </a:p>
          <a:p>
            <a:pPr>
              <a:buNone/>
            </a:pPr>
            <a:r>
              <a:rPr lang="en-US" sz="1800" dirty="0" smtClean="0">
                <a:solidFill>
                  <a:schemeClr val="tx1">
                    <a:lumMod val="75000"/>
                    <a:lumOff val="25000"/>
                  </a:schemeClr>
                </a:solidFill>
              </a:rPr>
              <a:t>cars</a:t>
            </a:r>
            <a:r>
              <a:rPr lang="en-US" sz="1800" dirty="0" smtClean="0">
                <a:solidFill>
                  <a:schemeClr val="bg1"/>
                </a:solidFill>
              </a:rPr>
              <a:t>			</a:t>
            </a:r>
            <a:r>
              <a:rPr lang="en-US" sz="1800" dirty="0" smtClean="0">
                <a:solidFill>
                  <a:schemeClr val="tx1">
                    <a:lumMod val="75000"/>
                    <a:lumOff val="25000"/>
                  </a:schemeClr>
                </a:solidFill>
              </a:rPr>
              <a:t>manager	</a:t>
            </a:r>
            <a:r>
              <a:rPr lang="en-US" sz="1800" dirty="0" smtClean="0">
                <a:solidFill>
                  <a:schemeClr val="bg1"/>
                </a:solidFill>
              </a:rPr>
              <a:t>		</a:t>
            </a:r>
            <a:r>
              <a:rPr lang="en-US" sz="1800" b="1" u="sng" dirty="0" smtClean="0">
                <a:solidFill>
                  <a:srgbClr val="FF0000"/>
                </a:solidFill>
              </a:rPr>
              <a:t>shop</a:t>
            </a:r>
          </a:p>
          <a:p>
            <a:pPr>
              <a:buNone/>
            </a:pPr>
            <a:r>
              <a:rPr lang="en-US" sz="1800" i="1" u="sng" dirty="0" smtClean="0">
                <a:solidFill>
                  <a:srgbClr val="00B0F0"/>
                </a:solidFill>
              </a:rPr>
              <a:t>customer</a:t>
            </a:r>
            <a:r>
              <a:rPr lang="en-US" sz="1800" dirty="0" smtClean="0">
                <a:solidFill>
                  <a:schemeClr val="bg1"/>
                </a:solidFill>
              </a:rPr>
              <a:t>			</a:t>
            </a:r>
            <a:r>
              <a:rPr lang="en-US" sz="1800" dirty="0" smtClean="0">
                <a:solidFill>
                  <a:schemeClr val="tx1">
                    <a:lumMod val="75000"/>
                    <a:lumOff val="25000"/>
                  </a:schemeClr>
                </a:solidFill>
              </a:rPr>
              <a:t>Mercedes</a:t>
            </a:r>
            <a:r>
              <a:rPr lang="en-US" sz="1800" dirty="0" smtClean="0">
                <a:solidFill>
                  <a:schemeClr val="bg1"/>
                </a:solidFill>
              </a:rPr>
              <a:t>		</a:t>
            </a:r>
            <a:r>
              <a:rPr lang="en-US" sz="1800" dirty="0" smtClean="0">
                <a:solidFill>
                  <a:srgbClr val="00B0F0"/>
                </a:solidFill>
              </a:rPr>
              <a:t>telephone number</a:t>
            </a:r>
          </a:p>
          <a:p>
            <a:pPr>
              <a:buNone/>
            </a:pPr>
            <a:r>
              <a:rPr lang="en-US" sz="1800" dirty="0" smtClean="0">
                <a:solidFill>
                  <a:srgbClr val="FFC000"/>
                </a:solidFill>
              </a:rPr>
              <a:t>estimated labor charges</a:t>
            </a:r>
            <a:r>
              <a:rPr lang="en-US" sz="1800" dirty="0" smtClean="0">
                <a:solidFill>
                  <a:schemeClr val="bg1"/>
                </a:solidFill>
              </a:rPr>
              <a:t>	</a:t>
            </a:r>
            <a:r>
              <a:rPr lang="en-US" sz="1800" dirty="0" smtClean="0">
                <a:solidFill>
                  <a:srgbClr val="00B050"/>
                </a:solidFill>
              </a:rPr>
              <a:t>model</a:t>
            </a:r>
            <a:r>
              <a:rPr lang="en-US" sz="1800" dirty="0" smtClean="0">
                <a:solidFill>
                  <a:schemeClr val="bg1"/>
                </a:solidFill>
              </a:rPr>
              <a:t>			</a:t>
            </a:r>
            <a:r>
              <a:rPr lang="en-US" sz="1800" dirty="0" smtClean="0">
                <a:solidFill>
                  <a:srgbClr val="FFC000"/>
                </a:solidFill>
              </a:rPr>
              <a:t>total estimated charges</a:t>
            </a:r>
          </a:p>
          <a:p>
            <a:pPr>
              <a:buNone/>
            </a:pPr>
            <a:r>
              <a:rPr lang="en-US" sz="1800" dirty="0" smtClean="0">
                <a:solidFill>
                  <a:srgbClr val="FFC000"/>
                </a:solidFill>
              </a:rPr>
              <a:t>estimated parts charges</a:t>
            </a:r>
            <a:r>
              <a:rPr lang="en-US" sz="1800" dirty="0" smtClean="0">
                <a:solidFill>
                  <a:schemeClr val="bg1"/>
                </a:solidFill>
              </a:rPr>
              <a:t>	</a:t>
            </a:r>
            <a:r>
              <a:rPr lang="en-US" sz="1800" dirty="0" smtClean="0">
                <a:solidFill>
                  <a:srgbClr val="00B0F0"/>
                </a:solidFill>
              </a:rPr>
              <a:t>name</a:t>
            </a:r>
            <a:r>
              <a:rPr lang="en-US" sz="1800" dirty="0" smtClean="0">
                <a:solidFill>
                  <a:schemeClr val="bg1"/>
                </a:solidFill>
              </a:rPr>
              <a:t>			</a:t>
            </a:r>
            <a:r>
              <a:rPr lang="en-US" sz="1800" dirty="0" smtClean="0">
                <a:solidFill>
                  <a:srgbClr val="00B050"/>
                </a:solidFill>
              </a:rPr>
              <a:t>year</a:t>
            </a:r>
          </a:p>
          <a:p>
            <a:pPr>
              <a:buNone/>
            </a:pPr>
            <a:endParaRPr lang="en-US" sz="1800" dirty="0" smtClean="0">
              <a:solidFill>
                <a:schemeClr val="bg1"/>
              </a:solidFill>
            </a:endParaRPr>
          </a:p>
          <a:p>
            <a:pPr>
              <a:buNone/>
            </a:pPr>
            <a:r>
              <a:rPr lang="en-US" dirty="0" smtClean="0">
                <a:solidFill>
                  <a:schemeClr val="bg1"/>
                </a:solidFill>
              </a:rPr>
              <a:t>Our scenario revolves around the automotive shop, so this will hold the main method and will be the overarching class.</a:t>
            </a:r>
            <a:endParaRPr lang="en-US"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Code on the board!</a:t>
            </a:r>
            <a:endParaRPr lang="en-US" dirty="0">
              <a:solidFill>
                <a:schemeClr val="bg1"/>
              </a:solidFill>
            </a:endParaRPr>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The </a:t>
            </a:r>
            <a:r>
              <a:rPr lang="en-US" b="1" dirty="0" smtClean="0">
                <a:solidFill>
                  <a:schemeClr val="bg1"/>
                </a:solidFill>
                <a:latin typeface="Courier New" pitchFamily="49" charset="0"/>
                <a:cs typeface="Courier New" pitchFamily="49" charset="0"/>
              </a:rPr>
              <a:t>Object</a:t>
            </a:r>
            <a:r>
              <a:rPr lang="en-US" dirty="0" smtClean="0">
                <a:solidFill>
                  <a:schemeClr val="bg1"/>
                </a:solidFill>
              </a:rPr>
              <a:t> Class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Let us examine the API for the highest class.</a:t>
            </a:r>
          </a:p>
          <a:p>
            <a:endParaRPr lang="en-US" dirty="0" smtClean="0">
              <a:solidFill>
                <a:schemeClr val="bg1"/>
              </a:solidFill>
            </a:endParaRPr>
          </a:p>
          <a:p>
            <a:r>
              <a:rPr lang="en-US" b="1" dirty="0" err="1" smtClean="0">
                <a:solidFill>
                  <a:schemeClr val="bg1"/>
                </a:solidFill>
                <a:latin typeface="Courier New" pitchFamily="49" charset="0"/>
                <a:cs typeface="Courier New" pitchFamily="49" charset="0"/>
              </a:rPr>
              <a:t>toString</a:t>
            </a:r>
            <a:r>
              <a:rPr lang="en-US" b="1" dirty="0" smtClean="0">
                <a:solidFill>
                  <a:schemeClr val="bg1"/>
                </a:solidFill>
                <a:latin typeface="Courier New" pitchFamily="49" charset="0"/>
                <a:cs typeface="Courier New" pitchFamily="49" charset="0"/>
              </a:rPr>
              <a:t>()</a:t>
            </a:r>
            <a:r>
              <a:rPr lang="en-US" b="1" dirty="0" smtClean="0">
                <a:solidFill>
                  <a:schemeClr val="bg1"/>
                </a:solidFill>
                <a:cs typeface="Courier New" pitchFamily="49" charset="0"/>
              </a:rPr>
              <a:t> </a:t>
            </a:r>
            <a:r>
              <a:rPr lang="en-US" dirty="0" smtClean="0">
                <a:solidFill>
                  <a:schemeClr val="bg1"/>
                </a:solidFill>
              </a:rPr>
              <a:t>looks interesting. “It is recommended that all subclasses override this method.”</a:t>
            </a:r>
            <a:endParaRPr lang="en-US"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What Is </a:t>
            </a:r>
            <a:r>
              <a:rPr lang="en-US" b="1" dirty="0" err="1" smtClean="0">
                <a:solidFill>
                  <a:schemeClr val="bg1"/>
                </a:solidFill>
                <a:latin typeface="Courier New" pitchFamily="49" charset="0"/>
                <a:cs typeface="Courier New" pitchFamily="49" charset="0"/>
              </a:rPr>
              <a:t>toString</a:t>
            </a:r>
            <a:r>
              <a:rPr lang="en-US" b="1" dirty="0" smtClean="0">
                <a:solidFill>
                  <a:schemeClr val="bg1"/>
                </a:solidFill>
                <a:latin typeface="Courier New" pitchFamily="49" charset="0"/>
                <a:cs typeface="Courier New" pitchFamily="49" charset="0"/>
              </a:rPr>
              <a:t>()</a:t>
            </a:r>
            <a:r>
              <a:rPr lang="en-US" dirty="0" smtClean="0">
                <a:solidFill>
                  <a:schemeClr val="bg1"/>
                </a:solidFill>
              </a:rPr>
              <a:t>?</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It provides a </a:t>
            </a:r>
            <a:r>
              <a:rPr lang="en-US" b="1" dirty="0" smtClean="0">
                <a:solidFill>
                  <a:schemeClr val="bg1"/>
                </a:solidFill>
                <a:latin typeface="Courier New" pitchFamily="49" charset="0"/>
                <a:cs typeface="Courier New" pitchFamily="49" charset="0"/>
              </a:rPr>
              <a:t>String</a:t>
            </a:r>
            <a:r>
              <a:rPr lang="en-US" dirty="0" smtClean="0">
                <a:solidFill>
                  <a:schemeClr val="bg1"/>
                </a:solidFill>
              </a:rPr>
              <a:t> representation of an object</a:t>
            </a:r>
          </a:p>
          <a:p>
            <a:r>
              <a:rPr lang="en-US" dirty="0" smtClean="0">
                <a:solidFill>
                  <a:schemeClr val="bg1"/>
                </a:solidFill>
              </a:rPr>
              <a:t>It should be descriptive, not just what type it is, but what </a:t>
            </a:r>
            <a:r>
              <a:rPr lang="en-US" smtClean="0">
                <a:solidFill>
                  <a:schemeClr val="bg1"/>
                </a:solidFill>
              </a:rPr>
              <a:t>is contained within it.</a:t>
            </a:r>
            <a:endParaRPr lang="en-US" dirty="0">
              <a:solidFill>
                <a:schemeClr val="bg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Who is Responsible?</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How do we determine which class(</a:t>
            </a:r>
            <a:r>
              <a:rPr lang="en-US" dirty="0" err="1" smtClean="0">
                <a:solidFill>
                  <a:schemeClr val="bg1"/>
                </a:solidFill>
              </a:rPr>
              <a:t>es</a:t>
            </a:r>
            <a:r>
              <a:rPr lang="en-US" dirty="0" smtClean="0">
                <a:solidFill>
                  <a:schemeClr val="bg1"/>
                </a:solidFill>
              </a:rPr>
              <a:t>) should have which functions?</a:t>
            </a:r>
          </a:p>
          <a:p>
            <a:r>
              <a:rPr lang="en-US" dirty="0" smtClean="0">
                <a:solidFill>
                  <a:schemeClr val="bg1"/>
                </a:solidFill>
              </a:rPr>
              <a:t>You need to ask: Who’s state is needed or changing?</a:t>
            </a:r>
            <a:endParaRPr lang="en-US" dirty="0">
              <a:solidFill>
                <a:schemeClr val="bg1"/>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Easy examples</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Using the automotive shop example, we have four classes, Shop, Customer, Car, and Service Quote.</a:t>
            </a:r>
          </a:p>
          <a:p>
            <a:r>
              <a:rPr lang="en-US" dirty="0" smtClean="0">
                <a:solidFill>
                  <a:schemeClr val="bg1"/>
                </a:solidFill>
              </a:rPr>
              <a:t>Who issues the service quotes?</a:t>
            </a:r>
          </a:p>
          <a:p>
            <a:r>
              <a:rPr lang="en-US" dirty="0" smtClean="0">
                <a:solidFill>
                  <a:schemeClr val="bg1"/>
                </a:solidFill>
              </a:rPr>
              <a:t>Who deals with customers?</a:t>
            </a:r>
            <a:endParaRPr 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Medium example</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Using the automotive shop example, we have four classes, Shop, Customer, Car, and Service Quote.</a:t>
            </a:r>
          </a:p>
          <a:p>
            <a:r>
              <a:rPr lang="en-US" dirty="0" smtClean="0">
                <a:solidFill>
                  <a:schemeClr val="bg1"/>
                </a:solidFill>
              </a:rPr>
              <a:t>Who does the payment of the service quote?</a:t>
            </a:r>
          </a:p>
          <a:p>
            <a:pPr lvl="1"/>
            <a:r>
              <a:rPr lang="en-US" dirty="0" smtClean="0">
                <a:solidFill>
                  <a:schemeClr val="bg1"/>
                </a:solidFill>
              </a:rPr>
              <a:t>Customer?</a:t>
            </a:r>
          </a:p>
          <a:p>
            <a:pPr lvl="1"/>
            <a:r>
              <a:rPr lang="en-US" dirty="0" smtClean="0">
                <a:solidFill>
                  <a:schemeClr val="bg1"/>
                </a:solidFill>
              </a:rPr>
              <a:t>Shop?</a:t>
            </a:r>
          </a:p>
          <a:p>
            <a:pPr lvl="1"/>
            <a:r>
              <a:rPr lang="en-US" dirty="0" smtClean="0">
                <a:solidFill>
                  <a:schemeClr val="bg1"/>
                </a:solidFill>
              </a:rPr>
              <a:t>Both?</a:t>
            </a:r>
            <a:endParaRPr lang="en-US" dirty="0" smtClean="0">
              <a:solidFill>
                <a:schemeClr val="bg1"/>
              </a:solidFill>
            </a:endParaRPr>
          </a:p>
          <a:p>
            <a:endParaRPr 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bg1"/>
                </a:solidFill>
              </a:rPr>
              <a:t>Hard example</a:t>
            </a:r>
            <a:endParaRPr lang="en-US" dirty="0">
              <a:solidFill>
                <a:schemeClr val="bg1"/>
              </a:solidFill>
            </a:endParaRPr>
          </a:p>
        </p:txBody>
      </p:sp>
      <p:sp>
        <p:nvSpPr>
          <p:cNvPr id="3" name="Content Placeholder 2"/>
          <p:cNvSpPr>
            <a:spLocks noGrp="1"/>
          </p:cNvSpPr>
          <p:nvPr>
            <p:ph idx="1"/>
          </p:nvPr>
        </p:nvSpPr>
        <p:spPr/>
        <p:txBody>
          <a:bodyPr/>
          <a:lstStyle/>
          <a:p>
            <a:r>
              <a:rPr lang="en-US" dirty="0" smtClean="0">
                <a:solidFill>
                  <a:schemeClr val="bg1"/>
                </a:solidFill>
              </a:rPr>
              <a:t>Using the automotive shop example, we have four classes, Shop, Customer, Car, and Service Quote.</a:t>
            </a:r>
          </a:p>
          <a:p>
            <a:r>
              <a:rPr lang="en-US" dirty="0" smtClean="0">
                <a:solidFill>
                  <a:schemeClr val="bg1"/>
                </a:solidFill>
              </a:rPr>
              <a:t>Who deals with car alterations?</a:t>
            </a:r>
          </a:p>
          <a:p>
            <a:pPr lvl="1"/>
            <a:r>
              <a:rPr lang="en-US" dirty="0" smtClean="0">
                <a:solidFill>
                  <a:schemeClr val="bg1"/>
                </a:solidFill>
              </a:rPr>
              <a:t>Shop?</a:t>
            </a:r>
          </a:p>
          <a:p>
            <a:pPr lvl="1"/>
            <a:r>
              <a:rPr lang="en-US" dirty="0" smtClean="0">
                <a:solidFill>
                  <a:schemeClr val="bg1"/>
                </a:solidFill>
              </a:rPr>
              <a:t>Mechanic?</a:t>
            </a:r>
          </a:p>
          <a:p>
            <a:pPr lvl="1"/>
            <a:r>
              <a:rPr lang="en-US" dirty="0" smtClean="0">
                <a:solidFill>
                  <a:schemeClr val="bg1"/>
                </a:solidFill>
              </a:rPr>
              <a:t>Car?</a:t>
            </a:r>
            <a:endParaRPr 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TotalTime>
  <Words>300</Words>
  <Application>Microsoft Office PowerPoint</Application>
  <PresentationFormat>On-screen Show (4:3)</PresentationFormat>
  <Paragraphs>154</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CS 0007: Introduction to Java Lecture 18</vt:lpstr>
      <vt:lpstr>Main Portions of OOP</vt:lpstr>
      <vt:lpstr>Class Components</vt:lpstr>
      <vt:lpstr>Inter-class Relationships</vt:lpstr>
      <vt:lpstr>Modeling a Problem</vt:lpstr>
      <vt:lpstr>Find the Nouns</vt:lpstr>
      <vt:lpstr>Coalescing</vt:lpstr>
      <vt:lpstr>Noun Out of Scope</vt:lpstr>
      <vt:lpstr>Subtypes</vt:lpstr>
      <vt:lpstr>Simple Properties</vt:lpstr>
      <vt:lpstr>Simple Properties</vt:lpstr>
      <vt:lpstr>Simple Properties</vt:lpstr>
      <vt:lpstr>Simple Properties</vt:lpstr>
      <vt:lpstr>Simple Properties</vt:lpstr>
      <vt:lpstr>Simple Properties</vt:lpstr>
      <vt:lpstr>Simple Properties</vt:lpstr>
      <vt:lpstr>Who Owns Everything?</vt:lpstr>
      <vt:lpstr>Code on the board!</vt:lpstr>
      <vt:lpstr>The Object Class</vt:lpstr>
      <vt:lpstr>What Is toString()?</vt:lpstr>
      <vt:lpstr>Who is Responsible?</vt:lpstr>
      <vt:lpstr>Easy examples</vt:lpstr>
      <vt:lpstr>Medium example</vt:lpstr>
      <vt:lpstr>Hard example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0007: Introduction to Java Lecture 16</dc:title>
  <dc:creator>Eleonor Rico</dc:creator>
  <cp:lastModifiedBy>ongnathan</cp:lastModifiedBy>
  <cp:revision>6</cp:revision>
  <dcterms:created xsi:type="dcterms:W3CDTF">2016-11-07T16:39:01Z</dcterms:created>
  <dcterms:modified xsi:type="dcterms:W3CDTF">2016-11-10T04:06:08Z</dcterms:modified>
</cp:coreProperties>
</file>