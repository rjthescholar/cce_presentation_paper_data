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1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214E76-BE87-48BD-BB5E-152F6404544F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345F11-617A-4F81-AFFC-25C2FADE7BE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"difference</a:t>
            </a:r>
            <a:r>
              <a:rPr lang="en-US" baseline="0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machine" – essentially a</a:t>
            </a:r>
            <a:r>
              <a:rPr lang="en-US" baseline="0" dirty="0" smtClean="0">
                <a:solidFill>
                  <a:schemeClr val="bg1"/>
                </a:solidFill>
              </a:rPr>
              <a:t> mechanical calculator of logarithms and trigonometric functions to approximate polynomials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Started 1834</a:t>
            </a:r>
          </a:p>
          <a:p>
            <a:r>
              <a:rPr lang="en-US" dirty="0" smtClean="0"/>
              <a:t>Babbage</a:t>
            </a:r>
            <a:r>
              <a:rPr lang="en-US" baseline="0" dirty="0" smtClean="0"/>
              <a:t> source: https://upload.wikimedia.org/wikipedia/commons/6/6b/Charles_Babbage_-_1860.jpg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"difference</a:t>
            </a:r>
            <a:r>
              <a:rPr lang="en-US" baseline="0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machine" – essentially a</a:t>
            </a:r>
            <a:r>
              <a:rPr lang="en-US" baseline="0" dirty="0" smtClean="0">
                <a:solidFill>
                  <a:schemeClr val="bg1"/>
                </a:solidFill>
              </a:rPr>
              <a:t> mechanical calculator for polynomials, logarithms, and trigonometric functions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"difference</a:t>
            </a:r>
            <a:r>
              <a:rPr lang="en-US" baseline="0" dirty="0" smtClean="0">
                <a:solidFill>
                  <a:schemeClr val="bg1"/>
                </a:solidFill>
              </a:rPr>
              <a:t> </a:t>
            </a:r>
            <a:r>
              <a:rPr lang="en-US" dirty="0" smtClean="0">
                <a:solidFill>
                  <a:schemeClr val="bg1"/>
                </a:solidFill>
              </a:rPr>
              <a:t>machine" – essentially a</a:t>
            </a:r>
            <a:r>
              <a:rPr lang="en-US" baseline="0" dirty="0" smtClean="0">
                <a:solidFill>
                  <a:schemeClr val="bg1"/>
                </a:solidFill>
              </a:rPr>
              <a:t> mechanical calculator of logarithms and trigonometric functions to approximate polynomials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F3729B-6402-44F1-9CCC-CD59807E9918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68516-E4E9-483E-8513-2602D719E1A3}" type="datetimeFigureOut">
              <a:rPr lang="en-US" smtClean="0"/>
              <a:pPr/>
              <a:t>9/1/2016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7276E0-169C-4696-9BD4-66612560F9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CS </a:t>
            </a:r>
            <a:r>
              <a:rPr lang="en-US" dirty="0" smtClean="0">
                <a:solidFill>
                  <a:schemeClr val="bg1"/>
                </a:solidFill>
              </a:rPr>
              <a:t>0007: </a:t>
            </a:r>
            <a:r>
              <a:rPr lang="en-US" dirty="0" smtClean="0">
                <a:solidFill>
                  <a:schemeClr val="bg1"/>
                </a:solidFill>
              </a:rPr>
              <a:t>Introduction to </a:t>
            </a:r>
            <a:r>
              <a:rPr lang="en-US" dirty="0" smtClean="0">
                <a:solidFill>
                  <a:schemeClr val="bg1"/>
                </a:solidFill>
              </a:rPr>
              <a:t>Java</a:t>
            </a:r>
            <a:r>
              <a:rPr lang="en-US" dirty="0" smtClean="0">
                <a:solidFill>
                  <a:schemeClr val="bg1"/>
                </a:solidFill>
              </a:rPr>
              <a:t/>
            </a:r>
            <a:br>
              <a:rPr lang="en-US" dirty="0" smtClean="0">
                <a:solidFill>
                  <a:schemeClr val="bg1"/>
                </a:solidFill>
              </a:rPr>
            </a:br>
            <a:r>
              <a:rPr lang="en-US" dirty="0" smtClean="0">
                <a:solidFill>
                  <a:schemeClr val="bg1"/>
                </a:solidFill>
              </a:rPr>
              <a:t>Lecture 1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Nathan </a:t>
            </a:r>
            <a:r>
              <a:rPr lang="en-US" dirty="0" err="1" smtClean="0"/>
              <a:t>Ong</a:t>
            </a:r>
            <a:endParaRPr lang="en-US" dirty="0" smtClean="0"/>
          </a:p>
          <a:p>
            <a:r>
              <a:rPr lang="en-US" dirty="0" smtClean="0"/>
              <a:t>University of Pittsburgh</a:t>
            </a:r>
          </a:p>
          <a:p>
            <a:r>
              <a:rPr lang="en-US" dirty="0" smtClean="0"/>
              <a:t>September 1, 2016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000" b="0" dirty="0" smtClean="0">
                <a:solidFill>
                  <a:schemeClr val="bg1"/>
                </a:solidFill>
                <a:latin typeface="+mn-lt"/>
              </a:rPr>
              <a:t>And Java is not just an Indonesian Island or a Type of Coffee</a:t>
            </a:r>
            <a:endParaRPr lang="en-US" sz="2000" b="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4000" b="1" dirty="0" smtClean="0">
                <a:solidFill>
                  <a:schemeClr val="bg1"/>
                </a:solidFill>
                <a:latin typeface="+mj-lt"/>
              </a:rPr>
              <a:t>Not Your Usual Best Buy Pitch for a Computer</a:t>
            </a:r>
            <a:endParaRPr lang="en-US" sz="4000" b="1" dirty="0">
              <a:solidFill>
                <a:schemeClr val="bg1"/>
              </a:solidFill>
              <a:latin typeface="+mj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What Happens in that Magical Box?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324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http://ak1.ostkcdn.com/images/products/77/822/L13881092.jpg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computer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33599" y="1424781"/>
            <a:ext cx="4876802" cy="4876802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How a Computer is Organized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" name="Content Placeholder 6" descr="computer overview.gif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92931" y="1477963"/>
            <a:ext cx="8158138" cy="4770438"/>
          </a:xfrm>
        </p:spPr>
      </p:pic>
      <p:sp>
        <p:nvSpPr>
          <p:cNvPr id="6" name="TextBox 5"/>
          <p:cNvSpPr txBox="1"/>
          <p:nvPr/>
        </p:nvSpPr>
        <p:spPr>
          <a:xfrm>
            <a:off x="457200" y="6324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https://www.doc.ic.ac.uk/~eedwards/compsys/overall.gif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026" name="Picture 2" descr="https://upload.wikimedia.org/wikipedia/commons/e/ea/Boulier1.JP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1918498"/>
            <a:ext cx="5181600" cy="3889366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57200" y="6324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https://upload.wikimedia.org/wikipedia/commons/e/ea/Boulier1.JPG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7244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??? 		– Math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~2400 BC 	– Abacus probably invented in Babylon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???		– More math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1600s	– John Napier discovers logarithms and 				fast log computation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1786		– Johann </a:t>
            </a:r>
            <a:r>
              <a:rPr lang="en-US" dirty="0" err="1" smtClean="0">
                <a:solidFill>
                  <a:schemeClr val="bg1"/>
                </a:solidFill>
              </a:rPr>
              <a:t>Müller</a:t>
            </a:r>
            <a:r>
              <a:rPr lang="en-US" dirty="0" smtClean="0">
                <a:solidFill>
                  <a:schemeClr val="bg1"/>
                </a:solidFill>
              </a:rPr>
              <a:t> theorizes a "Difference 				Engine"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1822		– Charles Babbage ("father of the 					computer") secures funding to build 			a Difference Engine (never built)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914400"/>
            <a:ext cx="87630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1837	– Charles Babbage designs "Analytical Engine"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https://s3.yimg.com/te/8543/8649286817_a3042f2c29_z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72231" y="1524000"/>
            <a:ext cx="7281169" cy="4687254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457200" y="6211669"/>
            <a:ext cx="8229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1841 Prototype on display at The Science Museum in London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(Source: https://s3.yimg.com/te/8543/8649286817_a3042f2c29_z.jpg)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52" name="Picture 4" descr="https://upload.wikimedia.org/wikipedia/commons/6/6b/Charles_Babbage_-_186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28600" y="1600200"/>
            <a:ext cx="1976174" cy="2590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Analytical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525963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Babbage's Engine is considered the first general-purpose computer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Could handle basic math operations, logic, loops, conditional branching, and had some primitive memory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Powered by a hand-crank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The full-scale version was never built, due to inadequate funding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Analytical Engine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Accepted two kinds of punch cards: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Top: "Variable Cards" (Data)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Bottom: "Operational Cards" (Instructions)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Punch cards were not new (used to direct mechanical looms at the time)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09924" name="Picture 4" descr="https://upload.wikimedia.org/wikipedia/commons/0/0d/PunchedCardsAnalyticalEngine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46768" y="1401762"/>
            <a:ext cx="2841464" cy="4922838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304800" y="6324600"/>
            <a:ext cx="883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solidFill>
                  <a:schemeClr val="bg1"/>
                </a:solidFill>
              </a:rPr>
              <a:t>Source: https://upload.wikimedia.org/wikipedia/commons/0/0d/PunchedCardsAnalyticalEngine.jpg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chemeClr val="bg1"/>
                </a:solidFill>
              </a:rPr>
              <a:t>Ada</a:t>
            </a:r>
            <a:r>
              <a:rPr lang="en-US" dirty="0" smtClean="0">
                <a:solidFill>
                  <a:schemeClr val="bg1"/>
                </a:solidFill>
              </a:rPr>
              <a:t> Lovelace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2400" y="63246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https://upload.wikimedia.org/wikipedia/commons/a/a4/Ada_Lovelace_portrait.jpg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Content Placeholder 11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In 1842, she recognized the usage of multiple, non-direct, complex operations and memory could generate Bernoulli numbers using Babbage's Analytical Engine.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This is the first computer program.</a:t>
            </a:r>
          </a:p>
        </p:txBody>
      </p:sp>
      <p:pic>
        <p:nvPicPr>
          <p:cNvPr id="13" name="Picture 2" descr="https://upload.wikimedia.org/wikipedia/commons/a/a4/Ada_Lovelace_portrait.jpg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/>
          <a:stretch>
            <a:fillRect/>
          </a:stretch>
        </p:blipFill>
        <p:spPr bwMode="auto">
          <a:xfrm>
            <a:off x="5092325" y="1600200"/>
            <a:ext cx="3150349" cy="452596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Side note: Yes there is a fan-fiction ship musical for Babbage and Lovelace.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686800" cy="4953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1885	– AT&amp;T (the company behind the operating 			system Unix and the programming 			language C) founded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1906	– Xerox (the company behind desktops 			and the computer mouse) founded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1907	– Vacuum tube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1911	– IBM (the company behind hard disks and 			floppy disks) founded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1931	– Charles Wynn-Williams published first 			usage of electronics in computation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1938	– Claude Shannon published first usage of 		electronics in Boolean algebra 			computation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1946	– Alan Turing publishes a paper on 				programs stored and read from tape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The ENIAC, the first electronic general-			purpose computer, was 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1947 – Transistor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Cathode Ray Tube (CRT) Random Access 		Memory (RAM) invented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1952	– Grace Hopper invents first compiler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1956	– Hard disk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1957	– FORTRAN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1958	– Integrated circuit (chip)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LISP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1960	– COBOL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1962	– First computer game created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1963	– Computer mouse invented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1964	– BASIC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1965	– First supercomputer 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Gordon Moore publishes his famous 				"Moore's Law"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1968	– Moore founds Intel (the company behind CPUs 		and other chips)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1969	– ARPANET (predecessor to the Internet) 			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UNIX 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1970	– Integrated Circuit Dynamic-RAM 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Pascal invented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1971	– Intel develops first commercially available 		microprocessor (4004)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Famous "P vs. NP" problem stated by Kurt 		Gödel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Floppy disks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1972	– C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1975	– First personal computer sold (Altair 8800)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Microsoft founded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1976	– Apple founded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LISP invented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1978	– SQL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1982	– Sun Microsystems (company behind 			Java) founded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1984	– C++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1985	– CD-ROM 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1989	– World Wide Web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1991	– Linux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1993	– Concept of an Internet search engine 			developed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History of Computing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1994	– First </a:t>
            </a:r>
            <a:r>
              <a:rPr lang="en-US" dirty="0" err="1" smtClean="0">
                <a:solidFill>
                  <a:schemeClr val="bg1"/>
                </a:solidFill>
              </a:rPr>
              <a:t>smartphone</a:t>
            </a:r>
            <a:r>
              <a:rPr lang="en-US" dirty="0" smtClean="0">
                <a:solidFill>
                  <a:schemeClr val="bg1"/>
                </a:solidFill>
              </a:rPr>
              <a:t> developed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1995	– USB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DVD-ROM invented</a:t>
            </a:r>
          </a:p>
          <a:p>
            <a:pPr>
              <a:buNone/>
            </a:pPr>
            <a:r>
              <a:rPr lang="en-US" dirty="0" smtClean="0">
                <a:solidFill>
                  <a:schemeClr val="bg1"/>
                </a:solidFill>
              </a:rPr>
              <a:t>		– Java invented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Java Today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Oracle acquired Sun Microsystems in 2010.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One of the most widely used languages, primarily found in business enterprises, web applications, or mobile phones (i.e. Android).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Current version: Java SE 8u102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Why Learn Java?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Widely used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Constantly updating and receiving support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Easily understood due to standardized and consistent syntax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Forces code readability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Virtual Machine isolates running code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Software Layers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8" name="Content Placeholder 7" descr="softwareLayers.jpg"/>
          <p:cNvPicPr>
            <a:picLocks noGrp="1" noChangeAspect="1"/>
          </p:cNvPicPr>
          <p:nvPr>
            <p:ph sz="half" idx="1"/>
          </p:nvPr>
        </p:nvPicPr>
        <p:blipFill>
          <a:blip r:embed="rId2" cstate="print"/>
          <a:stretch>
            <a:fillRect/>
          </a:stretch>
        </p:blipFill>
        <p:spPr>
          <a:xfrm>
            <a:off x="1295400" y="1360759"/>
            <a:ext cx="2362200" cy="5004844"/>
          </a:xfrm>
        </p:spPr>
      </p:pic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u="sng" dirty="0" smtClean="0">
                <a:solidFill>
                  <a:schemeClr val="bg1"/>
                </a:solidFill>
              </a:rPr>
              <a:t>Applications</a:t>
            </a:r>
            <a:r>
              <a:rPr lang="en-US" dirty="0" smtClean="0">
                <a:solidFill>
                  <a:schemeClr val="bg1"/>
                </a:solidFill>
              </a:rPr>
              <a:t>: Software that interfaces with the user</a:t>
            </a:r>
          </a:p>
          <a:p>
            <a:r>
              <a:rPr lang="en-US" u="sng" dirty="0" smtClean="0">
                <a:solidFill>
                  <a:schemeClr val="bg1"/>
                </a:solidFill>
              </a:rPr>
              <a:t>System Software</a:t>
            </a:r>
            <a:r>
              <a:rPr lang="en-US" dirty="0" smtClean="0">
                <a:solidFill>
                  <a:schemeClr val="bg1"/>
                </a:solidFill>
              </a:rPr>
              <a:t>: Operating System (e.g. Windows, Mac OSX, Linux)</a:t>
            </a:r>
          </a:p>
          <a:p>
            <a:r>
              <a:rPr lang="en-US" u="sng" dirty="0" smtClean="0">
                <a:solidFill>
                  <a:schemeClr val="bg1"/>
                </a:solidFill>
              </a:rPr>
              <a:t>Device Drivers</a:t>
            </a:r>
            <a:r>
              <a:rPr lang="en-US" dirty="0" smtClean="0">
                <a:solidFill>
                  <a:schemeClr val="bg1"/>
                </a:solidFill>
              </a:rPr>
              <a:t>: Software to talk to non-computer devices (e.g. printers, webcams, etc.)</a:t>
            </a:r>
            <a:endParaRPr lang="en-US" u="sng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6324600"/>
            <a:ext cx="822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Source: http://cs.sru.edu/~mullins/cpsc100book/images/softwareLayers.jpg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449</Words>
  <Application>Microsoft Office PowerPoint</Application>
  <PresentationFormat>On-screen Show (4:3)</PresentationFormat>
  <Paragraphs>116</Paragraphs>
  <Slides>21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CS 0007: Introduction to Java Lecture 1</vt:lpstr>
      <vt:lpstr>And Java is not just an Indonesian Island or a Type of Coffee</vt:lpstr>
      <vt:lpstr>What Happens in that Magical Box?</vt:lpstr>
      <vt:lpstr>How a Computer is Organized</vt:lpstr>
      <vt:lpstr>History of Computing</vt:lpstr>
      <vt:lpstr>History of Computing</vt:lpstr>
      <vt:lpstr>History of Computing</vt:lpstr>
      <vt:lpstr>Analytical Engine</vt:lpstr>
      <vt:lpstr>Analytical Engine</vt:lpstr>
      <vt:lpstr>Ada Lovelace</vt:lpstr>
      <vt:lpstr>Slide 11</vt:lpstr>
      <vt:lpstr>History of Computing</vt:lpstr>
      <vt:lpstr>History of Computing</vt:lpstr>
      <vt:lpstr>History of Computing</vt:lpstr>
      <vt:lpstr>History of Computing</vt:lpstr>
      <vt:lpstr>History of Computing</vt:lpstr>
      <vt:lpstr>History of Computing</vt:lpstr>
      <vt:lpstr>History of Computing</vt:lpstr>
      <vt:lpstr>Java Today</vt:lpstr>
      <vt:lpstr>Why Learn Java?</vt:lpstr>
      <vt:lpstr>Software Layers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0007 Introduction to Programming (Java) Lecture 1</dc:title>
  <dc:creator>ongnathan</dc:creator>
  <cp:lastModifiedBy>Eleonor Rico</cp:lastModifiedBy>
  <cp:revision>31</cp:revision>
  <dcterms:created xsi:type="dcterms:W3CDTF">2016-09-01T02:36:05Z</dcterms:created>
  <dcterms:modified xsi:type="dcterms:W3CDTF">2016-09-01T19:04:53Z</dcterms:modified>
</cp:coreProperties>
</file>