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82" r:id="rId3"/>
    <p:sldId id="257" r:id="rId4"/>
    <p:sldId id="283" r:id="rId5"/>
    <p:sldId id="284" r:id="rId6"/>
    <p:sldId id="285" r:id="rId7"/>
    <p:sldId id="286" r:id="rId8"/>
    <p:sldId id="287" r:id="rId9"/>
    <p:sldId id="288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3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BCB3-01BC-4740-8A0B-FE219D7A167F}" type="datetimeFigureOut">
              <a:rPr lang="en-US" smtClean="0"/>
              <a:t>11/2/2016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ED7E8-3878-4837-8722-9F4450BC2A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BCB3-01BC-4740-8A0B-FE219D7A167F}" type="datetimeFigureOut">
              <a:rPr lang="en-US" smtClean="0"/>
              <a:t>11/2/2016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ED7E8-3878-4837-8722-9F4450BC2A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BCB3-01BC-4740-8A0B-FE219D7A167F}" type="datetimeFigureOut">
              <a:rPr lang="en-US" smtClean="0"/>
              <a:t>11/2/2016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ED7E8-3878-4837-8722-9F4450BC2A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BCB3-01BC-4740-8A0B-FE219D7A167F}" type="datetimeFigureOut">
              <a:rPr lang="en-US" smtClean="0"/>
              <a:t>11/2/2016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ED7E8-3878-4837-8722-9F4450BC2A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BCB3-01BC-4740-8A0B-FE219D7A167F}" type="datetimeFigureOut">
              <a:rPr lang="en-US" smtClean="0"/>
              <a:t>11/2/2016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ED7E8-3878-4837-8722-9F4450BC2A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BCB3-01BC-4740-8A0B-FE219D7A167F}" type="datetimeFigureOut">
              <a:rPr lang="en-US" smtClean="0"/>
              <a:t>11/2/2016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ED7E8-3878-4837-8722-9F4450BC2A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BCB3-01BC-4740-8A0B-FE219D7A167F}" type="datetimeFigureOut">
              <a:rPr lang="en-US" smtClean="0"/>
              <a:t>11/2/2016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ED7E8-3878-4837-8722-9F4450BC2A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BCB3-01BC-4740-8A0B-FE219D7A167F}" type="datetimeFigureOut">
              <a:rPr lang="en-US" smtClean="0"/>
              <a:t>11/2/2016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ED7E8-3878-4837-8722-9F4450BC2A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BCB3-01BC-4740-8A0B-FE219D7A167F}" type="datetimeFigureOut">
              <a:rPr lang="en-US" smtClean="0"/>
              <a:t>11/2/2016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ED7E8-3878-4837-8722-9F4450BC2A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BCB3-01BC-4740-8A0B-FE219D7A167F}" type="datetimeFigureOut">
              <a:rPr lang="en-US" smtClean="0"/>
              <a:t>11/2/2016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ED7E8-3878-4837-8722-9F4450BC2A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6BCB3-01BC-4740-8A0B-FE219D7A167F}" type="datetimeFigureOut">
              <a:rPr lang="en-US" smtClean="0"/>
              <a:t>11/2/2016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ED7E8-3878-4837-8722-9F4450BC2A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6BCB3-01BC-4740-8A0B-FE219D7A167F}" type="datetimeFigureOut">
              <a:rPr lang="en-US" smtClean="0"/>
              <a:t>11/2/2016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BED7E8-3878-4837-8722-9F4450BC2AD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CS 0007: Introduction to Java</a:t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Lecture </a:t>
            </a:r>
            <a:r>
              <a:rPr lang="en-US" dirty="0" smtClean="0">
                <a:solidFill>
                  <a:schemeClr val="bg1"/>
                </a:solidFill>
              </a:rPr>
              <a:t>16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Nathan </a:t>
            </a:r>
            <a:r>
              <a:rPr lang="en-US" dirty="0" err="1" smtClean="0"/>
              <a:t>Ong</a:t>
            </a:r>
            <a:endParaRPr lang="en-US" dirty="0" smtClean="0"/>
          </a:p>
          <a:p>
            <a:r>
              <a:rPr lang="en-US" dirty="0" smtClean="0"/>
              <a:t>University of Pittsburgh</a:t>
            </a:r>
          </a:p>
          <a:p>
            <a:r>
              <a:rPr lang="en-US" dirty="0" smtClean="0"/>
              <a:t>November </a:t>
            </a:r>
            <a:r>
              <a:rPr lang="en-US" dirty="0" smtClean="0"/>
              <a:t>3, </a:t>
            </a:r>
            <a:r>
              <a:rPr lang="en-US" dirty="0" smtClean="0"/>
              <a:t>2016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Main Portions of OOP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Building a class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Determining inter-class relationships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Subclasses</a:t>
            </a:r>
          </a:p>
          <a:p>
            <a:pPr lvl="1"/>
            <a:r>
              <a:rPr lang="en-US" dirty="0" err="1" smtClean="0">
                <a:solidFill>
                  <a:schemeClr val="bg1"/>
                </a:solidFill>
              </a:rPr>
              <a:t>Superclasses</a:t>
            </a:r>
            <a:endParaRPr lang="en-US" dirty="0" smtClean="0">
              <a:solidFill>
                <a:schemeClr val="bg1"/>
              </a:solidFill>
            </a:endParaRP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Ownership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Recap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A class needs these components: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Class-level/Instance Variables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Methods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Constructor(s)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Car 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Car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static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i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final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Color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String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licensePlate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Car(Color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color;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Car.</a:t>
            </a:r>
            <a:r>
              <a:rPr lang="en-US" b="1" i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Car.</a:t>
            </a:r>
            <a:r>
              <a:rPr lang="en-US" b="1" i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++;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constructor(Color)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Car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Overloading Constructors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Car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Car(Color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color;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Car.</a:t>
            </a:r>
            <a:r>
              <a:rPr lang="en-US" b="1" i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Car.</a:t>
            </a:r>
            <a:r>
              <a:rPr lang="en-US" b="1" i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++;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constructor(Color)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//default color is 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Color.RED</a:t>
            </a: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Car()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Color.RED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constructor()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81600" y="4114800"/>
            <a:ext cx="3276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Referencing other constructors can be done with the keyword </a:t>
            </a:r>
            <a:r>
              <a:rPr lang="en-US" sz="32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endParaRPr lang="en-US" sz="3200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6" name="Straight Arrow Connector 5"/>
          <p:cNvCxnSpPr>
            <a:stCxn id="4" idx="1"/>
          </p:cNvCxnSpPr>
          <p:nvPr/>
        </p:nvCxnSpPr>
        <p:spPr>
          <a:xfrm flipH="1" flipV="1">
            <a:off x="4267200" y="4953000"/>
            <a:ext cx="914400" cy="192852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Functional Functions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The most common functions are </a:t>
            </a:r>
            <a:r>
              <a:rPr lang="en-US" dirty="0" smtClean="0">
                <a:solidFill>
                  <a:srgbClr val="FF0000"/>
                </a:solidFill>
              </a:rPr>
              <a:t>getters</a:t>
            </a:r>
            <a:r>
              <a:rPr lang="en-US" dirty="0" smtClean="0">
                <a:solidFill>
                  <a:schemeClr val="bg1"/>
                </a:solidFill>
              </a:rPr>
              <a:t> and </a:t>
            </a:r>
            <a:r>
              <a:rPr lang="en-US" dirty="0" smtClean="0">
                <a:solidFill>
                  <a:srgbClr val="FF0000"/>
                </a:solidFill>
              </a:rPr>
              <a:t>setters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Getters retrieve the values of instance variables and return them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Setters alter the values of the instance variables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use these functions rather than setting the variable to be public?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Control!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Car 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Car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static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i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final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Color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String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licensePlate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getIDNum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function()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Car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Car 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Car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static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i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nextIDNum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final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idNum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Color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String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licensePlate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setColor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(Color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.color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color;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function(Color)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Car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Why Bother?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Having these methods ensure you have full control over the instance variables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Should you decide to change how the variable is accessed or altered, you only need to change the method.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You only add them when you need them!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Inter-class Relationships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Building a single class is useless.  It needs to be used in context.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There are two main relationships between classes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Sub/Super class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Ownership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Subclasses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 </a:t>
            </a:r>
            <a:r>
              <a:rPr lang="en-US" dirty="0" smtClean="0">
                <a:solidFill>
                  <a:srgbClr val="FF0000"/>
                </a:solidFill>
              </a:rPr>
              <a:t>subclass</a:t>
            </a:r>
            <a:r>
              <a:rPr lang="en-US" dirty="0" smtClean="0">
                <a:solidFill>
                  <a:schemeClr val="bg1"/>
                </a:solidFill>
              </a:rPr>
              <a:t> of a class is a more specific type of a class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Also known as the child of a class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For example, a tree would be a subclass of plant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Subclasses are meant to expand upon the behavior of their more general parent class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You can have several subclasses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bg1"/>
                </a:solidFill>
              </a:rPr>
              <a:t>Superclasses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On the converse, a </a:t>
            </a:r>
            <a:r>
              <a:rPr lang="en-US" dirty="0" err="1" smtClean="0">
                <a:solidFill>
                  <a:srgbClr val="FF0000"/>
                </a:solidFill>
              </a:rPr>
              <a:t>superclass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is a more abstract and general version of a class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Also known as the parent of a class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Plant is the </a:t>
            </a:r>
            <a:r>
              <a:rPr lang="en-US" dirty="0" err="1" smtClean="0">
                <a:solidFill>
                  <a:schemeClr val="bg1"/>
                </a:solidFill>
              </a:rPr>
              <a:t>superclass</a:t>
            </a:r>
            <a:r>
              <a:rPr lang="en-US" dirty="0" smtClean="0">
                <a:solidFill>
                  <a:schemeClr val="bg1"/>
                </a:solidFill>
              </a:rPr>
              <a:t> of Tree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You can only have one </a:t>
            </a:r>
            <a:r>
              <a:rPr lang="en-US" dirty="0" err="1" smtClean="0">
                <a:solidFill>
                  <a:schemeClr val="bg1"/>
                </a:solidFill>
              </a:rPr>
              <a:t>superclass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Declaring a Class to be a Subtype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 order to declare a class’s parent, use the keyword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extends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(Classes that do not have a parent class implicitly extend the Object class)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Inheritance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 subclass </a:t>
            </a:r>
            <a:r>
              <a:rPr lang="en-US" dirty="0" smtClean="0">
                <a:solidFill>
                  <a:srgbClr val="FF0000"/>
                </a:solidFill>
              </a:rPr>
              <a:t>inherits </a:t>
            </a:r>
            <a:r>
              <a:rPr lang="en-US" dirty="0" smtClean="0">
                <a:solidFill>
                  <a:schemeClr val="bg1"/>
                </a:solidFill>
              </a:rPr>
              <a:t>all </a:t>
            </a:r>
            <a:r>
              <a:rPr lang="en-US" u="sng" dirty="0" smtClean="0">
                <a:solidFill>
                  <a:schemeClr val="bg1"/>
                </a:solidFill>
              </a:rPr>
              <a:t>non-private</a:t>
            </a:r>
            <a:r>
              <a:rPr lang="en-US" dirty="0" smtClean="0">
                <a:solidFill>
                  <a:schemeClr val="bg1"/>
                </a:solidFill>
              </a:rPr>
              <a:t> fields and methods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Accessing these fields and methods requires the keyword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super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(Note: you may also be able to access private fields with the parent class’s getters and setters, which may be safer)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Restricting Access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if you want a field or method to be inherited, but still do not necessarily want it to be accessed by anyone?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 the keyword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protected</a:t>
            </a:r>
          </a:p>
          <a:p>
            <a:r>
              <a:rPr lang="en-US" dirty="0" smtClean="0">
                <a:solidFill>
                  <a:schemeClr val="bg1"/>
                </a:solidFill>
                <a:cs typeface="Courier New" pitchFamily="49" charset="0"/>
              </a:rPr>
              <a:t>Remember, releasing your access to these fields and methods should only be done when necessary</a:t>
            </a:r>
            <a:endParaRPr lang="en-US" dirty="0">
              <a:solidFill>
                <a:schemeClr val="bg1"/>
              </a:solidFill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Vehicle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final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numWheels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move(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dist)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dist &lt;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.numWheels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10.0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function(double)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Vehicle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Example 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86800" cy="452596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Car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extends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Vehicle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numPassengers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double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gasRemaining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drive(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dist)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return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(dist &lt;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.numWheels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100.0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 &amp;&amp;</a:t>
            </a:r>
            <a:b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(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.gasRemaining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&gt; 0);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function(double)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Plant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Example B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Car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extends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Vehicle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numPassengers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double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gasRemaining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drive(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dist)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super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.move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(dist*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10.0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 &amp;&amp;</a:t>
            </a:r>
            <a:b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(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.gasRemaining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&gt; 0);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function(double)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Plant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Which Is Better?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Example A totally ignores the move method (essentially its precursor), but is clearer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Example B shows the movement lineage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Either is okay, but both need comments!!!!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Regarding Constructors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Constructors cannot be inherited, even though they are public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However, you can, and should, use them from the subclass’s constructor, to ensure complete initialization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You can call the parent’s constructor by using the keyword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super</a:t>
            </a:r>
            <a:endParaRPr lang="en-US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Calling </a:t>
            </a:r>
            <a:r>
              <a:rPr lang="en-US" dirty="0" err="1" smtClean="0">
                <a:solidFill>
                  <a:schemeClr val="bg1"/>
                </a:solidFill>
              </a:rPr>
              <a:t>Superclass</a:t>
            </a:r>
            <a:r>
              <a:rPr lang="en-US" dirty="0" smtClean="0">
                <a:solidFill>
                  <a:schemeClr val="bg1"/>
                </a:solidFill>
              </a:rPr>
              <a:t> Constructor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Unlike calling an overloaded constructor of the same class, calling a </a:t>
            </a:r>
            <a:r>
              <a:rPr lang="en-US" dirty="0" err="1" smtClean="0">
                <a:solidFill>
                  <a:schemeClr val="bg1"/>
                </a:solidFill>
              </a:rPr>
              <a:t>superclass</a:t>
            </a:r>
            <a:r>
              <a:rPr lang="en-US" dirty="0" smtClean="0">
                <a:solidFill>
                  <a:schemeClr val="bg1"/>
                </a:solidFill>
              </a:rPr>
              <a:t> constructor does not need to be the only line of code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However, it must still be the first line of code in the constructor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Vehicle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final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numWheels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Vehicle(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numWheels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.numWheels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numWheels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function(double)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Vehicle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Example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Car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extends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Vehicle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numPassengers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double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gasRemaining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Car(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numPassengers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gasRemaining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super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(4);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.numPassengers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numPassengers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.gasRemaining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gasRemaining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constructor(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int,double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Plant</a:t>
            </a:r>
          </a:p>
          <a:p>
            <a:pPr>
              <a:buNone/>
            </a:pPr>
            <a:endParaRPr lang="en-US" b="1" dirty="0" smtClean="0">
              <a:solidFill>
                <a:schemeClr val="accent3">
                  <a:lumMod val="50000"/>
                </a:schemeClr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What If the </a:t>
            </a:r>
            <a:r>
              <a:rPr lang="en-US" dirty="0" err="1" smtClean="0">
                <a:solidFill>
                  <a:schemeClr val="bg1"/>
                </a:solidFill>
              </a:rPr>
              <a:t>Superclass’s</a:t>
            </a:r>
            <a:r>
              <a:rPr lang="en-US" dirty="0" smtClean="0">
                <a:solidFill>
                  <a:schemeClr val="bg1"/>
                </a:solidFill>
              </a:rPr>
              <a:t> Method Definition Does Not Fit the Class’s?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We can </a:t>
            </a:r>
            <a:r>
              <a:rPr lang="en-US" dirty="0" smtClean="0">
                <a:solidFill>
                  <a:srgbClr val="FF0000"/>
                </a:solidFill>
              </a:rPr>
              <a:t>override</a:t>
            </a:r>
            <a:r>
              <a:rPr lang="en-US" dirty="0" smtClean="0">
                <a:solidFill>
                  <a:schemeClr val="bg1"/>
                </a:solidFill>
              </a:rPr>
              <a:t> the definition by using the exact same function header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 line directly above function header must have “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@Override</a:t>
            </a:r>
            <a:r>
              <a:rPr lang="en-US" dirty="0" smtClean="0">
                <a:solidFill>
                  <a:schemeClr val="bg1"/>
                </a:solidFill>
              </a:rPr>
              <a:t>” only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As an example, our Car class should probably use the original “move” method, rather than creating an entirely new “drive” method that does something similar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Reminder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Car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extends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Vehicle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numPassengers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double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gasRemaining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drive(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dist)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super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.move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(dist*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10.0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 &amp;&amp;</a:t>
            </a:r>
            <a:b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(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.gasRemaining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&gt; 0);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function(double)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Plant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Override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Car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extends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Vehicle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numPassengers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double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gasRemaining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i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@Override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move(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dist)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super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.move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(dist*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10.0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 &amp;&amp;</a:t>
            </a:r>
            <a:b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(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.gasRemaining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&gt; 0);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function(double)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Plant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Overriding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 can still reference the original method using the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super</a:t>
            </a:r>
            <a:r>
              <a:rPr lang="en-US" dirty="0" smtClean="0">
                <a:solidFill>
                  <a:schemeClr val="bg1"/>
                </a:solidFill>
              </a:rPr>
              <a:t> keyword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Unless your overridden method totally discards the functionality of the </a:t>
            </a:r>
            <a:r>
              <a:rPr lang="en-US" dirty="0" err="1" smtClean="0">
                <a:solidFill>
                  <a:schemeClr val="bg1"/>
                </a:solidFill>
              </a:rPr>
              <a:t>superclass’s</a:t>
            </a:r>
            <a:r>
              <a:rPr lang="en-US" dirty="0" smtClean="0">
                <a:solidFill>
                  <a:schemeClr val="bg1"/>
                </a:solidFill>
              </a:rPr>
              <a:t> method, you should call the </a:t>
            </a:r>
            <a:r>
              <a:rPr lang="en-US" dirty="0" err="1" smtClean="0">
                <a:solidFill>
                  <a:schemeClr val="bg1"/>
                </a:solidFill>
              </a:rPr>
              <a:t>superclass’s</a:t>
            </a:r>
            <a:r>
              <a:rPr lang="en-US" dirty="0" smtClean="0">
                <a:solidFill>
                  <a:schemeClr val="bg1"/>
                </a:solidFill>
              </a:rPr>
              <a:t> method at least once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Note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You cannot override constructors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Ownership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Ownership is simply one class using another as a property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 Car may have an Engine, a Radio, and an Owner, depending on what you need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 Car’s </a:t>
            </a:r>
            <a:r>
              <a:rPr lang="en-US" dirty="0" err="1" smtClean="0">
                <a:solidFill>
                  <a:schemeClr val="bg1"/>
                </a:solidFill>
              </a:rPr>
              <a:t>superclass</a:t>
            </a:r>
            <a:r>
              <a:rPr lang="en-US" dirty="0" smtClean="0">
                <a:solidFill>
                  <a:schemeClr val="bg1"/>
                </a:solidFill>
              </a:rPr>
              <a:t> and subclasses certainly are not Engine, Radio, and Owner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Using the Classes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Garage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private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Vehicle[] vehicles;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Garage(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capacity)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this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.vehicles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new 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Vehicle[capacity];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vehicles.length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++)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vehicles[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] 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null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}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constructor(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)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Garage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Using the Classes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Garage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…</a:t>
            </a:r>
            <a:endParaRPr lang="en-US" b="1" dirty="0" smtClean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		public 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addVehicle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(Vehicle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vehicle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//Note: there is a better way!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&lt;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vehicles.length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++)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(vehicles[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] ==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null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	vehicles[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] = vehicle;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return true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	}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}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return false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method(Vehicle)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Garage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Using the Classes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76400"/>
            <a:ext cx="9144000" cy="452596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class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JayLeno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public static void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main(String[]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{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Garage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garage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Garage(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100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Car 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ferrari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 Car(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5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100.0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garage.addVehicle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ferrari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ferrari.move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//??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ferrari.drive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();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//??</a:t>
            </a:r>
          </a:p>
          <a:p>
            <a:pPr>
              <a:buNone/>
            </a:pP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b="1" dirty="0" err="1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smtClean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"I have so many cars"</a:t>
            </a: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		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method main</a:t>
            </a:r>
          </a:p>
          <a:p>
            <a:pPr>
              <a:buNone/>
            </a:pPr>
            <a:r>
              <a:rPr lang="en-US" b="1" dirty="0" smtClean="0">
                <a:solidFill>
                  <a:schemeClr val="bg1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//End class </a:t>
            </a:r>
            <a:r>
              <a:rPr lang="en-US" b="1" dirty="0" err="1" smtClean="0">
                <a:solidFill>
                  <a:schemeClr val="accent3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JayLeno</a:t>
            </a:r>
            <a:endParaRPr lang="en-US" b="1" dirty="0" smtClean="0">
              <a:solidFill>
                <a:schemeClr val="bg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Questions?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740</Words>
  <Application>Microsoft Office PowerPoint</Application>
  <PresentationFormat>On-screen Show (4:3)</PresentationFormat>
  <Paragraphs>277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CS 0007: Introduction to Java Lecture 16</vt:lpstr>
      <vt:lpstr>Main Portions of OOP</vt:lpstr>
      <vt:lpstr>Recap</vt:lpstr>
      <vt:lpstr>Car Example</vt:lpstr>
      <vt:lpstr>Overloading Constructors</vt:lpstr>
      <vt:lpstr>Functional Functions</vt:lpstr>
      <vt:lpstr>Car Example</vt:lpstr>
      <vt:lpstr>Car Example</vt:lpstr>
      <vt:lpstr>Why Bother?</vt:lpstr>
      <vt:lpstr>Inter-class Relationships</vt:lpstr>
      <vt:lpstr>Subclasses</vt:lpstr>
      <vt:lpstr>Superclasses</vt:lpstr>
      <vt:lpstr>Declaring a Class to be a Subtype</vt:lpstr>
      <vt:lpstr>Inheritance</vt:lpstr>
      <vt:lpstr>Restricting Access</vt:lpstr>
      <vt:lpstr>Example</vt:lpstr>
      <vt:lpstr>Example A</vt:lpstr>
      <vt:lpstr>Example B</vt:lpstr>
      <vt:lpstr>Which Is Better?</vt:lpstr>
      <vt:lpstr>Regarding Constructors</vt:lpstr>
      <vt:lpstr>Calling Superclass Constructor</vt:lpstr>
      <vt:lpstr>Example</vt:lpstr>
      <vt:lpstr>Example</vt:lpstr>
      <vt:lpstr>What If the Superclass’s Method Definition Does Not Fit the Class’s?</vt:lpstr>
      <vt:lpstr>Reminder</vt:lpstr>
      <vt:lpstr>Override</vt:lpstr>
      <vt:lpstr>Overriding</vt:lpstr>
      <vt:lpstr>Note</vt:lpstr>
      <vt:lpstr>Ownership</vt:lpstr>
      <vt:lpstr>Using the Classes</vt:lpstr>
      <vt:lpstr>Using the Classes</vt:lpstr>
      <vt:lpstr>Using the Classes</vt:lpstr>
      <vt:lpstr>Questions?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0007: Introduction to Java Lecture 16</dc:title>
  <dc:creator>Eleonor Rico</dc:creator>
  <cp:lastModifiedBy>Eleonor Rico</cp:lastModifiedBy>
  <cp:revision>13</cp:revision>
  <dcterms:created xsi:type="dcterms:W3CDTF">2016-11-02T18:15:03Z</dcterms:created>
  <dcterms:modified xsi:type="dcterms:W3CDTF">2016-11-02T21:04:17Z</dcterms:modified>
</cp:coreProperties>
</file>