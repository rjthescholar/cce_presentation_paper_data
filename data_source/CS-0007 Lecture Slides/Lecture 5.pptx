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0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A91A9B-FDFE-4F00-9FA8-FE5C0065CC62}" type="datetimeFigureOut">
              <a:rPr lang="en-US" smtClean="0"/>
              <a:t>9/14/2016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FFB5E-C03F-4FF8-A653-439BEFD131C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http://images.radiotimes.com/namedimage/Daniel_Radcliffe_on_playing_the_creator_of_Grand_Theft_Auto_and_moving_on_from_Harry_Potter.jpg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A584-E61C-4547-BA4F-5014DEF5D9DE}" type="datetimeFigureOut">
              <a:rPr lang="en-US" smtClean="0"/>
              <a:t>9/14/2016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B29C-191C-4BFD-AB10-CEA12E3438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A584-E61C-4547-BA4F-5014DEF5D9DE}" type="datetimeFigureOut">
              <a:rPr lang="en-US" smtClean="0"/>
              <a:t>9/14/2016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B29C-191C-4BFD-AB10-CEA12E3438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A584-E61C-4547-BA4F-5014DEF5D9DE}" type="datetimeFigureOut">
              <a:rPr lang="en-US" smtClean="0"/>
              <a:t>9/14/2016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B29C-191C-4BFD-AB10-CEA12E3438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A584-E61C-4547-BA4F-5014DEF5D9DE}" type="datetimeFigureOut">
              <a:rPr lang="en-US" smtClean="0"/>
              <a:t>9/14/2016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B29C-191C-4BFD-AB10-CEA12E3438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A584-E61C-4547-BA4F-5014DEF5D9DE}" type="datetimeFigureOut">
              <a:rPr lang="en-US" smtClean="0"/>
              <a:t>9/14/2016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B29C-191C-4BFD-AB10-CEA12E3438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A584-E61C-4547-BA4F-5014DEF5D9DE}" type="datetimeFigureOut">
              <a:rPr lang="en-US" smtClean="0"/>
              <a:t>9/14/2016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B29C-191C-4BFD-AB10-CEA12E3438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A584-E61C-4547-BA4F-5014DEF5D9DE}" type="datetimeFigureOut">
              <a:rPr lang="en-US" smtClean="0"/>
              <a:t>9/14/2016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B29C-191C-4BFD-AB10-CEA12E3438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A584-E61C-4547-BA4F-5014DEF5D9DE}" type="datetimeFigureOut">
              <a:rPr lang="en-US" smtClean="0"/>
              <a:t>9/14/2016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B29C-191C-4BFD-AB10-CEA12E3438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A584-E61C-4547-BA4F-5014DEF5D9DE}" type="datetimeFigureOut">
              <a:rPr lang="en-US" smtClean="0"/>
              <a:t>9/14/2016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B29C-191C-4BFD-AB10-CEA12E3438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A584-E61C-4547-BA4F-5014DEF5D9DE}" type="datetimeFigureOut">
              <a:rPr lang="en-US" smtClean="0"/>
              <a:t>9/14/2016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B29C-191C-4BFD-AB10-CEA12E3438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A584-E61C-4547-BA4F-5014DEF5D9DE}" type="datetimeFigureOut">
              <a:rPr lang="en-US" smtClean="0"/>
              <a:t>9/14/2016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B29C-191C-4BFD-AB10-CEA12E3438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62A584-E61C-4547-BA4F-5014DEF5D9DE}" type="datetimeFigureOut">
              <a:rPr lang="en-US" smtClean="0"/>
              <a:t>9/14/2016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4B29C-191C-4BFD-AB10-CEA12E3438F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CS 0007: Introduction to Java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Lecture </a:t>
            </a:r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Nathan </a:t>
            </a:r>
            <a:r>
              <a:rPr lang="en-US" dirty="0" err="1" smtClean="0"/>
              <a:t>Ong</a:t>
            </a:r>
            <a:endParaRPr lang="en-US" dirty="0" smtClean="0"/>
          </a:p>
          <a:p>
            <a:r>
              <a:rPr lang="en-US" dirty="0" smtClean="0"/>
              <a:t>University of Pittsburgh</a:t>
            </a:r>
          </a:p>
          <a:p>
            <a:r>
              <a:rPr lang="en-US" dirty="0" smtClean="0"/>
              <a:t>September </a:t>
            </a:r>
            <a:r>
              <a:rPr lang="en-US" dirty="0" smtClean="0"/>
              <a:t>15, </a:t>
            </a:r>
            <a:r>
              <a:rPr lang="en-US" dirty="0" smtClean="0"/>
              <a:t>2016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Strings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and the Application Programming Interface (API)</a:t>
            </a:r>
            <a:endParaRPr lang="en-US" dirty="0"/>
          </a:p>
        </p:txBody>
      </p:sp>
      <p:pic>
        <p:nvPicPr>
          <p:cNvPr id="1026" name="Picture 2" descr="http://images.radiotimes.com/namedimage/Daniel_Radcliffe_on_playing_the_creator_of_Grand_Theft_Auto_and_moving_on_from_Harry_Potter.jpg?quality=85&amp;mode=crop&amp;width=620&amp;height=374&amp;404=tv&amp;url=/uploads/images/original/8571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304800"/>
            <a:ext cx="5905500" cy="35623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Strings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 length of characters encased in quotation marks.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String name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Application Programming Interface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The Java “dictionary”</a:t>
            </a:r>
          </a:p>
          <a:p>
            <a:r>
              <a:rPr lang="en-US" u="sng" dirty="0" smtClean="0">
                <a:solidFill>
                  <a:schemeClr val="bg1"/>
                </a:solidFill>
              </a:rPr>
              <a:t>http://docs.oracle.com/javase/8/docs/api/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 descr="api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2743200"/>
            <a:ext cx="7696200" cy="39633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Can I Do with It?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Look up relevant </a:t>
            </a:r>
            <a:r>
              <a:rPr lang="en-US" dirty="0" smtClean="0">
                <a:solidFill>
                  <a:srgbClr val="FF0000"/>
                </a:solidFill>
              </a:rPr>
              <a:t>classes</a:t>
            </a:r>
            <a:r>
              <a:rPr lang="en-US" dirty="0" smtClean="0">
                <a:solidFill>
                  <a:schemeClr val="bg1"/>
                </a:solidFill>
              </a:rPr>
              <a:t> (e.g. String) for their relevant </a:t>
            </a:r>
            <a:r>
              <a:rPr lang="en-US" dirty="0" smtClean="0">
                <a:solidFill>
                  <a:srgbClr val="FF0000"/>
                </a:solidFill>
              </a:rPr>
              <a:t>functions</a:t>
            </a:r>
            <a:r>
              <a:rPr lang="en-US" dirty="0" smtClean="0">
                <a:solidFill>
                  <a:schemeClr val="bg1"/>
                </a:solidFill>
              </a:rPr>
              <a:t>/</a:t>
            </a:r>
            <a:r>
              <a:rPr lang="en-US" dirty="0" smtClean="0">
                <a:solidFill>
                  <a:srgbClr val="FF0000"/>
                </a:solidFill>
              </a:rPr>
              <a:t>methods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An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is the 4</a:t>
            </a:r>
            <a:r>
              <a:rPr lang="en-US" baseline="30000" dirty="0" smtClean="0">
                <a:solidFill>
                  <a:schemeClr val="bg1"/>
                </a:solidFill>
              </a:rPr>
              <a:t>th</a:t>
            </a:r>
            <a:r>
              <a:rPr lang="en-US" dirty="0" smtClean="0">
                <a:solidFill>
                  <a:schemeClr val="bg1"/>
                </a:solidFill>
              </a:rPr>
              <a:t> character of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"Nathan"</a:t>
            </a:r>
            <a:r>
              <a:rPr lang="en-US" dirty="0" smtClean="0">
                <a:solidFill>
                  <a:schemeClr val="bg1"/>
                </a:solidFill>
              </a:rPr>
              <a:t> and how do I get it?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Check the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Code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Name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String name = 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"Nathan"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name.charAt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Name</a:t>
            </a:r>
          </a:p>
          <a:p>
            <a:pPr>
              <a:buNone/>
            </a:pPr>
            <a:endParaRPr lang="en-US" sz="2200" b="1" dirty="0" smtClean="0">
              <a:solidFill>
                <a:schemeClr val="bg1"/>
              </a:solidFill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There’s one slight issue</a:t>
            </a:r>
            <a:endParaRPr lang="en-US" dirty="0">
              <a:solidFill>
                <a:schemeClr val="bg1"/>
              </a:solidFill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Counting in Java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The first character in the series is at the 0</a:t>
            </a:r>
            <a:r>
              <a:rPr lang="en-US" baseline="30000" dirty="0" smtClean="0">
                <a:solidFill>
                  <a:schemeClr val="bg1"/>
                </a:solidFill>
              </a:rPr>
              <a:t>th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index</a:t>
            </a: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 descr="String arr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33365" y="2857420"/>
            <a:ext cx="4077269" cy="114316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4876800" y="4191000"/>
            <a:ext cx="0" cy="83820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Code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Name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String name = 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"Nathan"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name.charAt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Name</a:t>
            </a:r>
          </a:p>
          <a:p>
            <a:pPr>
              <a:buNone/>
            </a:pPr>
            <a:endParaRPr lang="en-US" sz="2200" b="1" dirty="0" smtClean="0">
              <a:solidFill>
                <a:schemeClr val="bg1"/>
              </a:solidFill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The 4</a:t>
            </a:r>
            <a:r>
              <a:rPr lang="en-US" baseline="30000" dirty="0" smtClean="0">
                <a:solidFill>
                  <a:schemeClr val="bg1"/>
                </a:solidFill>
                <a:cs typeface="Courier New" pitchFamily="49" charset="0"/>
              </a:rPr>
              <a:t>th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character is at the 3</a:t>
            </a:r>
            <a:r>
              <a:rPr lang="en-US" baseline="30000" dirty="0" smtClean="0">
                <a:solidFill>
                  <a:schemeClr val="bg1"/>
                </a:solidFill>
                <a:cs typeface="Courier New" pitchFamily="49" charset="0"/>
              </a:rPr>
              <a:t>rd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index</a:t>
            </a:r>
            <a:endParaRPr lang="en-US" dirty="0">
              <a:solidFill>
                <a:schemeClr val="bg1"/>
              </a:solidFill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Code Example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Content Placeholder 3" descr="String array example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440270" y="1600200"/>
            <a:ext cx="6263459" cy="4525963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Another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do I get "urge" from "hamburger"?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(It’s a </a:t>
            </a:r>
            <a:r>
              <a:rPr lang="en-US" dirty="0" smtClean="0">
                <a:solidFill>
                  <a:srgbClr val="FF0000"/>
                </a:solidFill>
              </a:rPr>
              <a:t>substring</a:t>
            </a:r>
            <a:r>
              <a:rPr lang="en-US" dirty="0" smtClean="0">
                <a:solidFill>
                  <a:schemeClr val="bg1"/>
                </a:solidFill>
              </a:rPr>
              <a:t>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Check the 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Re-Counting in Java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The first character in the substring is at the 4</a:t>
            </a:r>
            <a:r>
              <a:rPr lang="en-US" baseline="30000" dirty="0" smtClean="0">
                <a:solidFill>
                  <a:schemeClr val="bg1"/>
                </a:solidFill>
              </a:rPr>
              <a:t>th</a:t>
            </a:r>
            <a:r>
              <a:rPr lang="en-US" dirty="0" smtClean="0">
                <a:solidFill>
                  <a:schemeClr val="bg1"/>
                </a:solidFill>
              </a:rPr>
              <a:t> index</a:t>
            </a: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495800" y="4191000"/>
            <a:ext cx="0" cy="83820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tring array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09285" y="2724051"/>
            <a:ext cx="6125430" cy="14098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Re-Counting in Java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The last character in the substring is at the 7</a:t>
            </a:r>
            <a:r>
              <a:rPr lang="en-US" baseline="30000" dirty="0" smtClean="0">
                <a:solidFill>
                  <a:schemeClr val="bg1"/>
                </a:solidFill>
              </a:rPr>
              <a:t>th</a:t>
            </a:r>
            <a:r>
              <a:rPr lang="en-US" dirty="0" smtClean="0">
                <a:solidFill>
                  <a:schemeClr val="bg1"/>
                </a:solidFill>
              </a:rPr>
              <a:t> index</a:t>
            </a: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 descr="String array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09285" y="2724051"/>
            <a:ext cx="6125430" cy="1409897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6553200" y="4191000"/>
            <a:ext cx="0" cy="83820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Another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64820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DriveThru</a:t>
            </a:r>
            <a:endParaRPr lang="en-US" sz="2200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String 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fastFood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"hamburger"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fastFood.substring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7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</a:t>
            </a:r>
            <a:r>
              <a:rPr lang="en-US" sz="2200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DriveThru</a:t>
            </a:r>
            <a:endParaRPr lang="en-US" sz="2200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2200" b="1" dirty="0" smtClean="0">
              <a:solidFill>
                <a:schemeClr val="bg1"/>
              </a:solidFill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There’s one slight issue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“</a:t>
            </a:r>
            <a:r>
              <a:rPr lang="en-US" dirty="0" smtClean="0">
                <a:solidFill>
                  <a:schemeClr val="bg1"/>
                </a:solidFill>
              </a:rPr>
              <a:t>The substring begins at the specified </a:t>
            </a:r>
            <a:r>
              <a:rPr lang="en-US" dirty="0" err="1" smtClean="0">
                <a:solidFill>
                  <a:schemeClr val="bg1"/>
                </a:solidFill>
              </a:rPr>
              <a:t>beginIndex</a:t>
            </a:r>
            <a:r>
              <a:rPr lang="en-US" dirty="0" smtClean="0">
                <a:solidFill>
                  <a:schemeClr val="bg1"/>
                </a:solidFill>
              </a:rPr>
              <a:t> and extends to the character at index </a:t>
            </a:r>
            <a:r>
              <a:rPr lang="en-US" dirty="0" err="1" smtClean="0">
                <a:solidFill>
                  <a:schemeClr val="bg1"/>
                </a:solidFill>
              </a:rPr>
              <a:t>endIndex</a:t>
            </a:r>
            <a:r>
              <a:rPr lang="en-US" dirty="0" smtClean="0">
                <a:solidFill>
                  <a:schemeClr val="bg1"/>
                </a:solidFill>
              </a:rPr>
              <a:t> – 1”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Where can I find this information?</a:t>
            </a:r>
            <a:endParaRPr lang="en-US" dirty="0">
              <a:solidFill>
                <a:schemeClr val="bg1"/>
              </a:solidFill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Re-Counting in Java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The last character in the substring is at the 7</a:t>
            </a:r>
            <a:r>
              <a:rPr lang="en-US" baseline="30000" dirty="0" smtClean="0">
                <a:solidFill>
                  <a:schemeClr val="bg1"/>
                </a:solidFill>
              </a:rPr>
              <a:t>th</a:t>
            </a:r>
            <a:r>
              <a:rPr lang="en-US" dirty="0" smtClean="0">
                <a:solidFill>
                  <a:schemeClr val="bg1"/>
                </a:solidFill>
              </a:rPr>
              <a:t> index 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 </a:t>
            </a:r>
            <a:r>
              <a:rPr lang="en-US" dirty="0" err="1" smtClean="0">
                <a:solidFill>
                  <a:schemeClr val="bg1"/>
                </a:solidFill>
                <a:sym typeface="Wingdings" pitchFamily="2" charset="2"/>
              </a:rPr>
              <a:t>endIndex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 – 1 = 7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 descr="String array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09285" y="2724051"/>
            <a:ext cx="6125430" cy="1409897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7315200" y="4191000"/>
            <a:ext cx="0" cy="83820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Another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DriveThru</a:t>
            </a:r>
            <a:endParaRPr lang="en-US" sz="2200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String 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fastFood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"hamburger"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fastFood.substring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8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</a:t>
            </a:r>
            <a:r>
              <a:rPr lang="en-US" sz="2200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DriveThru</a:t>
            </a:r>
            <a:endParaRPr lang="en-US" sz="2200" b="1" dirty="0" smtClean="0">
              <a:solidFill>
                <a:schemeClr val="bg1"/>
              </a:solidFill>
              <a:cs typeface="Courier New" pitchFamily="49" charset="0"/>
            </a:endParaRPr>
          </a:p>
          <a:p>
            <a:pPr>
              <a:buNone/>
            </a:pPr>
            <a:endParaRPr lang="en-US" sz="2200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2200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2200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2200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2200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Another Example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Content Placeholder 7" descr="String array example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440270" y="1600200"/>
            <a:ext cx="6263459" cy="4525963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You must learn to embrace the API</a:t>
            </a:r>
            <a:endParaRPr lang="en-US" dirty="0"/>
          </a:p>
        </p:txBody>
      </p:sp>
      <p:pic>
        <p:nvPicPr>
          <p:cNvPr id="6" name="Content Placeholder 5" descr="meme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514600" y="1151529"/>
            <a:ext cx="4114800" cy="5423306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Math Class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Content Placeholder 3" descr="apiMath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31802" y="1630363"/>
            <a:ext cx="8680396" cy="4465638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Remember from 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The caret (^) does NOT indicate exponentiation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 other words, in Java</a:t>
            </a:r>
            <a:r>
              <a:rPr lang="en-US" smtClean="0">
                <a:solidFill>
                  <a:schemeClr val="bg1"/>
                </a:solidFill>
              </a:rPr>
              <a:t>, 2^3 </a:t>
            </a:r>
            <a:r>
              <a:rPr lang="en-US" dirty="0" smtClean="0">
                <a:solidFill>
                  <a:schemeClr val="bg1"/>
                </a:solidFill>
              </a:rPr>
              <a:t>does not </a:t>
            </a:r>
            <a:r>
              <a:rPr lang="en-US" smtClean="0">
                <a:solidFill>
                  <a:schemeClr val="bg1"/>
                </a:solidFill>
              </a:rPr>
              <a:t>equal 8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There is another way to do exponentiation; maybe it is in the Math class?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Math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MorePower</a:t>
            </a:r>
            <a:endParaRPr lang="en-US" sz="2200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base = 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2.0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exponent = 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3.0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(Math.pow(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base,exponent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</a:t>
            </a:r>
            <a:r>
              <a:rPr lang="en-US" sz="2200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MorePower</a:t>
            </a:r>
            <a:endParaRPr lang="en-US" sz="2200" b="1" dirty="0" smtClean="0">
              <a:solidFill>
                <a:schemeClr val="bg1"/>
              </a:solidFill>
              <a:cs typeface="Courier New" pitchFamily="49" charset="0"/>
            </a:endParaRPr>
          </a:p>
          <a:p>
            <a:pPr>
              <a:buNone/>
            </a:pPr>
            <a:endParaRPr lang="en-US" sz="2200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2200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2200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2200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2200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Math Example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Content Placeholder 3" descr="Math example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92670" y="1600200"/>
            <a:ext cx="6263459" cy="4525963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When to Use the Variable/Class Name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Does the “Modifier and Type” column of the method say “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static</a:t>
            </a:r>
            <a:r>
              <a:rPr lang="en-US" dirty="0" smtClean="0">
                <a:solidFill>
                  <a:schemeClr val="bg1"/>
                </a:solidFill>
              </a:rPr>
              <a:t>”?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Yes: Use Class name (typically uppercase first letter)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No: Use variable name (typically lowercase first letter)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307</Words>
  <Application>Microsoft Office PowerPoint</Application>
  <PresentationFormat>On-screen Show (4:3)</PresentationFormat>
  <Paragraphs>110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CS 0007: Introduction to Java Lecture 5</vt:lpstr>
      <vt:lpstr>Strings</vt:lpstr>
      <vt:lpstr>Strings</vt:lpstr>
      <vt:lpstr>Application Programming Interface</vt:lpstr>
      <vt:lpstr>What Can I Do with It?</vt:lpstr>
      <vt:lpstr>An Example</vt:lpstr>
      <vt:lpstr>Code Example</vt:lpstr>
      <vt:lpstr>Counting in Java</vt:lpstr>
      <vt:lpstr>Code Example</vt:lpstr>
      <vt:lpstr>Code Example</vt:lpstr>
      <vt:lpstr>Another Example</vt:lpstr>
      <vt:lpstr>Re-Counting in Java</vt:lpstr>
      <vt:lpstr>Re-Counting in Java</vt:lpstr>
      <vt:lpstr>Another Example</vt:lpstr>
      <vt:lpstr>Re-Counting in Java</vt:lpstr>
      <vt:lpstr>Another Example</vt:lpstr>
      <vt:lpstr>Another Example</vt:lpstr>
      <vt:lpstr>You must learn to embrace the API</vt:lpstr>
      <vt:lpstr>Math Class</vt:lpstr>
      <vt:lpstr>Remember from before</vt:lpstr>
      <vt:lpstr>Math Example</vt:lpstr>
      <vt:lpstr>Math Example</vt:lpstr>
      <vt:lpstr>When to Use the Variable/Class Name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0007: Introduction to Java Lecture 5</dc:title>
  <dc:creator>ongnathan</dc:creator>
  <cp:lastModifiedBy>ongnathan</cp:lastModifiedBy>
  <cp:revision>1</cp:revision>
  <dcterms:created xsi:type="dcterms:W3CDTF">2016-09-15T00:46:46Z</dcterms:created>
  <dcterms:modified xsi:type="dcterms:W3CDTF">2016-09-15T00:49:15Z</dcterms:modified>
</cp:coreProperties>
</file>