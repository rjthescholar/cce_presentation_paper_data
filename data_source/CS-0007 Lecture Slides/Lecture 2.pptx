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304" r:id="rId2"/>
    <p:sldId id="30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307" r:id="rId20"/>
    <p:sldId id="274" r:id="rId21"/>
    <p:sldId id="275" r:id="rId22"/>
    <p:sldId id="276" r:id="rId23"/>
    <p:sldId id="277" r:id="rId24"/>
    <p:sldId id="278" r:id="rId25"/>
    <p:sldId id="279" r:id="rId26"/>
    <p:sldId id="308" r:id="rId27"/>
    <p:sldId id="280" r:id="rId28"/>
    <p:sldId id="281" r:id="rId29"/>
    <p:sldId id="282" r:id="rId30"/>
    <p:sldId id="283" r:id="rId31"/>
    <p:sldId id="306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1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253F6-BE12-484B-8BF7-97069FE99870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6ABD3-DC7B-4C7F-969C-BE23904BD3B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Needs to be moved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363F-B2F6-4615-85E5-6B562F226FE6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1CB85-A60A-4FEA-9974-72B7BBA26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363F-B2F6-4615-85E5-6B562F226FE6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1CB85-A60A-4FEA-9974-72B7BBA26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363F-B2F6-4615-85E5-6B562F226FE6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1CB85-A60A-4FEA-9974-72B7BBA26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363F-B2F6-4615-85E5-6B562F226FE6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1CB85-A60A-4FEA-9974-72B7BBA26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363F-B2F6-4615-85E5-6B562F226FE6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1CB85-A60A-4FEA-9974-72B7BBA26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363F-B2F6-4615-85E5-6B562F226FE6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1CB85-A60A-4FEA-9974-72B7BBA26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363F-B2F6-4615-85E5-6B562F226FE6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1CB85-A60A-4FEA-9974-72B7BBA26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363F-B2F6-4615-85E5-6B562F226FE6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1CB85-A60A-4FEA-9974-72B7BBA26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363F-B2F6-4615-85E5-6B562F226FE6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1CB85-A60A-4FEA-9974-72B7BBA26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363F-B2F6-4615-85E5-6B562F226FE6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1CB85-A60A-4FEA-9974-72B7BBA26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363F-B2F6-4615-85E5-6B562F226FE6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1CB85-A60A-4FEA-9974-72B7BBA26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9363F-B2F6-4615-85E5-6B562F226FE6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1CB85-A60A-4FEA-9974-72B7BBA2600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CS 0007: Introduction to Java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Lecture 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Nathan </a:t>
            </a:r>
            <a:r>
              <a:rPr lang="en-US" dirty="0" err="1" smtClean="0"/>
              <a:t>Ong</a:t>
            </a:r>
            <a:endParaRPr lang="en-US" dirty="0" smtClean="0"/>
          </a:p>
          <a:p>
            <a:r>
              <a:rPr lang="en-US" dirty="0" smtClean="0"/>
              <a:t>University of Pittsburgh</a:t>
            </a:r>
          </a:p>
          <a:p>
            <a:r>
              <a:rPr lang="en-US" dirty="0" smtClean="0"/>
              <a:t>September 6</a:t>
            </a:r>
            <a:r>
              <a:rPr lang="en-US" smtClean="0"/>
              <a:t>, </a:t>
            </a:r>
            <a:r>
              <a:rPr lang="en-US" smtClean="0"/>
              <a:t>2016</a:t>
            </a:r>
            <a:endParaRPr lang="en-US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Outline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Recap of last lecture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Java’s “Place of Residence”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Your First Program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Learn Java?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Widely used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Constantly updating and receiving support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Easily understood due to standardized and consistent syntax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Forces code readability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Virtual Machine isolates running code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Software Layers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Content Placeholder 7" descr="softwareLayers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1295400" y="1360759"/>
            <a:ext cx="2362200" cy="5004844"/>
          </a:xfrm>
        </p:spPr>
      </p:pic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u="sng" dirty="0" smtClean="0">
                <a:solidFill>
                  <a:schemeClr val="bg1"/>
                </a:solidFill>
              </a:rPr>
              <a:t>Applications</a:t>
            </a:r>
            <a:r>
              <a:rPr lang="en-US" dirty="0" smtClean="0">
                <a:solidFill>
                  <a:schemeClr val="bg1"/>
                </a:solidFill>
              </a:rPr>
              <a:t>: Software that interfaces with the user</a:t>
            </a:r>
          </a:p>
          <a:p>
            <a:r>
              <a:rPr lang="en-US" u="sng" dirty="0" smtClean="0">
                <a:solidFill>
                  <a:schemeClr val="bg1"/>
                </a:solidFill>
              </a:rPr>
              <a:t>System Software</a:t>
            </a:r>
            <a:r>
              <a:rPr lang="en-US" dirty="0" smtClean="0">
                <a:solidFill>
                  <a:schemeClr val="bg1"/>
                </a:solidFill>
              </a:rPr>
              <a:t>: Operating System (e.g. Windows, Mac OSX, Linux)</a:t>
            </a:r>
          </a:p>
          <a:p>
            <a:r>
              <a:rPr lang="en-US" u="sng" dirty="0" smtClean="0">
                <a:solidFill>
                  <a:schemeClr val="bg1"/>
                </a:solidFill>
              </a:rPr>
              <a:t>Device Drivers</a:t>
            </a:r>
            <a:r>
              <a:rPr lang="en-US" dirty="0" smtClean="0">
                <a:solidFill>
                  <a:schemeClr val="bg1"/>
                </a:solidFill>
              </a:rPr>
              <a:t>: Software to talk to non-computer devices (e.g. printers, webcams, etc.)</a:t>
            </a:r>
            <a:endParaRPr lang="en-US" u="sng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3246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Source: http://cs.sru.edu/~mullins/cpsc100book/images/softwareLayers.jpg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about java?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Virtual Machine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Java is run on a "Virtual Machine."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 Virtual Machine (VM) is an emulation of all of the components (hardware or software) necessary to run a certain piece of software.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It is technically an application.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228600" y="1524000"/>
            <a:ext cx="8915400" cy="48006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172200" y="2286000"/>
            <a:ext cx="2057400" cy="19812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4" idx="3"/>
          </p:cNvCxnSpPr>
          <p:nvPr/>
        </p:nvCxnSpPr>
        <p:spPr>
          <a:xfrm>
            <a:off x="2362200" y="3352800"/>
            <a:ext cx="4114800" cy="0"/>
          </a:xfrm>
          <a:prstGeom prst="straightConnector1">
            <a:avLst/>
          </a:prstGeom>
          <a:ln w="508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Java Flowchart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524000" y="2895600"/>
            <a:ext cx="838200" cy="9144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962400" y="2895600"/>
            <a:ext cx="838200" cy="91440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10"/>
          <p:cNvGrpSpPr/>
          <p:nvPr/>
        </p:nvGrpSpPr>
        <p:grpSpPr>
          <a:xfrm>
            <a:off x="3048000" y="1600200"/>
            <a:ext cx="457200" cy="4648200"/>
            <a:chOff x="1981200" y="1447800"/>
            <a:chExt cx="457200" cy="4648200"/>
          </a:xfrm>
        </p:grpSpPr>
        <p:sp>
          <p:nvSpPr>
            <p:cNvPr id="5" name="Rectangle 4"/>
            <p:cNvSpPr/>
            <p:nvPr/>
          </p:nvSpPr>
          <p:spPr>
            <a:xfrm>
              <a:off x="1981200" y="1447800"/>
              <a:ext cx="457200" cy="464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981200" y="1447800"/>
              <a:ext cx="457200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 smtClean="0">
                  <a:solidFill>
                    <a:srgbClr val="FFFF00"/>
                  </a:solidFill>
                </a:rPr>
                <a:t>COMPILER</a:t>
              </a:r>
              <a:endParaRPr lang="en-US" sz="36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219200" y="1828800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Java Program</a:t>
            </a:r>
            <a:endParaRPr lang="en-US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3733800" y="1828800"/>
            <a:ext cx="137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Java </a:t>
            </a:r>
            <a:r>
              <a:rPr lang="en-US" sz="2400" b="1" dirty="0" err="1" smtClean="0"/>
              <a:t>Bytecode</a:t>
            </a:r>
            <a:endParaRPr lang="en-US" sz="2400" b="1" dirty="0"/>
          </a:p>
        </p:txBody>
      </p:sp>
      <p:sp>
        <p:nvSpPr>
          <p:cNvPr id="16" name="Rounded Rectangle 15"/>
          <p:cNvSpPr/>
          <p:nvPr/>
        </p:nvSpPr>
        <p:spPr>
          <a:xfrm>
            <a:off x="6477000" y="2971800"/>
            <a:ext cx="838200" cy="9144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477000" y="2438400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Java VM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38800" y="58674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Application Software Level</a:t>
            </a:r>
            <a:endParaRPr 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VM Pros and Cons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Pros: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Code and </a:t>
            </a:r>
            <a:r>
              <a:rPr lang="en-US" dirty="0" err="1" smtClean="0">
                <a:solidFill>
                  <a:schemeClr val="bg1"/>
                </a:solidFill>
              </a:rPr>
              <a:t>bytecode</a:t>
            </a:r>
            <a:r>
              <a:rPr lang="en-US" dirty="0" smtClean="0">
                <a:solidFill>
                  <a:schemeClr val="bg1"/>
                </a:solidFill>
              </a:rPr>
              <a:t> works independently from the platform (operating system) it was compiled on.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More secure due to runtime isolation.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Cons: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Generally slower runtime (than natively compiled languages like C++).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Arguably provides less fine-tuned usage of lower levels </a:t>
            </a:r>
            <a:r>
              <a:rPr lang="en-US" smtClean="0">
                <a:solidFill>
                  <a:schemeClr val="bg1"/>
                </a:solidFill>
              </a:rPr>
              <a:t>of software</a:t>
            </a:r>
            <a:endParaRPr lang="en-US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0" dirty="0" smtClean="0">
                <a:solidFill>
                  <a:schemeClr val="bg1"/>
                </a:solidFill>
                <a:latin typeface="+mn-lt"/>
              </a:rPr>
              <a:t>Compiling and commenting</a:t>
            </a:r>
            <a:endParaRPr lang="en-US" sz="20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  <a:latin typeface="+mj-lt"/>
              </a:rPr>
              <a:t>My First Program</a:t>
            </a:r>
            <a:endParaRPr lang="en-US" sz="4000" b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Hello World!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"Hello World" program is frequently a student's first program of any language.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Similar to learning "Hello" greetings in other languages.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Note: all code is </a:t>
            </a:r>
            <a:r>
              <a:rPr lang="en-US" dirty="0" err="1" smtClean="0">
                <a:solidFill>
                  <a:schemeClr val="bg1"/>
                </a:solidFill>
              </a:rPr>
              <a:t>CaSe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SeNsItIvE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Hello World!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HelloWorld</a:t>
            </a:r>
            <a:endParaRPr lang="en-US" sz="2200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"Hello World!"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sz="2200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HelloWorld</a:t>
            </a:r>
            <a:endParaRPr lang="en-US" sz="2200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1589321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Compilation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Content Placeholder 5" descr="compling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40270" y="1600200"/>
            <a:ext cx="6263459" cy="4525963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Compiling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Content Placeholder 6" descr="compling.PN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rcRect r="39623" b="64878"/>
          <a:stretch>
            <a:fillRect/>
          </a:stretch>
        </p:blipFill>
        <p:spPr>
          <a:xfrm>
            <a:off x="457200" y="1752600"/>
            <a:ext cx="3888648" cy="1634562"/>
          </a:xfrm>
        </p:spPr>
      </p:pic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US" dirty="0" err="1" smtClean="0">
                <a:solidFill>
                  <a:schemeClr val="bg1"/>
                </a:solidFill>
              </a:rPr>
              <a:t>javac</a:t>
            </a:r>
            <a:r>
              <a:rPr lang="en-US" dirty="0" smtClean="0">
                <a:solidFill>
                  <a:schemeClr val="bg1"/>
                </a:solidFill>
              </a:rPr>
              <a:t> – compiling a java file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(</a:t>
            </a:r>
            <a:r>
              <a:rPr lang="en-US" dirty="0" err="1" smtClean="0">
                <a:solidFill>
                  <a:schemeClr val="bg1"/>
                </a:solidFill>
              </a:rPr>
              <a:t>javac</a:t>
            </a:r>
            <a:r>
              <a:rPr lang="en-US" dirty="0" smtClean="0">
                <a:solidFill>
                  <a:schemeClr val="bg1"/>
                </a:solidFill>
              </a:rPr>
              <a:t> FileName.java)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java – running a compiled java file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(java </a:t>
            </a:r>
            <a:r>
              <a:rPr lang="en-US" dirty="0" err="1" smtClean="0">
                <a:solidFill>
                  <a:schemeClr val="bg1"/>
                </a:solidFill>
              </a:rPr>
              <a:t>FileName</a:t>
            </a:r>
            <a:r>
              <a:rPr lang="en-US" dirty="0" smtClean="0">
                <a:solidFill>
                  <a:schemeClr val="bg1"/>
                </a:solidFill>
              </a:rPr>
              <a:t>)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Hello World!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HelloWorld</a:t>
            </a:r>
            <a:endParaRPr lang="en-US" sz="2200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"Hello World!"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sz="2200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HelloWorld</a:t>
            </a:r>
            <a:endParaRPr lang="en-US" sz="2200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62200" y="3276600"/>
            <a:ext cx="5715000" cy="304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158932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3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3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"Hello World!"</a:t>
            </a:r>
            <a:r>
              <a:rPr lang="en-US" sz="3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sz="300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Statement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Ends with a semicolon (like a period in English)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Prints stuff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Where to?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What stuff?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To the console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Strings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0331191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Hello World v2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Hello</a:t>
            </a: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"My name is 				Nathan </a:t>
            </a:r>
            <a:r>
              <a:rPr lang="en-US" sz="22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! YAAAAYYYY LALALALA 			RANDOM TYPING"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Hello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What is the output?</a:t>
            </a:r>
            <a:endParaRPr lang="en-US" dirty="0">
              <a:solidFill>
                <a:schemeClr val="bg1"/>
              </a:solidFill>
              <a:cs typeface="Courier New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31307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String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Characters in between quotation marks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Some valid Strings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"Hi"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"#&amp;^@!*(QQQQQQQQ"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What if we want quotation marks in the String?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817953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\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Escape character \ tells the computer that the next character should not be taken literally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\"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Tab? \t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New line? \n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Slash? \\</a:t>
            </a:r>
            <a:endParaRPr lang="en-US" dirty="0">
              <a:solidFill>
                <a:schemeClr val="bg1"/>
              </a:solidFill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"Java said, "OMG SYNTAX ERROR""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do we make the line above a valid String?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4411413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Hello World v2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Hello</a:t>
            </a: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"My name is 				Nathan </a:t>
            </a:r>
            <a:r>
              <a:rPr lang="en-US" sz="22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! YAAAAYYYY LALALALA 			RANDOM TYPING"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Hello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What if I want to use my name in another print statement?</a:t>
            </a:r>
            <a:endParaRPr lang="en-US" dirty="0">
              <a:solidFill>
                <a:schemeClr val="bg1"/>
              </a:solidFill>
              <a:cs typeface="Courier New" pitchFamily="49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31307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Recycling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if I want to use the string somewhere else?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I'm so lazy, I don't want to type in my name when printing it out all the time.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String name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Now I can call name wherever I want (not really)!</a:t>
            </a:r>
          </a:p>
          <a:p>
            <a:pPr>
              <a:buNone/>
            </a:pPr>
            <a:r>
              <a:rPr lang="en-US" b="1" u="sng" dirty="0" smtClean="0">
                <a:solidFill>
                  <a:srgbClr val="FF0000"/>
                </a:solidFill>
                <a:cs typeface="Courier New" pitchFamily="49" charset="0"/>
              </a:rPr>
              <a:t>--&gt;Variables&lt;--</a:t>
            </a:r>
          </a:p>
        </p:txBody>
      </p:sp>
    </p:spTree>
    <p:extLst>
      <p:ext uri="{BB962C8B-B14F-4D97-AF65-F5344CB8AC3E}">
        <p14:creationId xmlns="" xmlns:p14="http://schemas.microsoft.com/office/powerpoint/2010/main" val="4378156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04800" y="2667000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String name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04800" y="2667000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String name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3048000"/>
            <a:ext cx="18288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8200" y="3581400"/>
            <a:ext cx="106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Type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1" grpId="0"/>
      <p:bldP spid="11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04800" y="2667000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String name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14600" y="3048000"/>
            <a:ext cx="1295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04800" y="2667000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String name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24400" y="3014004"/>
            <a:ext cx="3657600" cy="4911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943600" y="3581400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value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/>
      <p:bldP spid="10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2133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To </a:t>
            </a:r>
            <a:r>
              <a:rPr lang="en-US" dirty="0" smtClean="0">
                <a:solidFill>
                  <a:srgbClr val="FF0000"/>
                </a:solidFill>
              </a:rPr>
              <a:t>Declare</a:t>
            </a:r>
            <a:r>
              <a:rPr lang="en-US" dirty="0" smtClean="0">
                <a:solidFill>
                  <a:schemeClr val="bg1"/>
                </a:solidFill>
              </a:rPr>
              <a:t> a Variable: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Type name = value;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2133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To Use a Variable: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name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Naming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The name of a variable (and other things) are called </a:t>
            </a:r>
            <a:r>
              <a:rPr lang="en-US" dirty="0" smtClean="0">
                <a:solidFill>
                  <a:srgbClr val="FF0000"/>
                </a:solidFill>
              </a:rPr>
              <a:t>identifiers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There are some rules regarding valid identifiers, and further conventions that you should follow.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Valid Identifiers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You must have at least one character in the name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You can only use alphanumeric characters (letters and numbers), underscores (_), and dollar signs ($) in the name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You CANNOT use a number as the first character.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You CANNOT use reserved Java keywords.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Reserved Java Keywords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	 do		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		static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break	 double  long		super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byte	 else 	 new	 	switch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case	 final	 package	this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catch	 finally private 	throw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char	 float	 protected	throws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class	 for	 public		try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continue if		 return		void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default	 import	 short		while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Conventional Naming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Variables and functions: </a:t>
            </a:r>
            <a:r>
              <a:rPr lang="en-US" dirty="0" err="1" smtClean="0">
                <a:solidFill>
                  <a:schemeClr val="bg1"/>
                </a:solidFill>
              </a:rPr>
              <a:t>lowerCamelCase</a:t>
            </a:r>
            <a:endParaRPr lang="en-US" dirty="0" smtClean="0">
              <a:solidFill>
                <a:schemeClr val="bg1"/>
              </a:solidFill>
            </a:endParaRP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First word starts with a lowercase letter, subsequent words have uppercase first letters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Class names: </a:t>
            </a:r>
            <a:r>
              <a:rPr lang="en-US" dirty="0" err="1" smtClean="0">
                <a:solidFill>
                  <a:schemeClr val="bg1"/>
                </a:solidFill>
              </a:rPr>
              <a:t>UpperCamelCase</a:t>
            </a:r>
            <a:endParaRPr lang="en-US" dirty="0" smtClean="0">
              <a:solidFill>
                <a:schemeClr val="bg1"/>
              </a:solidFill>
            </a:endParaRP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All words have uppercase first letters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Never use dollar signs or underscores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Hello World v3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Name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String name = 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 </a:t>
            </a:r>
            <a:r>
              <a:rPr lang="en-US" sz="22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(name);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is "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(name);</a:t>
            </a: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Name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What is the output?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Picture 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61283" y="381000"/>
            <a:ext cx="8192860" cy="4114800"/>
          </a:xfrm>
        </p:spPr>
      </p:pic>
      <p:sp>
        <p:nvSpPr>
          <p:cNvPr id="5" name="TextBox 4"/>
          <p:cNvSpPr txBox="1"/>
          <p:nvPr/>
        </p:nvSpPr>
        <p:spPr>
          <a:xfrm>
            <a:off x="457200" y="4724400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Oh I changed my name…Nathan </a:t>
            </a:r>
            <a:r>
              <a:rPr lang="en-US" sz="3200" dirty="0" err="1" smtClean="0">
                <a:solidFill>
                  <a:schemeClr val="bg1"/>
                </a:solidFill>
                <a:cs typeface="Courier New" pitchFamily="49" charset="0"/>
              </a:rPr>
              <a:t>Ong</a:t>
            </a:r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 is no longer Nathan </a:t>
            </a:r>
            <a:r>
              <a:rPr lang="en-US" sz="3200" dirty="0" err="1" smtClean="0">
                <a:solidFill>
                  <a:schemeClr val="bg1"/>
                </a:solidFill>
                <a:cs typeface="Courier New" pitchFamily="49" charset="0"/>
              </a:rPr>
              <a:t>Ong</a:t>
            </a:r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…What am I going to do?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can we do with it?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Name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String name = 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 </a:t>
            </a:r>
            <a:r>
              <a:rPr lang="en-US" sz="22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(name);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is "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String name = 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"Brandon </a:t>
            </a:r>
            <a:r>
              <a:rPr lang="en-US" sz="22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(name);</a:t>
            </a: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Name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Can we do this?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No, because we re-declared a variable!</a:t>
            </a:r>
          </a:p>
        </p:txBody>
      </p:sp>
      <p:sp>
        <p:nvSpPr>
          <p:cNvPr id="5" name="Rectangle 4"/>
          <p:cNvSpPr/>
          <p:nvPr/>
        </p:nvSpPr>
        <p:spPr>
          <a:xfrm>
            <a:off x="2362200" y="2819400"/>
            <a:ext cx="4038600" cy="304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62200" y="3733800"/>
            <a:ext cx="4191000" cy="304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42672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Declaring a new variable: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Type name = value;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Changing the old variable: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name = </a:t>
            </a:r>
            <a:r>
              <a:rPr lang="en-US" dirty="0" err="1" smtClean="0">
                <a:solidFill>
                  <a:schemeClr val="bg1"/>
                </a:solidFill>
              </a:rPr>
              <a:t>newValue</a:t>
            </a:r>
            <a:r>
              <a:rPr lang="en-US" dirty="0" smtClean="0">
                <a:solidFill>
                  <a:schemeClr val="bg1"/>
                </a:solidFill>
              </a:rPr>
              <a:t>;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can we do with it?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Name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String name = 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 </a:t>
            </a:r>
            <a:r>
              <a:rPr lang="en-US" sz="22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(name);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is "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name = 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"Brandon </a:t>
            </a:r>
            <a:r>
              <a:rPr lang="en-US" sz="22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(name);</a:t>
            </a: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Name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What is the output?</a:t>
            </a:r>
          </a:p>
        </p:txBody>
      </p:sp>
      <p:sp>
        <p:nvSpPr>
          <p:cNvPr id="5" name="Rectangle 4"/>
          <p:cNvSpPr/>
          <p:nvPr/>
        </p:nvSpPr>
        <p:spPr>
          <a:xfrm>
            <a:off x="2362200" y="3982328"/>
            <a:ext cx="3048000" cy="2848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200" y="4724400"/>
            <a:ext cx="822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Okay so I'm not really changing my name.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Regardless, the output is really annoying.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How do we put it all in one line?</a:t>
            </a:r>
          </a:p>
        </p:txBody>
      </p:sp>
      <p:pic>
        <p:nvPicPr>
          <p:cNvPr id="7" name="Content Placeholder 6" descr="Picture 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8562" y="381000"/>
            <a:ext cx="8217352" cy="41148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Name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String name = 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 </a:t>
            </a:r>
            <a:r>
              <a:rPr lang="en-US" sz="22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(name);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is "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(name);</a:t>
            </a: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 marL="0" indent="0">
              <a:buNone/>
            </a:pPr>
            <a:r>
              <a:rPr lang="en-US" sz="22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2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Name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Use print instead.  No new line added.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Saying print </a:t>
            </a:r>
            <a:r>
              <a:rPr lang="en-US" dirty="0" err="1" smtClean="0">
                <a:solidFill>
                  <a:schemeClr val="bg1"/>
                </a:solidFill>
                <a:cs typeface="Courier New" pitchFamily="49" charset="0"/>
              </a:rPr>
              <a:t>print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cs typeface="Courier New" pitchFamily="49" charset="0"/>
              </a:rPr>
              <a:t>print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is kind of annoying…</a:t>
            </a:r>
          </a:p>
          <a:p>
            <a:pPr marL="0" indent="0">
              <a:buNone/>
            </a:pPr>
            <a:endParaRPr lang="en-US" dirty="0" smtClean="0">
              <a:solidFill>
                <a:schemeClr val="bg1"/>
              </a:solidFill>
              <a:cs typeface="Courier New" pitchFamily="49" charset="0"/>
            </a:endParaRPr>
          </a:p>
          <a:p>
            <a:pPr marL="0" indent="0">
              <a:buNone/>
            </a:pPr>
            <a:endParaRPr lang="en-US" dirty="0" smtClean="0">
              <a:solidFill>
                <a:schemeClr val="bg1"/>
              </a:solidFill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362200" y="3505200"/>
            <a:ext cx="27432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can we do with it?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Picture 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9921" y="381000"/>
            <a:ext cx="8205108" cy="4114800"/>
          </a:xfrm>
        </p:spPr>
      </p:pic>
      <p:sp>
        <p:nvSpPr>
          <p:cNvPr id="5" name="TextBox 4"/>
          <p:cNvSpPr txBox="1"/>
          <p:nvPr/>
        </p:nvSpPr>
        <p:spPr>
          <a:xfrm>
            <a:off x="457200" y="4572000"/>
            <a:ext cx="8229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 smtClean="0">
                <a:solidFill>
                  <a:schemeClr val="bg1"/>
                </a:solidFill>
                <a:cs typeface="Courier New" pitchFamily="49" charset="0"/>
              </a:rPr>
              <a:t>Ahhhhh</a:t>
            </a:r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, that's better. 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But just for fun, how do we get it back to the multiple-line version using the print statements instead of </a:t>
            </a:r>
            <a:r>
              <a:rPr lang="en-US" sz="3200" dirty="0" err="1" smtClean="0">
                <a:solidFill>
                  <a:schemeClr val="bg1"/>
                </a:solidFill>
                <a:cs typeface="Courier New" pitchFamily="49" charset="0"/>
              </a:rPr>
              <a:t>println</a:t>
            </a:r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758625"/>
            <a:ext cx="3657600" cy="5847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 *cough* \n *cough*</a:t>
            </a:r>
            <a:endParaRPr lang="en-US" sz="32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can we do with it?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200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22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Name</a:t>
            </a:r>
          </a:p>
          <a:p>
            <a:pPr>
              <a:buNone/>
            </a:pPr>
            <a:r>
              <a:rPr lang="en-US" sz="22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2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200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22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2200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2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2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sz="22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String name = </a:t>
            </a:r>
            <a:r>
              <a:rPr lang="en-US" sz="2200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 </a:t>
            </a:r>
            <a:r>
              <a:rPr lang="en-US" sz="22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sz="2200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2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2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sz="22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(name);</a:t>
            </a:r>
          </a:p>
          <a:p>
            <a:pPr>
              <a:buNone/>
            </a:pPr>
            <a:r>
              <a:rPr lang="en-US" sz="22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en-US" sz="22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200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"\n is \n"</a:t>
            </a:r>
            <a:r>
              <a:rPr lang="en-US" sz="22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22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200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2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(name);</a:t>
            </a:r>
          </a:p>
          <a:p>
            <a:pPr marL="0" indent="0">
              <a:buNone/>
            </a:pPr>
            <a:r>
              <a:rPr lang="en-US" sz="22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}</a:t>
            </a:r>
            <a:r>
              <a:rPr lang="en-US" sz="2200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 marL="0" indent="0">
              <a:buNone/>
            </a:pPr>
            <a:r>
              <a:rPr lang="en-US" sz="2200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200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Name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Getting the same output from before with only print.  But we don't like that, so we'll take that out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Saying print </a:t>
            </a:r>
            <a:r>
              <a:rPr lang="en-US" dirty="0" err="1" smtClean="0">
                <a:solidFill>
                  <a:schemeClr val="bg1"/>
                </a:solidFill>
                <a:cs typeface="Courier New" pitchFamily="49" charset="0"/>
              </a:rPr>
              <a:t>print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cs typeface="Courier New" pitchFamily="49" charset="0"/>
              </a:rPr>
              <a:t>print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is kind of annoying…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3429000"/>
            <a:ext cx="18288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Name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20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String name = 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 </a:t>
            </a:r>
            <a:r>
              <a:rPr lang="en-US" sz="20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0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(name + 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is "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name);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sz="20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0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Name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Using + with Strings is called </a:t>
            </a:r>
            <a:r>
              <a:rPr lang="en-US" dirty="0" smtClean="0">
                <a:solidFill>
                  <a:srgbClr val="FF0000"/>
                </a:solidFill>
                <a:cs typeface="Courier New" pitchFamily="49" charset="0"/>
              </a:rPr>
              <a:t>concatenation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(Note: there's no such thing as – for Strings) </a:t>
            </a:r>
          </a:p>
        </p:txBody>
      </p:sp>
      <p:sp>
        <p:nvSpPr>
          <p:cNvPr id="5" name="Rectangle 4"/>
          <p:cNvSpPr/>
          <p:nvPr/>
        </p:nvSpPr>
        <p:spPr>
          <a:xfrm>
            <a:off x="5257800" y="3505200"/>
            <a:ext cx="30480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can we do with it?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Name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20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String name = 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 </a:t>
            </a:r>
            <a:r>
              <a:rPr lang="en-US" sz="20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0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(name + 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is "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name);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sz="20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0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Name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Concatenation does not add spaces automatically.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57800" y="3505200"/>
            <a:ext cx="30480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can we do with it?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Nicknames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(name + </a:t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is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name);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Seems useful, like if someone had a nickname</a:t>
            </a:r>
          </a:p>
          <a:p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nickName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is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name);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But I don't have one…how do we make it so it doesn't matter?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Nicknames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5259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Name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20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String name = 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 </a:t>
            </a:r>
            <a:r>
              <a:rPr lang="en-US" sz="20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String </a:t>
            </a:r>
            <a:r>
              <a:rPr lang="en-US" sz="20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nickName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name;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0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nickName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is "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			name);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sz="20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0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Name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Oh so we can make </a:t>
            </a:r>
            <a:r>
              <a:rPr lang="en-US" dirty="0" err="1" smtClean="0">
                <a:solidFill>
                  <a:schemeClr val="bg1"/>
                </a:solidFill>
                <a:cs typeface="Courier New" pitchFamily="49" charset="0"/>
              </a:rPr>
              <a:t>nickName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the exact same thing as name without having to type everything again!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What is the output?</a:t>
            </a:r>
          </a:p>
        </p:txBody>
      </p:sp>
      <p:sp>
        <p:nvSpPr>
          <p:cNvPr id="6" name="Rectangle 5"/>
          <p:cNvSpPr/>
          <p:nvPr/>
        </p:nvSpPr>
        <p:spPr>
          <a:xfrm>
            <a:off x="2362200" y="3048000"/>
            <a:ext cx="3352800" cy="26494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Picture 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9921" y="381000"/>
            <a:ext cx="8205108" cy="4114800"/>
          </a:xfrm>
        </p:spPr>
      </p:pic>
      <p:sp>
        <p:nvSpPr>
          <p:cNvPr id="5" name="TextBox 4"/>
          <p:cNvSpPr txBox="1"/>
          <p:nvPr/>
        </p:nvSpPr>
        <p:spPr>
          <a:xfrm>
            <a:off x="457200" y="4572000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Same thing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Comments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Name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sz="20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String name = 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 </a:t>
            </a:r>
            <a:r>
              <a:rPr lang="en-US" sz="2000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String </a:t>
            </a:r>
            <a:r>
              <a:rPr lang="en-US" sz="20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nickName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name;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0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nickName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is "</a:t>
            </a: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			name);</a:t>
            </a:r>
          </a:p>
          <a:p>
            <a:pPr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sz="20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000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Name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4495800"/>
            <a:ext cx="3733800" cy="685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Commenting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You must comment every line of useful code.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Don't forget the 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//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If you need a block of comments, use </a:t>
            </a:r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/* */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Everything in between is commented out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Careful about nested comments…</a:t>
            </a:r>
          </a:p>
          <a:p>
            <a:r>
              <a:rPr lang="en-US" dirty="0" smtClean="0">
                <a:solidFill>
                  <a:schemeClr val="accent3">
                    <a:lumMod val="50000"/>
                  </a:schemeClr>
                </a:solidFill>
              </a:rPr>
              <a:t>/* This /* Comment Ends */</a:t>
            </a:r>
            <a:r>
              <a:rPr lang="en-US" dirty="0" smtClean="0">
                <a:solidFill>
                  <a:schemeClr val="bg1"/>
                </a:solidFill>
              </a:rPr>
              <a:t> Here???*/</a:t>
            </a:r>
            <a:endParaRPr lang="en-US" dirty="0" smtClean="0">
              <a:solidFill>
                <a:schemeClr val="accent3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Line-by-Line Commenting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//The file name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^Bad comment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//Prints out statistics for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//Nathan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Ong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^Good Comment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Name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Line-by-Line Commenting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//The main method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^Bad comment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//The program begins here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^Good Comment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Line-by-Line Commenting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//A String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^Bad comment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//The first name held in a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//String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^Good Comment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String name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Line-by-Line Commenting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//Prints out stuff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^Bad comment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//Prints out the names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^Okay comment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/*Prints the nickname and links it to the original name.*/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^Good comment</a:t>
            </a:r>
          </a:p>
          <a:p>
            <a:pPr>
              <a:buNone/>
            </a:pP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nickName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is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name);</a:t>
            </a:r>
            <a:endParaRPr lang="en-US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Recap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Hello World!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System.out.println</a:t>
            </a:r>
            <a:r>
              <a:rPr lang="en-US" dirty="0" smtClean="0">
                <a:solidFill>
                  <a:schemeClr val="bg1"/>
                </a:solidFill>
              </a:rPr>
              <a:t> (and print)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Strings and String concatenation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Compiling and running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Variables</a:t>
            </a:r>
          </a:p>
          <a:p>
            <a:pPr algn="ctr">
              <a:buNone/>
            </a:pPr>
            <a:r>
              <a:rPr lang="en-US" dirty="0" smtClean="0">
                <a:solidFill>
                  <a:schemeClr val="bg1"/>
                </a:solidFill>
              </a:rPr>
              <a:t>Type name = value;</a:t>
            </a:r>
          </a:p>
          <a:p>
            <a:pPr algn="ctr">
              <a:buNone/>
            </a:pPr>
            <a:r>
              <a:rPr lang="en-US" dirty="0" smtClean="0">
                <a:solidFill>
                  <a:schemeClr val="bg1"/>
                </a:solidFill>
              </a:rPr>
              <a:t>name = </a:t>
            </a:r>
            <a:r>
              <a:rPr lang="en-US" dirty="0" err="1" smtClean="0">
                <a:solidFill>
                  <a:schemeClr val="bg1"/>
                </a:solidFill>
              </a:rPr>
              <a:t>newValue</a:t>
            </a:r>
            <a:r>
              <a:rPr lang="en-US" dirty="0" smtClean="0">
                <a:solidFill>
                  <a:schemeClr val="bg1"/>
                </a:solidFill>
              </a:rPr>
              <a:t>;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Commenting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994</Words>
  <Application>Microsoft Office PowerPoint</Application>
  <PresentationFormat>On-screen Show (4:3)</PresentationFormat>
  <Paragraphs>316</Paragraphs>
  <Slides>51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CS 0007: Introduction to Java Lecture 2</vt:lpstr>
      <vt:lpstr>Outline</vt:lpstr>
      <vt:lpstr>Why Learn Java?</vt:lpstr>
      <vt:lpstr>Software Layers</vt:lpstr>
      <vt:lpstr>What about java?</vt:lpstr>
      <vt:lpstr>Virtual Machine</vt:lpstr>
      <vt:lpstr>Java Flowchart</vt:lpstr>
      <vt:lpstr>VM Pros and Cons</vt:lpstr>
      <vt:lpstr>Compiling and commenting</vt:lpstr>
      <vt:lpstr>Hello World!</vt:lpstr>
      <vt:lpstr>Hello World!</vt:lpstr>
      <vt:lpstr>Compilation</vt:lpstr>
      <vt:lpstr>Compiling</vt:lpstr>
      <vt:lpstr>Hello World!</vt:lpstr>
      <vt:lpstr>System.out.println("Hello World!");</vt:lpstr>
      <vt:lpstr>Hello World v2</vt:lpstr>
      <vt:lpstr>String</vt:lpstr>
      <vt:lpstr>\</vt:lpstr>
      <vt:lpstr>Hello World v2</vt:lpstr>
      <vt:lpstr>Recycling</vt:lpstr>
      <vt:lpstr>String name = "Nathan Ong";</vt:lpstr>
      <vt:lpstr>String name = "Nathan Ong";</vt:lpstr>
      <vt:lpstr>String name = "Nathan Ong";</vt:lpstr>
      <vt:lpstr>String name = "Nathan Ong";</vt:lpstr>
      <vt:lpstr>To Declare a Variable:  Type name = value;</vt:lpstr>
      <vt:lpstr>To Use a Variable:  name</vt:lpstr>
      <vt:lpstr>Naming</vt:lpstr>
      <vt:lpstr>Valid Identifiers</vt:lpstr>
      <vt:lpstr>Reserved Java Keywords</vt:lpstr>
      <vt:lpstr>Conventional Naming</vt:lpstr>
      <vt:lpstr>Hello World v3</vt:lpstr>
      <vt:lpstr>Slide 32</vt:lpstr>
      <vt:lpstr>What can we do with it?</vt:lpstr>
      <vt:lpstr>Declaring a new variable: Type name = value;  Changing the old variable: name = newValue;</vt:lpstr>
      <vt:lpstr>What can we do with it?</vt:lpstr>
      <vt:lpstr>Slide 36</vt:lpstr>
      <vt:lpstr>What can we do with it?</vt:lpstr>
      <vt:lpstr>Slide 38</vt:lpstr>
      <vt:lpstr>What can we do with it?</vt:lpstr>
      <vt:lpstr>What can we do with it?</vt:lpstr>
      <vt:lpstr>What can we do with it?</vt:lpstr>
      <vt:lpstr>Nicknames</vt:lpstr>
      <vt:lpstr>Nicknames</vt:lpstr>
      <vt:lpstr>Slide 44</vt:lpstr>
      <vt:lpstr>Comments</vt:lpstr>
      <vt:lpstr>Commenting</vt:lpstr>
      <vt:lpstr>Line-by-Line Commenting</vt:lpstr>
      <vt:lpstr>Line-by-Line Commenting</vt:lpstr>
      <vt:lpstr>Line-by-Line Commenting</vt:lpstr>
      <vt:lpstr>Line-by-Line Commenting</vt:lpstr>
      <vt:lpstr>Recap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0007: Introduction to Java Lecture 2</dc:title>
  <dc:creator>Eleonor Rico</dc:creator>
  <cp:lastModifiedBy>Eleonor Rico</cp:lastModifiedBy>
  <cp:revision>5</cp:revision>
  <dcterms:created xsi:type="dcterms:W3CDTF">2016-09-06T15:07:33Z</dcterms:created>
  <dcterms:modified xsi:type="dcterms:W3CDTF">2016-09-08T15:29:15Z</dcterms:modified>
</cp:coreProperties>
</file>