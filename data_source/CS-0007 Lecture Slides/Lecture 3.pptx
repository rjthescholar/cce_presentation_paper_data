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A8485-F422-4214-9CE0-C7BF8C766645}" type="datetimeFigureOut">
              <a:rPr lang="en-US" smtClean="0"/>
              <a:pPr/>
              <a:t>9/8/2016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7DDC6-D821-4E1C-B9B4-583740219A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September 8,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 smtClean="0">
                <a:solidFill>
                  <a:schemeClr val="bg1"/>
                </a:solidFill>
                <a:latin typeface="+mn-lt"/>
              </a:rPr>
              <a:t>No, string is not </a:t>
            </a:r>
            <a:r>
              <a:rPr lang="en-US" sz="2000" b="0" smtClean="0">
                <a:solidFill>
                  <a:schemeClr val="bg1"/>
                </a:solidFill>
                <a:latin typeface="+mn-lt"/>
              </a:rPr>
              <a:t>a primitive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+mj-lt"/>
              </a:rPr>
              <a:t>Primitive Types</a:t>
            </a:r>
            <a:endParaRPr lang="en-US" sz="40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 Don't Want to Do Strings Anymore.  Isn't There Anything Else?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Strings are okay, but they don't do much for us.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What about representing numbers and other things?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must use the building blocks of Java!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u="sng" dirty="0" smtClean="0">
                <a:solidFill>
                  <a:srgbClr val="FF0000"/>
                </a:solidFill>
              </a:rPr>
              <a:t>Primitive Values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float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long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short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 Don't Want to Do Strings Anymore.  Isn't There Anything Else?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Most useful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Second tier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long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u="sng" dirty="0" smtClean="0">
                <a:solidFill>
                  <a:srgbClr val="FF0000"/>
                </a:solidFill>
              </a:rPr>
              <a:t>Primitive Values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float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long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short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Two values only: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declare one?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 name = value;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dirty="0" smtClean="0">
                <a:solidFill>
                  <a:schemeClr val="bg1"/>
                </a:solidFill>
              </a:rPr>
              <a:t> name = value;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yes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Characters in single quotation marks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declare one?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 name = value;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mander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'z'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Decimal numbers (not whole numbers)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providing a value, it must have at least one decimal place (2 should be 2.0)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declare one?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pi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3.14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Integers (whole numbers)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declare one?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zero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Special tiny whole number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declare one?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kiloB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127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long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Special larger whole number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declare one?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timeAgo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123456789L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short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Special smaller whole number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declare one?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short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y =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short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-4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float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Special smaller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do we declare one?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away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3.5f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is String not purple?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is String not a primitive value?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What is a String made up of?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Characters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char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WARNING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 smtClean="0">
                <a:solidFill>
                  <a:schemeClr val="bg1"/>
                </a:solidFill>
              </a:rPr>
              <a:t> uses SINGLE QUOTATIONS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 smtClean="0">
                <a:solidFill>
                  <a:schemeClr val="bg1"/>
                </a:solidFill>
              </a:rPr>
              <a:t> uses DOUBLE QUOTATIONS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en-US" dirty="0" smtClean="0">
                <a:solidFill>
                  <a:schemeClr val="bg1"/>
                </a:solidFill>
              </a:rPr>
              <a:t> can be empty!  (</a:t>
            </a:r>
            <a:r>
              <a:rPr lang="en-US" b="1" dirty="0" smtClean="0">
                <a:solidFill>
                  <a:srgbClr val="0070C0"/>
                </a:solidFill>
              </a:rPr>
              <a:t>""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 legal)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dirty="0" smtClean="0">
                <a:solidFill>
                  <a:schemeClr val="bg1"/>
                </a:solidFill>
              </a:rPr>
              <a:t> CANNOT be empty! (</a:t>
            </a:r>
            <a:r>
              <a:rPr lang="en-US" b="1" dirty="0" smtClean="0">
                <a:solidFill>
                  <a:srgbClr val="0070C0"/>
                </a:solidFill>
              </a:rPr>
              <a:t>''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 illegal)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  <a:sym typeface="Wingdings" pitchFamily="2" charset="2"/>
            </a:endParaRPr>
          </a:p>
          <a:p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 Concatenation: + with only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char</a:t>
            </a:r>
            <a:r>
              <a:rPr lang="en-US" b="1" dirty="0" smtClean="0">
                <a:solidFill>
                  <a:schemeClr val="bg1"/>
                </a:solidFill>
                <a:cs typeface="Courier New" pitchFamily="49" charset="0"/>
                <a:sym typeface="Wingdings" pitchFamily="2" charset="2"/>
              </a:rPr>
              <a:t>s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 has a different behavior than with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  <a:sym typeface="Wingdings" pitchFamily="2" charset="2"/>
              </a:rPr>
              <a:t>String</a:t>
            </a:r>
            <a:r>
              <a:rPr lang="en-US" dirty="0" smtClean="0">
                <a:solidFill>
                  <a:schemeClr val="bg1"/>
                </a:solidFill>
                <a:sym typeface="Wingdings" pitchFamily="2" charset="2"/>
              </a:rPr>
              <a:t>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Okay, Let's Do Some Stuff Now!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Name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"Nathan"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midInitial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'R'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Ong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age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19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firstName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midInitial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lastName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", age: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+ age + 			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", has a </a:t>
            </a:r>
            <a:r>
              <a:rPr lang="en-US" b="1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Facebook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: 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hasFacebook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Name</a:t>
            </a:r>
          </a:p>
          <a:p>
            <a:pPr>
              <a:buNone/>
            </a:pPr>
            <a:r>
              <a:rPr lang="en-US" sz="5800" dirty="0" smtClean="0">
                <a:solidFill>
                  <a:schemeClr val="bg1"/>
                </a:solidFill>
                <a:cs typeface="Courier New" pitchFamily="49" charset="0"/>
              </a:rPr>
              <a:t>What is the output?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Wait </a:t>
            </a:r>
            <a:r>
              <a:rPr lang="en-US" dirty="0" err="1" smtClean="0">
                <a:solidFill>
                  <a:schemeClr val="bg1"/>
                </a:solidFill>
              </a:rPr>
              <a:t>Whaaaaa</a:t>
            </a:r>
            <a:r>
              <a:rPr lang="en-US" dirty="0" smtClean="0">
                <a:solidFill>
                  <a:schemeClr val="bg1"/>
                </a:solidFill>
              </a:rPr>
              <a:t>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How did he add all of those things together???  Is that even legal?  Is he cheating?  He must have hacked Java.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Concatenation with any String forces other values to use their String representations!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value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19</a:t>
            </a:r>
            <a:r>
              <a:rPr lang="en-US" dirty="0" smtClean="0">
                <a:solidFill>
                  <a:schemeClr val="bg1"/>
                </a:solidFill>
              </a:rPr>
              <a:t> is now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"19"</a:t>
            </a:r>
            <a:r>
              <a:rPr lang="en-US" dirty="0" smtClean="0">
                <a:solidFill>
                  <a:schemeClr val="bg1"/>
                </a:solidFill>
              </a:rPr>
              <a:t>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value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dirty="0" smtClean="0">
                <a:solidFill>
                  <a:schemeClr val="bg1"/>
                </a:solidFill>
              </a:rPr>
              <a:t> is now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"true"</a:t>
            </a:r>
            <a:r>
              <a:rPr lang="en-US" dirty="0" smtClean="0">
                <a:solidFill>
                  <a:schemeClr val="bg1"/>
                </a:solidFill>
              </a:rPr>
              <a:t>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So again, what is the output?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4724400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Hmm, no one really says "has a </a:t>
            </a:r>
            <a:r>
              <a:rPr lang="en-US" sz="3200" dirty="0" err="1" smtClean="0">
                <a:solidFill>
                  <a:schemeClr val="bg1"/>
                </a:solidFill>
                <a:cs typeface="Courier New" pitchFamily="49" charset="0"/>
              </a:rPr>
              <a:t>Facebook</a:t>
            </a:r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: true"</a:t>
            </a:r>
          </a:p>
          <a:p>
            <a:pPr algn="ctr"/>
            <a:r>
              <a:rPr lang="en-US" sz="3200" dirty="0" smtClean="0">
                <a:solidFill>
                  <a:schemeClr val="bg1"/>
                </a:solidFill>
                <a:cs typeface="Courier New" pitchFamily="49" charset="0"/>
              </a:rPr>
              <a:t>Now what?  How do we fix this?</a:t>
            </a:r>
          </a:p>
        </p:txBody>
      </p:sp>
      <p:pic>
        <p:nvPicPr>
          <p:cNvPr id="7" name="Content Placeholder 6" descr="Picture 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8562" y="381000"/>
            <a:ext cx="8217352" cy="41148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Range of Values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byte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 -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2^7, 2^7-1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char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 ASCII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 </a:t>
            </a:r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∞</a:t>
            </a:r>
            <a:r>
              <a:rPr lang="en-US" dirty="0" smtClean="0">
                <a:solidFill>
                  <a:schemeClr val="bg1"/>
                </a:solidFill>
              </a:rPr>
              <a:t>, 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∞</a:t>
            </a:r>
            <a:r>
              <a:rPr lang="en-US" dirty="0" smtClean="0">
                <a:solidFill>
                  <a:schemeClr val="bg1"/>
                </a:solidFill>
              </a:rPr>
              <a:t>; with limited precision, 				and </a:t>
            </a:r>
            <a:r>
              <a:rPr lang="en-US" dirty="0" err="1" smtClean="0">
                <a:solidFill>
                  <a:schemeClr val="bg1"/>
                </a:solidFill>
              </a:rPr>
              <a:t>NaN</a:t>
            </a:r>
            <a:r>
              <a:rPr lang="en-US" dirty="0" smtClean="0">
                <a:solidFill>
                  <a:schemeClr val="bg1"/>
                </a:solidFill>
              </a:rPr>
              <a:t> (Not a Number)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float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 </a:t>
            </a:r>
            <a:r>
              <a:rPr lang="en-US" dirty="0" smtClean="0">
                <a:solidFill>
                  <a:schemeClr val="bg1"/>
                </a:solidFill>
              </a:rPr>
              <a:t>-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∞</a:t>
            </a:r>
            <a:r>
              <a:rPr lang="en-US" dirty="0" smtClean="0">
                <a:solidFill>
                  <a:schemeClr val="bg1"/>
                </a:solidFill>
              </a:rPr>
              <a:t>, +</a:t>
            </a:r>
            <a:r>
              <a:rPr 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∞</a:t>
            </a:r>
            <a:r>
              <a:rPr lang="en-US" dirty="0" smtClean="0">
                <a:solidFill>
                  <a:schemeClr val="bg1"/>
                </a:solidFill>
              </a:rPr>
              <a:t>; with limited precision, 				and </a:t>
            </a:r>
            <a:r>
              <a:rPr lang="en-US" dirty="0" err="1" smtClean="0">
                <a:solidFill>
                  <a:schemeClr val="bg1"/>
                </a:solidFill>
              </a:rPr>
              <a:t>NaN</a:t>
            </a:r>
            <a:r>
              <a:rPr lang="en-US" dirty="0" smtClean="0">
                <a:solidFill>
                  <a:schemeClr val="bg1"/>
                </a:solidFill>
              </a:rPr>
              <a:t> (Not a Number)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 -2^31, 2^31-1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long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 -2^63, 2^63-1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short		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– -2^15, 2^15-1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This is great and all, but I really want to be able to store more useful info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Feels limited if we have to stay with the 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Type name = value; structure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And thus we can introduce a new structure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Type name = expression;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Two values only:</a:t>
            </a:r>
          </a:p>
          <a:p>
            <a:pPr lvl="1"/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true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false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can also assign the variable an expression to be evaluated.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cs typeface="Courier New" pitchFamily="49" charset="0"/>
              </a:rPr>
              <a:t>Operators</a:t>
            </a:r>
            <a:endParaRPr lang="en-US" dirty="0">
              <a:solidFill>
                <a:srgbClr val="7030A0"/>
              </a:solidFill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en-US" dirty="0" smtClean="0">
                <a:solidFill>
                  <a:schemeClr val="bg1"/>
                </a:solidFill>
              </a:rPr>
              <a:t>	– Logical AND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||</a:t>
            </a:r>
            <a:r>
              <a:rPr lang="en-US" dirty="0" smtClean="0">
                <a:solidFill>
                  <a:schemeClr val="bg1"/>
                </a:solidFill>
              </a:rPr>
              <a:t>	– Logical OR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!</a:t>
            </a:r>
            <a:r>
              <a:rPr lang="en-US" dirty="0" smtClean="0">
                <a:solidFill>
                  <a:schemeClr val="bg1"/>
                </a:solidFill>
              </a:rPr>
              <a:t>		– Logical NOT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needUmb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rain || cloud;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Parentheses can be used as a way to group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Truth Tables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95600" y="18288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A&amp;&amp;B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Truth Tables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95600" y="18288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A||B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Truth Tables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124200" y="2133600"/>
          <a:ext cx="27431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!A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  <a:cs typeface="Courier New" pitchFamily="49" charset="0"/>
              </a:rPr>
              <a:t>Order of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  <a:cs typeface="Courier New" pitchFamily="49" charset="0"/>
              </a:rPr>
              <a:t>Operators</a:t>
            </a:r>
            <a:endParaRPr lang="en-US" dirty="0">
              <a:solidFill>
                <a:srgbClr val="7030A0"/>
              </a:solidFill>
              <a:cs typeface="Courier New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1. 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!</a:t>
            </a:r>
            <a:r>
              <a:rPr lang="en-US" dirty="0" smtClean="0">
                <a:solidFill>
                  <a:schemeClr val="bg1"/>
                </a:solidFill>
              </a:rPr>
              <a:t>	– Logical NOT</a:t>
            </a:r>
            <a:endParaRPr lang="en-US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2. 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&amp;&amp;</a:t>
            </a:r>
            <a:r>
              <a:rPr lang="en-US" dirty="0" smtClean="0">
                <a:solidFill>
                  <a:schemeClr val="bg1"/>
                </a:solidFill>
              </a:rPr>
              <a:t>	– Logical AND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3. 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||</a:t>
            </a:r>
            <a:r>
              <a:rPr lang="en-US" dirty="0" smtClean="0">
                <a:solidFill>
                  <a:schemeClr val="bg1"/>
                </a:solidFill>
              </a:rPr>
              <a:t>	– Logical OR</a:t>
            </a:r>
          </a:p>
          <a:p>
            <a:pPr>
              <a:buNone/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needUmb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rain || !sun;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“If … then …”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Does not have an operator in Java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2819400" y="28956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r>
                        <a:rPr lang="en-US" sz="3600" dirty="0" smtClean="0">
                          <a:sym typeface="Wingdings" pitchFamily="2" charset="2"/>
                        </a:rPr>
                        <a:t></a:t>
                      </a:r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can use an equivalent statement to get the result we want.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2819400" y="28956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r>
                        <a:rPr lang="en-US" sz="3600" dirty="0" smtClean="0">
                          <a:sym typeface="Wingdings" pitchFamily="2" charset="2"/>
                        </a:rPr>
                        <a:t></a:t>
                      </a:r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can use an equivalent statement to get the result we want.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2819400" y="28956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r>
                        <a:rPr lang="en-US" sz="3600" dirty="0" smtClean="0">
                          <a:sym typeface="Wingdings" pitchFamily="2" charset="2"/>
                        </a:rPr>
                        <a:t></a:t>
                      </a:r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819400" y="5105400"/>
            <a:ext cx="3352800" cy="15240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29000" y="3657600"/>
            <a:ext cx="2743200" cy="685800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29000" y="5181600"/>
            <a:ext cx="2743200" cy="685800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Conditional Logic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can use an equivalent statement to get the result we want.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2819400" y="2895600"/>
          <a:ext cx="335279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2133599"/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A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!A||B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F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/>
                        <a:t>T</a:t>
                      </a:r>
                      <a:endParaRPr lang="en-US" sz="3600" dirty="0"/>
                    </a:p>
                  </a:txBody>
                  <a:tcPr marL="182880" marR="182880" marT="91440" marB="9144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720</Words>
  <Application>Microsoft Office PowerPoint</Application>
  <PresentationFormat>On-screen Show (4:3)</PresentationFormat>
  <Paragraphs>249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CS 0007: Introduction to Java Lecture 3</vt:lpstr>
      <vt:lpstr>No, string is not a primitive</vt:lpstr>
      <vt:lpstr>I Don't Want to Do Strings Anymore.  Isn't There Anything Else?</vt:lpstr>
      <vt:lpstr>I Don't Want to Do Strings Anymore.  Isn't There Anything Else?</vt:lpstr>
      <vt:lpstr>boolean</vt:lpstr>
      <vt:lpstr>Type name = value;</vt:lpstr>
      <vt:lpstr>boolean name = value;</vt:lpstr>
      <vt:lpstr>boolean yes = true;</vt:lpstr>
      <vt:lpstr>char</vt:lpstr>
      <vt:lpstr>Type name = value;</vt:lpstr>
      <vt:lpstr>char mander = 'z';</vt:lpstr>
      <vt:lpstr>double</vt:lpstr>
      <vt:lpstr>double pi = 3.14;</vt:lpstr>
      <vt:lpstr>int</vt:lpstr>
      <vt:lpstr>int zero = 0;</vt:lpstr>
      <vt:lpstr>byte</vt:lpstr>
      <vt:lpstr>byte kiloB = (byte)127;</vt:lpstr>
      <vt:lpstr>long</vt:lpstr>
      <vt:lpstr>long timeAgo = 123456789L;</vt:lpstr>
      <vt:lpstr>short</vt:lpstr>
      <vt:lpstr>short y = (short)-4;</vt:lpstr>
      <vt:lpstr>float</vt:lpstr>
      <vt:lpstr>float away = 3.5f;</vt:lpstr>
      <vt:lpstr>Why is String not purple?</vt:lpstr>
      <vt:lpstr>WARNING</vt:lpstr>
      <vt:lpstr>Okay, Let's Do Some Stuff Now!</vt:lpstr>
      <vt:lpstr>Wait Whaaaaa?</vt:lpstr>
      <vt:lpstr>Slide 28</vt:lpstr>
      <vt:lpstr>Range of Values</vt:lpstr>
      <vt:lpstr>This is great and all, but I really want to be able to store more useful info</vt:lpstr>
      <vt:lpstr>Type name = expression;</vt:lpstr>
      <vt:lpstr>boolean</vt:lpstr>
      <vt:lpstr>boolean Operators</vt:lpstr>
      <vt:lpstr>Truth Tables</vt:lpstr>
      <vt:lpstr>Truth Tables</vt:lpstr>
      <vt:lpstr>Truth Tables</vt:lpstr>
      <vt:lpstr>Order of Operators</vt:lpstr>
      <vt:lpstr>Conditional Logic</vt:lpstr>
      <vt:lpstr>Conditional Logic</vt:lpstr>
      <vt:lpstr>Conditional Logic</vt:lpstr>
      <vt:lpstr>Conditional Logic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3</dc:title>
  <dc:creator>Eleonor Rico</dc:creator>
  <cp:lastModifiedBy>Eleonor Rico</cp:lastModifiedBy>
  <cp:revision>2</cp:revision>
  <dcterms:created xsi:type="dcterms:W3CDTF">2016-09-08T15:25:35Z</dcterms:created>
  <dcterms:modified xsi:type="dcterms:W3CDTF">2016-09-08T20:40:20Z</dcterms:modified>
</cp:coreProperties>
</file>