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3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22EA-A008-4458-970F-342C0A16B802}" type="datetimeFigureOut">
              <a:rPr lang="en-US" smtClean="0"/>
              <a:pPr/>
              <a:t>10/31/2016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AABA-B7C1-4B46-B8DA-34C281043D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22EA-A008-4458-970F-342C0A16B802}" type="datetimeFigureOut">
              <a:rPr lang="en-US" smtClean="0"/>
              <a:pPr/>
              <a:t>10/31/2016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AABA-B7C1-4B46-B8DA-34C281043D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22EA-A008-4458-970F-342C0A16B802}" type="datetimeFigureOut">
              <a:rPr lang="en-US" smtClean="0"/>
              <a:pPr/>
              <a:t>10/31/2016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AABA-B7C1-4B46-B8DA-34C281043D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22EA-A008-4458-970F-342C0A16B802}" type="datetimeFigureOut">
              <a:rPr lang="en-US" smtClean="0"/>
              <a:pPr/>
              <a:t>10/31/2016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AABA-B7C1-4B46-B8DA-34C281043D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22EA-A008-4458-970F-342C0A16B802}" type="datetimeFigureOut">
              <a:rPr lang="en-US" smtClean="0"/>
              <a:pPr/>
              <a:t>10/31/2016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AABA-B7C1-4B46-B8DA-34C281043D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22EA-A008-4458-970F-342C0A16B802}" type="datetimeFigureOut">
              <a:rPr lang="en-US" smtClean="0"/>
              <a:pPr/>
              <a:t>10/31/2016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AABA-B7C1-4B46-B8DA-34C281043D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22EA-A008-4458-970F-342C0A16B802}" type="datetimeFigureOut">
              <a:rPr lang="en-US" smtClean="0"/>
              <a:pPr/>
              <a:t>10/31/2016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AABA-B7C1-4B46-B8DA-34C281043D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22EA-A008-4458-970F-342C0A16B802}" type="datetimeFigureOut">
              <a:rPr lang="en-US" smtClean="0"/>
              <a:pPr/>
              <a:t>10/31/2016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AABA-B7C1-4B46-B8DA-34C281043D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22EA-A008-4458-970F-342C0A16B802}" type="datetimeFigureOut">
              <a:rPr lang="en-US" smtClean="0"/>
              <a:pPr/>
              <a:t>10/31/2016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AABA-B7C1-4B46-B8DA-34C281043D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22EA-A008-4458-970F-342C0A16B802}" type="datetimeFigureOut">
              <a:rPr lang="en-US" smtClean="0"/>
              <a:pPr/>
              <a:t>10/31/2016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AABA-B7C1-4B46-B8DA-34C281043D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C22EA-A008-4458-970F-342C0A16B802}" type="datetimeFigureOut">
              <a:rPr lang="en-US" smtClean="0"/>
              <a:pPr/>
              <a:t>10/31/2016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DAABA-B7C1-4B46-B8DA-34C281043D8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C22EA-A008-4458-970F-342C0A16B802}" type="datetimeFigureOut">
              <a:rPr lang="en-US" smtClean="0"/>
              <a:pPr/>
              <a:t>10/31/2016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DAABA-B7C1-4B46-B8DA-34C281043D8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CS 0007: Introduction to Java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14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</a:p>
          <a:p>
            <a:r>
              <a:rPr lang="en-US" dirty="0" smtClean="0"/>
              <a:t>October 27, 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Object Oriented Programming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Revisiting the History of Languages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Assembly – Low-level hardware based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Structured – Introduces subroutines (i.e. functions) and well-defined looping structures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Object-Oriented – Introduces classes and a philosophy about programming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It’s In the Name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Object-Oriented Programming is as it sounds.  Assume everything can be modeled as an </a:t>
            </a:r>
            <a:r>
              <a:rPr lang="en-US" dirty="0" smtClean="0">
                <a:solidFill>
                  <a:srgbClr val="FF0000"/>
                </a:solidFill>
              </a:rPr>
              <a:t>object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Terminology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</a:t>
            </a:r>
            <a:r>
              <a:rPr lang="en-US" dirty="0" smtClean="0">
                <a:solidFill>
                  <a:srgbClr val="FF0000"/>
                </a:solidFill>
              </a:rPr>
              <a:t>class</a:t>
            </a:r>
            <a:r>
              <a:rPr lang="en-US" dirty="0" smtClean="0">
                <a:solidFill>
                  <a:schemeClr val="bg1"/>
                </a:solidFill>
              </a:rPr>
              <a:t> is code that describes objects of that type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An </a:t>
            </a:r>
            <a:r>
              <a:rPr lang="en-US" dirty="0" smtClean="0">
                <a:solidFill>
                  <a:srgbClr val="FF0000"/>
                </a:solidFill>
              </a:rPr>
              <a:t>instance</a:t>
            </a:r>
            <a:r>
              <a:rPr lang="en-US" dirty="0" smtClean="0">
                <a:solidFill>
                  <a:schemeClr val="bg1"/>
                </a:solidFill>
              </a:rPr>
              <a:t> is a particular object of a given type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 </a:t>
            </a:r>
            <a:r>
              <a:rPr lang="en-US" dirty="0" smtClean="0">
                <a:solidFill>
                  <a:srgbClr val="FF0000"/>
                </a:solidFill>
              </a:rPr>
              <a:t>field</a:t>
            </a:r>
            <a:r>
              <a:rPr lang="en-US" dirty="0" smtClean="0">
                <a:solidFill>
                  <a:schemeClr val="bg1"/>
                </a:solidFill>
              </a:rPr>
              <a:t> is a property of an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 </a:t>
            </a:r>
            <a:r>
              <a:rPr lang="en-US" dirty="0" smtClean="0">
                <a:solidFill>
                  <a:srgbClr val="FF0000"/>
                </a:solidFill>
              </a:rPr>
              <a:t>method</a:t>
            </a:r>
            <a:r>
              <a:rPr lang="en-US" dirty="0" smtClean="0">
                <a:solidFill>
                  <a:schemeClr val="bg1"/>
                </a:solidFill>
              </a:rPr>
              <a:t> is a function that is provided by the class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Static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Referenced by keyword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static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Property or method is not dependent on the individual instantiated object, but rather the class as a whole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property/method exists between instances; any change made to static fields are reflected through all instances of the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Static methods can only manipulate static fields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Main Portions of OOP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Building a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Determining inter-class relationships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Subclasses</a:t>
            </a:r>
          </a:p>
          <a:p>
            <a:pPr lvl="1"/>
            <a:r>
              <a:rPr lang="en-US" dirty="0" err="1" smtClean="0">
                <a:solidFill>
                  <a:schemeClr val="bg1"/>
                </a:solidFill>
              </a:rPr>
              <a:t>Superclasses</a:t>
            </a:r>
            <a:endParaRPr lang="en-US" dirty="0" smtClean="0">
              <a:solidFill>
                <a:schemeClr val="bg1"/>
              </a:solidFill>
            </a:endParaRP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Ownership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Building Classes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There are several parts of a class, much like there are several parts of an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Properties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Static: Class-level variables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Non-static: Instance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Methods (originally functions)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Static: Class methods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Non-static: Instance methods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Special: Constructor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Properties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Inherent things (objects/primitives) describing the class or instance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Placed within the class, but outside any method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Class-level variables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Static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Usually constants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Declared and assigned outside any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Instance variables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Non-static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Declared by each object construction, which allows them to contain different values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Class-level Variables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Constants 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final</a:t>
            </a:r>
            <a:r>
              <a:rPr lang="en-US" dirty="0" smtClean="0">
                <a:solidFill>
                  <a:schemeClr val="bg1"/>
                </a:solidFill>
              </a:rPr>
              <a:t> keyword)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Usually refers to limits or specific values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Signified in ALL_CAPS_WITH_UNDERSCORES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Variable cannot be changed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Usually visible to anyone 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dirty="0" smtClean="0">
                <a:solidFill>
                  <a:schemeClr val="bg1"/>
                </a:solidFill>
              </a:rPr>
              <a:t> keyword)</a:t>
            </a:r>
          </a:p>
          <a:p>
            <a:pPr>
              <a:buNone/>
            </a:pPr>
            <a:r>
              <a:rPr lang="en-US" sz="2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final double</a:t>
            </a:r>
            <a:r>
              <a:rPr lang="en-US" sz="2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b="1" i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PI</a:t>
            </a:r>
            <a:r>
              <a:rPr lang="en-US" sz="2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600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3.14</a:t>
            </a:r>
            <a:r>
              <a:rPr lang="en-US" sz="2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sz="2600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600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radius = 5;</a:t>
            </a:r>
          </a:p>
          <a:p>
            <a:pPr>
              <a:buNone/>
            </a:pPr>
            <a:r>
              <a:rPr lang="en-US" sz="2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2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area = </a:t>
            </a:r>
            <a:r>
              <a:rPr lang="en-US" sz="2600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Math.</a:t>
            </a:r>
            <a:r>
              <a:rPr lang="en-US" sz="2600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PI</a:t>
            </a:r>
            <a:r>
              <a:rPr lang="en-US" sz="2600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*radius*radius;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Class-level Variables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Non-Constants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Usually performs bookkeeping (e.g. how many objects did you instantiate?)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Usually visible only to the class 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keyword)</a:t>
            </a: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static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Instance Variables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Variables that are object instance dependent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All cars have a color, but not all cars are red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Possibly constant 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final</a:t>
            </a:r>
            <a:r>
              <a:rPr lang="en-US" dirty="0" smtClean="0">
                <a:solidFill>
                  <a:schemeClr val="bg1"/>
                </a:solidFill>
              </a:rPr>
              <a:t> keyword)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Must be assigned at construction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Cannot change value for the lifetime of the object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final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licensePlate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b="1" dirty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to Determine?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Depends on your needs and requirements of the scenario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 good rule of thumb: Restrict everything as much as possible.  If a variable does not need to change, make it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final</a:t>
            </a:r>
            <a:r>
              <a:rPr lang="en-US" dirty="0" smtClean="0">
                <a:solidFill>
                  <a:schemeClr val="bg1"/>
                </a:solidFill>
              </a:rPr>
              <a:t> to prevent possible accidents.  If a variable does not need to be directly visible to everyone, make it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Remember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89794" name="Picture 2" descr="http://www.craveonline.com/images/stories/2011/Film/Captain%20Planet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8275" y="2101056"/>
            <a:ext cx="6267450" cy="352425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04800" y="6324600"/>
            <a:ext cx="883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Source: http://www.craveonline.com/images/stories/2011/Film/Captain%20Planet.jpg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Methods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Functions that alter the object or operate using the properties of the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This allows further control over how the object should be used, essentially providing guidelines to programmers on correct usage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Three main types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Static: Class methods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Non-static: Instance methods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Special: Constructor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Constructors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Essentially a method initializing the object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Calling this special method requires the keyword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have seen this before!!!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But how do I make one?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600200"/>
            <a:ext cx="7772400" cy="452596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cs typeface="Courier New" pitchFamily="49" charset="0"/>
              </a:rPr>
              <a:t>Visibility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type 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dirty="0" smtClean="0">
                <a:solidFill>
                  <a:schemeClr val="bg1"/>
                </a:solidFill>
              </a:rPr>
              <a:t>/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protected</a:t>
            </a:r>
            <a:r>
              <a:rPr lang="en-US" dirty="0" smtClean="0">
                <a:solidFill>
                  <a:schemeClr val="bg1"/>
                </a:solidFill>
              </a:rPr>
              <a:t>/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(For now, required)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Return 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functionName</a:t>
            </a:r>
            <a:endParaRPr lang="en-US" dirty="0" smtClean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Parentheses “()”</a:t>
            </a:r>
          </a:p>
          <a:p>
            <a:pPr marL="914400" lvl="1" indent="-514350"/>
            <a:r>
              <a:rPr lang="en-US" dirty="0" smtClean="0">
                <a:solidFill>
                  <a:schemeClr val="bg1"/>
                </a:solidFill>
              </a:rPr>
              <a:t> Parameters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 smtClean="0">
                <a:solidFill>
                  <a:schemeClr val="bg1"/>
                </a:solidFill>
              </a:rPr>
              <a:t> Type1 parameterName1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 smtClean="0">
                <a:solidFill>
                  <a:schemeClr val="bg1"/>
                </a:solidFill>
              </a:rPr>
              <a:t> Type2 parameterName2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 smtClean="0">
                <a:solidFill>
                  <a:schemeClr val="bg1"/>
                </a:solidFill>
              </a:rPr>
              <a:t> 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Curly Brackets/Braces “{}”</a:t>
            </a:r>
          </a:p>
          <a:p>
            <a:pPr marL="914400" lvl="1" indent="-514350"/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 smtClean="0">
                <a:solidFill>
                  <a:srgbClr val="7030A0"/>
                </a:solidFill>
                <a:cs typeface="Courier New" pitchFamily="49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a value</a:t>
            </a:r>
            <a:endParaRPr lang="en-US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ight Brace 3"/>
          <p:cNvSpPr/>
          <p:nvPr/>
        </p:nvSpPr>
        <p:spPr>
          <a:xfrm flipH="1">
            <a:off x="1066800" y="1600200"/>
            <a:ext cx="609600" cy="3505200"/>
          </a:xfrm>
          <a:prstGeom prst="rightBrace">
            <a:avLst/>
          </a:prstGeom>
          <a:ln w="508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-1751" y="2895600"/>
            <a:ext cx="1297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Function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Header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Right Brace 5"/>
          <p:cNvSpPr/>
          <p:nvPr/>
        </p:nvSpPr>
        <p:spPr>
          <a:xfrm flipH="1">
            <a:off x="1066800" y="5105400"/>
            <a:ext cx="609600" cy="762000"/>
          </a:xfrm>
          <a:prstGeom prst="rightBrace">
            <a:avLst/>
          </a:prstGeom>
          <a:ln w="508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1751" y="5029200"/>
            <a:ext cx="1297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Function</a:t>
            </a:r>
          </a:p>
          <a:p>
            <a:pPr algn="ctr"/>
            <a:r>
              <a:rPr lang="en-US" sz="2400" b="1" dirty="0" smtClean="0">
                <a:solidFill>
                  <a:srgbClr val="FF0000"/>
                </a:solidFill>
              </a:rPr>
              <a:t>Body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Constructor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600200"/>
            <a:ext cx="7772400" cy="4525963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Visibility type 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dirty="0" smtClean="0">
                <a:solidFill>
                  <a:schemeClr val="bg1"/>
                </a:solidFill>
              </a:rPr>
              <a:t>/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protected</a:t>
            </a:r>
            <a:r>
              <a:rPr lang="en-US" dirty="0" smtClean="0">
                <a:solidFill>
                  <a:schemeClr val="bg1"/>
                </a:solidFill>
              </a:rPr>
              <a:t>/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strike="sngStrike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strike="sngStrike" dirty="0" smtClean="0">
                <a:solidFill>
                  <a:schemeClr val="bg1"/>
                </a:solidFill>
                <a:cs typeface="Courier New" pitchFamily="49" charset="0"/>
              </a:rPr>
              <a:t> (For now, required)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strike="sngStrike" dirty="0" smtClean="0">
                <a:solidFill>
                  <a:schemeClr val="bg1"/>
                </a:solidFill>
              </a:rPr>
              <a:t>Return 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strike="sngStrike" dirty="0" err="1" smtClean="0">
                <a:solidFill>
                  <a:schemeClr val="bg1"/>
                </a:solidFill>
              </a:rPr>
              <a:t>functionName</a:t>
            </a:r>
            <a:r>
              <a:rPr lang="en-US" dirty="0" smtClean="0">
                <a:solidFill>
                  <a:schemeClr val="bg1"/>
                </a:solidFill>
              </a:rPr>
              <a:t> Same name as the class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Parentheses “()”</a:t>
            </a:r>
          </a:p>
          <a:p>
            <a:pPr marL="914400" lvl="1" indent="-514350"/>
            <a:r>
              <a:rPr lang="en-US" dirty="0" smtClean="0">
                <a:solidFill>
                  <a:schemeClr val="bg1"/>
                </a:solidFill>
              </a:rPr>
              <a:t> Parameters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 smtClean="0">
                <a:solidFill>
                  <a:schemeClr val="bg1"/>
                </a:solidFill>
              </a:rPr>
              <a:t> Type1 parameterName1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 smtClean="0">
                <a:solidFill>
                  <a:schemeClr val="bg1"/>
                </a:solidFill>
              </a:rPr>
              <a:t> Type2 parameterName2</a:t>
            </a:r>
          </a:p>
          <a:p>
            <a:pPr marL="914400" lvl="1" indent="-514350">
              <a:buFont typeface="+mj-lt"/>
              <a:buAutoNum type="alphaLcParenR"/>
            </a:pPr>
            <a:r>
              <a:rPr lang="en-US" dirty="0" smtClean="0">
                <a:solidFill>
                  <a:schemeClr val="bg1"/>
                </a:solidFill>
              </a:rPr>
              <a:t> …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bg1"/>
                </a:solidFill>
              </a:rPr>
              <a:t> Curly Brackets/Braces “{}”</a:t>
            </a:r>
          </a:p>
          <a:p>
            <a:pPr marL="914400" lvl="1" indent="-514350"/>
            <a:r>
              <a:rPr lang="en-US" b="1" dirty="0" smtClean="0">
                <a:solidFill>
                  <a:schemeClr val="bg1"/>
                </a:solidFill>
                <a:cs typeface="Courier New" pitchFamily="49" charset="0"/>
              </a:rPr>
              <a:t> </a:t>
            </a:r>
            <a:r>
              <a:rPr lang="en-US" b="1" strike="sngStrike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strike="sngStrike" dirty="0" smtClean="0">
                <a:solidFill>
                  <a:srgbClr val="7030A0"/>
                </a:solidFill>
                <a:cs typeface="Courier New" pitchFamily="49" charset="0"/>
              </a:rPr>
              <a:t> </a:t>
            </a:r>
            <a:r>
              <a:rPr lang="en-US" strike="sngStrike" dirty="0" smtClean="0">
                <a:solidFill>
                  <a:schemeClr val="bg1"/>
                </a:solidFill>
                <a:cs typeface="Courier New" pitchFamily="49" charset="0"/>
              </a:rPr>
              <a:t>a value</a:t>
            </a:r>
            <a:endParaRPr lang="en-US" strike="sngStrike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ight Brace 3"/>
          <p:cNvSpPr/>
          <p:nvPr/>
        </p:nvSpPr>
        <p:spPr>
          <a:xfrm flipH="1">
            <a:off x="1066800" y="1600200"/>
            <a:ext cx="609600" cy="3505200"/>
          </a:xfrm>
          <a:prstGeom prst="rightBrace">
            <a:avLst/>
          </a:prstGeom>
          <a:ln w="508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-1751" y="2895600"/>
            <a:ext cx="1297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Function</a:t>
            </a:r>
          </a:p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Header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Right Brace 5"/>
          <p:cNvSpPr/>
          <p:nvPr/>
        </p:nvSpPr>
        <p:spPr>
          <a:xfrm flipH="1">
            <a:off x="1066800" y="5105400"/>
            <a:ext cx="609600" cy="762000"/>
          </a:xfrm>
          <a:prstGeom prst="rightBrace">
            <a:avLst/>
          </a:prstGeom>
          <a:ln w="508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-1751" y="5029200"/>
            <a:ext cx="12971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Function</a:t>
            </a:r>
          </a:p>
          <a:p>
            <a:pPr algn="ctr"/>
            <a:r>
              <a:rPr lang="en-US" sz="2400" b="1" dirty="0" smtClean="0">
                <a:solidFill>
                  <a:schemeClr val="bg1"/>
                </a:solidFill>
              </a:rPr>
              <a:t>Body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Car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final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licensePlate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Car(Color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//initialize instance variables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constructor(Color)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Car</a:t>
            </a:r>
            <a:endParaRPr lang="en-US" b="1" dirty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Instance Variable Manipulation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To reference non-static object-dependent variables, use the keyword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dirty="0" smtClean="0">
                <a:solidFill>
                  <a:srgbClr val="7030A0"/>
                </a:solidFill>
                <a:cs typeface="Courier New" pitchFamily="49" charset="0"/>
              </a:rPr>
              <a:t> </a:t>
            </a:r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followed by the dot operator.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The keyword can distinguish these object-dependent variables and parameters.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It can be used regularly, with no need to declare them.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Car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final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licensePlate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Car(Color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color;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constructor(Color)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Car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Control Question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Should we allow the function caller (e.g. random user) to make the car’s ID number?  Probably not.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want the ID number to be unique.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Simple solution: just count up by one every time a new car is made.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We can do this via a class-level variable.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Car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static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final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licensePlate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Car(Color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color;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Car.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Car.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constructor(Color)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Car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Car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Car(Color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Car.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Car.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constructor(Color)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Because </a:t>
            </a:r>
            <a:r>
              <a:rPr lang="en-US" dirty="0" err="1" smtClean="0">
                <a:solidFill>
                  <a:schemeClr val="bg1"/>
                </a:solidFill>
              </a:rPr>
              <a:t>nextIDNum</a:t>
            </a:r>
            <a:r>
              <a:rPr lang="en-US" dirty="0" smtClean="0">
                <a:solidFill>
                  <a:schemeClr val="bg1"/>
                </a:solidFill>
              </a:rPr>
              <a:t> is static, and was initialized to 0, the first car has an ID number of 0.  Then the static value is increased by 1.  The next time we construct a new car, its ID number will be 1.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754</Words>
  <Application>Microsoft Office PowerPoint</Application>
  <PresentationFormat>On-screen Show (4:3)</PresentationFormat>
  <Paragraphs>186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CS 0007: Introduction to Java Lecture 14</vt:lpstr>
      <vt:lpstr>Object Oriented Programming</vt:lpstr>
      <vt:lpstr>Revisiting the History of Languages</vt:lpstr>
      <vt:lpstr>It’s In the Name</vt:lpstr>
      <vt:lpstr>Terminology</vt:lpstr>
      <vt:lpstr>Static</vt:lpstr>
      <vt:lpstr>Main Portions of OOP</vt:lpstr>
      <vt:lpstr>Building Classes</vt:lpstr>
      <vt:lpstr>Properties</vt:lpstr>
      <vt:lpstr>Class-level Variables</vt:lpstr>
      <vt:lpstr>Class-level Variables</vt:lpstr>
      <vt:lpstr>Instance Variables</vt:lpstr>
      <vt:lpstr>Example</vt:lpstr>
      <vt:lpstr>How to Determine?</vt:lpstr>
      <vt:lpstr>Remember</vt:lpstr>
      <vt:lpstr>Methods</vt:lpstr>
      <vt:lpstr>Constructors</vt:lpstr>
      <vt:lpstr>Function Review</vt:lpstr>
      <vt:lpstr>Constructor</vt:lpstr>
      <vt:lpstr>Car Example</vt:lpstr>
      <vt:lpstr>Instance Variable Manipulation</vt:lpstr>
      <vt:lpstr>Car Example</vt:lpstr>
      <vt:lpstr>Control Question</vt:lpstr>
      <vt:lpstr>Car Example</vt:lpstr>
      <vt:lpstr>Car Example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0007: Introduction to Java Lecture 14</dc:title>
  <dc:creator>Eleonor Rico</dc:creator>
  <cp:lastModifiedBy>ongnathan</cp:lastModifiedBy>
  <cp:revision>2</cp:revision>
  <dcterms:created xsi:type="dcterms:W3CDTF">2016-10-26T17:19:32Z</dcterms:created>
  <dcterms:modified xsi:type="dcterms:W3CDTF">2016-10-31T23:36:17Z</dcterms:modified>
</cp:coreProperties>
</file>