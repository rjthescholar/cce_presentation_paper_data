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0" r:id="rId13"/>
    <p:sldId id="289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1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B6D9-7A73-41AE-8FC9-A934ED729F59}" type="datetimeFigureOut">
              <a:rPr lang="en-US" smtClean="0"/>
              <a:pPr/>
              <a:t>9/13/2016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6387-A961-44F7-A8C7-C579167A06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B6D9-7A73-41AE-8FC9-A934ED729F59}" type="datetimeFigureOut">
              <a:rPr lang="en-US" smtClean="0"/>
              <a:pPr/>
              <a:t>9/13/2016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6387-A961-44F7-A8C7-C579167A06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B6D9-7A73-41AE-8FC9-A934ED729F59}" type="datetimeFigureOut">
              <a:rPr lang="en-US" smtClean="0"/>
              <a:pPr/>
              <a:t>9/13/2016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6387-A961-44F7-A8C7-C579167A06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B6D9-7A73-41AE-8FC9-A934ED729F59}" type="datetimeFigureOut">
              <a:rPr lang="en-US" smtClean="0"/>
              <a:pPr/>
              <a:t>9/13/2016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6387-A961-44F7-A8C7-C579167A06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B6D9-7A73-41AE-8FC9-A934ED729F59}" type="datetimeFigureOut">
              <a:rPr lang="en-US" smtClean="0"/>
              <a:pPr/>
              <a:t>9/13/2016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6387-A961-44F7-A8C7-C579167A06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B6D9-7A73-41AE-8FC9-A934ED729F59}" type="datetimeFigureOut">
              <a:rPr lang="en-US" smtClean="0"/>
              <a:pPr/>
              <a:t>9/13/2016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6387-A961-44F7-A8C7-C579167A06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B6D9-7A73-41AE-8FC9-A934ED729F59}" type="datetimeFigureOut">
              <a:rPr lang="en-US" smtClean="0"/>
              <a:pPr/>
              <a:t>9/13/2016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6387-A961-44F7-A8C7-C579167A06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B6D9-7A73-41AE-8FC9-A934ED729F59}" type="datetimeFigureOut">
              <a:rPr lang="en-US" smtClean="0"/>
              <a:pPr/>
              <a:t>9/13/2016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6387-A961-44F7-A8C7-C579167A06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B6D9-7A73-41AE-8FC9-A934ED729F59}" type="datetimeFigureOut">
              <a:rPr lang="en-US" smtClean="0"/>
              <a:pPr/>
              <a:t>9/13/2016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6387-A961-44F7-A8C7-C579167A06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B6D9-7A73-41AE-8FC9-A934ED729F59}" type="datetimeFigureOut">
              <a:rPr lang="en-US" smtClean="0"/>
              <a:pPr/>
              <a:t>9/13/2016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6387-A961-44F7-A8C7-C579167A06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4B6D9-7A73-41AE-8FC9-A934ED729F59}" type="datetimeFigureOut">
              <a:rPr lang="en-US" smtClean="0"/>
              <a:pPr/>
              <a:t>9/13/2016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66387-A961-44F7-A8C7-C579167A06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4B6D9-7A73-41AE-8FC9-A934ED729F59}" type="datetimeFigureOut">
              <a:rPr lang="en-US" smtClean="0"/>
              <a:pPr/>
              <a:t>9/13/2016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66387-A961-44F7-A8C7-C579167A065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September 12, 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Two values only: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can also assign the variable an expression to be evaluated.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cs typeface="Courier New" pitchFamily="49" charset="0"/>
              </a:rPr>
              <a:t>Operators</a:t>
            </a:r>
            <a:endParaRPr lang="en-US" dirty="0">
              <a:solidFill>
                <a:srgbClr val="7030A0"/>
              </a:solidFill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&amp;&amp;</a:t>
            </a:r>
            <a:r>
              <a:rPr lang="en-US" dirty="0" smtClean="0">
                <a:solidFill>
                  <a:schemeClr val="bg1"/>
                </a:solidFill>
              </a:rPr>
              <a:t>	– Logical AND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||</a:t>
            </a:r>
            <a:r>
              <a:rPr lang="en-US" dirty="0" smtClean="0">
                <a:solidFill>
                  <a:schemeClr val="bg1"/>
                </a:solidFill>
              </a:rPr>
              <a:t>	– Logical OR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!</a:t>
            </a:r>
            <a:r>
              <a:rPr lang="en-US" dirty="0" smtClean="0">
                <a:solidFill>
                  <a:schemeClr val="bg1"/>
                </a:solidFill>
              </a:rPr>
              <a:t>		– Logical NOT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needUmb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rain || cloud;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Parentheses can be used as a way to group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Truth Tables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95600" y="1828800"/>
          <a:ext cx="33527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A&amp;&amp;B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Truth Tables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95600" y="1828800"/>
          <a:ext cx="33527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A||B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Truth Tables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124200" y="2133600"/>
          <a:ext cx="27431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!A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+mn-lt"/>
                <a:cs typeface="Courier New" pitchFamily="49" charset="0"/>
              </a:rPr>
              <a:t>Order of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cs typeface="Courier New" pitchFamily="49" charset="0"/>
              </a:rPr>
              <a:t>Operators</a:t>
            </a:r>
            <a:endParaRPr lang="en-US" dirty="0">
              <a:solidFill>
                <a:srgbClr val="7030A0"/>
              </a:solidFill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1.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!</a:t>
            </a:r>
            <a:r>
              <a:rPr lang="en-US" dirty="0" smtClean="0">
                <a:solidFill>
                  <a:schemeClr val="bg1"/>
                </a:solidFill>
              </a:rPr>
              <a:t>	– Logical NOT</a:t>
            </a:r>
            <a:endParaRPr lang="en-US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2.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&amp;&amp;</a:t>
            </a:r>
            <a:r>
              <a:rPr lang="en-US" dirty="0" smtClean="0">
                <a:solidFill>
                  <a:schemeClr val="bg1"/>
                </a:solidFill>
              </a:rPr>
              <a:t>	– Logical AND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3.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||</a:t>
            </a:r>
            <a:r>
              <a:rPr lang="en-US" dirty="0" smtClean="0">
                <a:solidFill>
                  <a:schemeClr val="bg1"/>
                </a:solidFill>
              </a:rPr>
              <a:t>	– Logical OR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needUmb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rain || !sun;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Conditional Logic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“If … then …”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Does not have an operator in Java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2819400" y="2895600"/>
          <a:ext cx="33527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r>
                        <a:rPr lang="en-US" sz="3600" dirty="0" smtClean="0">
                          <a:sym typeface="Wingdings" pitchFamily="2" charset="2"/>
                        </a:rPr>
                        <a:t></a:t>
                      </a:r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Conditional Logic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We can use an equivalent statement to get the result we want.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2819400" y="2895600"/>
          <a:ext cx="33527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r>
                        <a:rPr lang="en-US" sz="3600" dirty="0" smtClean="0">
                          <a:sym typeface="Wingdings" pitchFamily="2" charset="2"/>
                        </a:rPr>
                        <a:t></a:t>
                      </a:r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Conditional Logic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We can use an equivalent statement to get the result we want.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2819400" y="2895600"/>
          <a:ext cx="33527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r>
                        <a:rPr lang="en-US" sz="3600" dirty="0" smtClean="0">
                          <a:sym typeface="Wingdings" pitchFamily="2" charset="2"/>
                        </a:rPr>
                        <a:t></a:t>
                      </a:r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819400" y="5105400"/>
            <a:ext cx="3352800" cy="15240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29000" y="3657600"/>
            <a:ext cx="2743200" cy="685800"/>
          </a:xfrm>
          <a:prstGeom prst="rect">
            <a:avLst/>
          </a:prstGeom>
          <a:noFill/>
          <a:ln w="635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29000" y="5181600"/>
            <a:ext cx="2743200" cy="685800"/>
          </a:xfrm>
          <a:prstGeom prst="rect">
            <a:avLst/>
          </a:prstGeom>
          <a:noFill/>
          <a:ln w="635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Conditional Logic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We can use an equivalent statement to get the result we want.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2819400" y="2895600"/>
          <a:ext cx="33527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!A||B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+mn-lt"/>
                <a:cs typeface="Courier New" pitchFamily="49" charset="0"/>
              </a:rPr>
              <a:t>Order of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cs typeface="Courier New" pitchFamily="49" charset="0"/>
              </a:rPr>
              <a:t>Operators</a:t>
            </a:r>
            <a:endParaRPr lang="en-US" dirty="0">
              <a:solidFill>
                <a:srgbClr val="7030A0"/>
              </a:solidFill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1.</a:t>
            </a:r>
            <a:r>
              <a:rPr lang="en-US" dirty="0">
                <a:solidFill>
                  <a:schemeClr val="bg1"/>
                </a:solidFill>
                <a:cs typeface="Courier New" pitchFamily="49" charset="0"/>
              </a:rPr>
              <a:t>	</a:t>
            </a:r>
            <a:r>
              <a:rPr lang="en-US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==/!=</a:t>
            </a:r>
            <a:r>
              <a:rPr lang="en-US" dirty="0" smtClean="0">
                <a:solidFill>
                  <a:schemeClr val="bg1"/>
                </a:solidFill>
              </a:rPr>
              <a:t>	– Equality/Non-equality</a:t>
            </a:r>
            <a:endParaRPr lang="en-US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2.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!</a:t>
            </a:r>
            <a:r>
              <a:rPr lang="en-US" dirty="0" smtClean="0">
                <a:solidFill>
                  <a:schemeClr val="bg1"/>
                </a:solidFill>
              </a:rPr>
              <a:t>		– Logical NOT</a:t>
            </a:r>
            <a:endParaRPr lang="en-US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3.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&amp;&amp;</a:t>
            </a:r>
            <a:r>
              <a:rPr lang="en-US" dirty="0" smtClean="0">
                <a:solidFill>
                  <a:schemeClr val="bg1"/>
                </a:solidFill>
              </a:rPr>
              <a:t>		– Logical AND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cs typeface="Courier New" pitchFamily="49" charset="0"/>
              </a:rPr>
              <a:t>4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.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||</a:t>
            </a:r>
            <a:r>
              <a:rPr lang="en-US" dirty="0" smtClean="0">
                <a:solidFill>
                  <a:schemeClr val="bg1"/>
                </a:solidFill>
              </a:rPr>
              <a:t>		– Logical OR		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same = bool1 == bool2;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+mn-lt"/>
                <a:cs typeface="Courier New" pitchFamily="49" charset="0"/>
              </a:rPr>
              <a:t>Bad Coding Practice</a:t>
            </a:r>
            <a:endParaRPr lang="en-US" dirty="0">
              <a:solidFill>
                <a:srgbClr val="7030A0"/>
              </a:solidFill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isTrue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bool1 ==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Integers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can also assign the variable an expression to be evaluated.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Operators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+		– Addition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–		– Subtraction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*		– Multiplication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/		– (Integer) Division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%		– Modular Operation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Follows normal rules of order of operation (PEMDAS)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Integer Division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Removes (truncates) the Mantissa (numbers after the decimal point)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5 / 2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2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20 / 3  6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Modular Arithmetic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Remember back to grade school division: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5 divided by 2 equals 2 remainder 1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5 % 2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1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20 divided by 3 equals 6 remainder 2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20 % 3  2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Integer Division + Modular Arithmetic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They fit nicely together: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5 divided by 2 equals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>
                <a:solidFill>
                  <a:schemeClr val="bg1"/>
                </a:solidFill>
              </a:rPr>
              <a:t> remainder </a:t>
            </a:r>
            <a:r>
              <a:rPr lang="en-US" dirty="0" smtClean="0">
                <a:solidFill>
                  <a:srgbClr val="00B0F0"/>
                </a:solidFill>
              </a:rPr>
              <a:t>1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5 / 2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2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5 % 2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dirty="0" smtClean="0">
                <a:solidFill>
                  <a:srgbClr val="00B0F0"/>
                </a:solidFill>
                <a:sym typeface="Wingdings" pitchFamily="2" charset="2"/>
              </a:rPr>
              <a:t>1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20 divided by 3 equals 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6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 remainder </a:t>
            </a:r>
            <a:r>
              <a:rPr lang="en-US" dirty="0" smtClean="0">
                <a:solidFill>
                  <a:srgbClr val="00B0F0"/>
                </a:solidFill>
                <a:sym typeface="Wingdings" pitchFamily="2" charset="2"/>
              </a:rPr>
              <a:t>2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20 / 3  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6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20 % 3  </a:t>
            </a:r>
            <a:r>
              <a:rPr lang="en-US" dirty="0" smtClean="0">
                <a:solidFill>
                  <a:srgbClr val="00B0F0"/>
                </a:solidFill>
                <a:sym typeface="Wingdings" pitchFamily="2" charset="2"/>
              </a:rPr>
              <a:t>2</a:t>
            </a:r>
            <a:endParaRPr lang="en-US" dirty="0" smtClean="0">
              <a:solidFill>
                <a:srgbClr val="00B0F0"/>
              </a:solidFill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More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Special operators convert two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err="1" smtClean="0">
                <a:solidFill>
                  <a:schemeClr val="bg1"/>
                </a:solidFill>
              </a:rPr>
              <a:t>s</a:t>
            </a:r>
            <a:r>
              <a:rPr lang="en-US" dirty="0" smtClean="0">
                <a:solidFill>
                  <a:schemeClr val="bg1"/>
                </a:solidFill>
              </a:rPr>
              <a:t> into a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by comparing them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==	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– Equality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!=	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– Non-Equality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&gt;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– Greater than</a:t>
            </a:r>
            <a:endParaRPr lang="en-US" b="1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&gt;=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– Greater than or equal to</a:t>
            </a:r>
            <a:endParaRPr lang="en-US" b="1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&lt;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– Less than</a:t>
            </a:r>
            <a:endParaRPr lang="en-US" b="1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&lt;=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– Less than or equal to</a:t>
            </a:r>
            <a:endParaRPr lang="en-US" b="1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Evaluated </a:t>
            </a:r>
            <a:r>
              <a:rPr lang="en-US" u="sng" dirty="0" smtClean="0">
                <a:solidFill>
                  <a:schemeClr val="bg1"/>
                </a:solidFill>
                <a:cs typeface="Courier New" pitchFamily="49" charset="0"/>
              </a:rPr>
              <a:t>AFTER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PEMDAS</a:t>
            </a:r>
            <a:endParaRPr lang="en-US" u="sng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More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5 == 0?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6 &gt; 7?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4 &lt;= 4?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!(8 &lt; 3)?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(3 / 2 &gt; 9 % 3) &amp;&amp; (10 &lt;= 5*3)?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Decimal numbers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Cannot trust this for calculations that require precision due to representation limits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 smtClean="0">
                <a:solidFill>
                  <a:schemeClr val="bg1"/>
                </a:solidFill>
              </a:rPr>
              <a:t> operations can be applied to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dirty="0" smtClean="0">
                <a:solidFill>
                  <a:schemeClr val="bg1"/>
                </a:solidFill>
              </a:rPr>
              <a:t>s, except modular arithmetic (%)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Division is regular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Mixing Types with Division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5 / 2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2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5.0 / 2.0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2.5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5.0 / 2  ?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5 / 2.0  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Single characters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CANNOT use + to combine two characters together.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Internally represented as a very small number in American Standard Code for Information Interchange (ASCII) representation.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ASCII Table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Ascii Table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6361" y="1600200"/>
            <a:ext cx="6631278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Special operators convert two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dirty="0" smtClean="0">
                <a:solidFill>
                  <a:schemeClr val="bg1"/>
                </a:solidFill>
              </a:rPr>
              <a:t>s into a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by comparing them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==	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– Equality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&gt;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– Greater than*</a:t>
            </a:r>
            <a:endParaRPr lang="en-US" b="1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&gt;=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– Greater than or equal to*</a:t>
            </a:r>
            <a:endParaRPr lang="en-US" b="1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&lt;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– Less than*</a:t>
            </a:r>
            <a:endParaRPr lang="en-US" b="1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&lt;=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– Less than or equal to*</a:t>
            </a:r>
            <a:endParaRPr lang="en-US" b="1" dirty="0" smtClean="0">
              <a:solidFill>
                <a:schemeClr val="bg1"/>
              </a:solidFill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*(based on ASCII value)</a:t>
            </a:r>
            <a:endParaRPr lang="en-US" u="sng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Expression?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you express the sum of 2 and 3?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No, not the answer, the expression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2 + 3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Hmm, will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work?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Let's test it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do you test that?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Write a valid program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can do one of two things: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Print the expected value and the value you actually retrieved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Compare the two values and print the </a:t>
            </a:r>
            <a:r>
              <a:rPr lang="en-US" dirty="0" err="1" smtClean="0">
                <a:solidFill>
                  <a:schemeClr val="bg1"/>
                </a:solidFill>
              </a:rPr>
              <a:t>boolean</a:t>
            </a:r>
            <a:r>
              <a:rPr lang="en-US" dirty="0" smtClean="0">
                <a:solidFill>
                  <a:schemeClr val="bg1"/>
                </a:solidFill>
              </a:rPr>
              <a:t> value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would you choose one over the other?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Depends on what you want/need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Test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Test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"Value</a:t>
            </a:r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			expected: 5, Actual</a:t>
            </a:r>
          </a:p>
          <a:p>
            <a:pPr>
              <a:buNone/>
            </a:pP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				value: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x);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Test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What is the expected output?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47244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They're the same, YAAAAAYYYYYY!!!</a:t>
            </a:r>
          </a:p>
        </p:txBody>
      </p:sp>
      <p:pic>
        <p:nvPicPr>
          <p:cNvPr id="5" name="Content Placeholder 4" descr="Picture 6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9446" y="381000"/>
            <a:ext cx="8205108" cy="41148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Test 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Test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"x == 5 is" 	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 (x ==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Test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What is the expected output?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47244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It's true, YAAAAAYYYYYY!!!</a:t>
            </a:r>
          </a:p>
        </p:txBody>
      </p:sp>
      <p:pic>
        <p:nvPicPr>
          <p:cNvPr id="6" name="Content Placeholder 5" descr="Picture 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381000"/>
            <a:ext cx="8217352" cy="41148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Expressions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All primitives allow you to declare/replace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b = (x ==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b = (x ==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d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3.5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WARNING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caret (^) does NOT indicate exponentiation.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 other words, in Java, </a:t>
            </a:r>
            <a:r>
              <a:rPr lang="en-US" dirty="0" smtClean="0">
                <a:solidFill>
                  <a:schemeClr val="bg1"/>
                </a:solidFill>
              </a:rPr>
              <a:t>2^3 </a:t>
            </a:r>
            <a:r>
              <a:rPr lang="en-US" dirty="0" smtClean="0">
                <a:solidFill>
                  <a:schemeClr val="bg1"/>
                </a:solidFill>
              </a:rPr>
              <a:t>does not equal </a:t>
            </a:r>
            <a:r>
              <a:rPr lang="en-US" dirty="0" smtClean="0">
                <a:solidFill>
                  <a:schemeClr val="bg1"/>
                </a:solidFill>
              </a:rPr>
              <a:t>8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There is another way to do exponentiation, but we'll come back to this.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Questions?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690</Words>
  <Application>Microsoft Office PowerPoint</Application>
  <PresentationFormat>On-screen Show (4:3)</PresentationFormat>
  <Paragraphs>257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CS 0007: Introduction to Java Lecture 4</vt:lpstr>
      <vt:lpstr>boolean</vt:lpstr>
      <vt:lpstr>boolean Operators</vt:lpstr>
      <vt:lpstr>Truth Tables</vt:lpstr>
      <vt:lpstr>Truth Tables</vt:lpstr>
      <vt:lpstr>Truth Tables</vt:lpstr>
      <vt:lpstr>Order of Operators</vt:lpstr>
      <vt:lpstr>Conditional Logic</vt:lpstr>
      <vt:lpstr>Conditional Logic</vt:lpstr>
      <vt:lpstr>Conditional Logic</vt:lpstr>
      <vt:lpstr>Conditional Logic</vt:lpstr>
      <vt:lpstr>Order of Operators</vt:lpstr>
      <vt:lpstr>Bad Coding Practice</vt:lpstr>
      <vt:lpstr>int</vt:lpstr>
      <vt:lpstr>int Operators</vt:lpstr>
      <vt:lpstr>Integer Division</vt:lpstr>
      <vt:lpstr>Modular Arithmetic</vt:lpstr>
      <vt:lpstr>Integer Division + Modular Arithmetic</vt:lpstr>
      <vt:lpstr>More int Operators</vt:lpstr>
      <vt:lpstr>More int Operators</vt:lpstr>
      <vt:lpstr>double</vt:lpstr>
      <vt:lpstr>Mixing Types with Division</vt:lpstr>
      <vt:lpstr>char</vt:lpstr>
      <vt:lpstr>ASCII Table</vt:lpstr>
      <vt:lpstr>char Operators</vt:lpstr>
      <vt:lpstr>Expression?</vt:lpstr>
      <vt:lpstr>How do you test that?</vt:lpstr>
      <vt:lpstr>Test 1</vt:lpstr>
      <vt:lpstr>Slide 29</vt:lpstr>
      <vt:lpstr>Test 2</vt:lpstr>
      <vt:lpstr>Slide 31</vt:lpstr>
      <vt:lpstr>Expressions</vt:lpstr>
      <vt:lpstr>WARNING</vt:lpstr>
      <vt:lpstr>Questions?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4</dc:title>
  <dc:creator>Eleonor Rico</dc:creator>
  <cp:lastModifiedBy>Eleonor Rico</cp:lastModifiedBy>
  <cp:revision>28</cp:revision>
  <dcterms:created xsi:type="dcterms:W3CDTF">2016-09-12T15:02:45Z</dcterms:created>
  <dcterms:modified xsi:type="dcterms:W3CDTF">2016-09-13T15:32:29Z</dcterms:modified>
</cp:coreProperties>
</file>