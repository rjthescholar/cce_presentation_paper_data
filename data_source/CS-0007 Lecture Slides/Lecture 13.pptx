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8" r:id="rId32"/>
    <p:sldId id="289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C2132-2157-47A2-BD26-6FCD2291B7F3}" type="datetimeFigureOut">
              <a:rPr lang="en-US" smtClean="0"/>
              <a:pPr/>
              <a:t>10/25/2016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A312E-4442-4FA1-9E05-20B8DDC7F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October 25,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Announcements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 grades are posted on </a:t>
            </a:r>
            <a:r>
              <a:rPr lang="en-US" dirty="0" err="1" smtClean="0">
                <a:solidFill>
                  <a:schemeClr val="bg1"/>
                </a:solidFill>
              </a:rPr>
              <a:t>Courseweb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You can see your exam during office hours or make an appointment, but you may not keep them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Project 0 due October 31, 2016 at 11:59 PM via submission link on </a:t>
            </a:r>
            <a:r>
              <a:rPr lang="en-US" dirty="0" err="1" smtClean="0">
                <a:solidFill>
                  <a:schemeClr val="bg1"/>
                </a:solidFill>
              </a:rPr>
              <a:t>Courseweb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Project 1 released soon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do I use For Loops?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Iteration</a:t>
            </a:r>
            <a:r>
              <a:rPr lang="en-US" dirty="0" smtClean="0">
                <a:solidFill>
                  <a:schemeClr val="bg1"/>
                </a:solidFill>
              </a:rPr>
              <a:t>, or going through all of the elements of an array or other type of list.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When the number of times you need to loop is known, either explicitly with a value, or through a variable.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loops are used otherwise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Multi-dimension Arrays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 don't just have to be lists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They can also be grids, cubes, hyper-cubes, …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Type[]…[] name = new Type[size1]…[</a:t>
            </a:r>
            <a:r>
              <a:rPr lang="en-US" dirty="0" err="1" smtClean="0">
                <a:solidFill>
                  <a:schemeClr val="bg1"/>
                </a:solidFill>
              </a:rPr>
              <a:t>sizeN</a:t>
            </a:r>
            <a:r>
              <a:rPr lang="en-US" dirty="0" smtClean="0">
                <a:solidFill>
                  <a:schemeClr val="bg1"/>
                </a:solidFill>
              </a:rPr>
              <a:t>];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Type[]…[] name = values…s;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{{1,2,3},{4,5,6},{7,8,9}};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Things to Remember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 2-D Arrays, referencing an element requires TWO PAIRS of square brackets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get the #1 from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[0][0]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get the #4 from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[1][0]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Remember: element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dirty="0" err="1" smtClean="0">
                <a:solidFill>
                  <a:schemeClr val="bg1"/>
                </a:solidFill>
                <a:sym typeface="Wingdings" pitchFamily="2" charset="2"/>
              </a:rPr>
              <a:t>listList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[row][</a:t>
            </a:r>
            <a:r>
              <a:rPr lang="en-US" dirty="0" err="1" smtClean="0">
                <a:solidFill>
                  <a:schemeClr val="bg1"/>
                </a:solidFill>
                <a:sym typeface="Wingdings" pitchFamily="2" charset="2"/>
              </a:rPr>
              <a:t>col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We Go Through a 2-D Array?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it took one for loop to go though a 1-D array, then…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will take two for loops to go through a 2-D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will take N for loops to go through an N-D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 you don't have to go through everything, don't.  It just wastes time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r>
              <a:rPr lang="en-US" dirty="0" smtClean="0">
                <a:solidFill>
                  <a:schemeClr val="bg1"/>
                </a:solidFill>
              </a:rPr>
              <a:t>[row][</a:t>
            </a:r>
            <a:r>
              <a:rPr lang="en-US" dirty="0" err="1" smtClean="0">
                <a:solidFill>
                  <a:schemeClr val="bg1"/>
                </a:solidFill>
              </a:rPr>
              <a:t>col</a:t>
            </a:r>
            <a:r>
              <a:rPr lang="en-US" dirty="0" smtClean="0">
                <a:solidFill>
                  <a:schemeClr val="bg1"/>
                </a:solidFill>
              </a:rPr>
              <a:t>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Let's Test It on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[][] list = {{1,2,3},{4,5,6},{7,8,9}};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j = 0; j &lt; 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].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("Counting...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Now at " + 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][j]);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inner-loop for(j &lt; list[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].length)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outer-loop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 </a:t>
            </a: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For convenience sake, </a:t>
            </a:r>
            <a:r>
              <a:rPr lang="en-US" sz="5800" dirty="0" err="1" smtClean="0">
                <a:solidFill>
                  <a:schemeClr val="bg1"/>
                </a:solidFill>
                <a:cs typeface="Courier New" pitchFamily="49" charset="0"/>
              </a:rPr>
              <a:t>listList</a:t>
            </a: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 list</a:t>
            </a:r>
            <a:endParaRPr lang="en-US" sz="5800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Good Coding Practices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Whenever you make any variable or array, ensure that you fill it with the appropriate values, or use some default non-important value.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Rule of thumb: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Numbers/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0(.0)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false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Objects 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null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Arrays  Depends on type, but every element should be set to something explicitly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Null indicates the variable refers to nothing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There is no actual object with the given variable name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As expected, you cannot do anything useful with a variable set to </a:t>
            </a:r>
            <a:r>
              <a:rPr lang="en-US" sz="4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</a:p>
          <a:p>
            <a:r>
              <a:rPr lang="en-US" sz="4000" dirty="0" smtClean="0">
                <a:solidFill>
                  <a:schemeClr val="bg1"/>
                </a:solidFill>
                <a:cs typeface="Courier New" pitchFamily="49" charset="0"/>
              </a:rPr>
              <a:t>Checking for </a:t>
            </a:r>
            <a:r>
              <a:rPr lang="en-US" sz="4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sz="4000" dirty="0" smtClean="0">
                <a:solidFill>
                  <a:schemeClr val="bg1"/>
                </a:solidFill>
                <a:cs typeface="Courier New" pitchFamily="49" charset="0"/>
              </a:rPr>
              <a:t> (in an </a:t>
            </a:r>
            <a:r>
              <a:rPr lang="en-US" sz="4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4000" dirty="0" smtClean="0">
                <a:solidFill>
                  <a:schemeClr val="bg1"/>
                </a:solidFill>
                <a:cs typeface="Courier New" pitchFamily="49" charset="0"/>
              </a:rPr>
              <a:t>-statement or other </a:t>
            </a:r>
            <a:r>
              <a:rPr lang="en-US" sz="4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4000" dirty="0" smtClean="0">
                <a:solidFill>
                  <a:schemeClr val="bg1"/>
                </a:solidFill>
                <a:cs typeface="Courier New" pitchFamily="49" charset="0"/>
              </a:rPr>
              <a:t> expression) uses </a:t>
            </a:r>
            <a:r>
              <a:rPr lang="en-US" sz="4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/>
            </a:r>
            <a:br>
              <a:rPr lang="en-US" dirty="0" smtClean="0">
                <a:solidFill>
                  <a:schemeClr val="bg1"/>
                </a:solidFill>
                <a:cs typeface="Courier New" pitchFamily="49" charset="0"/>
              </a:rPr>
            </a:b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myScan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myScan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System.err.println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"Something wrong happened"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//clearly never executed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Recursion</a:t>
            </a:r>
            <a:r>
              <a:rPr lang="en-US" dirty="0" smtClean="0">
                <a:solidFill>
                  <a:schemeClr val="bg1"/>
                </a:solidFill>
              </a:rPr>
              <a:t> is the process of a function (or set of functions) that calls itself.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Recursion is really just a special name for calling the same function within itself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Recursion ends at a </a:t>
            </a:r>
            <a:r>
              <a:rPr lang="en-US" dirty="0" smtClean="0">
                <a:solidFill>
                  <a:srgbClr val="FF0000"/>
                </a:solidFill>
              </a:rPr>
              <a:t>base case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Simple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want to compute n! (factorial)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n! = n * (n-1) * (n-2) * … *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 can easily do this with loops, but for the sake of an easy example, we can easily break this down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Simple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want to compute n! (factorial)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n! = n * (n-1) * (n-2) * … * 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Recursion is the breakdown of a problem into smaller chunks, like </a:t>
            </a:r>
            <a:r>
              <a:rPr lang="en-US" dirty="0" err="1" smtClean="0">
                <a:solidFill>
                  <a:schemeClr val="bg1"/>
                </a:solidFill>
              </a:rPr>
              <a:t>Matryoshka</a:t>
            </a:r>
            <a:r>
              <a:rPr lang="en-US" dirty="0" smtClean="0">
                <a:solidFill>
                  <a:schemeClr val="bg1"/>
                </a:solidFill>
              </a:rPr>
              <a:t> dolls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96962" name="Picture 2" descr="https://upload.wikimedia.org/wikipedia/commons/7/71/Russian-Matroshk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810000"/>
            <a:ext cx="3962400" cy="29718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04800" y="5715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https://upload.wikimedia.org/wikipedia/commons/7/71/Russian-Matroshka.jpg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Recursive Factorial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can we take the large problem and break it up into something smaller?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we build up a solution?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With factorial, it is easy to see how to break this down by this equivalence: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n!	= n * ((n-1) * (n-2) * … * 2 * 1)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= n * (n-1)!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compute n!, we can rely on (n-1)!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We already know by the definition of recursion that we have to call the function inside of itself.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&lt;something&gt;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&lt;something&gt;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Recursive Factorial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 us use the knowledge that we know from the equivalence.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n!	= n * ((n-1) * (n-2) * … * 2 * 1)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= n * (n-1)!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 order to return n!, we need to know the value of (n-1)! and then multiply it with 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order to return n!, we need to know the value of (n-1)! and then multiply it with n.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&lt;something&gt;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&lt;something&gt;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order to return n!, we need to know the value of (n-1)! and then multiply it with n.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&lt;n-1&gt;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&lt;n*(n-1)!&gt;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order to return n!, we need to know the value of (n-1)! and then multiply it with n.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prevFact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(n-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n*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prevFact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order to return n!, we need to know the value of (n-1)! and then multiply it with n.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n*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(n-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If we just use this, we run into the problem that this goes on forever.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do we stop?  When is the base case?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n*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(n-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When n &lt;= 1, n! is just 1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 &lt;=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return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n*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(n-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Put This In Code?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FactorialTester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rgbClr val="FFFF00"/>
                </a:solidFill>
                <a:cs typeface="Courier New" pitchFamily="49" charset="0"/>
              </a:rPr>
              <a:t>…(Function)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Scanner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new Scanner(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("Enter an integer");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scanner.nextInt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 + "! = " +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factorial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main(String[])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FactorialTester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 Oriented Programming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Revisiting the History of Languages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Assembly – Low-level hardware based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Structured – Introduces subroutines (i.e. functions) and well-defined looping structures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Object-Oriented – Introduces classes and a philosophy about programming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It’s In the Name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Object-Oriented Programming is as it sounds.  Assume everything can be modeled as an </a:t>
            </a:r>
            <a:r>
              <a:rPr lang="en-US" dirty="0" smtClean="0">
                <a:solidFill>
                  <a:srgbClr val="FF0000"/>
                </a:solidFill>
              </a:rPr>
              <a:t>object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Terminology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en-US" dirty="0" smtClean="0">
                <a:solidFill>
                  <a:schemeClr val="bg1"/>
                </a:solidFill>
              </a:rPr>
              <a:t> is code that describes objects of that </a:t>
            </a:r>
            <a:r>
              <a:rPr lang="en-US" dirty="0" smtClean="0">
                <a:solidFill>
                  <a:srgbClr val="FF0000"/>
                </a:solidFill>
              </a:rPr>
              <a:t>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 smtClean="0">
                <a:solidFill>
                  <a:srgbClr val="FF0000"/>
                </a:solidFill>
              </a:rPr>
              <a:t>instance</a:t>
            </a:r>
            <a:r>
              <a:rPr lang="en-US" dirty="0" smtClean="0">
                <a:solidFill>
                  <a:schemeClr val="bg1"/>
                </a:solidFill>
              </a:rPr>
              <a:t> is a particular object of a given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field</a:t>
            </a:r>
            <a:r>
              <a:rPr lang="en-US" dirty="0" smtClean="0">
                <a:solidFill>
                  <a:schemeClr val="bg1"/>
                </a:solidFill>
              </a:rPr>
              <a:t> is a property of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method</a:t>
            </a:r>
            <a:r>
              <a:rPr lang="en-US" dirty="0" smtClean="0">
                <a:solidFill>
                  <a:schemeClr val="bg1"/>
                </a:solidFill>
              </a:rPr>
              <a:t> is a function that is provided by the class for an object of the class type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Static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Referenced by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Property or method is not dependent on the individual instantiated object, but rather the class as a whole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property/method exists between instances; any change made to static fields are reflected through all instances of the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Static methods can only manipulate static fields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Portions of 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Determining inter-class relationships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Subclasses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Superclasses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1023</Words>
  <Application>Microsoft Office PowerPoint</Application>
  <PresentationFormat>On-screen Show (4:3)</PresentationFormat>
  <Paragraphs>189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CS 0007: Introduction to Java Lecture 13</vt:lpstr>
      <vt:lpstr>Announcements</vt:lpstr>
      <vt:lpstr>Usage</vt:lpstr>
      <vt:lpstr>Multi-dimension Arrays</vt:lpstr>
      <vt:lpstr>Type[]…[] name = new Type[size1]…[sizeN];</vt:lpstr>
      <vt:lpstr>Type[]…[] name = values…s;</vt:lpstr>
      <vt:lpstr>int[][] listList = {{1,2,3},{4,5,6},{7,8,9}};</vt:lpstr>
      <vt:lpstr>Things to Remember</vt:lpstr>
      <vt:lpstr>How Do We Go Through a 2-D Array?</vt:lpstr>
      <vt:lpstr>listList[row][col]</vt:lpstr>
      <vt:lpstr>Let's Test It on listList</vt:lpstr>
      <vt:lpstr>Good Coding Practices</vt:lpstr>
      <vt:lpstr>Meaning of null</vt:lpstr>
      <vt:lpstr>Recursion</vt:lpstr>
      <vt:lpstr>A Simple Example</vt:lpstr>
      <vt:lpstr>A Simple Example</vt:lpstr>
      <vt:lpstr>Recursive Factorial</vt:lpstr>
      <vt:lpstr>How Do We Put This In Code?</vt:lpstr>
      <vt:lpstr>Recursive Factorial</vt:lpstr>
      <vt:lpstr>How Do We Put This In Code?</vt:lpstr>
      <vt:lpstr>How Do We Put This In Code?</vt:lpstr>
      <vt:lpstr>How Do We Put This In Code?</vt:lpstr>
      <vt:lpstr>How Do We Put This In Code?</vt:lpstr>
      <vt:lpstr>How Do We Put This In Code?</vt:lpstr>
      <vt:lpstr>How Do We Put This In Code?</vt:lpstr>
      <vt:lpstr>How Do We Put This In Code?</vt:lpstr>
      <vt:lpstr>Object Oriented Programming</vt:lpstr>
      <vt:lpstr>Revisiting the History of Languages</vt:lpstr>
      <vt:lpstr>It’s In the Name</vt:lpstr>
      <vt:lpstr>Terminology</vt:lpstr>
      <vt:lpstr>Static</vt:lpstr>
      <vt:lpstr>Main Portions of OOP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12</dc:title>
  <dc:creator>Eleonor Rico</dc:creator>
  <cp:lastModifiedBy>Eleonor Rico</cp:lastModifiedBy>
  <cp:revision>12</cp:revision>
  <dcterms:created xsi:type="dcterms:W3CDTF">2016-10-24T18:14:32Z</dcterms:created>
  <dcterms:modified xsi:type="dcterms:W3CDTF">2016-10-26T00:29:35Z</dcterms:modified>
</cp:coreProperties>
</file>