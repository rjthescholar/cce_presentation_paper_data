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C834-8D79-4290-A897-F4F28655B887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B966-36B3-4E5F-A565-3487230976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C834-8D79-4290-A897-F4F28655B887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B966-36B3-4E5F-A565-3487230976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C834-8D79-4290-A897-F4F28655B887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B966-36B3-4E5F-A565-3487230976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C834-8D79-4290-A897-F4F28655B887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B966-36B3-4E5F-A565-3487230976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C834-8D79-4290-A897-F4F28655B887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B966-36B3-4E5F-A565-3487230976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C834-8D79-4290-A897-F4F28655B887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B966-36B3-4E5F-A565-3487230976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C834-8D79-4290-A897-F4F28655B887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B966-36B3-4E5F-A565-3487230976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C834-8D79-4290-A897-F4F28655B887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B966-36B3-4E5F-A565-3487230976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C834-8D79-4290-A897-F4F28655B887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B966-36B3-4E5F-A565-3487230976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C834-8D79-4290-A897-F4F28655B887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B966-36B3-4E5F-A565-3487230976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C834-8D79-4290-A897-F4F28655B887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B966-36B3-4E5F-A565-3487230976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BC834-8D79-4290-A897-F4F28655B887}" type="datetimeFigureOut">
              <a:rPr lang="en-US" smtClean="0"/>
              <a:pPr/>
              <a:t>11/15/2016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0B966-36B3-4E5F-A565-3487230976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19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November 15,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Main Portions of OOP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Building a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Determining inter-class relationships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Class Components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Class-level/Instance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Constructor(s)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Inter-class Relationships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Building a single class is useless.  It needs to be used in context.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There are two main relationships between classes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Sub/Super class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Ownership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Modeling a Problem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“Joe’s Automotive Shop services foreign cars, and specializes in servicing cars made by Mercedes, Porsche, and BMW.  When a customer brings a car to the shop, the manager gets the customer’s name, address, and telephone number.  Then the manager determines the make, model, and year of the car, and gives the customer a service quote.  The service quote shows the estimated parts charges, estimated labor charges, sales tax, and total estimated charges.”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Source: </a:t>
            </a:r>
            <a:r>
              <a:rPr lang="en-US" u="sng" dirty="0" smtClean="0">
                <a:solidFill>
                  <a:schemeClr val="bg1"/>
                </a:solidFill>
              </a:rPr>
              <a:t>Starting Out with Java: From Control Structures through Objects</a:t>
            </a:r>
            <a:r>
              <a:rPr lang="en-US" dirty="0" smtClean="0">
                <a:solidFill>
                  <a:schemeClr val="bg1"/>
                </a:solidFill>
              </a:rPr>
              <a:t> by Tony Gaddis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Class Overview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>
                <a:solidFill>
                  <a:srgbClr val="00B0F0"/>
                </a:solidFill>
              </a:rPr>
              <a:t>address</a:t>
            </a:r>
            <a:r>
              <a:rPr lang="en-US" sz="1800" dirty="0" smtClean="0">
                <a:solidFill>
                  <a:schemeClr val="bg1"/>
                </a:solidFill>
              </a:rPr>
              <a:t>			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foreign cars</a:t>
            </a:r>
            <a:r>
              <a:rPr lang="en-US" sz="1800" dirty="0" smtClean="0">
                <a:solidFill>
                  <a:schemeClr val="bg1"/>
                </a:solidFill>
              </a:rPr>
              <a:t>		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Porsche</a:t>
            </a:r>
          </a:p>
          <a:p>
            <a:pPr>
              <a:buNone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BMW</a:t>
            </a:r>
            <a:r>
              <a:rPr lang="en-US" sz="1800" dirty="0" smtClean="0">
                <a:solidFill>
                  <a:schemeClr val="bg1"/>
                </a:solidFill>
              </a:rPr>
              <a:t>			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Joe’s Automotive Shop</a:t>
            </a:r>
            <a:r>
              <a:rPr lang="en-US" sz="1800" dirty="0" smtClean="0">
                <a:solidFill>
                  <a:schemeClr val="bg1"/>
                </a:solidFill>
              </a:rPr>
              <a:t>	</a:t>
            </a:r>
            <a:r>
              <a:rPr lang="en-US" sz="1800" dirty="0" smtClean="0">
                <a:solidFill>
                  <a:srgbClr val="FFC000"/>
                </a:solidFill>
              </a:rPr>
              <a:t>sales tax</a:t>
            </a:r>
          </a:p>
          <a:p>
            <a:pPr>
              <a:buNone/>
            </a:pPr>
            <a:r>
              <a:rPr lang="en-US" sz="1800" i="1" u="sng" dirty="0" smtClean="0">
                <a:solidFill>
                  <a:srgbClr val="00B050"/>
                </a:solidFill>
              </a:rPr>
              <a:t>car</a:t>
            </a:r>
            <a:r>
              <a:rPr lang="en-US" sz="1800" dirty="0" smtClean="0">
                <a:solidFill>
                  <a:schemeClr val="bg1"/>
                </a:solidFill>
              </a:rPr>
              <a:t>				</a:t>
            </a:r>
            <a:r>
              <a:rPr lang="en-US" sz="1800" dirty="0" smtClean="0">
                <a:solidFill>
                  <a:srgbClr val="00B050"/>
                </a:solidFill>
              </a:rPr>
              <a:t>make</a:t>
            </a:r>
            <a:r>
              <a:rPr lang="en-US" sz="1800" dirty="0" smtClean="0">
                <a:solidFill>
                  <a:schemeClr val="bg1"/>
                </a:solidFill>
              </a:rPr>
              <a:t>			</a:t>
            </a:r>
            <a:r>
              <a:rPr lang="en-US" sz="1800" i="1" u="sng" dirty="0" smtClean="0">
                <a:solidFill>
                  <a:srgbClr val="FFC000"/>
                </a:solidFill>
              </a:rPr>
              <a:t>service quote</a:t>
            </a:r>
          </a:p>
          <a:p>
            <a:pPr>
              <a:buNone/>
            </a:pP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cars</a:t>
            </a:r>
            <a:r>
              <a:rPr lang="en-US" sz="1800" dirty="0" smtClean="0">
                <a:solidFill>
                  <a:schemeClr val="bg1"/>
                </a:solidFill>
              </a:rPr>
              <a:t>			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manager	</a:t>
            </a:r>
            <a:r>
              <a:rPr lang="en-US" sz="1800" dirty="0" smtClean="0">
                <a:solidFill>
                  <a:schemeClr val="bg1"/>
                </a:solidFill>
              </a:rPr>
              <a:t>		</a:t>
            </a:r>
            <a:r>
              <a:rPr lang="en-US" sz="1800" b="1" u="sng" dirty="0" smtClean="0">
                <a:solidFill>
                  <a:srgbClr val="FF0000"/>
                </a:solidFill>
              </a:rPr>
              <a:t>shop</a:t>
            </a:r>
          </a:p>
          <a:p>
            <a:pPr>
              <a:buNone/>
            </a:pPr>
            <a:r>
              <a:rPr lang="en-US" sz="1800" i="1" u="sng" dirty="0" smtClean="0">
                <a:solidFill>
                  <a:srgbClr val="00B0F0"/>
                </a:solidFill>
              </a:rPr>
              <a:t>customer</a:t>
            </a:r>
            <a:r>
              <a:rPr lang="en-US" sz="1800" dirty="0" smtClean="0">
                <a:solidFill>
                  <a:schemeClr val="bg1"/>
                </a:solidFill>
              </a:rPr>
              <a:t>			</a:t>
            </a:r>
            <a:r>
              <a:rPr 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Mercedes</a:t>
            </a:r>
            <a:r>
              <a:rPr lang="en-US" sz="1800" dirty="0" smtClean="0">
                <a:solidFill>
                  <a:schemeClr val="bg1"/>
                </a:solidFill>
              </a:rPr>
              <a:t>		</a:t>
            </a:r>
            <a:r>
              <a:rPr lang="en-US" sz="1800" dirty="0" smtClean="0">
                <a:solidFill>
                  <a:srgbClr val="00B0F0"/>
                </a:solidFill>
              </a:rPr>
              <a:t>telephone number</a:t>
            </a:r>
          </a:p>
          <a:p>
            <a:pPr>
              <a:buNone/>
            </a:pPr>
            <a:r>
              <a:rPr lang="en-US" sz="1800" dirty="0" smtClean="0">
                <a:solidFill>
                  <a:srgbClr val="FFC000"/>
                </a:solidFill>
              </a:rPr>
              <a:t>estimated labor charges</a:t>
            </a:r>
            <a:r>
              <a:rPr lang="en-US" sz="1800" dirty="0" smtClean="0">
                <a:solidFill>
                  <a:schemeClr val="bg1"/>
                </a:solidFill>
              </a:rPr>
              <a:t>	</a:t>
            </a:r>
            <a:r>
              <a:rPr lang="en-US" sz="1800" dirty="0" smtClean="0">
                <a:solidFill>
                  <a:srgbClr val="00B050"/>
                </a:solidFill>
              </a:rPr>
              <a:t>model</a:t>
            </a:r>
            <a:r>
              <a:rPr lang="en-US" sz="1800" dirty="0" smtClean="0">
                <a:solidFill>
                  <a:schemeClr val="bg1"/>
                </a:solidFill>
              </a:rPr>
              <a:t>			</a:t>
            </a:r>
            <a:r>
              <a:rPr lang="en-US" sz="1800" dirty="0" smtClean="0">
                <a:solidFill>
                  <a:srgbClr val="FFC000"/>
                </a:solidFill>
              </a:rPr>
              <a:t>total estimated charges</a:t>
            </a:r>
          </a:p>
          <a:p>
            <a:pPr>
              <a:buNone/>
            </a:pPr>
            <a:r>
              <a:rPr lang="en-US" sz="1800" dirty="0" smtClean="0">
                <a:solidFill>
                  <a:srgbClr val="FFC000"/>
                </a:solidFill>
              </a:rPr>
              <a:t>estimated parts charges</a:t>
            </a:r>
            <a:r>
              <a:rPr lang="en-US" sz="1800" dirty="0" smtClean="0">
                <a:solidFill>
                  <a:schemeClr val="bg1"/>
                </a:solidFill>
              </a:rPr>
              <a:t>	</a:t>
            </a:r>
            <a:r>
              <a:rPr lang="en-US" sz="1800" dirty="0" smtClean="0">
                <a:solidFill>
                  <a:srgbClr val="00B0F0"/>
                </a:solidFill>
              </a:rPr>
              <a:t>name</a:t>
            </a:r>
            <a:r>
              <a:rPr lang="en-US" sz="1800" dirty="0" smtClean="0">
                <a:solidFill>
                  <a:schemeClr val="bg1"/>
                </a:solidFill>
              </a:rPr>
              <a:t>			</a:t>
            </a:r>
            <a:r>
              <a:rPr lang="en-US" sz="1800" dirty="0" smtClean="0">
                <a:solidFill>
                  <a:srgbClr val="00B050"/>
                </a:solidFill>
              </a:rPr>
              <a:t>year</a:t>
            </a:r>
          </a:p>
          <a:p>
            <a:pPr>
              <a:buNone/>
            </a:pPr>
            <a:endParaRPr lang="en-US" sz="18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Object</a:t>
            </a:r>
            <a:r>
              <a:rPr lang="en-US" dirty="0" smtClean="0">
                <a:solidFill>
                  <a:schemeClr val="bg1"/>
                </a:solidFill>
              </a:rPr>
              <a:t> Class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Let us examine the API for the highest class.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toString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looks interesting. “It is recommended that all subclasses override this method.”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toString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 smtClean="0">
                <a:solidFill>
                  <a:schemeClr val="bg1"/>
                </a:solidFill>
              </a:rPr>
              <a:t>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It provides a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 smtClean="0">
                <a:solidFill>
                  <a:schemeClr val="bg1"/>
                </a:solidFill>
              </a:rPr>
              <a:t> representation of an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should be descriptive, not just what type it is, but what </a:t>
            </a:r>
            <a:r>
              <a:rPr lang="en-US" smtClean="0">
                <a:solidFill>
                  <a:schemeClr val="bg1"/>
                </a:solidFill>
              </a:rPr>
              <a:t>is contained within it.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Functional Responsibility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we determine which class(</a:t>
            </a:r>
            <a:r>
              <a:rPr lang="en-US" dirty="0" err="1" smtClean="0">
                <a:solidFill>
                  <a:schemeClr val="bg1"/>
                </a:solidFill>
              </a:rPr>
              <a:t>es</a:t>
            </a:r>
            <a:r>
              <a:rPr lang="en-US" dirty="0" smtClean="0">
                <a:solidFill>
                  <a:schemeClr val="bg1"/>
                </a:solidFill>
              </a:rPr>
              <a:t>) should have which functions?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need to ask: Who’s state is needed or changing?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Hard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the automotive shop example, we have four classes, Shop, Customer, Car, and Service Quote.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Who deals with car alterations?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Shop?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Mechanic?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Car?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Advanced Input and Simple Exception Handling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Scanners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Scanners actually have an inconveniently annoying flaw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Some of you may have </a:t>
            </a:r>
            <a:r>
              <a:rPr lang="en-US" smtClean="0">
                <a:solidFill>
                  <a:schemeClr val="bg1"/>
                </a:solidFill>
              </a:rPr>
              <a:t>already encountered it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Scanner Issue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java.util.Scanner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ScannerAttempt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Scanner scan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Scanner(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"Enter your age"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age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scan.nextInt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"Enter your name"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scan.nextLine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is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age +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years old."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ScannerAttempt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canner problem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40270" y="1600200"/>
            <a:ext cx="6263459" cy="4525963"/>
          </a:xfrm>
        </p:spPr>
      </p:pic>
      <p:sp>
        <p:nvSpPr>
          <p:cNvPr id="5" name="TextBox 4"/>
          <p:cNvSpPr txBox="1"/>
          <p:nvPr/>
        </p:nvSpPr>
        <p:spPr>
          <a:xfrm>
            <a:off x="4191000" y="2819400"/>
            <a:ext cx="289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I couldn’t even enter my name before it finished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Long Story Short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Scanner has a buffering quirk.  When scanning for a token (an item like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) that is not a line, the scanner reads up to the new line character, but does not consume it.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you call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nextLine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 smtClean="0">
                <a:solidFill>
                  <a:schemeClr val="bg1"/>
                </a:solidFill>
              </a:rPr>
              <a:t>, it sees the new line, assumes it is done reading, and returns an empty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Should Happen Then?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There are two ways of dealing with it</a:t>
            </a:r>
          </a:p>
          <a:p>
            <a:r>
              <a:rPr lang="en-US" strike="sngStrike" dirty="0" smtClean="0">
                <a:solidFill>
                  <a:schemeClr val="bg1"/>
                </a:solidFill>
              </a:rPr>
              <a:t>Call </a:t>
            </a:r>
            <a:r>
              <a:rPr lang="en-US" b="1" strike="sngStrike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nextLine</a:t>
            </a:r>
            <a:r>
              <a:rPr lang="en-US" b="1" strike="sngStrike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strike="sngStrike" dirty="0" smtClean="0">
                <a:solidFill>
                  <a:schemeClr val="bg1"/>
                </a:solidFill>
              </a:rPr>
              <a:t> twice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the appropriate classes and parse the input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Reminder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act of receiving input is called reading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Relevant classes that do reading are Readers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Re-examination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An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InputStream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If we examine the API,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InputStream</a:t>
            </a:r>
            <a:r>
              <a:rPr lang="en-US" dirty="0" err="1" smtClean="0">
                <a:solidFill>
                  <a:schemeClr val="bg1"/>
                </a:solidFill>
                <a:cs typeface="Courier New" pitchFamily="49" charset="0"/>
              </a:rPr>
              <a:t>s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can only read bytes.  Not very helpful.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What could we try?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InputStreamReader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Now we can read characters, but having to combine all the characters is difficult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don’t we use the suggestion from the API?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This thankfully allows us to read full lines of input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input needs to be processed depending on your needs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Let us first learn how to use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dirty="0" smtClean="0">
                <a:solidFill>
                  <a:schemeClr val="bg1"/>
                </a:solidFill>
              </a:rPr>
              <a:t> correctly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BRExample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reader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line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reader.readLine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(line +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is what you wrote."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BRExample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ExceptionError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31893" y="1600200"/>
            <a:ext cx="6680213" cy="4525963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Exceptions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An </a:t>
            </a:r>
            <a:r>
              <a:rPr lang="en-US" dirty="0" smtClean="0">
                <a:solidFill>
                  <a:srgbClr val="FF0000"/>
                </a:solidFill>
              </a:rPr>
              <a:t>exception</a:t>
            </a:r>
            <a:r>
              <a:rPr lang="en-US" dirty="0" smtClean="0">
                <a:solidFill>
                  <a:schemeClr val="bg1"/>
                </a:solidFill>
              </a:rPr>
              <a:t> is an event meant to disrupt the flow of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 </a:t>
            </a:r>
            <a:r>
              <a:rPr lang="en-US" dirty="0" smtClean="0">
                <a:solidFill>
                  <a:srgbClr val="FF0000"/>
                </a:solidFill>
              </a:rPr>
              <a:t>throw</a:t>
            </a:r>
            <a:r>
              <a:rPr lang="en-US" dirty="0" smtClean="0">
                <a:solidFill>
                  <a:schemeClr val="bg1"/>
                </a:solidFill>
              </a:rPr>
              <a:t> an exception is to see an exception being raised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 </a:t>
            </a:r>
            <a:r>
              <a:rPr lang="en-US" dirty="0" smtClean="0">
                <a:solidFill>
                  <a:srgbClr val="FF0000"/>
                </a:solidFill>
              </a:rPr>
              <a:t>catch</a:t>
            </a:r>
            <a:r>
              <a:rPr lang="en-US" dirty="0" smtClean="0">
                <a:solidFill>
                  <a:schemeClr val="bg1"/>
                </a:solidFill>
              </a:rPr>
              <a:t> an exception is to acknowledge a thrown exception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probably have already encountered some while debugging your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will focus on two of three types, which are more common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Exception Types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Checked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Exceptions that need to have a contingency plan should the exception arise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These stop the compiler from running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Example: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IOException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Unchecked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Exceptions that tend to indicate the program has a flaw during its execution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These stop the program in the middle of execution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Example: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ArrayIndexOutOfBoundsException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Dealing with Exceptions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Checked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finally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Unchecked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Fix your program code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BRExample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line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"Type something!"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reader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line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reader.readLine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IOException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e.printStackTrace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(line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is what you wrote."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BRExample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Keywords in Context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Everything inside the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  <a:r>
              <a:rPr lang="en-US" dirty="0" smtClean="0">
                <a:solidFill>
                  <a:schemeClr val="bg1"/>
                </a:solidFill>
              </a:rPr>
              <a:t> block indicates the section of code that may throw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Inside the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dirty="0" smtClean="0">
                <a:solidFill>
                  <a:schemeClr val="bg1"/>
                </a:solidFill>
              </a:rPr>
              <a:t>’s parentheses is the expected exception to process, and the name given to it (usually ‘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</a:t>
            </a:r>
            <a:r>
              <a:rPr lang="en-US" dirty="0" smtClean="0">
                <a:solidFill>
                  <a:schemeClr val="bg1"/>
                </a:solidFill>
              </a:rPr>
              <a:t>’)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Inside the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dirty="0" smtClean="0">
                <a:solidFill>
                  <a:schemeClr val="bg1"/>
                </a:solidFill>
              </a:rPr>
              <a:t> block indicates the section of code that should be executed if the exception is caught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Some FAQ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How do I know when an exception is thrown?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Check the API for relevant 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I know which exception is thrown?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Check the API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much code should I surround with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  <a:r>
              <a:rPr lang="en-US" dirty="0" smtClean="0">
                <a:solidFill>
                  <a:schemeClr val="bg1"/>
                </a:solidFill>
              </a:rPr>
              <a:t>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Only as much as you need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Note that scope applies here as well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 I catch multiple exceptions?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Yes, you can use several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dirty="0" smtClean="0">
                <a:solidFill>
                  <a:schemeClr val="bg1"/>
                </a:solidFill>
              </a:rPr>
              <a:t> blocks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We’ll see an example soon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Converting Strings into Useful Primitives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Scanner</a:t>
            </a:r>
            <a:r>
              <a:rPr lang="en-US" dirty="0" smtClean="0">
                <a:solidFill>
                  <a:schemeClr val="bg1"/>
                </a:solidFill>
              </a:rPr>
              <a:t> gave us useful methods like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 smtClean="0">
                <a:solidFill>
                  <a:schemeClr val="bg1"/>
                </a:solidFill>
              </a:rPr>
              <a:t> 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dirty="0" smtClean="0">
                <a:solidFill>
                  <a:schemeClr val="bg1"/>
                </a:solidFill>
              </a:rPr>
              <a:t>.  We can do the same with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BufferedReader</a:t>
            </a:r>
            <a:r>
              <a:rPr lang="en-US" dirty="0" smtClean="0">
                <a:solidFill>
                  <a:schemeClr val="bg1"/>
                </a:solidFill>
              </a:rPr>
              <a:t>, but not directly.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need to take another trip to the API, specifically for the classes that back the primitives.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Let’s look at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Integer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java.io.BufferedReader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java.io.InputStreamReader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Converter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convertToInt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(String line)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try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Integer.parseInt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(line);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NumberFormatException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//??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BRExample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753</Words>
  <Application>Microsoft Office PowerPoint</Application>
  <PresentationFormat>On-screen Show (4:3)</PresentationFormat>
  <Paragraphs>177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CS 0007: Introduction to Java Lecture 19</vt:lpstr>
      <vt:lpstr>Main Portions of OOP</vt:lpstr>
      <vt:lpstr>Class Components</vt:lpstr>
      <vt:lpstr>Inter-class Relationships</vt:lpstr>
      <vt:lpstr>Modeling a Problem</vt:lpstr>
      <vt:lpstr>Class Overview</vt:lpstr>
      <vt:lpstr>The Object Class</vt:lpstr>
      <vt:lpstr>What Is toString()?</vt:lpstr>
      <vt:lpstr>Functional Responsibility</vt:lpstr>
      <vt:lpstr>Hard example</vt:lpstr>
      <vt:lpstr>Advanced Input and Simple Exception Handling</vt:lpstr>
      <vt:lpstr>Scanners</vt:lpstr>
      <vt:lpstr>Scanner Issue</vt:lpstr>
      <vt:lpstr>Slide 14</vt:lpstr>
      <vt:lpstr>Long Story Short</vt:lpstr>
      <vt:lpstr>What Should Happen Then?</vt:lpstr>
      <vt:lpstr>A Reminder</vt:lpstr>
      <vt:lpstr>A Re-examination</vt:lpstr>
      <vt:lpstr>InputStreamReader</vt:lpstr>
      <vt:lpstr>BufferedReader</vt:lpstr>
      <vt:lpstr>Example</vt:lpstr>
      <vt:lpstr>Slide 22</vt:lpstr>
      <vt:lpstr>Exceptions</vt:lpstr>
      <vt:lpstr>Exception Types</vt:lpstr>
      <vt:lpstr>Dealing with Exceptions</vt:lpstr>
      <vt:lpstr>Example</vt:lpstr>
      <vt:lpstr>Keywords in Context</vt:lpstr>
      <vt:lpstr>Some FAQ</vt:lpstr>
      <vt:lpstr>Converting Strings into Useful Primitives</vt:lpstr>
      <vt:lpstr>Example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19</dc:title>
  <dc:creator>Eleonor Rico</dc:creator>
  <cp:lastModifiedBy>Eleonor Rico</cp:lastModifiedBy>
  <cp:revision>3</cp:revision>
  <dcterms:created xsi:type="dcterms:W3CDTF">2016-11-14T16:32:59Z</dcterms:created>
  <dcterms:modified xsi:type="dcterms:W3CDTF">2016-11-15T22:14:48Z</dcterms:modified>
</cp:coreProperties>
</file>